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99" r:id="rId3"/>
    <p:sldId id="300" r:id="rId4"/>
    <p:sldId id="440" r:id="rId5"/>
    <p:sldId id="441" r:id="rId6"/>
    <p:sldId id="442" r:id="rId7"/>
    <p:sldId id="443" r:id="rId8"/>
    <p:sldId id="445" r:id="rId9"/>
    <p:sldId id="446" r:id="rId10"/>
    <p:sldId id="447" r:id="rId11"/>
    <p:sldId id="448" r:id="rId12"/>
    <p:sldId id="444" r:id="rId13"/>
    <p:sldId id="449" r:id="rId14"/>
    <p:sldId id="450" r:id="rId15"/>
    <p:sldId id="451" r:id="rId16"/>
    <p:sldId id="452" r:id="rId17"/>
    <p:sldId id="420" r:id="rId18"/>
    <p:sldId id="419" r:id="rId19"/>
    <p:sldId id="453" r:id="rId20"/>
    <p:sldId id="454" r:id="rId21"/>
    <p:sldId id="455" r:id="rId22"/>
    <p:sldId id="456" r:id="rId23"/>
    <p:sldId id="457" r:id="rId24"/>
    <p:sldId id="458" r:id="rId25"/>
    <p:sldId id="459" r:id="rId26"/>
    <p:sldId id="460" r:id="rId27"/>
    <p:sldId id="461" r:id="rId28"/>
    <p:sldId id="462" r:id="rId29"/>
    <p:sldId id="463" r:id="rId30"/>
    <p:sldId id="464" r:id="rId31"/>
    <p:sldId id="465" r:id="rId32"/>
    <p:sldId id="466" r:id="rId33"/>
    <p:sldId id="467" r:id="rId34"/>
    <p:sldId id="468" r:id="rId35"/>
    <p:sldId id="469" r:id="rId36"/>
    <p:sldId id="470" r:id="rId37"/>
    <p:sldId id="471" r:id="rId38"/>
    <p:sldId id="472" r:id="rId39"/>
    <p:sldId id="473" r:id="rId40"/>
    <p:sldId id="474" r:id="rId41"/>
    <p:sldId id="475" r:id="rId42"/>
    <p:sldId id="476" r:id="rId43"/>
    <p:sldId id="477" r:id="rId44"/>
    <p:sldId id="478" r:id="rId45"/>
    <p:sldId id="479" r:id="rId46"/>
    <p:sldId id="480" r:id="rId47"/>
    <p:sldId id="481" r:id="rId48"/>
    <p:sldId id="482" r:id="rId49"/>
    <p:sldId id="483" r:id="rId50"/>
    <p:sldId id="485" r:id="rId51"/>
    <p:sldId id="486" r:id="rId52"/>
    <p:sldId id="484" r:id="rId53"/>
    <p:sldId id="487" r:id="rId54"/>
    <p:sldId id="488" r:id="rId55"/>
    <p:sldId id="489" r:id="rId56"/>
    <p:sldId id="490" r:id="rId57"/>
    <p:sldId id="346" r:id="rId5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7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94199" autoAdjust="0"/>
  </p:normalViewPr>
  <p:slideViewPr>
    <p:cSldViewPr>
      <p:cViewPr varScale="1">
        <p:scale>
          <a:sx n="80" d="100"/>
          <a:sy n="80" d="100"/>
        </p:scale>
        <p:origin x="1416" y="67"/>
      </p:cViewPr>
      <p:guideLst>
        <p:guide orient="horz" pos="217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E99D8C-6E9D-4103-9A5D-A9D42E3366D1}" type="datetimeFigureOut">
              <a:rPr lang="en-US" smtClean="0"/>
              <a:pPr/>
              <a:t>8/25/2024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530761-B0E7-43CB-B3E0-FA438D12607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noProof="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fld id="{92F338D9-5663-4301-9569-BD1318C8E1F7}" type="datetime1">
              <a:rPr lang="en-US" altLang="en-US"/>
              <a:pPr>
                <a:defRPr/>
              </a:pPr>
              <a:t>8/25/2024</a:t>
            </a:fld>
            <a:endParaRPr lang="en-US" altLang="en-US" dirty="0"/>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A66B348D-CAB7-4663-BB5D-4AC4DC87AEAA}" type="slidenum">
              <a:rPr lang="en-US" altLang="en-US"/>
              <a:pPr>
                <a:defRPr/>
              </a:pPr>
              <a:t>‹#›</a:t>
            </a:fld>
            <a:endParaRPr lang="en-US"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noProof="0"/>
              <a:t>Click to edit Master title style</a:t>
            </a:r>
          </a:p>
        </p:txBody>
      </p:sp>
      <p:sp>
        <p:nvSpPr>
          <p:cNvPr id="3" name="Content Placeholder 2"/>
          <p:cNvSpPr>
            <a:spLocks noGrp="1"/>
          </p:cNvSpPr>
          <p:nvPr>
            <p:ph idx="1"/>
          </p:nvPr>
        </p:nvSpPr>
        <p:spPr>
          <a:xfrm>
            <a:off x="457200" y="1600200"/>
            <a:ext cx="8229600" cy="452596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noChangeArrowheads="1"/>
          </p:cNvSpPr>
          <p:nvPr>
            <p:ph type="dt" sz="half" idx="10"/>
          </p:nvPr>
        </p:nvSpPr>
        <p:spPr>
          <a:ln/>
        </p:spPr>
        <p:txBody>
          <a:bodyPr/>
          <a:lstStyle>
            <a:lvl1pPr>
              <a:defRPr/>
            </a:lvl1pPr>
          </a:lstStyle>
          <a:p>
            <a:pPr>
              <a:defRPr/>
            </a:pPr>
            <a:fld id="{B2BAF666-ACB1-4C2F-A3C1-14EA32E51A88}" type="datetime1">
              <a:rPr lang="en-US" altLang="en-US"/>
              <a:pPr>
                <a:defRPr/>
              </a:pPr>
              <a:t>8/25/2024</a:t>
            </a:fld>
            <a:endParaRPr lang="en-US" altLang="en-US" dirty="0"/>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D753AC78-0D0F-4783-9B77-322143940B9A}" type="slidenum">
              <a:rPr lang="en-US" altLang="en-US"/>
              <a:pPr>
                <a:defRPr/>
              </a:pPr>
              <a:t>‹#›</a:t>
            </a:fld>
            <a:endParaRPr lang="en-US"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noProof="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fld id="{87929EE3-5A66-4388-A8BD-38094036C8E7}" type="datetime1">
              <a:rPr lang="en-US" altLang="en-US"/>
              <a:pPr>
                <a:defRPr/>
              </a:pPr>
              <a:t>8/25/2024</a:t>
            </a:fld>
            <a:endParaRPr lang="en-US" altLang="en-US" dirty="0"/>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22847CD8-50D2-459C-9D98-52F57BC23FBE}" type="slidenum">
              <a:rPr lang="en-US" altLang="en-US"/>
              <a:pPr>
                <a:defRPr/>
              </a:pPr>
              <a:t>‹#›</a:t>
            </a:fld>
            <a:endParaRPr lang="en-US"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noProof="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3"/>
          <p:cNvSpPr>
            <a:spLocks noGrp="1" noChangeArrowheads="1"/>
          </p:cNvSpPr>
          <p:nvPr>
            <p:ph type="dt" sz="half" idx="10"/>
          </p:nvPr>
        </p:nvSpPr>
        <p:spPr>
          <a:ln/>
        </p:spPr>
        <p:txBody>
          <a:bodyPr/>
          <a:lstStyle>
            <a:lvl1pPr>
              <a:defRPr/>
            </a:lvl1pPr>
          </a:lstStyle>
          <a:p>
            <a:pPr>
              <a:defRPr/>
            </a:pPr>
            <a:fld id="{42E7140D-0438-4906-9925-C03AB696C945}" type="datetime1">
              <a:rPr lang="en-US" altLang="en-US"/>
              <a:pPr>
                <a:defRPr/>
              </a:pPr>
              <a:t>8/25/2024</a:t>
            </a:fld>
            <a:endParaRPr lang="en-US" altLang="en-US" dirty="0"/>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829D5C0F-F154-4781-A6E5-8528FF2655C3}" type="slidenum">
              <a:rPr lang="en-US" altLang="en-US"/>
              <a:pPr>
                <a:defRPr/>
              </a:pPr>
              <a:t>‹#›</a:t>
            </a:fld>
            <a:endParaRPr lang="en-US"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noProof="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3"/>
          <p:cNvSpPr>
            <a:spLocks noGrp="1" noChangeArrowheads="1"/>
          </p:cNvSpPr>
          <p:nvPr>
            <p:ph type="dt" sz="half" idx="10"/>
          </p:nvPr>
        </p:nvSpPr>
        <p:spPr>
          <a:ln/>
        </p:spPr>
        <p:txBody>
          <a:bodyPr/>
          <a:lstStyle>
            <a:lvl1pPr>
              <a:defRPr/>
            </a:lvl1pPr>
          </a:lstStyle>
          <a:p>
            <a:pPr>
              <a:defRPr/>
            </a:pPr>
            <a:fld id="{EA478EE1-E2D1-45E8-99A6-6F161A5601E4}" type="datetime1">
              <a:rPr lang="en-US" altLang="en-US"/>
              <a:pPr>
                <a:defRPr/>
              </a:pPr>
              <a:t>8/25/2024</a:t>
            </a:fld>
            <a:endParaRPr lang="en-US" altLang="en-US" dirty="0"/>
          </a:p>
        </p:txBody>
      </p:sp>
      <p:sp>
        <p:nvSpPr>
          <p:cNvPr id="8"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9" name="Slide Number Placeholder 5"/>
          <p:cNvSpPr>
            <a:spLocks noGrp="1"/>
          </p:cNvSpPr>
          <p:nvPr>
            <p:ph type="sldNum" sz="quarter" idx="12"/>
          </p:nvPr>
        </p:nvSpPr>
        <p:spPr/>
        <p:txBody>
          <a:bodyPr/>
          <a:lstStyle>
            <a:lvl1pPr>
              <a:defRPr/>
            </a:lvl1pPr>
          </a:lstStyle>
          <a:p>
            <a:pPr>
              <a:defRPr/>
            </a:pPr>
            <a:fld id="{D07EEC5A-691B-4F39-BAE0-9FBA85C78452}" type="slidenum">
              <a:rPr lang="en-US" altLang="en-US"/>
              <a:pPr>
                <a:defRPr/>
              </a:pPr>
              <a:t>‹#›</a:t>
            </a:fld>
            <a:endParaRPr lang="en-US"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noProof="0"/>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fld id="{86B533D6-ADA0-46D5-B070-DC8C0E8730B8}" type="datetime1">
              <a:rPr lang="en-US" altLang="en-US"/>
              <a:pPr>
                <a:defRPr/>
              </a:pPr>
              <a:t>8/25/2024</a:t>
            </a:fld>
            <a:endParaRPr lang="en-US" altLang="en-US" dirty="0"/>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5" name="Slide Number Placeholder 5"/>
          <p:cNvSpPr>
            <a:spLocks noGrp="1"/>
          </p:cNvSpPr>
          <p:nvPr>
            <p:ph type="sldNum" sz="quarter" idx="12"/>
          </p:nvPr>
        </p:nvSpPr>
        <p:spPr/>
        <p:txBody>
          <a:bodyPr/>
          <a:lstStyle>
            <a:lvl1pPr>
              <a:defRPr/>
            </a:lvl1pPr>
          </a:lstStyle>
          <a:p>
            <a:pPr>
              <a:defRPr/>
            </a:pPr>
            <a:fld id="{33EBD1E5-3082-47B0-A3C7-CA02B3B3374A}" type="slidenum">
              <a:rPr lang="en-US" altLang="en-US"/>
              <a:pPr>
                <a:defRPr/>
              </a:pPr>
              <a:t>‹#›</a:t>
            </a:fld>
            <a:endParaRPr lang="en-US"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fld id="{E423AEC7-7B03-4071-BF16-AE4EC40A7C8A}" type="datetime1">
              <a:rPr lang="en-US" altLang="en-US"/>
              <a:pPr>
                <a:defRPr/>
              </a:pPr>
              <a:t>8/25/2024</a:t>
            </a:fld>
            <a:endParaRPr lang="en-US" altLang="en-US" dirty="0"/>
          </a:p>
        </p:txBody>
      </p:sp>
      <p:sp>
        <p:nvSpPr>
          <p:cNvPr id="3"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4" name="Slide Number Placeholder 5"/>
          <p:cNvSpPr>
            <a:spLocks noGrp="1"/>
          </p:cNvSpPr>
          <p:nvPr>
            <p:ph type="sldNum" sz="quarter" idx="12"/>
          </p:nvPr>
        </p:nvSpPr>
        <p:spPr/>
        <p:txBody>
          <a:bodyPr/>
          <a:lstStyle>
            <a:lvl1pPr>
              <a:defRPr/>
            </a:lvl1pPr>
          </a:lstStyle>
          <a:p>
            <a:pPr>
              <a:defRPr/>
            </a:pPr>
            <a:fld id="{DF28076B-C2A5-432A-BE1B-843C95629D3A}" type="slidenum">
              <a:rPr lang="en-US" altLang="en-US"/>
              <a:pPr>
                <a:defRPr/>
              </a:pPr>
              <a:t>‹#›</a:t>
            </a:fld>
            <a:endParaRPr lang="en-US"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noProof="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0241B1AF-172F-4E9F-96AC-A73278F877A3}" type="datetime1">
              <a:rPr lang="en-US" altLang="en-US"/>
              <a:pPr>
                <a:defRPr/>
              </a:pPr>
              <a:t>8/25/2024</a:t>
            </a:fld>
            <a:endParaRPr lang="en-US" altLang="en-US" dirty="0"/>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90359753-D710-435B-9EDD-102863A92B8A}" type="slidenum">
              <a:rPr lang="en-US" altLang="en-US"/>
              <a:pPr>
                <a:defRPr/>
              </a:pPr>
              <a:t>‹#›</a:t>
            </a:fld>
            <a:endParaRPr lang="en-US"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noProof="0"/>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12C2EBF2-4144-476B-9D79-7AAC38A3AD88}" type="datetime1">
              <a:rPr lang="en-US" altLang="en-US"/>
              <a:pPr>
                <a:defRPr/>
              </a:pPr>
              <a:t>8/25/2024</a:t>
            </a:fld>
            <a:endParaRPr lang="en-US" altLang="en-US" dirty="0"/>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pPr>
              <a:defRPr/>
            </a:pPr>
            <a:fld id="{08ED2E14-32AE-4289-AF23-0A878B33EA26}" type="slidenum">
              <a:rPr lang="en-US" altLang="en-US"/>
              <a:pPr>
                <a:defRPr/>
              </a:pPr>
              <a:t>‹#›</a:t>
            </a:fld>
            <a:endParaRPr lang="en-US"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noProof="0"/>
              <a:t>Click to edit Master title style</a:t>
            </a:r>
          </a:p>
        </p:txBody>
      </p:sp>
      <p:sp>
        <p:nvSpPr>
          <p:cNvPr id="3" name="Vertical Text Placeholder 2"/>
          <p:cNvSpPr>
            <a:spLocks noGrp="1"/>
          </p:cNvSpPr>
          <p:nvPr>
            <p:ph type="body" orient="vert" idx="1"/>
          </p:nvPr>
        </p:nvSpPr>
        <p:spPr>
          <a:xfrm>
            <a:off x="457200" y="1600200"/>
            <a:ext cx="8229600" cy="4525963"/>
          </a:xfrm>
        </p:spPr>
        <p:txBody>
          <a:bodyPr vert="eaVe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noChangeArrowheads="1"/>
          </p:cNvSpPr>
          <p:nvPr>
            <p:ph type="dt" sz="half" idx="10"/>
          </p:nvPr>
        </p:nvSpPr>
        <p:spPr>
          <a:ln/>
        </p:spPr>
        <p:txBody>
          <a:bodyPr/>
          <a:lstStyle>
            <a:lvl1pPr>
              <a:defRPr/>
            </a:lvl1pPr>
          </a:lstStyle>
          <a:p>
            <a:pPr>
              <a:defRPr/>
            </a:pPr>
            <a:fld id="{DC2CC182-6341-45C8-8888-21A6EDA5A782}" type="datetime1">
              <a:rPr lang="en-US" altLang="en-US"/>
              <a:pPr>
                <a:defRPr/>
              </a:pPr>
              <a:t>8/25/2024</a:t>
            </a:fld>
            <a:endParaRPr lang="en-US" altLang="en-US" dirty="0"/>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F9B5E9F9-E4BE-44A2-AC70-BD33BDD09549}" type="slidenum">
              <a:rPr lang="en-US" altLang="en-US"/>
              <a:pPr>
                <a:defRPr/>
              </a:pPr>
              <a:t>‹#›</a:t>
            </a:fld>
            <a:endParaRPr lang="en-US"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noProof="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noChangeArrowheads="1"/>
          </p:cNvSpPr>
          <p:nvPr>
            <p:ph type="dt" sz="half" idx="10"/>
          </p:nvPr>
        </p:nvSpPr>
        <p:spPr>
          <a:ln/>
        </p:spPr>
        <p:txBody>
          <a:bodyPr/>
          <a:lstStyle>
            <a:lvl1pPr>
              <a:defRPr/>
            </a:lvl1pPr>
          </a:lstStyle>
          <a:p>
            <a:pPr>
              <a:defRPr/>
            </a:pPr>
            <a:fld id="{C47048BA-3233-47E7-8588-174880649D38}" type="datetime1">
              <a:rPr lang="en-US" altLang="en-US"/>
              <a:pPr>
                <a:defRPr/>
              </a:pPr>
              <a:t>8/25/2024</a:t>
            </a:fld>
            <a:endParaRPr lang="en-US" altLang="en-US" dirty="0"/>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pPr>
              <a:defRPr/>
            </a:pPr>
            <a:fld id="{9B566299-6726-4F15-BDD3-17E9643D81C3}" type="slidenum">
              <a:rPr lang="en-US" altLang="en-US"/>
              <a:pPr>
                <a:defRPr/>
              </a:pPr>
              <a:t>‹#›</a:t>
            </a:fld>
            <a:endParaRPr lang="en-US"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Date Placeholder 3"/>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eaLnBrk="0" hangingPunct="0">
              <a:defRPr sz="1200">
                <a:latin typeface="Calibri" panose="020F0502020204030204" pitchFamily="34" charset="0"/>
              </a:defRPr>
            </a:lvl1pPr>
          </a:lstStyle>
          <a:p>
            <a:pPr>
              <a:defRPr/>
            </a:pPr>
            <a:fld id="{1DE82976-98FE-4D89-AFAA-6414CBE03064}" type="datetime1">
              <a:rPr lang="en-US" altLang="en-US"/>
              <a:pPr>
                <a:defRPr/>
              </a:pPr>
              <a:t>8/25/2024</a:t>
            </a:fld>
            <a:endParaRPr lang="en-US" altLang="en-US" dirty="0"/>
          </a:p>
        </p:txBody>
      </p:sp>
      <p:sp>
        <p:nvSpPr>
          <p:cNvPr id="1029" name="Footer Placeholder 4"/>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0" hangingPunct="0">
              <a:defRPr sz="1200">
                <a:latin typeface="Calibri" panose="020F0502020204030204" pitchFamily="34" charset="0"/>
              </a:defRPr>
            </a:lvl1pPr>
          </a:lstStyle>
          <a:p>
            <a:pPr>
              <a:defRPr/>
            </a:pPr>
            <a:endParaRPr lang="en-US" altLang="en-US"/>
          </a:p>
        </p:txBody>
      </p:sp>
      <p:sp>
        <p:nvSpPr>
          <p:cNvPr id="6" name="Slide Number Placeholder 5"/>
          <p:cNvSpPr>
            <a:spLocks noGrp="1"/>
          </p:cNvSpPr>
          <p:nvPr>
            <p:ph type="sldNum" sz="quarter" idx="4"/>
          </p:nvPr>
        </p:nvSpPr>
        <p:spPr>
          <a:xfrm>
            <a:off x="6553200" y="6356350"/>
            <a:ext cx="2133600" cy="365125"/>
          </a:xfrm>
          <a:prstGeom prst="rect">
            <a:avLst/>
          </a:prstGeom>
          <a:noFill/>
          <a:ln w="9525" cap="flat" cmpd="sng" algn="ctr">
            <a:noFill/>
            <a:prstDash val="solid"/>
            <a:round/>
            <a:headEnd type="none" w="med" len="med"/>
            <a:tailEnd type="none" w="med" len="med"/>
          </a:ln>
        </p:spPr>
        <p:txBody>
          <a:bodyPr vert="horz" wrap="square" lIns="91440" tIns="45720" rIns="91440" bIns="45720" numCol="1" anchor="ctr" anchorCtr="0" compatLnSpc="1"/>
          <a:lstStyle>
            <a:lvl1pPr algn="r" eaLnBrk="0" hangingPunct="0">
              <a:defRPr sz="1200">
                <a:latin typeface="Calibri" panose="020F0502020204030204"/>
                <a:cs typeface="+mn-cs"/>
              </a:defRPr>
            </a:lvl1pPr>
          </a:lstStyle>
          <a:p>
            <a:pPr>
              <a:defRPr/>
            </a:pPr>
            <a:fld id="{EF222336-0AAB-4F40-BCD2-BA8D6F88BF2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cs typeface="Arial" panose="020B060402020202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cs typeface="Arial" panose="020B060402020202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cs typeface="Arial" panose="020B060402020202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cs typeface="Arial" panose="020B060402020202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5.xml"/><Relationship Id="rId7" Type="http://schemas.openxmlformats.org/officeDocument/2006/relationships/image" Target="../media/image5.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6.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9.xml"/><Relationship Id="rId7" Type="http://schemas.openxmlformats.org/officeDocument/2006/relationships/image" Target="../media/image5.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3.xml"/><Relationship Id="rId7" Type="http://schemas.openxmlformats.org/officeDocument/2006/relationships/image" Target="../media/image5.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4.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7.xml"/><Relationship Id="rId7" Type="http://schemas.openxmlformats.org/officeDocument/2006/relationships/image" Target="../media/image5.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8.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1.xml"/><Relationship Id="rId7" Type="http://schemas.openxmlformats.org/officeDocument/2006/relationships/image" Target="../media/image5.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22.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5.xml"/><Relationship Id="rId7" Type="http://schemas.openxmlformats.org/officeDocument/2006/relationships/image" Target="../media/image5.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26.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9.xml"/><Relationship Id="rId7" Type="http://schemas.openxmlformats.org/officeDocument/2006/relationships/image" Target="../media/image5.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30.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33.xml"/><Relationship Id="rId7" Type="http://schemas.openxmlformats.org/officeDocument/2006/relationships/image" Target="../media/image5.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34.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37.xml"/><Relationship Id="rId7" Type="http://schemas.openxmlformats.org/officeDocument/2006/relationships/image" Target="../media/image5.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38.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41.xml"/><Relationship Id="rId7" Type="http://schemas.openxmlformats.org/officeDocument/2006/relationships/image" Target="../media/image5.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42.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45.xml"/><Relationship Id="rId7" Type="http://schemas.openxmlformats.org/officeDocument/2006/relationships/image" Target="../media/image5.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46.xml"/></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49.xml"/><Relationship Id="rId7" Type="http://schemas.openxmlformats.org/officeDocument/2006/relationships/image" Target="../media/image5.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50.xml"/></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53.xml"/><Relationship Id="rId7" Type="http://schemas.openxmlformats.org/officeDocument/2006/relationships/image" Target="../media/image5.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54.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57.xml"/><Relationship Id="rId7" Type="http://schemas.openxmlformats.org/officeDocument/2006/relationships/image" Target="../media/image5.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58.xml"/></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61.xml"/><Relationship Id="rId7" Type="http://schemas.openxmlformats.org/officeDocument/2006/relationships/image" Target="../media/image5.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62.xml"/></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65.xml"/><Relationship Id="rId7" Type="http://schemas.openxmlformats.org/officeDocument/2006/relationships/image" Target="../media/image5.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66.xml"/></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69.xml"/><Relationship Id="rId7" Type="http://schemas.openxmlformats.org/officeDocument/2006/relationships/image" Target="../media/image5.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70.xml"/></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73.xml"/><Relationship Id="rId7" Type="http://schemas.openxmlformats.org/officeDocument/2006/relationships/image" Target="../media/image5.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74.xml"/></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77.xml"/><Relationship Id="rId7" Type="http://schemas.openxmlformats.org/officeDocument/2006/relationships/image" Target="../media/image5.png"/><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78.xml"/></Relationships>
</file>

<file path=ppt/slides/_rels/slide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81.xml"/><Relationship Id="rId7" Type="http://schemas.openxmlformats.org/officeDocument/2006/relationships/image" Target="../media/image5.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82.xml"/></Relationships>
</file>

<file path=ppt/slides/_rels/slide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85.xml"/><Relationship Id="rId7" Type="http://schemas.openxmlformats.org/officeDocument/2006/relationships/image" Target="../media/image5.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86.xml"/></Relationships>
</file>

<file path=ppt/slides/_rels/slide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89.xml"/><Relationship Id="rId7" Type="http://schemas.openxmlformats.org/officeDocument/2006/relationships/image" Target="../media/image5.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90.xml"/></Relationships>
</file>

<file path=ppt/slides/_rels/slide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93.xml"/><Relationship Id="rId7" Type="http://schemas.openxmlformats.org/officeDocument/2006/relationships/image" Target="../media/image5.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94.xml"/></Relationships>
</file>

<file path=ppt/slides/_rels/slide2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97.xml"/><Relationship Id="rId7" Type="http://schemas.openxmlformats.org/officeDocument/2006/relationships/image" Target="../media/image5.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98.xml"/></Relationships>
</file>

<file path=ppt/slides/_rels/slide2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01.xml"/><Relationship Id="rId7" Type="http://schemas.openxmlformats.org/officeDocument/2006/relationships/image" Target="../media/image5.png"/><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02.xml"/></Relationships>
</file>

<file path=ppt/slides/_rels/slide2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05.xml"/><Relationship Id="rId7" Type="http://schemas.openxmlformats.org/officeDocument/2006/relationships/image" Target="../media/image5.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06.xml"/></Relationships>
</file>

<file path=ppt/slides/_rels/slide2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09.xml"/><Relationship Id="rId7" Type="http://schemas.openxmlformats.org/officeDocument/2006/relationships/image" Target="../media/image5.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10.xml"/></Relationships>
</file>

<file path=ppt/slides/_rels/slide2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3.xml"/><Relationship Id="rId7" Type="http://schemas.openxmlformats.org/officeDocument/2006/relationships/image" Target="../media/image5.png"/><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14.xml"/></Relationships>
</file>

<file path=ppt/slides/_rels/slide3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7.xml"/><Relationship Id="rId7" Type="http://schemas.openxmlformats.org/officeDocument/2006/relationships/image" Target="../media/image5.png"/><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18.xml"/></Relationships>
</file>

<file path=ppt/slides/_rels/slide3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21.xml"/><Relationship Id="rId7" Type="http://schemas.openxmlformats.org/officeDocument/2006/relationships/image" Target="../media/image5.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22.xml"/></Relationships>
</file>

<file path=ppt/slides/_rels/slide3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25.xml"/><Relationship Id="rId7" Type="http://schemas.openxmlformats.org/officeDocument/2006/relationships/image" Target="../media/image5.png"/><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26.xml"/></Relationships>
</file>

<file path=ppt/slides/_rels/slide3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29.xml"/><Relationship Id="rId7" Type="http://schemas.openxmlformats.org/officeDocument/2006/relationships/image" Target="../media/image5.png"/><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30.xml"/></Relationships>
</file>

<file path=ppt/slides/_rels/slide3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33.xml"/><Relationship Id="rId7" Type="http://schemas.openxmlformats.org/officeDocument/2006/relationships/image" Target="../media/image5.pn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34.xml"/></Relationships>
</file>

<file path=ppt/slides/_rels/slide3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37.xml"/><Relationship Id="rId7" Type="http://schemas.openxmlformats.org/officeDocument/2006/relationships/image" Target="../media/image5.pn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38.xml"/></Relationships>
</file>

<file path=ppt/slides/_rels/slide3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41.xml"/><Relationship Id="rId7" Type="http://schemas.openxmlformats.org/officeDocument/2006/relationships/image" Target="../media/image5.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42.xml"/></Relationships>
</file>

<file path=ppt/slides/_rels/slide3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45.xml"/><Relationship Id="rId7" Type="http://schemas.openxmlformats.org/officeDocument/2006/relationships/image" Target="../media/image5.png"/><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46.xml"/></Relationships>
</file>

<file path=ppt/slides/_rels/slide3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49.xml"/><Relationship Id="rId7" Type="http://schemas.openxmlformats.org/officeDocument/2006/relationships/image" Target="../media/image5.png"/><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50.xml"/></Relationships>
</file>

<file path=ppt/slides/_rels/slide3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53.xml"/><Relationship Id="rId7" Type="http://schemas.openxmlformats.org/officeDocument/2006/relationships/image" Target="../media/image5.png"/><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54.xml"/></Relationships>
</file>

<file path=ppt/slides/_rels/slide4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57.xml"/><Relationship Id="rId7" Type="http://schemas.openxmlformats.org/officeDocument/2006/relationships/image" Target="../media/image5.pn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58.xml"/></Relationships>
</file>

<file path=ppt/slides/_rels/slide4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61.xml"/><Relationship Id="rId7" Type="http://schemas.openxmlformats.org/officeDocument/2006/relationships/image" Target="../media/image5.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62.xml"/></Relationships>
</file>

<file path=ppt/slides/_rels/slide4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65.xml"/><Relationship Id="rId7" Type="http://schemas.openxmlformats.org/officeDocument/2006/relationships/image" Target="../media/image5.png"/><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66.xml"/></Relationships>
</file>

<file path=ppt/slides/_rels/slide4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69.xml"/><Relationship Id="rId7" Type="http://schemas.openxmlformats.org/officeDocument/2006/relationships/image" Target="../media/image5.png"/><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70.xml"/></Relationships>
</file>

<file path=ppt/slides/_rels/slide4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73.xml"/><Relationship Id="rId7" Type="http://schemas.openxmlformats.org/officeDocument/2006/relationships/image" Target="../media/image5.png"/><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74.xml"/></Relationships>
</file>

<file path=ppt/slides/_rels/slide4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77.xml"/><Relationship Id="rId7" Type="http://schemas.openxmlformats.org/officeDocument/2006/relationships/image" Target="../media/image5.png"/><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78.xml"/></Relationships>
</file>

<file path=ppt/slides/_rels/slide4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81.xml"/><Relationship Id="rId7" Type="http://schemas.openxmlformats.org/officeDocument/2006/relationships/image" Target="../media/image5.png"/><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82.xml"/></Relationships>
</file>

<file path=ppt/slides/_rels/slide4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85.xml"/><Relationship Id="rId7" Type="http://schemas.openxmlformats.org/officeDocument/2006/relationships/image" Target="../media/image5.png"/><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86.xml"/></Relationships>
</file>

<file path=ppt/slides/_rels/slide4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89.xml"/><Relationship Id="rId7" Type="http://schemas.openxmlformats.org/officeDocument/2006/relationships/image" Target="../media/image5.png"/><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90.xml"/></Relationships>
</file>

<file path=ppt/slides/_rels/slide4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93.xml"/><Relationship Id="rId7" Type="http://schemas.openxmlformats.org/officeDocument/2006/relationships/image" Target="../media/image5.png"/><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94.xml"/></Relationships>
</file>

<file path=ppt/slides/_rels/slide5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97.xml"/><Relationship Id="rId7" Type="http://schemas.openxmlformats.org/officeDocument/2006/relationships/image" Target="../media/image5.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198.xml"/></Relationships>
</file>

<file path=ppt/slides/_rels/slide5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01.xml"/><Relationship Id="rId7" Type="http://schemas.openxmlformats.org/officeDocument/2006/relationships/image" Target="../media/image5.png"/><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202.xml"/></Relationships>
</file>

<file path=ppt/slides/_rels/slide5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05.xml"/><Relationship Id="rId7" Type="http://schemas.openxmlformats.org/officeDocument/2006/relationships/image" Target="../media/image5.png"/><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206.xml"/></Relationships>
</file>

<file path=ppt/slides/_rels/slide5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09.xml"/><Relationship Id="rId7" Type="http://schemas.openxmlformats.org/officeDocument/2006/relationships/image" Target="../media/image5.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210.xml"/></Relationships>
</file>

<file path=ppt/slides/_rels/slide5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13.xml"/><Relationship Id="rId7" Type="http://schemas.openxmlformats.org/officeDocument/2006/relationships/image" Target="../media/image5.png"/><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214.xml"/></Relationships>
</file>

<file path=ppt/slides/_rels/slide5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17.xml"/><Relationship Id="rId7" Type="http://schemas.openxmlformats.org/officeDocument/2006/relationships/image" Target="../media/image5.png"/><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218.xml"/></Relationships>
</file>

<file path=ppt/slides/_rels/slide5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21.xml"/><Relationship Id="rId7" Type="http://schemas.openxmlformats.org/officeDocument/2006/relationships/image" Target="../media/image5.png"/><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tags" Target="../tags/tag222.xml"/></Relationships>
</file>

<file path=ppt/slides/_rels/slide5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25.xml"/><Relationship Id="rId7" Type="http://schemas.openxmlformats.org/officeDocument/2006/relationships/slideLayout" Target="../slideLayouts/slideLayout2.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tags" Target="../tags/tag228.xml"/><Relationship Id="rId11" Type="http://schemas.openxmlformats.org/officeDocument/2006/relationships/image" Target="../media/image10.png"/><Relationship Id="rId5" Type="http://schemas.openxmlformats.org/officeDocument/2006/relationships/tags" Target="../tags/tag227.xml"/><Relationship Id="rId10" Type="http://schemas.openxmlformats.org/officeDocument/2006/relationships/image" Target="../media/image9.png"/><Relationship Id="rId4" Type="http://schemas.openxmlformats.org/officeDocument/2006/relationships/tags" Target="../tags/tag226.xml"/><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6" descr="C:\Users\parul\Desktop\temp.png"/>
          <p:cNvPicPr>
            <a:picLocks noChangeAspect="1"/>
          </p:cNvPicPr>
          <p:nvPr>
            <p:custDataLst>
              <p:tags r:id="rId1"/>
            </p:custDataLst>
          </p:nvPr>
        </p:nvPicPr>
        <p:blipFill>
          <a:blip r:embed="rId4"/>
          <a:srcRect/>
          <a:stretch>
            <a:fillRect/>
          </a:stretch>
        </p:blipFill>
        <p:spPr bwMode="auto">
          <a:xfrm>
            <a:off x="0" y="-22225"/>
            <a:ext cx="9144000" cy="6900863"/>
          </a:xfrm>
          <a:prstGeom prst="rect">
            <a:avLst/>
          </a:prstGeom>
          <a:noFill/>
          <a:ln w="9525">
            <a:noFill/>
            <a:miter lim="800000"/>
            <a:headEnd/>
            <a:tailEnd/>
          </a:ln>
        </p:spPr>
      </p:pic>
      <p:sp>
        <p:nvSpPr>
          <p:cNvPr id="2051" name="TextBox 4"/>
          <p:cNvSpPr>
            <a:spLocks noChangeArrowheads="1"/>
          </p:cNvSpPr>
          <p:nvPr>
            <p:custDataLst>
              <p:tags r:id="rId2"/>
            </p:custDataLst>
          </p:nvPr>
        </p:nvSpPr>
        <p:spPr bwMode="auto">
          <a:xfrm>
            <a:off x="304800" y="1143000"/>
            <a:ext cx="8153400" cy="2590800"/>
          </a:xfrm>
          <a:prstGeom prst="rect">
            <a:avLst/>
          </a:prstGeom>
          <a:noFill/>
          <a:ln w="9525">
            <a:noFill/>
            <a:miter lim="800000"/>
            <a:headEnd/>
            <a:tailEnd/>
          </a:ln>
        </p:spPr>
        <p:txBody>
          <a:bodyPr/>
          <a:lstStyle/>
          <a:p>
            <a:endParaRPr lang="en-US" sz="3600" dirty="0"/>
          </a:p>
          <a:p>
            <a:r>
              <a:rPr lang="en-US" sz="3600" dirty="0"/>
              <a:t> </a:t>
            </a:r>
            <a:r>
              <a:rPr lang="en-US" sz="3200" b="1" dirty="0"/>
              <a:t>Subject: Artificial Intelligence  </a:t>
            </a:r>
            <a:endParaRPr lang="en-US" altLang="en-US" sz="2400" b="1" dirty="0">
              <a:solidFill>
                <a:srgbClr val="000000"/>
              </a:solidFill>
              <a:latin typeface="Calibri" pitchFamily="34" charset="0"/>
              <a:cs typeface="Times New Roman" pitchFamily="18" charset="0"/>
            </a:endParaRPr>
          </a:p>
          <a:p>
            <a:r>
              <a:rPr lang="en-US" altLang="en-US" sz="2400" b="1" dirty="0">
                <a:solidFill>
                  <a:srgbClr val="000000"/>
                </a:solidFill>
                <a:latin typeface="Calibri" pitchFamily="34" charset="0"/>
                <a:cs typeface="Times New Roman" pitchFamily="18" charset="0"/>
              </a:rPr>
              <a:t>Unit 5 :  </a:t>
            </a:r>
            <a:r>
              <a:rPr lang="en-US" altLang="en-US" sz="2400" dirty="0">
                <a:solidFill>
                  <a:srgbClr val="000000"/>
                </a:solidFill>
                <a:latin typeface="Calibri" pitchFamily="34" charset="0"/>
                <a:cs typeface="Times New Roman" pitchFamily="18" charset="0"/>
              </a:rPr>
              <a:t>Fuzzy Sets and Fuzzy Logics</a:t>
            </a:r>
            <a:endParaRPr lang="en-US" sz="3600" dirty="0"/>
          </a:p>
          <a:p>
            <a:pPr algn="ctr" eaLnBrk="0" hangingPunct="0">
              <a:spcBef>
                <a:spcPct val="20000"/>
              </a:spcBef>
              <a:buFont typeface="Arial" pitchFamily="34" charset="0"/>
              <a:buNone/>
            </a:pPr>
            <a:r>
              <a:rPr lang="en-US" altLang="en-US" sz="2800" dirty="0">
                <a:solidFill>
                  <a:srgbClr val="000000"/>
                </a:solidFill>
                <a:latin typeface="Calibri" pitchFamily="34" charset="0"/>
                <a:cs typeface="Times New Roman" pitchFamily="18" charset="0"/>
              </a:rPr>
              <a:t>Computer Science &amp; Engineering</a:t>
            </a:r>
          </a:p>
          <a:p>
            <a:pPr algn="r" eaLnBrk="0" hangingPunct="0">
              <a:spcBef>
                <a:spcPct val="20000"/>
              </a:spcBef>
              <a:buFont typeface="Arial" pitchFamily="34" charset="0"/>
              <a:buNone/>
            </a:pPr>
            <a:r>
              <a:rPr lang="en-US" altLang="en-US" sz="2000" dirty="0">
                <a:solidFill>
                  <a:srgbClr val="000000"/>
                </a:solidFill>
                <a:latin typeface="Calibri" pitchFamily="34" charset="0"/>
                <a:cs typeface="Times New Roman" pitchFamily="18" charset="0"/>
              </a:rPr>
              <a:t>Ashwani Chaudhary ( PIET-CSE)</a:t>
            </a:r>
            <a:endParaRPr lang="en-IN" altLang="en-US" sz="2000" dirty="0">
              <a:solidFill>
                <a:srgbClr val="000000"/>
              </a:solidFill>
              <a:latin typeface="Calibri" pitchFamily="34" charset="0"/>
              <a:cs typeface="Times New Roman" pitchFamily="18" charset="0"/>
            </a:endParaRPr>
          </a:p>
          <a:p>
            <a:pPr algn="ctr" eaLnBrk="0" hangingPunct="0">
              <a:buFont typeface="Arial" pitchFamily="34" charset="0"/>
              <a:buNone/>
            </a:pPr>
            <a:endParaRPr lang="en-IN" altLang="en-US" sz="3500" b="1" dirty="0">
              <a:solidFill>
                <a:srgbClr val="000000"/>
              </a:solidFill>
              <a:latin typeface="Calibri" pitchFamily="34" charset="0"/>
              <a:cs typeface="Times New Roman" pitchFamily="18" charset="0"/>
            </a:endParaRPr>
          </a:p>
        </p:txBody>
      </p:sp>
      <p:pic>
        <p:nvPicPr>
          <p:cNvPr id="2052" name="Audio 2">
            <a:hlinkClick r:id="" action="ppaction://media"/>
          </p:cNvPr>
          <p:cNvPicPr>
            <a:picLocks noChangeAspect="1"/>
          </p:cNvPicPr>
          <p:nvPr/>
        </p:nvPicPr>
        <p:blipFill>
          <a:blip r:embed="rId5"/>
          <a:srcRect/>
          <a:stretch>
            <a:fillRect/>
          </a:stretch>
        </p:blipFill>
        <p:spPr bwMode="auto">
          <a:xfrm>
            <a:off x="8318500" y="6032500"/>
            <a:ext cx="609600" cy="609600"/>
          </a:xfrm>
          <a:prstGeom prst="rect">
            <a:avLst/>
          </a:prstGeom>
          <a:noFill/>
          <a:ln w="9525">
            <a:noFill/>
            <a:miter lim="800000"/>
            <a:headEnd/>
            <a:tailEnd/>
          </a:ln>
        </p:spPr>
      </p:pic>
      <p:pic>
        <p:nvPicPr>
          <p:cNvPr id="7" name="Picture 6"/>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2400" y="152400"/>
            <a:ext cx="3276600" cy="1143000"/>
          </a:xfrm>
          <a:prstGeom prst="rect">
            <a:avLst/>
          </a:prstGeom>
          <a:noFill/>
          <a:ln>
            <a:noFill/>
          </a:ln>
        </p:spPr>
      </p:pic>
      <p:sp>
        <p:nvSpPr>
          <p:cNvPr id="8" name="TextBox 7"/>
          <p:cNvSpPr txBox="1"/>
          <p:nvPr/>
        </p:nvSpPr>
        <p:spPr>
          <a:xfrm>
            <a:off x="3505200" y="228600"/>
            <a:ext cx="5334000" cy="1107996"/>
          </a:xfrm>
          <a:prstGeom prst="rect">
            <a:avLst/>
          </a:prstGeom>
          <a:noFill/>
        </p:spPr>
        <p:txBody>
          <a:bodyPr wrap="square" rtlCol="0">
            <a:spAutoFit/>
          </a:bodyPr>
          <a:lstStyle/>
          <a:p>
            <a:r>
              <a:rPr lang="en-US" sz="1600" b="1" dirty="0"/>
              <a:t>PARULINSTITUTEOF ENGINEERING &amp;TECHNOLOGY</a:t>
            </a:r>
            <a:endParaRPr lang="en-US" sz="1600" dirty="0"/>
          </a:p>
          <a:p>
            <a:r>
              <a:rPr lang="en-US" sz="1600" b="1" dirty="0"/>
              <a:t>FACULTY OF ENGINEERING &amp; TECHNOLOGY</a:t>
            </a:r>
            <a:endParaRPr lang="en-US" sz="1600" dirty="0"/>
          </a:p>
          <a:p>
            <a:r>
              <a:rPr lang="en-US" sz="1600" b="1" dirty="0"/>
              <a:t>PARULUNIVERSITY</a:t>
            </a:r>
            <a:endParaRPr lang="en-US" dirty="0"/>
          </a:p>
          <a:p>
            <a:endParaRPr lang="en-US" dirty="0"/>
          </a:p>
        </p:txBody>
      </p:sp>
    </p:spTree>
  </p:cSld>
  <p:clrMapOvr>
    <a:masterClrMapping/>
  </p:clrMapOvr>
  <p:transition advTm="3055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AE8A4A0-3AB2-98AD-98A7-5A20DCC965B4}"/>
              </a:ext>
            </a:extLst>
          </p:cNvPr>
          <p:cNvGrpSpPr/>
          <p:nvPr/>
        </p:nvGrpSpPr>
        <p:grpSpPr>
          <a:xfrm>
            <a:off x="0" y="0"/>
            <a:ext cx="9144000" cy="6900863"/>
            <a:chOff x="0" y="0"/>
            <a:chExt cx="9144000" cy="6900863"/>
          </a:xfrm>
        </p:grpSpPr>
        <p:pic>
          <p:nvPicPr>
            <p:cNvPr id="3074"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spcBef>
                  <a:spcPct val="0"/>
                </a:spcBef>
                <a:buFont typeface="Arial" panose="020B0604020202020204" pitchFamily="34" charset="0"/>
                <a:buNone/>
                <a:defRPr/>
              </a:pPr>
              <a:r>
                <a:rPr lang="en-IN" sz="4400" dirty="0">
                  <a:solidFill>
                    <a:schemeClr val="bg1"/>
                  </a:solidFill>
                  <a:latin typeface="+mj-lt"/>
                </a:rPr>
                <a:t>Outline</a:t>
              </a:r>
              <a:endParaRPr lang="en-US" altLang="en-US" sz="4400" dirty="0">
                <a:solidFill>
                  <a:schemeClr val="bg1"/>
                </a:solidFill>
                <a:latin typeface="+mj-lt"/>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3077"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5"/>
              <a:ext cx="8763000" cy="3539430"/>
            </a:xfrm>
            <a:prstGeom prst="rect">
              <a:avLst/>
            </a:prstGeom>
            <a:noFill/>
          </p:spPr>
          <p:txBody>
            <a:bodyPr>
              <a:spAutoFit/>
            </a:bodyPr>
            <a:lstStyle/>
            <a:p>
              <a:pPr marL="285750" indent="-285750" algn="just" eaLnBrk="0" hangingPunct="0">
                <a:buFont typeface="Arial" panose="020B0604020202020204" pitchFamily="34" charset="0"/>
                <a:buChar char="•"/>
                <a:defRPr/>
              </a:pPr>
              <a:r>
                <a:rPr lang="en-US" sz="2200" dirty="0"/>
                <a:t>Introduction to Fuzzy sets and Classical sets</a:t>
              </a:r>
            </a:p>
            <a:p>
              <a:pPr marL="285750" lvl="0" indent="-285750" algn="just" eaLnBrk="0" hangingPunct="0">
                <a:buFont typeface="Arial" panose="020B0604020202020204" pitchFamily="34" charset="0"/>
                <a:buChar char="•"/>
                <a:defRPr/>
              </a:pPr>
              <a:r>
                <a:rPr lang="en-US" sz="2200" dirty="0">
                  <a:solidFill>
                    <a:prstClr val="black"/>
                  </a:solidFill>
                </a:rPr>
                <a:t>Fuzzy sets vs Classical sets</a:t>
              </a:r>
              <a:endParaRPr lang="en-US" sz="2200" dirty="0"/>
            </a:p>
            <a:p>
              <a:pPr marL="285750" indent="-285750" algn="just" eaLnBrk="0" hangingPunct="0">
                <a:buFont typeface="Arial" panose="020B0604020202020204" pitchFamily="34" charset="0"/>
                <a:buChar char="•"/>
                <a:defRPr/>
              </a:pPr>
              <a:r>
                <a:rPr lang="en-US" sz="2200" dirty="0"/>
                <a:t>Fuzzy sets operations	</a:t>
              </a:r>
              <a:endParaRPr lang="en-US" sz="2400" dirty="0"/>
            </a:p>
            <a:p>
              <a:pPr algn="just">
                <a:buFont typeface="Arial" pitchFamily="34" charset="0"/>
                <a:buChar char="•"/>
              </a:pPr>
              <a:r>
                <a:rPr lang="fr-FR" sz="2400" dirty="0"/>
                <a:t> </a:t>
              </a:r>
              <a:r>
                <a:rPr lang="en-US" sz="2400" dirty="0"/>
                <a:t> Membership functions</a:t>
              </a:r>
              <a:endParaRPr lang="en-IN" sz="2400" dirty="0"/>
            </a:p>
            <a:p>
              <a:pPr algn="just">
                <a:buFont typeface="Arial" pitchFamily="34" charset="0"/>
                <a:buChar char="•"/>
              </a:pPr>
              <a:r>
                <a:rPr lang="en-US" sz="2400" dirty="0"/>
                <a:t>  Introduction to Fuzzy logic</a:t>
              </a:r>
            </a:p>
            <a:p>
              <a:pPr algn="just">
                <a:buFont typeface="Arial" pitchFamily="34" charset="0"/>
                <a:buChar char="•"/>
              </a:pPr>
              <a:r>
                <a:rPr lang="en-IN" sz="2200" dirty="0"/>
                <a:t>  About Hedges</a:t>
              </a:r>
            </a:p>
            <a:p>
              <a:pPr algn="just">
                <a:buFont typeface="Arial" pitchFamily="34" charset="0"/>
                <a:buChar char="•"/>
              </a:pPr>
              <a:r>
                <a:rPr lang="en-IN" sz="2200" dirty="0"/>
                <a:t>  Fuzzy propositions and inference rules</a:t>
              </a:r>
            </a:p>
            <a:p>
              <a:pPr algn="just">
                <a:buFont typeface="Arial" pitchFamily="34" charset="0"/>
                <a:buChar char="•"/>
              </a:pPr>
              <a:r>
                <a:rPr lang="en-IN" sz="2200" dirty="0"/>
                <a:t>  Problem Characteristics, Production Systems. </a:t>
              </a:r>
            </a:p>
            <a:p>
              <a:pPr algn="just">
                <a:buFont typeface="Arial" pitchFamily="34" charset="0"/>
                <a:buChar char="•"/>
              </a:pPr>
              <a:endParaRPr lang="en-IN" sz="2200" dirty="0"/>
            </a:p>
            <a:p>
              <a:pPr>
                <a:buFont typeface="Arial" pitchFamily="34" charset="0"/>
                <a:buChar char="•"/>
              </a:pPr>
              <a:endParaRPr lang="en-IN" sz="2200" dirty="0"/>
            </a:p>
          </p:txBody>
        </p:sp>
        <p:pic>
          <p:nvPicPr>
            <p:cNvPr id="3079"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grpSp>
    </p:spTree>
  </p:cSld>
  <p:clrMapOvr>
    <a:masterClrMapping/>
  </p:clrMapOvr>
  <p:transition advTm="7742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Introduction to Fuzzy sets </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138377"/>
          </a:xfrm>
          <a:prstGeom prst="rect">
            <a:avLst/>
          </a:prstGeom>
          <a:noFill/>
        </p:spPr>
        <p:txBody>
          <a:bodyPr wrap="square">
            <a:spAutoFit/>
          </a:bodyPr>
          <a:lstStyle/>
          <a:p>
            <a:r>
              <a:rPr lang="en-US" sz="2400" b="1" dirty="0"/>
              <a:t>Introduction</a:t>
            </a:r>
          </a:p>
          <a:p>
            <a:pPr algn="just">
              <a:lnSpc>
                <a:spcPct val="150000"/>
              </a:lnSpc>
            </a:pPr>
            <a:r>
              <a:rPr lang="en-IN" sz="2000" dirty="0"/>
              <a:t>Fuzzy sets are a fundamental concept in the field of artificial intelligence (AI) and are particularly important in dealing with uncertainty and imprecision in data. Traditional set theory in mathematics deals with crisp sets, where an element either belongs to a set or does not. However, many real-world problems involve situations where this binary membership is too restrictive. Fuzzy set theory, introduced by </a:t>
            </a:r>
            <a:r>
              <a:rPr lang="en-IN" sz="2000" dirty="0" err="1"/>
              <a:t>Lotfi</a:t>
            </a:r>
            <a:r>
              <a:rPr lang="en-IN" sz="2000" dirty="0"/>
              <a:t> Zadeh in 1965, provides a way to handle such situations.</a:t>
            </a:r>
          </a:p>
          <a:p>
            <a:pPr algn="just">
              <a:lnSpc>
                <a:spcPct val="150000"/>
              </a:lnSpc>
              <a:buFont typeface="Arial" pitchFamily="34" charset="0"/>
              <a:buChar char="•"/>
            </a:pPr>
            <a:endParaRPr lang="en-US" sz="22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transition advTm="7742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Key Concepts of Fuzzy Sets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3368936"/>
          </a:xfrm>
          <a:prstGeom prst="rect">
            <a:avLst/>
          </a:prstGeom>
          <a:noFill/>
        </p:spPr>
        <p:txBody>
          <a:bodyPr wrap="square">
            <a:spAutoFit/>
          </a:bodyPr>
          <a:lstStyle/>
          <a:p>
            <a:r>
              <a:rPr lang="en-US" sz="2400" b="1" dirty="0"/>
              <a:t>1. Membership Function </a:t>
            </a:r>
          </a:p>
          <a:p>
            <a:endParaRPr lang="en-IN" sz="2000" dirty="0"/>
          </a:p>
          <a:p>
            <a:r>
              <a:rPr lang="en-IN" sz="2000" dirty="0"/>
              <a:t>Fuzzy sets are a fundamental concept in the field of artificial intelligence (AI) and are particularly important in dealing with uncertainty and imprecision in data. Traditional set theory in mathematics deals with crisp sets, where an element either belongs to a set or does not. However, many real-world problems involve situations where this binary membership is too restrictive. Fuzzy set theory, introduced by </a:t>
            </a:r>
            <a:r>
              <a:rPr lang="en-IN" sz="2000" dirty="0" err="1"/>
              <a:t>Lotfi</a:t>
            </a:r>
            <a:r>
              <a:rPr lang="en-IN" sz="2000" dirty="0"/>
              <a:t> Zadeh in 1965, provides a way to handle such situations.</a:t>
            </a:r>
          </a:p>
          <a:p>
            <a:pPr algn="just">
              <a:lnSpc>
                <a:spcPct val="150000"/>
              </a:lnSpc>
              <a:buFont typeface="Arial" pitchFamily="34" charset="0"/>
              <a:buChar char="•"/>
            </a:pPr>
            <a:endParaRPr lang="en-US" sz="22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32716744"/>
      </p:ext>
    </p:extLst>
  </p:cSld>
  <p:clrMapOvr>
    <a:masterClrMapping/>
  </p:clrMapOvr>
  <p:transition advTm="7742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Key Concepts of Fuzzy Sets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2959208"/>
          </a:xfrm>
          <a:prstGeom prst="rect">
            <a:avLst/>
          </a:prstGeom>
          <a:noFill/>
        </p:spPr>
        <p:txBody>
          <a:bodyPr wrap="square">
            <a:spAutoFit/>
          </a:bodyPr>
          <a:lstStyle/>
          <a:p>
            <a:r>
              <a:rPr lang="en-US" sz="2000" b="1" dirty="0"/>
              <a:t>2. Fuzzy Logic</a:t>
            </a:r>
          </a:p>
          <a:p>
            <a:endParaRPr lang="en-IN" sz="2000" dirty="0"/>
          </a:p>
          <a:p>
            <a:pPr algn="just">
              <a:lnSpc>
                <a:spcPct val="150000"/>
              </a:lnSpc>
            </a:pPr>
            <a:r>
              <a:rPr lang="en-IN" sz="2000" dirty="0"/>
              <a:t>Fuzzy logic is an extension of classical logic that handles the concept of partial truth. It allows for reasoning with degrees of truth rather than the traditional true or false (1 or 0) values. This is useful in AI for developing systems that mimic human reasoning more closely, especially in complex or ambiguous environments</a:t>
            </a:r>
            <a:endParaRPr lang="en-US" sz="20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553320842"/>
      </p:ext>
    </p:extLst>
  </p:cSld>
  <p:clrMapOvr>
    <a:masterClrMapping/>
  </p:clrMapOvr>
  <p:transition advTm="7742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Key Concepts of Fuzzy Sets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3477875"/>
          </a:xfrm>
          <a:prstGeom prst="rect">
            <a:avLst/>
          </a:prstGeom>
          <a:noFill/>
        </p:spPr>
        <p:txBody>
          <a:bodyPr wrap="square">
            <a:spAutoFit/>
          </a:bodyPr>
          <a:lstStyle/>
          <a:p>
            <a:pPr algn="just"/>
            <a:r>
              <a:rPr lang="en-IN" sz="2000" b="1" dirty="0"/>
              <a:t>3. Fuzzy Operations</a:t>
            </a:r>
            <a:endParaRPr lang="en-US" sz="2800" b="1" dirty="0"/>
          </a:p>
          <a:p>
            <a:pPr algn="just"/>
            <a:endParaRPr lang="en-US" sz="2000" b="1" dirty="0"/>
          </a:p>
          <a:p>
            <a:pPr lvl="1" algn="just"/>
            <a:r>
              <a:rPr lang="en-IN" sz="2000" dirty="0"/>
              <a:t>Fuzzy set operations extend classical set operations to handle </a:t>
            </a:r>
            <a:r>
              <a:rPr lang="en-IN" sz="2000" dirty="0" err="1"/>
              <a:t>degreeof</a:t>
            </a:r>
            <a:r>
              <a:rPr lang="en-IN" sz="2000" dirty="0"/>
              <a:t> membership. The primary operations include:</a:t>
            </a:r>
          </a:p>
          <a:p>
            <a:pPr lvl="2" algn="just"/>
            <a:r>
              <a:rPr lang="en-IN" sz="2000" b="1" dirty="0"/>
              <a:t>Union</a:t>
            </a:r>
            <a:r>
              <a:rPr lang="en-IN" sz="2000" dirty="0"/>
              <a:t>: The membership function of the union of two fuzzy sets is the maximum of the membership functions of the individual sets.</a:t>
            </a:r>
          </a:p>
          <a:p>
            <a:pPr lvl="2" algn="just"/>
            <a:r>
              <a:rPr lang="en-IN" sz="2000" b="1" dirty="0"/>
              <a:t>Intersection</a:t>
            </a:r>
            <a:r>
              <a:rPr lang="en-IN" sz="2000" dirty="0"/>
              <a:t>: The membership function of the intersection is the minimum of the membership functions of the individual sets.</a:t>
            </a:r>
          </a:p>
          <a:p>
            <a:pPr lvl="2" algn="just"/>
            <a:r>
              <a:rPr lang="en-IN" sz="2000" b="1" dirty="0"/>
              <a:t>Complement</a:t>
            </a:r>
            <a:r>
              <a:rPr lang="en-IN" sz="2000" dirty="0"/>
              <a:t>: The membership function of the complement of a fuzzy set is one minus the membership function of the set.</a:t>
            </a:r>
          </a:p>
          <a:p>
            <a:endParaRPr lang="en-IN" sz="20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758781011"/>
      </p:ext>
    </p:extLst>
  </p:cSld>
  <p:clrMapOvr>
    <a:masterClrMapping/>
  </p:clrMapOvr>
  <p:transition advTm="7742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Key Concepts of Fuzzy Sets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3908762"/>
          </a:xfrm>
          <a:prstGeom prst="rect">
            <a:avLst/>
          </a:prstGeom>
          <a:noFill/>
        </p:spPr>
        <p:txBody>
          <a:bodyPr wrap="square">
            <a:spAutoFit/>
          </a:bodyPr>
          <a:lstStyle/>
          <a:p>
            <a:pPr algn="just"/>
            <a:r>
              <a:rPr lang="en-US" sz="2800" b="1" dirty="0"/>
              <a:t>4. Fuzzy Inference Systems</a:t>
            </a:r>
          </a:p>
          <a:p>
            <a:pPr algn="just"/>
            <a:endParaRPr lang="en-US" sz="2000" b="1" dirty="0"/>
          </a:p>
          <a:p>
            <a:pPr lvl="1" algn="just"/>
            <a:r>
              <a:rPr lang="en-IN" sz="2000" dirty="0"/>
              <a:t>These systems use fuzzy logic to map inputs to outputs. They are widely used in control systems, decision-making, and pattern recognition. The two main types of fuzzy inference systems are</a:t>
            </a:r>
          </a:p>
          <a:p>
            <a:pPr lvl="1" algn="just"/>
            <a:r>
              <a:rPr lang="en-IN" sz="2000" b="1" dirty="0"/>
              <a:t>Mamdani-type</a:t>
            </a:r>
            <a:r>
              <a:rPr lang="en-IN" sz="2000" dirty="0"/>
              <a:t> </a:t>
            </a:r>
          </a:p>
          <a:p>
            <a:pPr lvl="1" algn="just"/>
            <a:r>
              <a:rPr lang="en-IN" sz="2000" dirty="0"/>
              <a:t>Typically used in control systems, this approach uses fuzzy sets for both inputs and outputs.</a:t>
            </a:r>
          </a:p>
          <a:p>
            <a:pPr lvl="1" algn="just"/>
            <a:r>
              <a:rPr lang="en-IN" sz="2000" b="1" dirty="0" err="1"/>
              <a:t>Sugeno</a:t>
            </a:r>
            <a:r>
              <a:rPr lang="en-IN" sz="2000" b="1" dirty="0"/>
              <a:t>-type</a:t>
            </a:r>
          </a:p>
          <a:p>
            <a:pPr lvl="1" algn="just"/>
            <a:r>
              <a:rPr lang="en-IN" sz="2000" dirty="0"/>
              <a:t>Often used in optimization and adaptive control, this approach uses fuzzy sets for inputs but crisp values for outputs.</a:t>
            </a:r>
          </a:p>
          <a:p>
            <a:endParaRPr lang="en-IN" sz="20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709618093"/>
      </p:ext>
    </p:extLst>
  </p:cSld>
  <p:clrMapOvr>
    <a:masterClrMapping/>
  </p:clrMapOvr>
  <p:transition advTm="7742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22412"/>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Key Concepts of Fuzzy Sets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86018" y="2200275"/>
            <a:ext cx="8763000" cy="4616648"/>
          </a:xfrm>
          <a:prstGeom prst="rect">
            <a:avLst/>
          </a:prstGeom>
          <a:noFill/>
        </p:spPr>
        <p:txBody>
          <a:bodyPr wrap="square">
            <a:spAutoFit/>
          </a:bodyPr>
          <a:lstStyle/>
          <a:p>
            <a:pPr algn="just"/>
            <a:r>
              <a:rPr lang="en-US" sz="2800" b="1" dirty="0"/>
              <a:t>5. Application in AI</a:t>
            </a:r>
            <a:endParaRPr lang="en-US" sz="2000" b="1" dirty="0"/>
          </a:p>
          <a:p>
            <a:pPr algn="just"/>
            <a:r>
              <a:rPr lang="en-US" b="1" dirty="0"/>
              <a:t>Control Systems</a:t>
            </a:r>
          </a:p>
          <a:p>
            <a:pPr algn="just"/>
            <a:r>
              <a:rPr lang="en-US" dirty="0"/>
              <a:t>Fuzzy logic controllers are used in various applications, such as automotive systems (e.g., automatic transmission control), home appliances (e.g., washing machines), and industrial processes.</a:t>
            </a:r>
          </a:p>
          <a:p>
            <a:pPr algn="just"/>
            <a:r>
              <a:rPr lang="en-US" b="1" dirty="0"/>
              <a:t>Decision Making</a:t>
            </a:r>
          </a:p>
          <a:p>
            <a:pPr algn="just"/>
            <a:r>
              <a:rPr lang="en-US" dirty="0"/>
              <a:t>Fuzzy logic is used in expert systems for decision-making under uncertainty, such as medical diagnosis, financial forecasting, and risk assessment.</a:t>
            </a:r>
          </a:p>
          <a:p>
            <a:pPr algn="just"/>
            <a:r>
              <a:rPr lang="en-US" sz="2000" b="1" dirty="0"/>
              <a:t>Pattern Recognition</a:t>
            </a:r>
          </a:p>
          <a:p>
            <a:pPr algn="just"/>
            <a:r>
              <a:rPr lang="en-US" sz="2000" dirty="0"/>
              <a:t>Fuzzy set theory helps in image processing, voice recognition, and data classification where patterns are not well-defined.</a:t>
            </a:r>
          </a:p>
          <a:p>
            <a:pPr algn="just"/>
            <a:r>
              <a:rPr lang="en-US" sz="2000" b="1" dirty="0"/>
              <a:t>Natural Language Processing (NLP) </a:t>
            </a:r>
          </a:p>
          <a:p>
            <a:pPr algn="just"/>
            <a:r>
              <a:rPr lang="en-US" sz="2000" dirty="0"/>
              <a:t>Handling the imprecision and ambiguity inherent in human language can be effectively managed using fuzzy sets.</a:t>
            </a:r>
          </a:p>
          <a:p>
            <a:endParaRPr lang="en-IN" sz="20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425696217"/>
      </p:ext>
    </p:extLst>
  </p:cSld>
  <p:clrMapOvr>
    <a:masterClrMapping/>
  </p:clrMapOvr>
  <p:transition advTm="7742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22412"/>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Key Concepts of Fuzzy Sets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9636" y="2611816"/>
            <a:ext cx="8729382" cy="3970318"/>
          </a:xfrm>
          <a:prstGeom prst="rect">
            <a:avLst/>
          </a:prstGeom>
          <a:noFill/>
        </p:spPr>
        <p:txBody>
          <a:bodyPr wrap="square">
            <a:spAutoFit/>
          </a:bodyPr>
          <a:lstStyle/>
          <a:p>
            <a:r>
              <a:rPr lang="en-US" sz="3200" b="1" dirty="0"/>
              <a:t>Advantages of Fuzzy Sets in AI</a:t>
            </a:r>
            <a:endParaRPr lang="en-US" sz="4000" b="1" dirty="0"/>
          </a:p>
          <a:p>
            <a:r>
              <a:rPr lang="en-US" sz="2000" b="1" dirty="0"/>
              <a:t>Handling Uncertainty</a:t>
            </a:r>
          </a:p>
          <a:p>
            <a:r>
              <a:rPr lang="en-US" sz="2000" dirty="0"/>
              <a:t>Fuzzy sets provide a natural way to represent and process uncertain and imprecise information.</a:t>
            </a:r>
          </a:p>
          <a:p>
            <a:endParaRPr lang="en-US" sz="2000" dirty="0"/>
          </a:p>
          <a:p>
            <a:r>
              <a:rPr lang="en-US" sz="2000" b="1" dirty="0"/>
              <a:t>Robustness</a:t>
            </a:r>
          </a:p>
          <a:p>
            <a:r>
              <a:rPr lang="en-US" sz="2000" dirty="0"/>
              <a:t>Systems based on fuzzy logic can tolerate variability and noise in input data.</a:t>
            </a:r>
          </a:p>
          <a:p>
            <a:r>
              <a:rPr lang="en-US" sz="2000" b="1" dirty="0"/>
              <a:t>Flexibility</a:t>
            </a:r>
          </a:p>
          <a:p>
            <a:endParaRPr lang="en-US" sz="2000" b="1" dirty="0"/>
          </a:p>
          <a:p>
            <a:r>
              <a:rPr lang="en-US" sz="2000" dirty="0"/>
              <a:t>Fuzzy systems can be easily modified and extended to accommodate new rules or data.</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938255839"/>
      </p:ext>
    </p:extLst>
  </p:cSld>
  <p:clrMapOvr>
    <a:masterClrMapping/>
  </p:clrMapOvr>
  <p:transition advTm="7742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22412"/>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Key Concepts of Fuzzy Sets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
        <p:nvSpPr>
          <p:cNvPr id="2" name="Rectangle 1">
            <a:extLst>
              <a:ext uri="{FF2B5EF4-FFF2-40B4-BE49-F238E27FC236}">
                <a16:creationId xmlns:a16="http://schemas.microsoft.com/office/drawing/2014/main" id="{A5F53538-A1AE-4A3C-82F2-9F233ABAD508}"/>
              </a:ext>
            </a:extLst>
          </p:cNvPr>
          <p:cNvSpPr/>
          <p:nvPr/>
        </p:nvSpPr>
        <p:spPr>
          <a:xfrm>
            <a:off x="76200" y="2774195"/>
            <a:ext cx="9144000" cy="3970318"/>
          </a:xfrm>
          <a:prstGeom prst="rect">
            <a:avLst/>
          </a:prstGeom>
        </p:spPr>
        <p:txBody>
          <a:bodyPr wrap="square">
            <a:spAutoFit/>
          </a:bodyPr>
          <a:lstStyle/>
          <a:p>
            <a:pPr algn="just"/>
            <a:r>
              <a:rPr lang="en-US" sz="3200" b="1" dirty="0"/>
              <a:t>Challenges</a:t>
            </a:r>
            <a:endParaRPr lang="en-US" sz="2400" b="1" dirty="0"/>
          </a:p>
          <a:p>
            <a:pPr algn="just"/>
            <a:r>
              <a:rPr lang="en-US" sz="2000" b="1" dirty="0"/>
              <a:t>Computational Complexity</a:t>
            </a:r>
          </a:p>
          <a:p>
            <a:pPr algn="just"/>
            <a:r>
              <a:rPr lang="en-US" sz="2000" dirty="0"/>
              <a:t>Fuzzy systems can be computationally intensive, especially for large datasets or complex rules.</a:t>
            </a:r>
          </a:p>
          <a:p>
            <a:pPr algn="just"/>
            <a:r>
              <a:rPr lang="en-US" sz="2000" b="1" dirty="0"/>
              <a:t>Interpretability</a:t>
            </a:r>
          </a:p>
          <a:p>
            <a:pPr algn="just"/>
            <a:r>
              <a:rPr lang="en-US" sz="2000" dirty="0"/>
              <a:t>Designing membership functions and rules that are interpretable and meaningful can be challenging.</a:t>
            </a:r>
          </a:p>
          <a:p>
            <a:pPr algn="just"/>
            <a:endParaRPr lang="en-US" sz="2000" dirty="0"/>
          </a:p>
          <a:p>
            <a:pPr algn="just"/>
            <a:r>
              <a:rPr lang="en-US" sz="2000" dirty="0"/>
              <a:t>Fuzzy sets and fuzzy logic have significantly contributed to making AI systems more adaptive, flexible, and closer to human-like reasoning. Their ability to handle vagueness and uncertainty makes them invaluable in many real-world applications where traditional binary logic falls short.</a:t>
            </a:r>
          </a:p>
        </p:txBody>
      </p:sp>
    </p:spTree>
    <p:extLst>
      <p:ext uri="{BB962C8B-B14F-4D97-AF65-F5344CB8AC3E}">
        <p14:creationId xmlns:p14="http://schemas.microsoft.com/office/powerpoint/2010/main" val="561055750"/>
      </p:ext>
    </p:extLst>
  </p:cSld>
  <p:clrMapOvr>
    <a:masterClrMapping/>
  </p:clrMapOvr>
  <p:transition advTm="7742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22412"/>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About Classical sets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
        <p:nvSpPr>
          <p:cNvPr id="3" name="Rectangle 2">
            <a:extLst>
              <a:ext uri="{FF2B5EF4-FFF2-40B4-BE49-F238E27FC236}">
                <a16:creationId xmlns:a16="http://schemas.microsoft.com/office/drawing/2014/main" id="{18A127F2-F197-45A3-8283-47189F0BC89B}"/>
              </a:ext>
            </a:extLst>
          </p:cNvPr>
          <p:cNvSpPr/>
          <p:nvPr/>
        </p:nvSpPr>
        <p:spPr>
          <a:xfrm>
            <a:off x="190500" y="2529922"/>
            <a:ext cx="8496300" cy="2985433"/>
          </a:xfrm>
          <a:prstGeom prst="rect">
            <a:avLst/>
          </a:prstGeom>
        </p:spPr>
        <p:txBody>
          <a:bodyPr wrap="square">
            <a:spAutoFit/>
          </a:bodyPr>
          <a:lstStyle/>
          <a:p>
            <a:pPr algn="just"/>
            <a:endParaRPr lang="en-US" sz="2000" dirty="0"/>
          </a:p>
          <a:p>
            <a:pPr algn="just"/>
            <a:r>
              <a:rPr lang="en-US" sz="2400" dirty="0"/>
              <a:t>Classical sets, also known as crisp sets, are a foundational concept in mathematics and logic, providing the basis for set theory. They are characterized by clear, unambiguous boundaries that determine whether an element belongs to a set or not. This binary nature of classical sets is a cornerstone of classical logic and various branches of mathematics and computer science.</a:t>
            </a:r>
            <a:endParaRPr lang="en-IN" sz="2400" dirty="0"/>
          </a:p>
        </p:txBody>
      </p:sp>
    </p:spTree>
    <p:extLst>
      <p:ext uri="{BB962C8B-B14F-4D97-AF65-F5344CB8AC3E}">
        <p14:creationId xmlns:p14="http://schemas.microsoft.com/office/powerpoint/2010/main" val="3970284758"/>
      </p:ext>
    </p:extLst>
  </p:cSld>
  <p:clrMapOvr>
    <a:masterClrMapping/>
  </p:clrMapOvr>
  <p:transition advTm="7742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Key Concepts of Classical Sets</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3785652"/>
          </a:xfrm>
          <a:prstGeom prst="rect">
            <a:avLst/>
          </a:prstGeom>
          <a:noFill/>
        </p:spPr>
        <p:txBody>
          <a:bodyPr wrap="square">
            <a:spAutoFit/>
          </a:bodyPr>
          <a:lstStyle/>
          <a:p>
            <a:pPr marL="514350" indent="-514350" algn="just">
              <a:buAutoNum type="arabicPeriod"/>
            </a:pPr>
            <a:r>
              <a:rPr lang="en-US" sz="2400" dirty="0"/>
              <a:t>Membership</a:t>
            </a:r>
          </a:p>
          <a:p>
            <a:pPr marL="514350" indent="-514350" algn="just">
              <a:buAutoNum type="arabicPeriod"/>
            </a:pPr>
            <a:r>
              <a:rPr lang="en-US" sz="2400" dirty="0"/>
              <a:t>Characteristic Function</a:t>
            </a:r>
          </a:p>
          <a:p>
            <a:pPr algn="just"/>
            <a:r>
              <a:rPr lang="en-IN" sz="2400" dirty="0"/>
              <a:t>3.   Basic Operations</a:t>
            </a:r>
          </a:p>
          <a:p>
            <a:pPr marL="457200" indent="-457200" algn="just">
              <a:buAutoNum type="alphaLcParenR"/>
            </a:pPr>
            <a:r>
              <a:rPr lang="en-IN" sz="2400" dirty="0"/>
              <a:t> Union</a:t>
            </a:r>
          </a:p>
          <a:p>
            <a:pPr marL="457200" indent="-457200" algn="just">
              <a:buAutoNum type="alphaLcParenR"/>
            </a:pPr>
            <a:r>
              <a:rPr lang="en-IN" sz="2400" dirty="0"/>
              <a:t> Intersection </a:t>
            </a:r>
          </a:p>
          <a:p>
            <a:pPr algn="just"/>
            <a:r>
              <a:rPr lang="en-IN" sz="2400" dirty="0"/>
              <a:t>c)    Difference</a:t>
            </a:r>
          </a:p>
          <a:p>
            <a:pPr algn="just"/>
            <a:r>
              <a:rPr lang="en-IN" sz="2400" dirty="0"/>
              <a:t>d)    Complement </a:t>
            </a:r>
          </a:p>
          <a:p>
            <a:pPr marL="457200" indent="-457200" algn="just">
              <a:buAutoNum type="alphaLcParenR" startAt="5"/>
            </a:pPr>
            <a:r>
              <a:rPr lang="en-IN" sz="2400" dirty="0"/>
              <a:t>Cartesian Product</a:t>
            </a:r>
          </a:p>
          <a:p>
            <a:pPr algn="just"/>
            <a:r>
              <a:rPr lang="en-IN" sz="2400" dirty="0"/>
              <a:t>4.   Subset and Superset</a:t>
            </a:r>
          </a:p>
          <a:p>
            <a:pPr algn="just"/>
            <a:r>
              <a:rPr lang="en-US" sz="2400" dirty="0"/>
              <a:t>5.    Empty Set and Universal Set:</a:t>
            </a:r>
            <a:endParaRPr lang="en-IN"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842124738"/>
      </p:ext>
    </p:extLst>
  </p:cSld>
  <p:clrMapOvr>
    <a:masterClrMapping/>
  </p:clrMapOvr>
  <p:transition advTm="7742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Applications of Classical Sets</a:t>
            </a:r>
            <a:endParaRPr lang="en-US" sz="4400" b="1" dirty="0">
              <a:solidFill>
                <a:schemeClr val="bg1"/>
              </a:solidFill>
            </a:endParaRPr>
          </a:p>
        </p:txBody>
      </p:sp>
      <p:sp>
        <p:nvSpPr>
          <p:cNvPr id="19461" name="TextBox 6"/>
          <p:cNvSpPr/>
          <p:nvPr>
            <p:custDataLst>
              <p:tags r:id="rId3"/>
            </p:custDataLst>
          </p:nvPr>
        </p:nvSpPr>
        <p:spPr>
          <a:xfrm>
            <a:off x="190500" y="1566676"/>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278094"/>
          </a:xfrm>
          <a:prstGeom prst="rect">
            <a:avLst/>
          </a:prstGeom>
          <a:noFill/>
        </p:spPr>
        <p:txBody>
          <a:bodyPr wrap="square">
            <a:spAutoFit/>
          </a:bodyPr>
          <a:lstStyle/>
          <a:p>
            <a:pPr algn="just"/>
            <a:r>
              <a:rPr lang="en-US" sz="1600" dirty="0"/>
              <a:t>Classical set theory forms the basis for many areas in mathematics, computer science, and logic. Here are a few key applications:</a:t>
            </a:r>
          </a:p>
          <a:p>
            <a:pPr algn="just"/>
            <a:r>
              <a:rPr lang="en-US" sz="1600" dirty="0"/>
              <a:t>1. </a:t>
            </a:r>
            <a:r>
              <a:rPr lang="en-US" sz="1600" b="1" dirty="0"/>
              <a:t>Mathematical Foundations</a:t>
            </a:r>
          </a:p>
          <a:p>
            <a:pPr algn="just"/>
            <a:r>
              <a:rPr lang="en-US" sz="1600" dirty="0"/>
              <a:t>Set theory provides the language and framework for modern mathematics, underpinning nearly all mathematical disciplines.</a:t>
            </a:r>
          </a:p>
          <a:p>
            <a:pPr algn="just"/>
            <a:r>
              <a:rPr lang="en-US" sz="1600" dirty="0"/>
              <a:t>2. </a:t>
            </a:r>
            <a:r>
              <a:rPr lang="en-US" sz="1600" b="1" dirty="0"/>
              <a:t>Database Theory</a:t>
            </a:r>
          </a:p>
          <a:p>
            <a:pPr algn="just"/>
            <a:r>
              <a:rPr lang="en-US" sz="1600" dirty="0"/>
              <a:t>In databases, sets are used to model collections of records and support operations like union, intersection, and difference for querying data.</a:t>
            </a:r>
          </a:p>
          <a:p>
            <a:pPr algn="just"/>
            <a:r>
              <a:rPr lang="en-US" sz="1600" b="1" dirty="0"/>
              <a:t>3. Logic and Proofs</a:t>
            </a:r>
          </a:p>
          <a:p>
            <a:pPr algn="just"/>
            <a:r>
              <a:rPr lang="en-US" sz="1600" dirty="0"/>
              <a:t>Set theory is fundamental in the formulation of logical statements and proofs, including predicate logic and quantifiers.</a:t>
            </a:r>
          </a:p>
          <a:p>
            <a:pPr algn="just"/>
            <a:r>
              <a:rPr lang="en-US" sz="1600" b="1" dirty="0"/>
              <a:t>4.Discrete Mathematics</a:t>
            </a:r>
          </a:p>
          <a:p>
            <a:pPr algn="just"/>
            <a:r>
              <a:rPr lang="en-US" sz="1600" dirty="0"/>
              <a:t>Set theory is central to discrete mathematics, which includes topics like combinatorics, graph theory, and finite state machines.</a:t>
            </a:r>
          </a:p>
          <a:p>
            <a:pPr algn="just"/>
            <a:r>
              <a:rPr lang="en-US" sz="1600" b="1" dirty="0"/>
              <a:t>5. Computer Science</a:t>
            </a:r>
          </a:p>
          <a:p>
            <a:pPr algn="just"/>
            <a:r>
              <a:rPr lang="en-US" sz="1600" dirty="0"/>
              <a:t>Sets are used in various algorithms and data structures (e.g., hash sets, sets in programming languages) for efficient data management and retrieval</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012152044"/>
      </p:ext>
    </p:extLst>
  </p:cSld>
  <p:clrMapOvr>
    <a:masterClrMapping/>
  </p:clrMapOvr>
  <p:transition advTm="7742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Fuzzy Set Operations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0" y="2574924"/>
            <a:ext cx="9144000" cy="4278094"/>
          </a:xfrm>
          <a:prstGeom prst="rect">
            <a:avLst/>
          </a:prstGeom>
          <a:noFill/>
        </p:spPr>
        <p:txBody>
          <a:bodyPr wrap="square">
            <a:spAutoFit/>
          </a:bodyPr>
          <a:lstStyle/>
          <a:p>
            <a:pPr algn="just"/>
            <a:r>
              <a:rPr lang="en-US" sz="1600" b="1" dirty="0"/>
              <a:t>Control Systems</a:t>
            </a:r>
            <a:endParaRPr lang="en-US" sz="1600" dirty="0"/>
          </a:p>
          <a:p>
            <a:pPr algn="just"/>
            <a:r>
              <a:rPr lang="en-US" sz="1600" dirty="0"/>
              <a:t>Fuzzy set operations are used in fuzzy controllers to combine sensor inputs and derive control actions.</a:t>
            </a:r>
          </a:p>
          <a:p>
            <a:pPr algn="just"/>
            <a:r>
              <a:rPr lang="en-US" sz="1600" dirty="0"/>
              <a:t>Example: In a temperature control system, fuzzy rules combine inputs like "temperature is high" and "humidity is low" to decide on the cooling action.</a:t>
            </a:r>
          </a:p>
          <a:p>
            <a:pPr algn="just"/>
            <a:r>
              <a:rPr lang="en-US" sz="1600" b="1" dirty="0"/>
              <a:t>Decision Making</a:t>
            </a:r>
            <a:endParaRPr lang="en-US" sz="1600" dirty="0"/>
          </a:p>
          <a:p>
            <a:pPr algn="just"/>
            <a:r>
              <a:rPr lang="en-US" sz="1600" dirty="0"/>
              <a:t>Fuzzy set operations help in aggregating criteria and making decisions under uncertainty.</a:t>
            </a:r>
          </a:p>
          <a:p>
            <a:pPr algn="just"/>
            <a:r>
              <a:rPr lang="en-US" sz="1600" dirty="0"/>
              <a:t>Example: In medical diagnosis, fuzzy rules combine symptoms and test results to diagnose a disease.</a:t>
            </a:r>
          </a:p>
          <a:p>
            <a:pPr algn="just"/>
            <a:r>
              <a:rPr lang="en-US" sz="1600" b="1" dirty="0"/>
              <a:t>Pattern Recognition</a:t>
            </a:r>
            <a:endParaRPr lang="en-US" sz="1600" dirty="0"/>
          </a:p>
          <a:p>
            <a:pPr algn="just"/>
            <a:r>
              <a:rPr lang="en-US" sz="1600" dirty="0"/>
              <a:t>Fuzzy set operations are used to classify data points that do not belong exclusively to one category.</a:t>
            </a:r>
          </a:p>
          <a:p>
            <a:pPr algn="just"/>
            <a:r>
              <a:rPr lang="en-US" sz="1600" dirty="0"/>
              <a:t>Example: In image processing, fuzzy operations combine pixel intensity values to enhance edges or detect objects.</a:t>
            </a:r>
          </a:p>
          <a:p>
            <a:pPr algn="just"/>
            <a:r>
              <a:rPr lang="en-US" sz="1600" b="1" dirty="0"/>
              <a:t>Natural Language Processing</a:t>
            </a:r>
            <a:endParaRPr lang="en-US" sz="1600" dirty="0"/>
          </a:p>
          <a:p>
            <a:pPr algn="just"/>
            <a:r>
              <a:rPr lang="en-US" sz="1600" dirty="0"/>
              <a:t>Fuzzy set operations manage the imprecision of human language in systems like chatbots and language translators.</a:t>
            </a:r>
          </a:p>
          <a:p>
            <a:pPr algn="just"/>
            <a:r>
              <a:rPr lang="en-US" sz="1600" dirty="0"/>
              <a:t>Example: Fuzzy logic combines context clues to interpret ambiguous words or phrases.</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473605756"/>
      </p:ext>
    </p:extLst>
  </p:cSld>
  <p:clrMapOvr>
    <a:masterClrMapping/>
  </p:clrMapOvr>
  <p:transition advTm="7742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Summary</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3108543"/>
          </a:xfrm>
          <a:prstGeom prst="rect">
            <a:avLst/>
          </a:prstGeom>
          <a:noFill/>
        </p:spPr>
        <p:txBody>
          <a:bodyPr wrap="square">
            <a:spAutoFit/>
          </a:bodyPr>
          <a:lstStyle/>
          <a:p>
            <a:pPr algn="just"/>
            <a:r>
              <a:rPr lang="en-US" sz="2800" dirty="0"/>
              <a:t>Fuzzy set operations extend classical set operations to handle partial membership, enabling more flexible and realistic modeling of complex systems with inherent uncertainty and imprecision. These operations are crucial in various applications, from control systems and decision-making to pattern recognition and natural language processing.</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781211576"/>
      </p:ext>
    </p:extLst>
  </p:cSld>
  <p:clrMapOvr>
    <a:masterClrMapping/>
  </p:clrMapOvr>
  <p:transition advTm="7742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Membership function</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1938992"/>
          </a:xfrm>
          <a:prstGeom prst="rect">
            <a:avLst/>
          </a:prstGeom>
          <a:noFill/>
        </p:spPr>
        <p:txBody>
          <a:bodyPr wrap="square">
            <a:spAutoFit/>
          </a:bodyPr>
          <a:lstStyle/>
          <a:p>
            <a:pPr algn="just"/>
            <a:r>
              <a:rPr lang="en-US" sz="2400" dirty="0"/>
              <a:t>Membership functions are a fundamental component of fuzzy set theory, defining the degree to which an element belongs to a fuzzy set. They map elements from the universe of discourse to the interval [0, 1]. The shape and properties of membership functions significantly influence the behavior of fuzzy systems.</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439102569"/>
      </p:ext>
    </p:extLst>
  </p:cSld>
  <p:clrMapOvr>
    <a:masterClrMapping/>
  </p:clrMapOvr>
  <p:transition advTm="7742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Types of Membership Functions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6217087"/>
          </a:xfrm>
          <a:prstGeom prst="rect">
            <a:avLst/>
          </a:prstGeom>
          <a:noFill/>
        </p:spPr>
        <p:txBody>
          <a:bodyPr wrap="square">
            <a:spAutoFit/>
          </a:bodyPr>
          <a:lstStyle/>
          <a:p>
            <a:pPr marL="457200" indent="-457200" algn="just">
              <a:buAutoNum type="arabicPeriod"/>
            </a:pPr>
            <a:r>
              <a:rPr lang="en-US" sz="3200" b="1" dirty="0"/>
              <a:t>Triangular Membership Function</a:t>
            </a:r>
          </a:p>
          <a:p>
            <a:pPr marL="457200" indent="-457200" algn="just">
              <a:buAutoNum type="arabicPeriod"/>
            </a:pPr>
            <a:endParaRPr lang="en-US" sz="2400" dirty="0"/>
          </a:p>
          <a:p>
            <a:pPr algn="just"/>
            <a:endParaRPr lang="en-US" sz="2400" dirty="0"/>
          </a:p>
          <a:p>
            <a:pPr marL="457200" indent="-457200" algn="just">
              <a:buAutoNum type="alphaLcParenR"/>
            </a:pPr>
            <a:r>
              <a:rPr lang="en-US" sz="2400" dirty="0"/>
              <a:t>Description</a:t>
            </a:r>
          </a:p>
          <a:p>
            <a:pPr marL="457200" indent="-457200" algn="just">
              <a:buAutoNum type="alphaLcParenR"/>
            </a:pPr>
            <a:endParaRPr lang="en-US" sz="2400" dirty="0"/>
          </a:p>
          <a:p>
            <a:pPr marL="457200" indent="-457200" algn="just">
              <a:buAutoNum type="alphaLcParenR" startAt="2"/>
            </a:pPr>
            <a:r>
              <a:rPr lang="en-US" sz="2400" dirty="0"/>
              <a:t>Formula</a:t>
            </a:r>
          </a:p>
          <a:p>
            <a:pPr marL="457200" indent="-457200" algn="just">
              <a:buAutoNum type="alphaLcParenR" startAt="2"/>
            </a:pPr>
            <a:endParaRPr lang="en-US" sz="2400" dirty="0"/>
          </a:p>
          <a:p>
            <a:pPr algn="just"/>
            <a:r>
              <a:rPr lang="en-US" sz="2400" dirty="0"/>
              <a:t>c)   Parameters </a:t>
            </a:r>
          </a:p>
          <a:p>
            <a:pPr algn="just"/>
            <a:endParaRPr lang="en-US" sz="2200" dirty="0"/>
          </a:p>
          <a:p>
            <a:pPr algn="just"/>
            <a:endParaRPr lang="en-US" sz="2200" dirty="0"/>
          </a:p>
          <a:p>
            <a:pPr algn="just"/>
            <a:endParaRPr lang="en-US" sz="2200" dirty="0"/>
          </a:p>
          <a:p>
            <a:pPr algn="just"/>
            <a:endParaRPr lang="en-US" sz="2200" dirty="0"/>
          </a:p>
          <a:p>
            <a:pPr algn="just"/>
            <a:endParaRPr lang="en-US" sz="2200" dirty="0"/>
          </a:p>
          <a:p>
            <a:pPr algn="just"/>
            <a:endParaRPr lang="en-US" sz="2200" dirty="0"/>
          </a:p>
          <a:p>
            <a:pPr algn="just"/>
            <a:endParaRPr lang="en-US" sz="2200" dirty="0"/>
          </a:p>
          <a:p>
            <a:pPr algn="just"/>
            <a:endParaRPr lang="en-US" sz="2200" dirty="0"/>
          </a:p>
          <a:p>
            <a:pPr algn="just"/>
            <a:endParaRPr lang="en-US" sz="22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923881325"/>
      </p:ext>
    </p:extLst>
  </p:cSld>
  <p:clrMapOvr>
    <a:masterClrMapping/>
  </p:clrMapOvr>
  <p:transition advTm="7742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Types of Membership Functions</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3416320"/>
          </a:xfrm>
          <a:prstGeom prst="rect">
            <a:avLst/>
          </a:prstGeom>
          <a:noFill/>
        </p:spPr>
        <p:txBody>
          <a:bodyPr wrap="square">
            <a:spAutoFit/>
          </a:bodyPr>
          <a:lstStyle/>
          <a:p>
            <a:pPr marL="457200" indent="-457200" algn="just">
              <a:buAutoNum type="arabicPeriod" startAt="2"/>
            </a:pPr>
            <a:r>
              <a:rPr lang="en-US" sz="3200" b="1" dirty="0"/>
              <a:t>Trapezoidal Membership Function</a:t>
            </a:r>
            <a:r>
              <a:rPr lang="en-US" sz="2200" dirty="0"/>
              <a:t>:</a:t>
            </a:r>
          </a:p>
          <a:p>
            <a:pPr marL="457200" indent="-457200" algn="just">
              <a:buAutoNum type="arabicPeriod" startAt="2"/>
            </a:pPr>
            <a:endParaRPr lang="en-US" sz="2200" dirty="0"/>
          </a:p>
          <a:p>
            <a:pPr marL="457200" indent="-457200" algn="just">
              <a:buAutoNum type="arabicPeriod" startAt="2"/>
            </a:pPr>
            <a:r>
              <a:rPr lang="en-US" sz="2400" dirty="0"/>
              <a:t>Description</a:t>
            </a:r>
          </a:p>
          <a:p>
            <a:pPr marL="457200" indent="-457200" algn="just">
              <a:buAutoNum type="arabicPeriod" startAt="2"/>
            </a:pPr>
            <a:r>
              <a:rPr lang="en-US" sz="2400" dirty="0"/>
              <a:t>Formula: </a:t>
            </a:r>
          </a:p>
          <a:p>
            <a:pPr marL="457200" indent="-457200" algn="just">
              <a:buAutoNum type="arabicPeriod" startAt="2"/>
            </a:pPr>
            <a:r>
              <a:rPr lang="en-US" sz="2400" dirty="0"/>
              <a:t>Parameters:</a:t>
            </a:r>
          </a:p>
          <a:p>
            <a:pPr marL="457200" indent="-457200" algn="just">
              <a:buAutoNum type="arabicPeriod" startAt="2"/>
            </a:pPr>
            <a:endParaRPr lang="en-US" sz="2400" dirty="0"/>
          </a:p>
          <a:p>
            <a:pPr marL="457200" indent="-457200" algn="just">
              <a:buAutoNum type="arabicPeriod" startAt="2"/>
            </a:pPr>
            <a:endParaRPr lang="en-US" sz="2200" dirty="0"/>
          </a:p>
          <a:p>
            <a:pPr marL="457200" indent="-457200" algn="just">
              <a:buAutoNum type="arabicPeriod" startAt="2"/>
            </a:pPr>
            <a:endParaRPr lang="en-US" sz="2200" dirty="0"/>
          </a:p>
          <a:p>
            <a:pPr algn="just"/>
            <a:endParaRPr lang="en-US" sz="22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286996265"/>
      </p:ext>
    </p:extLst>
  </p:cSld>
  <p:clrMapOvr>
    <a:masterClrMapping/>
  </p:clrMapOvr>
  <p:transition advTm="7742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Types of Membership Functions</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5970865"/>
          </a:xfrm>
          <a:prstGeom prst="rect">
            <a:avLst/>
          </a:prstGeom>
          <a:noFill/>
        </p:spPr>
        <p:txBody>
          <a:bodyPr wrap="square">
            <a:spAutoFit/>
          </a:bodyPr>
          <a:lstStyle/>
          <a:p>
            <a:pPr algn="just"/>
            <a:r>
              <a:rPr lang="en-US" sz="2200" dirty="0"/>
              <a:t> </a:t>
            </a:r>
            <a:r>
              <a:rPr lang="en-US" sz="4000" dirty="0"/>
              <a:t>3. Gaussian Membership Function</a:t>
            </a:r>
          </a:p>
          <a:p>
            <a:pPr algn="just"/>
            <a:r>
              <a:rPr lang="en-US" sz="2400" b="1" dirty="0"/>
              <a:t> </a:t>
            </a:r>
            <a:r>
              <a:rPr lang="en-IN" sz="2400" b="1" dirty="0"/>
              <a:t>     </a:t>
            </a:r>
          </a:p>
          <a:p>
            <a:pPr algn="just"/>
            <a:r>
              <a:rPr lang="en-IN" sz="2400" dirty="0"/>
              <a:t>   a)   Description</a:t>
            </a:r>
          </a:p>
          <a:p>
            <a:pPr algn="just"/>
            <a:endParaRPr lang="en-IN" sz="2400" dirty="0"/>
          </a:p>
          <a:p>
            <a:pPr algn="just"/>
            <a:r>
              <a:rPr lang="en-US" sz="2400" dirty="0"/>
              <a:t>  </a:t>
            </a:r>
            <a:r>
              <a:rPr lang="en-IN" sz="2400" dirty="0"/>
              <a:t> b)   Formula</a:t>
            </a:r>
          </a:p>
          <a:p>
            <a:pPr algn="just"/>
            <a:endParaRPr lang="en-IN" sz="2400" dirty="0"/>
          </a:p>
          <a:p>
            <a:pPr algn="just"/>
            <a:r>
              <a:rPr lang="en-US" sz="2400" dirty="0"/>
              <a:t>   c</a:t>
            </a:r>
            <a:r>
              <a:rPr lang="en-IN" sz="2400" dirty="0"/>
              <a:t>)   Parameters</a:t>
            </a:r>
          </a:p>
          <a:p>
            <a:pPr algn="just"/>
            <a:endParaRPr lang="en-US" sz="2200" dirty="0"/>
          </a:p>
          <a:p>
            <a:pPr marL="457200" indent="-457200" algn="just">
              <a:buAutoNum type="arabicPeriod" startAt="2"/>
            </a:pPr>
            <a:endParaRPr lang="en-US" sz="2200" dirty="0"/>
          </a:p>
          <a:p>
            <a:pPr marL="457200" indent="-457200" algn="just">
              <a:buAutoNum type="arabicPeriod" startAt="2"/>
            </a:pPr>
            <a:endParaRPr lang="en-US" sz="2200" dirty="0"/>
          </a:p>
          <a:p>
            <a:pPr algn="just"/>
            <a:endParaRPr lang="en-US" sz="2200" dirty="0"/>
          </a:p>
          <a:p>
            <a:pPr algn="just"/>
            <a:endParaRPr lang="en-US" sz="2200" dirty="0"/>
          </a:p>
          <a:p>
            <a:pPr marL="457200" indent="-457200" algn="just">
              <a:buAutoNum type="arabicPeriod" startAt="2"/>
            </a:pPr>
            <a:endParaRPr lang="en-US" sz="2200" dirty="0"/>
          </a:p>
          <a:p>
            <a:pPr marL="457200" indent="-457200" algn="just">
              <a:buAutoNum type="arabicPeriod" startAt="2"/>
            </a:pPr>
            <a:endParaRPr lang="en-US" sz="2200" dirty="0"/>
          </a:p>
          <a:p>
            <a:pPr marL="457200" indent="-457200" algn="just">
              <a:buAutoNum type="arabicPeriod" startAt="2"/>
            </a:pPr>
            <a:endParaRPr lang="en-US" sz="2200" dirty="0"/>
          </a:p>
          <a:p>
            <a:pPr algn="just"/>
            <a:endParaRPr lang="en-US" sz="22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242111874"/>
      </p:ext>
    </p:extLst>
  </p:cSld>
  <p:clrMapOvr>
    <a:masterClrMapping/>
  </p:clrMapOvr>
  <p:transition advTm="7742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Types of Membership Functions</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6309420"/>
          </a:xfrm>
          <a:prstGeom prst="rect">
            <a:avLst/>
          </a:prstGeom>
          <a:noFill/>
        </p:spPr>
        <p:txBody>
          <a:bodyPr wrap="square">
            <a:spAutoFit/>
          </a:bodyPr>
          <a:lstStyle/>
          <a:p>
            <a:pPr algn="just"/>
            <a:r>
              <a:rPr lang="en-US" sz="2200" dirty="0"/>
              <a:t> </a:t>
            </a:r>
            <a:r>
              <a:rPr lang="en-US" sz="4000" dirty="0"/>
              <a:t>4.Sigmoidal Membership Function</a:t>
            </a:r>
          </a:p>
          <a:p>
            <a:pPr algn="just"/>
            <a:r>
              <a:rPr lang="en-US" sz="2400" b="1" dirty="0"/>
              <a:t> </a:t>
            </a:r>
            <a:r>
              <a:rPr lang="en-IN" sz="2400" b="1" dirty="0"/>
              <a:t>     </a:t>
            </a:r>
          </a:p>
          <a:p>
            <a:pPr algn="just"/>
            <a:r>
              <a:rPr lang="en-IN" sz="2400" dirty="0"/>
              <a:t>   a)     Description</a:t>
            </a:r>
          </a:p>
          <a:p>
            <a:pPr algn="just"/>
            <a:endParaRPr lang="en-IN" sz="2400" dirty="0"/>
          </a:p>
          <a:p>
            <a:pPr algn="just"/>
            <a:r>
              <a:rPr lang="en-US" sz="2400" dirty="0"/>
              <a:t>  </a:t>
            </a:r>
            <a:r>
              <a:rPr lang="en-IN" sz="2400" dirty="0"/>
              <a:t> b) 	Formula</a:t>
            </a:r>
          </a:p>
          <a:p>
            <a:pPr algn="just"/>
            <a:r>
              <a:rPr lang="en-US" sz="2400" dirty="0"/>
              <a:t>  </a:t>
            </a:r>
          </a:p>
          <a:p>
            <a:pPr algn="just"/>
            <a:r>
              <a:rPr lang="en-US" sz="2400" dirty="0"/>
              <a:t>   c</a:t>
            </a:r>
            <a:r>
              <a:rPr lang="en-IN" sz="2400" dirty="0"/>
              <a:t>)     Parameters</a:t>
            </a:r>
          </a:p>
          <a:p>
            <a:pPr algn="just"/>
            <a:endParaRPr lang="en-US" sz="2200" dirty="0"/>
          </a:p>
          <a:p>
            <a:pPr marL="457200" indent="-457200" algn="just">
              <a:buAutoNum type="arabicPeriod" startAt="2"/>
            </a:pPr>
            <a:endParaRPr lang="en-US" sz="2200" dirty="0"/>
          </a:p>
          <a:p>
            <a:pPr marL="457200" indent="-457200" algn="just">
              <a:buAutoNum type="arabicPeriod" startAt="2"/>
            </a:pPr>
            <a:endParaRPr lang="en-US" sz="2200" dirty="0"/>
          </a:p>
          <a:p>
            <a:pPr marL="457200" indent="-457200" algn="just">
              <a:buAutoNum type="arabicPeriod" startAt="2"/>
            </a:pPr>
            <a:endParaRPr lang="en-US" sz="2200" dirty="0"/>
          </a:p>
          <a:p>
            <a:pPr algn="just"/>
            <a:endParaRPr lang="en-US" sz="2200" dirty="0"/>
          </a:p>
          <a:p>
            <a:pPr algn="just"/>
            <a:endParaRPr lang="en-US" sz="2200" dirty="0"/>
          </a:p>
          <a:p>
            <a:pPr marL="457200" indent="-457200" algn="just">
              <a:buAutoNum type="arabicPeriod" startAt="2"/>
            </a:pPr>
            <a:endParaRPr lang="en-US" sz="2200" dirty="0"/>
          </a:p>
          <a:p>
            <a:pPr marL="457200" indent="-457200" algn="just">
              <a:buAutoNum type="arabicPeriod" startAt="2"/>
            </a:pPr>
            <a:endParaRPr lang="en-US" sz="2200" dirty="0"/>
          </a:p>
          <a:p>
            <a:pPr marL="457200" indent="-457200" algn="just">
              <a:buAutoNum type="arabicPeriod" startAt="2"/>
            </a:pPr>
            <a:endParaRPr lang="en-US" sz="2200" dirty="0"/>
          </a:p>
          <a:p>
            <a:pPr algn="just"/>
            <a:endParaRPr lang="en-US" sz="22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116379335"/>
      </p:ext>
    </p:extLst>
  </p:cSld>
  <p:clrMapOvr>
    <a:masterClrMapping/>
  </p:clrMapOvr>
  <p:transition advTm="7742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Properties of Membership Functions</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3785652"/>
          </a:xfrm>
          <a:prstGeom prst="rect">
            <a:avLst/>
          </a:prstGeom>
          <a:noFill/>
        </p:spPr>
        <p:txBody>
          <a:bodyPr wrap="square">
            <a:spAutoFit/>
          </a:bodyPr>
          <a:lstStyle/>
          <a:p>
            <a:pPr marL="457200" indent="-457200" algn="just">
              <a:buAutoNum type="arabicPeriod"/>
            </a:pPr>
            <a:r>
              <a:rPr lang="en-US" sz="2400" b="1" dirty="0"/>
              <a:t>Normalization</a:t>
            </a:r>
          </a:p>
          <a:p>
            <a:pPr algn="just"/>
            <a:r>
              <a:rPr lang="en-US" sz="2400" dirty="0"/>
              <a:t>      The range of a membership function is within [0, 1].</a:t>
            </a:r>
          </a:p>
          <a:p>
            <a:pPr algn="just"/>
            <a:r>
              <a:rPr lang="en-US" sz="2400" dirty="0"/>
              <a:t>2.  </a:t>
            </a:r>
            <a:r>
              <a:rPr lang="en-US" sz="2400" b="1" dirty="0"/>
              <a:t>Boundary Conditions</a:t>
            </a:r>
          </a:p>
          <a:p>
            <a:pPr algn="just"/>
            <a:r>
              <a:rPr lang="en-US" sz="2400" dirty="0"/>
              <a:t>      Membership functions should handle edge cases   </a:t>
            </a:r>
          </a:p>
          <a:p>
            <a:pPr algn="just"/>
            <a:r>
              <a:rPr lang="en-US" sz="2400" dirty="0"/>
              <a:t>      appropriately,   </a:t>
            </a:r>
          </a:p>
          <a:p>
            <a:pPr algn="just"/>
            <a:r>
              <a:rPr lang="en-US" sz="2400" dirty="0"/>
              <a:t>      ensuring meaningful membership degrees across the  </a:t>
            </a:r>
          </a:p>
          <a:p>
            <a:pPr algn="just"/>
            <a:r>
              <a:rPr lang="en-US" sz="2400" dirty="0"/>
              <a:t>      universe of  discourse.</a:t>
            </a:r>
          </a:p>
          <a:p>
            <a:pPr algn="just"/>
            <a:r>
              <a:rPr lang="en-US" sz="2400" dirty="0"/>
              <a:t>3. </a:t>
            </a:r>
            <a:r>
              <a:rPr lang="en-US" sz="2400" b="1" dirty="0"/>
              <a:t>Continuity</a:t>
            </a:r>
          </a:p>
          <a:p>
            <a:pPr algn="just"/>
            <a:r>
              <a:rPr lang="en-US" sz="2400" dirty="0"/>
              <a:t>     Smooth membership functions (e.g., Gaussian, Generalized      </a:t>
            </a:r>
          </a:p>
          <a:p>
            <a:pPr algn="just"/>
            <a:r>
              <a:rPr lang="en-US" sz="2400" dirty="0"/>
              <a:t>      Bell) ensure gradual changes, avoiding abrupt transitions.</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740173063"/>
      </p:ext>
    </p:extLst>
  </p:cSld>
  <p:clrMapOvr>
    <a:masterClrMapping/>
  </p:clrMapOvr>
  <p:transition advTm="7742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Applications of Membership Functions</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154984"/>
          </a:xfrm>
          <a:prstGeom prst="rect">
            <a:avLst/>
          </a:prstGeom>
          <a:noFill/>
        </p:spPr>
        <p:txBody>
          <a:bodyPr wrap="square">
            <a:spAutoFit/>
          </a:bodyPr>
          <a:lstStyle/>
          <a:p>
            <a:pPr marL="457200" indent="-457200" algn="just">
              <a:buAutoNum type="arabicPeriod"/>
            </a:pPr>
            <a:r>
              <a:rPr lang="en-US" sz="2400" b="1" dirty="0"/>
              <a:t>Control Systems</a:t>
            </a:r>
          </a:p>
          <a:p>
            <a:pPr algn="just"/>
            <a:r>
              <a:rPr lang="en-US" sz="2400" dirty="0"/>
              <a:t> Membership functions are used to map sensor inputs to fuzzy sets in fuzzy logic controllers. For example, in an air conditioning system, temperature readings might be mapped to fuzzy sets like "cool," "warm," and "hot."</a:t>
            </a:r>
          </a:p>
          <a:p>
            <a:pPr algn="just"/>
            <a:r>
              <a:rPr lang="en-US" sz="2400" dirty="0"/>
              <a:t>2.  </a:t>
            </a:r>
            <a:r>
              <a:rPr lang="en-US" sz="2400" b="1" dirty="0"/>
              <a:t>Decision Making</a:t>
            </a:r>
          </a:p>
          <a:p>
            <a:pPr algn="just"/>
            <a:r>
              <a:rPr lang="en-US" sz="2400" dirty="0"/>
              <a:t>In expert systems, membership functions represent the degree to which certain conditions are met, aiding in decision-making processes. For instance, in medical diagnosis, symptoms are mapped to fuzzy sets representing different possible conditions.</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245849279"/>
      </p:ext>
    </p:extLst>
  </p:cSld>
  <p:clrMapOvr>
    <a:masterClrMapping/>
  </p:clrMapOvr>
  <p:transition advTm="7742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Applications of Membership Functions</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154984"/>
          </a:xfrm>
          <a:prstGeom prst="rect">
            <a:avLst/>
          </a:prstGeom>
          <a:noFill/>
        </p:spPr>
        <p:txBody>
          <a:bodyPr wrap="square">
            <a:spAutoFit/>
          </a:bodyPr>
          <a:lstStyle/>
          <a:p>
            <a:pPr algn="just"/>
            <a:r>
              <a:rPr lang="en-US" sz="2400" dirty="0"/>
              <a:t>3.  </a:t>
            </a:r>
            <a:r>
              <a:rPr lang="en-US" sz="2400" b="1" dirty="0"/>
              <a:t>Pattern Recognition</a:t>
            </a:r>
          </a:p>
          <a:p>
            <a:pPr algn="just"/>
            <a:r>
              <a:rPr lang="en-US" sz="2400" dirty="0"/>
              <a:t>Membership functions help in classifying data points that do not fit neatly into discrete categories. For example, in image processing, pixel intensities can be mapped to fuzzy sets representing different features like edges or textures.</a:t>
            </a:r>
          </a:p>
          <a:p>
            <a:pPr algn="just"/>
            <a:r>
              <a:rPr lang="en-US" sz="2400" dirty="0"/>
              <a:t>4.  </a:t>
            </a:r>
            <a:r>
              <a:rPr lang="en-US" sz="2400" b="1" dirty="0"/>
              <a:t>Natural Language Processing</a:t>
            </a:r>
          </a:p>
          <a:p>
            <a:pPr algn="just"/>
            <a:r>
              <a:rPr lang="en-US" sz="2400" dirty="0"/>
              <a:t>Fuzzy sets and their membership functions handle the imprecision and vagueness of natural language terms. For example, words like "tall" or "short" can be represented with fuzzy sets to interpret and process linguistic data.</a:t>
            </a:r>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731156144"/>
      </p:ext>
    </p:extLst>
  </p:cSld>
  <p:clrMapOvr>
    <a:masterClrMapping/>
  </p:clrMapOvr>
  <p:transition advTm="7742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Summary</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3477875"/>
          </a:xfrm>
          <a:prstGeom prst="rect">
            <a:avLst/>
          </a:prstGeom>
          <a:noFill/>
        </p:spPr>
        <p:txBody>
          <a:bodyPr wrap="square">
            <a:spAutoFit/>
          </a:bodyPr>
          <a:lstStyle/>
          <a:p>
            <a:pPr algn="just"/>
            <a:r>
              <a:rPr lang="en-US" sz="2800" dirty="0"/>
              <a:t>Membership functions are a key aspect of fuzzy set theory, enabling the representation of partial membership and handling of uncertainty and vagueness in various applications. The choice of membership function type and its parameters critically influences the performance and behavior of fuzzy systems.</a:t>
            </a:r>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005493970"/>
      </p:ext>
    </p:extLst>
  </p:cSld>
  <p:clrMapOvr>
    <a:masterClrMapping/>
  </p:clrMapOvr>
  <p:transition advTm="7742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Building with Fuzzy Logic </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401205"/>
          </a:xfrm>
          <a:prstGeom prst="rect">
            <a:avLst/>
          </a:prstGeom>
          <a:noFill/>
        </p:spPr>
        <p:txBody>
          <a:bodyPr wrap="square">
            <a:spAutoFit/>
          </a:bodyPr>
          <a:lstStyle/>
          <a:p>
            <a:pPr algn="just"/>
            <a:r>
              <a:rPr lang="en-US" sz="4000" b="1" dirty="0"/>
              <a:t>Introduction to Fuzzy Logic</a:t>
            </a:r>
          </a:p>
          <a:p>
            <a:pPr algn="just"/>
            <a:endParaRPr lang="en-US" sz="2400" dirty="0"/>
          </a:p>
          <a:p>
            <a:pPr algn="just"/>
            <a:r>
              <a:rPr lang="en-US" sz="2400" dirty="0"/>
              <a:t>Fuzzy logic, introduced by </a:t>
            </a:r>
            <a:r>
              <a:rPr lang="en-US" sz="2400" dirty="0" err="1"/>
              <a:t>Lotfi</a:t>
            </a:r>
            <a:r>
              <a:rPr lang="en-US" sz="2400" dirty="0"/>
              <a:t> Zadeh in the 1960s, is a mathematical framework for dealing with uncertainty and imprecision. It extends classical Boolean logic to handle the concept of partial truth — truth values between "completely true" and "completely false." Fuzzy logic is especially useful in complex systems where information is incomplete, ambiguous, or imprecise.</a:t>
            </a:r>
          </a:p>
          <a:p>
            <a:pPr algn="just"/>
            <a:endParaRPr lang="en-US" sz="2400" dirty="0"/>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980086216"/>
      </p:ext>
    </p:extLst>
  </p:cSld>
  <p:clrMapOvr>
    <a:masterClrMapping/>
  </p:clrMapOvr>
  <p:transition advTm="7742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Key Concepts in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278094"/>
          </a:xfrm>
          <a:prstGeom prst="rect">
            <a:avLst/>
          </a:prstGeom>
          <a:noFill/>
        </p:spPr>
        <p:txBody>
          <a:bodyPr wrap="square">
            <a:spAutoFit/>
          </a:bodyPr>
          <a:lstStyle/>
          <a:p>
            <a:pPr algn="just"/>
            <a:r>
              <a:rPr lang="en-US" sz="4000" b="1" dirty="0"/>
              <a:t>1.Fuzzy Sets</a:t>
            </a:r>
          </a:p>
          <a:p>
            <a:pPr algn="just"/>
            <a:endParaRPr lang="en-US" sz="4000" b="1" dirty="0"/>
          </a:p>
          <a:p>
            <a:pPr algn="just"/>
            <a:r>
              <a:rPr lang="en-US" sz="2400" dirty="0"/>
              <a:t>Traditional sets have clear boundaries (e.g., a number is either in the set of even numbers or it is not). In contrast, fuzzy sets have degrees of membership. For instance, in a fuzzy set representing "tall people," a person who is 180 cm tall might have a membership degree of 0.7, while someone who is 200 cm tall might have a membership degree of 0.9.</a:t>
            </a:r>
          </a:p>
          <a:p>
            <a:pPr algn="just"/>
            <a:endParaRPr lang="en-US" sz="2400" dirty="0"/>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94740740"/>
      </p:ext>
    </p:extLst>
  </p:cSld>
  <p:clrMapOvr>
    <a:masterClrMapping/>
  </p:clrMapOvr>
  <p:transition advTm="7742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Key Concepts in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031873"/>
          </a:xfrm>
          <a:prstGeom prst="rect">
            <a:avLst/>
          </a:prstGeom>
          <a:noFill/>
        </p:spPr>
        <p:txBody>
          <a:bodyPr wrap="square">
            <a:spAutoFit/>
          </a:bodyPr>
          <a:lstStyle/>
          <a:p>
            <a:pPr algn="just"/>
            <a:r>
              <a:rPr lang="en-US" sz="4000" b="1" dirty="0"/>
              <a:t>2. Membership Functions</a:t>
            </a:r>
          </a:p>
          <a:p>
            <a:pPr algn="just"/>
            <a:r>
              <a:rPr lang="en-US" sz="2400" dirty="0"/>
              <a:t>These functions define how each point in the input space is mapped to a membership value (degree of membership). </a:t>
            </a:r>
          </a:p>
          <a:p>
            <a:pPr algn="just"/>
            <a:endParaRPr lang="en-US" sz="2400" b="1" dirty="0"/>
          </a:p>
          <a:p>
            <a:pPr algn="just"/>
            <a:r>
              <a:rPr lang="en-US" sz="2400" b="1" dirty="0"/>
              <a:t>Common shapes for membership functions include</a:t>
            </a:r>
          </a:p>
          <a:p>
            <a:pPr algn="just"/>
            <a:endParaRPr lang="en-US" sz="2400" dirty="0"/>
          </a:p>
          <a:p>
            <a:pPr algn="just"/>
            <a:r>
              <a:rPr lang="en-US" sz="2400" dirty="0"/>
              <a:t>Triangular</a:t>
            </a:r>
          </a:p>
          <a:p>
            <a:pPr algn="just"/>
            <a:r>
              <a:rPr lang="en-US" sz="2400" dirty="0"/>
              <a:t>Trapezoidal</a:t>
            </a:r>
          </a:p>
          <a:p>
            <a:pPr algn="just"/>
            <a:r>
              <a:rPr lang="en-US" sz="2400" dirty="0"/>
              <a:t>Gaussian</a:t>
            </a:r>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004957041"/>
      </p:ext>
    </p:extLst>
  </p:cSld>
  <p:clrMapOvr>
    <a:masterClrMapping/>
  </p:clrMapOvr>
  <p:transition advTm="7742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Key Concepts in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5016758"/>
          </a:xfrm>
          <a:prstGeom prst="rect">
            <a:avLst/>
          </a:prstGeom>
          <a:noFill/>
        </p:spPr>
        <p:txBody>
          <a:bodyPr wrap="square">
            <a:spAutoFit/>
          </a:bodyPr>
          <a:lstStyle/>
          <a:p>
            <a:pPr algn="just"/>
            <a:r>
              <a:rPr lang="en-US" sz="3200" b="1" dirty="0"/>
              <a:t>3. Fuzzy Operators</a:t>
            </a:r>
            <a:endParaRPr lang="en-US" sz="4000" b="1" dirty="0"/>
          </a:p>
          <a:p>
            <a:pPr algn="just"/>
            <a:endParaRPr lang="en-US" sz="2400" b="1" dirty="0"/>
          </a:p>
          <a:p>
            <a:pPr algn="just"/>
            <a:r>
              <a:rPr lang="en-US" sz="2400" b="1" dirty="0"/>
              <a:t>AND (Intersection)</a:t>
            </a:r>
          </a:p>
          <a:p>
            <a:pPr algn="just"/>
            <a:r>
              <a:rPr lang="en-US" sz="2400" dirty="0"/>
              <a:t>Usually modeled by taking the minimum value of the degrees of membership.</a:t>
            </a:r>
          </a:p>
          <a:p>
            <a:pPr algn="just"/>
            <a:r>
              <a:rPr lang="en-US" sz="2400" b="1" dirty="0"/>
              <a:t>OR (Union) </a:t>
            </a:r>
          </a:p>
          <a:p>
            <a:pPr algn="just"/>
            <a:r>
              <a:rPr lang="en-US" sz="2400" dirty="0"/>
              <a:t>Typically modeled by taking the maximum value of the degrees of membership.</a:t>
            </a:r>
          </a:p>
          <a:p>
            <a:pPr algn="just"/>
            <a:r>
              <a:rPr lang="en-US" sz="2400" b="1" dirty="0"/>
              <a:t>NOT (Complement) </a:t>
            </a:r>
          </a:p>
          <a:p>
            <a:pPr algn="just"/>
            <a:r>
              <a:rPr lang="en-US" sz="2400" dirty="0"/>
              <a:t>Calculated as 1 minus the degree of membership.</a:t>
            </a:r>
          </a:p>
          <a:p>
            <a:pPr algn="just"/>
            <a:endParaRPr lang="en-US" sz="2400" dirty="0"/>
          </a:p>
          <a:p>
            <a:pPr algn="just"/>
            <a:endParaRPr lang="en-US" sz="2400" dirty="0"/>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851364539"/>
      </p:ext>
    </p:extLst>
  </p:cSld>
  <p:clrMapOvr>
    <a:masterClrMapping/>
  </p:clrMapOvr>
  <p:transition advTm="7742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Key Concepts in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278094"/>
          </a:xfrm>
          <a:prstGeom prst="rect">
            <a:avLst/>
          </a:prstGeom>
          <a:noFill/>
        </p:spPr>
        <p:txBody>
          <a:bodyPr wrap="square">
            <a:spAutoFit/>
          </a:bodyPr>
          <a:lstStyle/>
          <a:p>
            <a:pPr algn="just"/>
            <a:r>
              <a:rPr lang="en-US" sz="3200" b="1" dirty="0"/>
              <a:t>4. Fuzzy Rules</a:t>
            </a:r>
            <a:endParaRPr lang="en-US" sz="4000" b="1" dirty="0"/>
          </a:p>
          <a:p>
            <a:pPr algn="just"/>
            <a:endParaRPr lang="en-US" sz="2400" dirty="0"/>
          </a:p>
          <a:p>
            <a:pPr algn="just"/>
            <a:r>
              <a:rPr lang="en-US" sz="2400" dirty="0"/>
              <a:t>The core of a fuzzy logic system is a set of "IF-THEN" rules. These rules relate input variables to output variables. </a:t>
            </a:r>
          </a:p>
          <a:p>
            <a:pPr algn="just"/>
            <a:endParaRPr lang="en-US" sz="2400" b="1" dirty="0"/>
          </a:p>
          <a:p>
            <a:pPr algn="just"/>
            <a:r>
              <a:rPr lang="en-US" sz="2400" b="1" dirty="0"/>
              <a:t>For example</a:t>
            </a:r>
          </a:p>
          <a:p>
            <a:pPr algn="just"/>
            <a:endParaRPr lang="en-US" sz="2400" dirty="0"/>
          </a:p>
          <a:p>
            <a:pPr algn="just"/>
            <a:r>
              <a:rPr lang="en-US" sz="2400" dirty="0"/>
              <a:t>IF temperature is high AND humidity is high THEN fan speed is high.</a:t>
            </a:r>
          </a:p>
          <a:p>
            <a:pPr algn="just"/>
            <a:r>
              <a:rPr lang="en-US" sz="2400" dirty="0"/>
              <a:t>IF temperature is low THEN heater is on.</a:t>
            </a:r>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043670418"/>
      </p:ext>
    </p:extLst>
  </p:cSld>
  <p:clrMapOvr>
    <a:masterClrMapping/>
  </p:clrMapOvr>
  <p:transition advTm="7742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Key Concepts in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1938992"/>
          </a:xfrm>
          <a:prstGeom prst="rect">
            <a:avLst/>
          </a:prstGeom>
          <a:noFill/>
        </p:spPr>
        <p:txBody>
          <a:bodyPr wrap="square">
            <a:spAutoFit/>
          </a:bodyPr>
          <a:lstStyle/>
          <a:p>
            <a:pPr algn="just"/>
            <a:r>
              <a:rPr lang="en-US" sz="3200" b="1" dirty="0"/>
              <a:t>5. Inference Engine</a:t>
            </a:r>
            <a:endParaRPr lang="en-US" sz="4000" b="1" dirty="0"/>
          </a:p>
          <a:p>
            <a:pPr algn="just"/>
            <a:endParaRPr lang="en-US" sz="2400" dirty="0"/>
          </a:p>
          <a:p>
            <a:pPr algn="just"/>
            <a:r>
              <a:rPr lang="en-US" sz="3200" dirty="0"/>
              <a:t>The component that applies the fuzzy rules to the given inputs to compute fuzzy outputs.</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672985907"/>
      </p:ext>
    </p:extLst>
  </p:cSld>
  <p:clrMapOvr>
    <a:masterClrMapping/>
  </p:clrMapOvr>
  <p:transition advTm="7742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Key Concepts in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574924"/>
            <a:ext cx="8763000" cy="4524315"/>
          </a:xfrm>
          <a:prstGeom prst="rect">
            <a:avLst/>
          </a:prstGeom>
          <a:noFill/>
        </p:spPr>
        <p:txBody>
          <a:bodyPr wrap="square">
            <a:spAutoFit/>
          </a:bodyPr>
          <a:lstStyle/>
          <a:p>
            <a:pPr algn="just"/>
            <a:r>
              <a:rPr lang="en-US" sz="3200" b="1" dirty="0"/>
              <a:t>6. Defuzzification</a:t>
            </a:r>
          </a:p>
          <a:p>
            <a:pPr algn="just"/>
            <a:endParaRPr lang="en-US" sz="3200" b="1" dirty="0"/>
          </a:p>
          <a:p>
            <a:pPr algn="just"/>
            <a:r>
              <a:rPr lang="en-US" sz="2000" dirty="0"/>
              <a:t>The process of converting fuzzy output values into a single crisp value. </a:t>
            </a:r>
          </a:p>
          <a:p>
            <a:pPr algn="just"/>
            <a:endParaRPr lang="en-US" sz="2000" b="1" dirty="0"/>
          </a:p>
          <a:p>
            <a:pPr algn="just"/>
            <a:r>
              <a:rPr lang="en-US" sz="2000" b="1" dirty="0"/>
              <a:t>Methods include</a:t>
            </a:r>
          </a:p>
          <a:p>
            <a:pPr algn="just"/>
            <a:endParaRPr lang="en-US" sz="2000" dirty="0"/>
          </a:p>
          <a:p>
            <a:pPr algn="just"/>
            <a:r>
              <a:rPr lang="en-US" sz="2000" b="1" dirty="0"/>
              <a:t>A)Centroid Method: </a:t>
            </a:r>
            <a:r>
              <a:rPr lang="en-US" sz="2000" dirty="0"/>
              <a:t>Calculating the center of the area under the curve of  </a:t>
            </a:r>
          </a:p>
          <a:p>
            <a:pPr algn="just"/>
            <a:r>
              <a:rPr lang="en-US" sz="2000" dirty="0"/>
              <a:t>                                   the aggregated fuzzy set.</a:t>
            </a:r>
          </a:p>
          <a:p>
            <a:pPr algn="just"/>
            <a:endParaRPr lang="en-US" sz="2000" dirty="0"/>
          </a:p>
          <a:p>
            <a:pPr algn="just"/>
            <a:r>
              <a:rPr lang="en-US" sz="2000" b="1" dirty="0"/>
              <a:t>B) Max Membership Principle: </a:t>
            </a:r>
            <a:r>
              <a:rPr lang="en-US" sz="2000" dirty="0"/>
              <a:t>Choosing the value with the highest degree </a:t>
            </a:r>
          </a:p>
          <a:p>
            <a:pPr algn="just"/>
            <a:r>
              <a:rPr lang="en-US" sz="2000" dirty="0"/>
              <a:t>                                                    of membership.</a:t>
            </a:r>
          </a:p>
          <a:p>
            <a:pPr algn="just"/>
            <a:r>
              <a:rPr lang="en-US" sz="2000" dirty="0"/>
              <a:t>                                              </a:t>
            </a:r>
            <a:endParaRPr lang="en-US" sz="2400" b="1" dirty="0"/>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032733829"/>
      </p:ext>
    </p:extLst>
  </p:cSld>
  <p:clrMapOvr>
    <a:masterClrMapping/>
  </p:clrMapOvr>
  <p:transition advTm="7742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Applications of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38953" y="2371725"/>
            <a:ext cx="8763000" cy="4154984"/>
          </a:xfrm>
          <a:prstGeom prst="rect">
            <a:avLst/>
          </a:prstGeom>
          <a:noFill/>
        </p:spPr>
        <p:txBody>
          <a:bodyPr wrap="square">
            <a:spAutoFit/>
          </a:bodyPr>
          <a:lstStyle/>
          <a:p>
            <a:pPr algn="just"/>
            <a:r>
              <a:rPr lang="en-US" sz="2400" dirty="0"/>
              <a:t>Fuzzy logic is used in various fields and applications, including</a:t>
            </a:r>
          </a:p>
          <a:p>
            <a:pPr algn="just"/>
            <a:endParaRPr lang="en-US" sz="2400" dirty="0"/>
          </a:p>
          <a:p>
            <a:pPr marL="457200" indent="-457200" algn="just">
              <a:buAutoNum type="arabicPeriod"/>
            </a:pPr>
            <a:r>
              <a:rPr lang="en-US" sz="2400" b="1" dirty="0"/>
              <a:t>Control Systems</a:t>
            </a:r>
          </a:p>
          <a:p>
            <a:pPr algn="just"/>
            <a:endParaRPr lang="en-US" sz="2400" dirty="0"/>
          </a:p>
          <a:p>
            <a:pPr algn="just"/>
            <a:r>
              <a:rPr lang="en-US" sz="2400" dirty="0"/>
              <a:t>Home appliances (e.g., washing machines, air conditioners) use fuzzy logic for efficient operation under varying conditions.</a:t>
            </a:r>
          </a:p>
          <a:p>
            <a:pPr algn="just"/>
            <a:endParaRPr lang="en-US" sz="2400" dirty="0"/>
          </a:p>
          <a:p>
            <a:pPr algn="just"/>
            <a:r>
              <a:rPr lang="en-US" sz="2400" dirty="0"/>
              <a:t>Automotive systems, such as automatic transmissions and braking systems, to improve performance and safety.</a:t>
            </a:r>
          </a:p>
          <a:p>
            <a:pPr algn="just"/>
            <a:endParaRPr lang="en-US" sz="2400" dirty="0"/>
          </a:p>
          <a:p>
            <a:pPr algn="just"/>
            <a:endParaRPr lang="en-US" sz="2400"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874260112"/>
      </p:ext>
    </p:extLst>
  </p:cSld>
  <p:clrMapOvr>
    <a:masterClrMapping/>
  </p:clrMapOvr>
  <p:transition advTm="7742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Applications of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56882" y="2320102"/>
            <a:ext cx="8763000" cy="3785652"/>
          </a:xfrm>
          <a:prstGeom prst="rect">
            <a:avLst/>
          </a:prstGeom>
          <a:noFill/>
        </p:spPr>
        <p:txBody>
          <a:bodyPr wrap="square">
            <a:spAutoFit/>
          </a:bodyPr>
          <a:lstStyle/>
          <a:p>
            <a:pPr algn="just"/>
            <a:endParaRPr lang="en-US" sz="2400" b="1" dirty="0"/>
          </a:p>
          <a:p>
            <a:pPr algn="just"/>
            <a:r>
              <a:rPr lang="en-US" sz="2400" b="1" dirty="0"/>
              <a:t>2. Decision-Making Systems</a:t>
            </a:r>
          </a:p>
          <a:p>
            <a:pPr algn="just"/>
            <a:endParaRPr lang="en-US" sz="2400" dirty="0"/>
          </a:p>
          <a:p>
            <a:pPr algn="just"/>
            <a:endParaRPr lang="en-US" sz="2400" dirty="0"/>
          </a:p>
          <a:p>
            <a:pPr algn="just"/>
            <a:r>
              <a:rPr lang="en-US" sz="2400" dirty="0"/>
              <a:t>Financial forecasting and stock market analysis.</a:t>
            </a:r>
          </a:p>
          <a:p>
            <a:pPr algn="just"/>
            <a:endParaRPr lang="en-US" sz="2400" dirty="0"/>
          </a:p>
          <a:p>
            <a:pPr algn="just"/>
            <a:endParaRPr lang="en-US" sz="2400" dirty="0"/>
          </a:p>
          <a:p>
            <a:pPr algn="just"/>
            <a:r>
              <a:rPr lang="en-US" sz="2400" dirty="0"/>
              <a:t>Medical diagnosis systems to handle uncertain or imprecise medical data.</a:t>
            </a:r>
          </a:p>
          <a:p>
            <a:pPr algn="just"/>
            <a:endParaRPr lang="en-US" sz="2400"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157376019"/>
      </p:ext>
    </p:extLst>
  </p:cSld>
  <p:clrMapOvr>
    <a:masterClrMapping/>
  </p:clrMapOvr>
  <p:transition advTm="7742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Applications of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56882" y="2320102"/>
            <a:ext cx="8763000" cy="3785652"/>
          </a:xfrm>
          <a:prstGeom prst="rect">
            <a:avLst/>
          </a:prstGeom>
          <a:noFill/>
        </p:spPr>
        <p:txBody>
          <a:bodyPr wrap="square">
            <a:spAutoFit/>
          </a:bodyPr>
          <a:lstStyle/>
          <a:p>
            <a:pPr algn="just"/>
            <a:endParaRPr lang="en-US" sz="2400" b="1" dirty="0"/>
          </a:p>
          <a:p>
            <a:pPr algn="just"/>
            <a:r>
              <a:rPr lang="en-US" sz="2400" b="1" dirty="0"/>
              <a:t>3. Image Processing</a:t>
            </a:r>
          </a:p>
          <a:p>
            <a:pPr algn="just"/>
            <a:endParaRPr lang="en-US" sz="2400" dirty="0"/>
          </a:p>
          <a:p>
            <a:pPr algn="just"/>
            <a:r>
              <a:rPr lang="en-US" sz="2400" dirty="0"/>
              <a:t>Enhancing and analyzing images where the boundaries of objects are not clearly defined.</a:t>
            </a:r>
          </a:p>
          <a:p>
            <a:pPr algn="just"/>
            <a:endParaRPr lang="en-US" sz="2400" b="1" dirty="0"/>
          </a:p>
          <a:p>
            <a:pPr algn="just"/>
            <a:r>
              <a:rPr lang="en-US" sz="2400" b="1" dirty="0"/>
              <a:t>4. Robotics</a:t>
            </a:r>
          </a:p>
          <a:p>
            <a:pPr algn="just"/>
            <a:endParaRPr lang="en-US" sz="2400" dirty="0"/>
          </a:p>
          <a:p>
            <a:pPr algn="just"/>
            <a:r>
              <a:rPr lang="en-US" sz="2400" dirty="0"/>
              <a:t>Navigation and obstacle avoidance in uncertain environments.</a:t>
            </a:r>
          </a:p>
          <a:p>
            <a:pPr algn="just"/>
            <a:endParaRPr lang="en-US" sz="2400"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095653079"/>
      </p:ext>
    </p:extLst>
  </p:cSld>
  <p:clrMapOvr>
    <a:masterClrMapping/>
  </p:clrMapOvr>
  <p:transition advTm="7742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Applications of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56882" y="2320102"/>
            <a:ext cx="8763000" cy="5509200"/>
          </a:xfrm>
          <a:prstGeom prst="rect">
            <a:avLst/>
          </a:prstGeom>
          <a:noFill/>
        </p:spPr>
        <p:txBody>
          <a:bodyPr wrap="square">
            <a:spAutoFit/>
          </a:bodyPr>
          <a:lstStyle/>
          <a:p>
            <a:pPr algn="just"/>
            <a:r>
              <a:rPr lang="en-US" sz="2400" b="1" dirty="0"/>
              <a:t>5. Natural Language Processing</a:t>
            </a:r>
          </a:p>
          <a:p>
            <a:pPr algn="just"/>
            <a:r>
              <a:rPr lang="en-US" sz="2000" dirty="0"/>
              <a:t>Handling imprecise meanings in language and making decisions based on nuanced input.</a:t>
            </a:r>
          </a:p>
          <a:p>
            <a:pPr algn="just"/>
            <a:r>
              <a:rPr lang="en-US" sz="2000" dirty="0"/>
              <a:t>Example of a Fuzzy Logic System</a:t>
            </a:r>
          </a:p>
          <a:p>
            <a:pPr algn="just"/>
            <a:r>
              <a:rPr lang="en-US" sz="2000" dirty="0"/>
              <a:t>Consider a simple fuzzy logic system designed to control the speed of a fan based on temperature and humidity. Here’s how it might be constructed</a:t>
            </a:r>
          </a:p>
          <a:p>
            <a:pPr algn="just"/>
            <a:endParaRPr lang="en-US" sz="2400" b="1" dirty="0"/>
          </a:p>
          <a:p>
            <a:pPr algn="just"/>
            <a:r>
              <a:rPr lang="en-US" sz="2400" b="1" dirty="0"/>
              <a:t>6. Define Fuzzy Sets</a:t>
            </a:r>
            <a:endParaRPr lang="en-US" sz="2400" dirty="0"/>
          </a:p>
          <a:p>
            <a:pPr algn="just"/>
            <a:r>
              <a:rPr lang="en-US" sz="2000" dirty="0"/>
              <a:t>Temperature: {cold, warm, hot}</a:t>
            </a:r>
          </a:p>
          <a:p>
            <a:pPr algn="just"/>
            <a:r>
              <a:rPr lang="en-US" sz="2000" dirty="0"/>
              <a:t>Humidity: {low, medium, high}</a:t>
            </a:r>
          </a:p>
          <a:p>
            <a:pPr algn="just"/>
            <a:r>
              <a:rPr lang="en-US" sz="2000" dirty="0"/>
              <a:t>Fan Speed: {slow, medium, fast}</a:t>
            </a:r>
          </a:p>
          <a:p>
            <a:pPr algn="just"/>
            <a:endParaRPr lang="en-US" sz="2400" dirty="0"/>
          </a:p>
          <a:p>
            <a:pPr algn="just"/>
            <a:endParaRPr lang="en-US" sz="2400" dirty="0"/>
          </a:p>
          <a:p>
            <a:pPr algn="just"/>
            <a:endParaRPr lang="en-US" sz="2400" dirty="0"/>
          </a:p>
          <a:p>
            <a:pPr algn="just"/>
            <a:endParaRPr lang="en-US" sz="2400" dirty="0"/>
          </a:p>
          <a:p>
            <a:pPr algn="just"/>
            <a:endParaRPr lang="en-US" sz="2400"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647198681"/>
      </p:ext>
    </p:extLst>
  </p:cSld>
  <p:clrMapOvr>
    <a:masterClrMapping/>
  </p:clrMapOvr>
  <p:transition advTm="7742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Applications of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56882" y="2320102"/>
            <a:ext cx="8763000" cy="4955203"/>
          </a:xfrm>
          <a:prstGeom prst="rect">
            <a:avLst/>
          </a:prstGeom>
          <a:noFill/>
        </p:spPr>
        <p:txBody>
          <a:bodyPr wrap="square">
            <a:spAutoFit/>
          </a:bodyPr>
          <a:lstStyle/>
          <a:p>
            <a:pPr algn="just"/>
            <a:r>
              <a:rPr lang="en-US" sz="2000" b="1" dirty="0"/>
              <a:t>7. Formulate Fuzzy Rules</a:t>
            </a:r>
          </a:p>
          <a:p>
            <a:pPr algn="just"/>
            <a:r>
              <a:rPr lang="en-US" sz="2000" b="1" dirty="0"/>
              <a:t>Example rules</a:t>
            </a:r>
          </a:p>
          <a:p>
            <a:pPr algn="just"/>
            <a:r>
              <a:rPr lang="en-US" sz="2000" dirty="0"/>
              <a:t>IF temperature is hot AND humidity is high THEN fan speed is fast.</a:t>
            </a:r>
          </a:p>
          <a:p>
            <a:pPr algn="just"/>
            <a:r>
              <a:rPr lang="en-US" sz="2000" dirty="0"/>
              <a:t>IF temperature is warm AND humidity is medium THEN fan speed is medium.</a:t>
            </a:r>
          </a:p>
          <a:p>
            <a:pPr algn="just"/>
            <a:r>
              <a:rPr lang="en-US" sz="2000" dirty="0"/>
              <a:t>IF temperature is cold THEN fan speed is slow.</a:t>
            </a:r>
            <a:endParaRPr lang="en-US" sz="2000" b="1" dirty="0"/>
          </a:p>
          <a:p>
            <a:pPr algn="just"/>
            <a:endParaRPr lang="en-US" sz="2000" b="1" dirty="0"/>
          </a:p>
          <a:p>
            <a:pPr algn="just"/>
            <a:r>
              <a:rPr lang="en-US" sz="2000" b="1" dirty="0"/>
              <a:t>8. Inference and Defuzzification</a:t>
            </a:r>
          </a:p>
          <a:p>
            <a:pPr algn="just"/>
            <a:r>
              <a:rPr lang="en-US" sz="2000" dirty="0"/>
              <a:t>Input values (e.g., temperature = 32°C, humidity = 70%) are evaluated using the fuzzy rules to produce a fuzzy output set for fan speed.</a:t>
            </a:r>
          </a:p>
          <a:p>
            <a:pPr algn="just"/>
            <a:r>
              <a:rPr lang="en-US" sz="2000" dirty="0"/>
              <a:t>The defuzzification process, such as the centroid method, converts this fuzzy output into a precise fan speed setting.</a:t>
            </a:r>
          </a:p>
          <a:p>
            <a:pPr algn="just"/>
            <a:endParaRPr lang="en-US" sz="2000" dirty="0"/>
          </a:p>
          <a:p>
            <a:pPr algn="just"/>
            <a:endParaRPr lang="en-US" sz="2000" dirty="0"/>
          </a:p>
          <a:p>
            <a:pPr algn="just"/>
            <a:endParaRPr lang="en-US" sz="2400"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382896517"/>
      </p:ext>
    </p:extLst>
  </p:cSld>
  <p:clrMapOvr>
    <a:masterClrMapping/>
  </p:clrMapOvr>
  <p:transition advTm="7742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Conclusion</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330450"/>
            <a:ext cx="8763000" cy="3046988"/>
          </a:xfrm>
          <a:prstGeom prst="rect">
            <a:avLst/>
          </a:prstGeom>
          <a:noFill/>
        </p:spPr>
        <p:txBody>
          <a:bodyPr wrap="square">
            <a:spAutoFit/>
          </a:bodyPr>
          <a:lstStyle/>
          <a:p>
            <a:pPr algn="just"/>
            <a:r>
              <a:rPr lang="en-US" sz="2400" dirty="0"/>
              <a:t>Fuzzy logic provides a powerful tool for modeling and reasoning about systems where traditional binary logic is inadequate. Its ability to handle partial truths and approximate reasoning makes it invaluable in various applications, from consumer electronics to complex decision-making systems. By embracing the uncertainty and imprecision inherent in many real-world problems, fuzzy logic enables more flexible, robust, and intelligent solutions.</a:t>
            </a:r>
            <a:endParaRPr lang="en-US" sz="2400"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382292696"/>
      </p:ext>
    </p:extLst>
  </p:cSld>
  <p:clrMapOvr>
    <a:masterClrMapping/>
  </p:clrMapOvr>
  <p:transition advTm="7742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a:solidFill>
                  <a:schemeClr val="bg1"/>
                </a:solidFill>
              </a:rPr>
              <a:t>Hedges in Fuzzy Logic</a:t>
            </a:r>
            <a:endParaRPr lang="en-US" sz="4400" b="1" dirty="0">
              <a:solidFill>
                <a:schemeClr val="bg1"/>
              </a:solidFill>
            </a:endParaRP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330450"/>
            <a:ext cx="8763000" cy="3046988"/>
          </a:xfrm>
          <a:prstGeom prst="rect">
            <a:avLst/>
          </a:prstGeom>
          <a:noFill/>
        </p:spPr>
        <p:txBody>
          <a:bodyPr wrap="square">
            <a:spAutoFit/>
          </a:bodyPr>
          <a:lstStyle/>
          <a:p>
            <a:pPr algn="just"/>
            <a:endParaRPr lang="en-US" sz="2400" dirty="0"/>
          </a:p>
          <a:p>
            <a:pPr algn="just"/>
            <a:endParaRPr lang="en-US" sz="2400" dirty="0"/>
          </a:p>
          <a:p>
            <a:pPr algn="just"/>
            <a:r>
              <a:rPr lang="en-US" sz="2400" dirty="0"/>
              <a:t>In the context of fuzzy logic, "hedges" are linguistic modifiers that alter the meaning of fuzzy sets, making them more flexible and expressive. Hedges are used to fine-tune the degrees of membership of elements in fuzzy sets, reflecting the way humans naturally use language to describe varying levels of intensity or certainty.</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531116362"/>
      </p:ext>
    </p:extLst>
  </p:cSld>
  <p:clrMapOvr>
    <a:masterClrMapping/>
  </p:clrMapOvr>
  <p:transition advTm="7742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Types of Hedges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190500" y="2330450"/>
            <a:ext cx="8763000" cy="3970318"/>
          </a:xfrm>
          <a:prstGeom prst="rect">
            <a:avLst/>
          </a:prstGeom>
          <a:noFill/>
        </p:spPr>
        <p:txBody>
          <a:bodyPr wrap="square">
            <a:spAutoFit/>
          </a:bodyPr>
          <a:lstStyle/>
          <a:p>
            <a:pPr algn="just"/>
            <a:r>
              <a:rPr lang="en-US" dirty="0"/>
              <a:t>Hedges can generally be categorized into several types, each serving a different purpose in modifying the fuzzy sets</a:t>
            </a:r>
          </a:p>
          <a:p>
            <a:pPr algn="just"/>
            <a:r>
              <a:rPr lang="en-US" dirty="0"/>
              <a:t>1. </a:t>
            </a:r>
            <a:r>
              <a:rPr lang="en-US" b="1" dirty="0"/>
              <a:t>Intensifiers</a:t>
            </a:r>
          </a:p>
          <a:p>
            <a:pPr algn="just"/>
            <a:r>
              <a:rPr lang="en-US" dirty="0"/>
              <a:t>Intensifiers increase the degree of membership of elements in a fuzzy set. Common examples include terms like "very" or "extremely." For example, "very tall" would have a higher degree of membership for the same height compared to just "tall."</a:t>
            </a:r>
          </a:p>
          <a:p>
            <a:pPr algn="just"/>
            <a:r>
              <a:rPr lang="en-US" dirty="0"/>
              <a:t>2. </a:t>
            </a:r>
            <a:r>
              <a:rPr lang="en-US" b="1" dirty="0"/>
              <a:t>Diminishers</a:t>
            </a:r>
          </a:p>
          <a:p>
            <a:pPr algn="just"/>
            <a:r>
              <a:rPr lang="en-US" dirty="0"/>
              <a:t>Diminishers decrease the degree of membership. Words like "somewhat" or "slightly" are used to express this. For instance, "slightly tall" would have a lower degree of membership for the same height compared to "tall."</a:t>
            </a:r>
          </a:p>
          <a:p>
            <a:pPr algn="just"/>
            <a:r>
              <a:rPr lang="en-US" dirty="0"/>
              <a:t>3. </a:t>
            </a:r>
            <a:r>
              <a:rPr lang="en-US" b="1" dirty="0"/>
              <a:t>Negators</a:t>
            </a:r>
          </a:p>
          <a:p>
            <a:pPr algn="just"/>
            <a:r>
              <a:rPr lang="en-US" dirty="0"/>
              <a:t>Negators invert the degree of membership, transforming high degrees to low and vice versa. The word "not" serves this purpose. For example, "not tall" would represent the inverse membership function of "tall."</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524983454"/>
      </p:ext>
    </p:extLst>
  </p:cSld>
  <p:clrMapOvr>
    <a:masterClrMapping/>
  </p:clrMapOvr>
  <p:transition advTm="7742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Application Of Hedges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3939540"/>
          </a:xfrm>
          <a:prstGeom prst="rect">
            <a:avLst/>
          </a:prstGeom>
          <a:noFill/>
        </p:spPr>
        <p:txBody>
          <a:bodyPr wrap="square">
            <a:spAutoFit/>
          </a:bodyPr>
          <a:lstStyle/>
          <a:p>
            <a:pPr marL="342900" indent="-342900" algn="just">
              <a:buAutoNum type="arabicPeriod"/>
            </a:pPr>
            <a:r>
              <a:rPr lang="en-US" sz="4000" b="1" dirty="0"/>
              <a:t>Control Systems</a:t>
            </a:r>
          </a:p>
          <a:p>
            <a:pPr algn="just"/>
            <a:endParaRPr lang="en-US" sz="2400" dirty="0"/>
          </a:p>
          <a:p>
            <a:pPr algn="just"/>
            <a:r>
              <a:rPr lang="en-US" sz="2400" dirty="0"/>
              <a:t>Hedges can refine the rules in fuzzy controllers. For instance, in an air conditioning system, rules can be modified to handle varying degrees of temperature comfort</a:t>
            </a:r>
          </a:p>
          <a:p>
            <a:pPr algn="just"/>
            <a:endParaRPr lang="en-US" sz="2400" dirty="0"/>
          </a:p>
          <a:p>
            <a:pPr algn="just"/>
            <a:r>
              <a:rPr lang="en-US" sz="2400" dirty="0"/>
              <a:t>IF temperature is "very high" THEN cooling is "extremely fast."</a:t>
            </a:r>
          </a:p>
          <a:p>
            <a:pPr algn="just"/>
            <a:endParaRPr lang="en-US" sz="2400" dirty="0"/>
          </a:p>
          <a:p>
            <a:pPr algn="just"/>
            <a:r>
              <a:rPr lang="en-US" sz="2400" dirty="0"/>
              <a:t>IF temperature is "slightly high" THEN cooling is "moderate."</a:t>
            </a:r>
          </a:p>
          <a:p>
            <a:pPr algn="just"/>
            <a:endParaRPr lang="en-US"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442090008"/>
      </p:ext>
    </p:extLst>
  </p:cSld>
  <p:clrMapOvr>
    <a:masterClrMapping/>
  </p:clrMapOvr>
  <p:transition advTm="7742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Application Of Hedges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4308872"/>
          </a:xfrm>
          <a:prstGeom prst="rect">
            <a:avLst/>
          </a:prstGeom>
          <a:noFill/>
        </p:spPr>
        <p:txBody>
          <a:bodyPr wrap="square">
            <a:spAutoFit/>
          </a:bodyPr>
          <a:lstStyle/>
          <a:p>
            <a:pPr algn="just"/>
            <a:r>
              <a:rPr lang="en-US" sz="4000" b="1" dirty="0"/>
              <a:t>2. Decision-Making Systems</a:t>
            </a:r>
          </a:p>
          <a:p>
            <a:pPr algn="just"/>
            <a:endParaRPr lang="en-US" sz="2400" dirty="0"/>
          </a:p>
          <a:p>
            <a:pPr algn="just"/>
            <a:r>
              <a:rPr lang="en-US" sz="2400" dirty="0"/>
              <a:t>Hedges enhance the precision of decisions in systems where inputs are not binary. For instance, in a financial risk assessment system</a:t>
            </a:r>
          </a:p>
          <a:p>
            <a:pPr algn="just"/>
            <a:endParaRPr lang="en-US" sz="2400" dirty="0"/>
          </a:p>
          <a:p>
            <a:pPr algn="just"/>
            <a:r>
              <a:rPr lang="en-US" sz="2400" dirty="0"/>
              <a:t>IF market volatility is "very high" THEN risk is "extremely high."</a:t>
            </a:r>
          </a:p>
          <a:p>
            <a:pPr algn="just"/>
            <a:endParaRPr lang="en-US" sz="2400" dirty="0"/>
          </a:p>
          <a:p>
            <a:pPr algn="just"/>
            <a:r>
              <a:rPr lang="en-US" sz="2400" dirty="0"/>
              <a:t>IF market volatility is "somewhat high" THEN risk is "moderate."</a:t>
            </a:r>
          </a:p>
          <a:p>
            <a:pPr algn="just"/>
            <a:endParaRPr lang="en-US" sz="2400" dirty="0"/>
          </a:p>
          <a:p>
            <a:pPr algn="just"/>
            <a:endParaRPr lang="en-US"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558035839"/>
      </p:ext>
    </p:extLst>
  </p:cSld>
  <p:clrMapOvr>
    <a:masterClrMapping/>
  </p:clrMapOvr>
  <p:transition advTm="7742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Application Of Hedges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3570208"/>
          </a:xfrm>
          <a:prstGeom prst="rect">
            <a:avLst/>
          </a:prstGeom>
          <a:noFill/>
        </p:spPr>
        <p:txBody>
          <a:bodyPr wrap="square">
            <a:spAutoFit/>
          </a:bodyPr>
          <a:lstStyle/>
          <a:p>
            <a:pPr algn="just"/>
            <a:r>
              <a:rPr lang="en-US" sz="4000" b="1" dirty="0"/>
              <a:t>3. Natural Language Processing</a:t>
            </a:r>
          </a:p>
          <a:p>
            <a:pPr algn="just"/>
            <a:endParaRPr lang="en-US" sz="2400" dirty="0"/>
          </a:p>
          <a:p>
            <a:pPr algn="just"/>
            <a:r>
              <a:rPr lang="en-US" sz="2400" dirty="0"/>
              <a:t>Hedges allow systems to understand and generate more nuanced language. For instance, in sentiment analysis</a:t>
            </a:r>
          </a:p>
          <a:p>
            <a:pPr algn="just"/>
            <a:endParaRPr lang="en-US" sz="2400" dirty="0"/>
          </a:p>
          <a:p>
            <a:pPr algn="just"/>
            <a:r>
              <a:rPr lang="en-US" sz="2400" dirty="0"/>
              <a:t>"Very happy" can be distinguished from "happy" to provide a more accurate sentiment score.</a:t>
            </a:r>
          </a:p>
          <a:p>
            <a:pPr algn="just"/>
            <a:endParaRPr lang="en-US" sz="2400" dirty="0"/>
          </a:p>
          <a:p>
            <a:pPr algn="just"/>
            <a:endParaRPr lang="en-US"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87540809"/>
      </p:ext>
    </p:extLst>
  </p:cSld>
  <p:clrMapOvr>
    <a:masterClrMapping/>
  </p:clrMapOvr>
  <p:transition advTm="7742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a:buNone/>
            </a:pPr>
            <a:r>
              <a:rPr lang="en-US" sz="4400" b="1" dirty="0">
                <a:solidFill>
                  <a:schemeClr val="bg1"/>
                </a:solidFill>
              </a:rPr>
              <a:t>Conclusion about Hedges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3416320"/>
          </a:xfrm>
          <a:prstGeom prst="rect">
            <a:avLst/>
          </a:prstGeom>
          <a:noFill/>
        </p:spPr>
        <p:txBody>
          <a:bodyPr wrap="square">
            <a:spAutoFit/>
          </a:bodyPr>
          <a:lstStyle/>
          <a:p>
            <a:pPr algn="just"/>
            <a:endParaRPr lang="en-US" sz="2400" dirty="0"/>
          </a:p>
          <a:p>
            <a:pPr algn="just"/>
            <a:r>
              <a:rPr lang="en-US" sz="2400" dirty="0"/>
              <a:t>Hedges are essential tools in fuzzy logic for modeling the nuances of human language and reasoning. By modifying the degrees of membership in fuzzy sets, hedges allow fuzzy systems to capture the subtleties of real-world scenarios, leading to more flexible and intuitive solutions. Whether used in control systems, decision-making processes, or natural language understanding, hedges enhance the capability of fuzzy logic to handle complex, imprecise information effectively.</a:t>
            </a:r>
            <a:endParaRPr lang="en-US"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266633774"/>
      </p:ext>
    </p:extLst>
  </p:cSld>
  <p:clrMapOvr>
    <a:masterClrMapping/>
  </p:clrMapOvr>
  <p:transition advTm="7742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0" y="1557338"/>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US" sz="4400" dirty="0"/>
              <a:t>Fuzzy Propositions and Inference Rules</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3354765"/>
          </a:xfrm>
          <a:prstGeom prst="rect">
            <a:avLst/>
          </a:prstGeom>
          <a:noFill/>
        </p:spPr>
        <p:txBody>
          <a:bodyPr wrap="square">
            <a:spAutoFit/>
          </a:bodyPr>
          <a:lstStyle/>
          <a:p>
            <a:pPr algn="just"/>
            <a:endParaRPr lang="en-US" sz="2400" dirty="0"/>
          </a:p>
          <a:p>
            <a:pPr algn="just"/>
            <a:endParaRPr lang="en-US" sz="2400" dirty="0"/>
          </a:p>
          <a:p>
            <a:pPr algn="just"/>
            <a:endParaRPr lang="en-US" sz="2400" dirty="0"/>
          </a:p>
          <a:p>
            <a:pPr algn="just"/>
            <a:r>
              <a:rPr lang="en-US" sz="2800" dirty="0"/>
              <a:t>Fuzzy logic extends classical logic by handling the concept of partial truth. Fuzzy propositions and inference rules are central to building fuzzy logic systems, allowing for more nuanced reasoning and decision-making.</a:t>
            </a:r>
            <a:endParaRPr lang="en-US" sz="2800" b="1"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80633996"/>
      </p:ext>
    </p:extLst>
  </p:cSld>
  <p:clrMapOvr>
    <a:masterClrMapping/>
  </p:clrMapOvr>
  <p:transition advTm="7742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dirty="0"/>
              <a:t>Fuzzy Propositions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2923877"/>
          </a:xfrm>
          <a:prstGeom prst="rect">
            <a:avLst/>
          </a:prstGeom>
          <a:noFill/>
        </p:spPr>
        <p:txBody>
          <a:bodyPr wrap="square">
            <a:spAutoFit/>
          </a:bodyPr>
          <a:lstStyle/>
          <a:p>
            <a:pPr algn="just"/>
            <a:endParaRPr lang="en-US" sz="2400" dirty="0"/>
          </a:p>
          <a:p>
            <a:pPr algn="just"/>
            <a:endParaRPr lang="en-US" sz="2400" dirty="0"/>
          </a:p>
          <a:p>
            <a:pPr algn="just"/>
            <a:endParaRPr lang="en-US" sz="2400" dirty="0"/>
          </a:p>
          <a:p>
            <a:pPr algn="just"/>
            <a:r>
              <a:rPr lang="en-US" sz="2800" dirty="0"/>
              <a:t>A fuzzy proposition is a statement that involves fuzzy sets and expresses a degree of truth. Unlike classical propositions that are either true or false, fuzzy propositions can be partially true.</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975334976"/>
      </p:ext>
    </p:extLst>
  </p:cSld>
  <p:clrMapOvr>
    <a:masterClrMapping/>
  </p:clrMapOvr>
  <p:transition advTm="7742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dirty="0"/>
              <a:t>Fuzzy Propositions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4278094"/>
          </a:xfrm>
          <a:prstGeom prst="rect">
            <a:avLst/>
          </a:prstGeom>
          <a:noFill/>
        </p:spPr>
        <p:txBody>
          <a:bodyPr wrap="square">
            <a:spAutoFit/>
          </a:bodyPr>
          <a:lstStyle/>
          <a:p>
            <a:pPr algn="just"/>
            <a:r>
              <a:rPr lang="en-US" sz="3200" b="1" dirty="0"/>
              <a:t>Examples of Fuzzy Propositions</a:t>
            </a:r>
          </a:p>
          <a:p>
            <a:pPr algn="just"/>
            <a:endParaRPr lang="en-US" sz="2400" dirty="0"/>
          </a:p>
          <a:p>
            <a:pPr marL="457200" indent="-457200" algn="just">
              <a:buAutoNum type="arabicPeriod"/>
            </a:pPr>
            <a:r>
              <a:rPr lang="en-US" sz="2400" b="1" dirty="0"/>
              <a:t>Simple Fuzzy Proposition</a:t>
            </a:r>
          </a:p>
          <a:p>
            <a:pPr algn="just"/>
            <a:r>
              <a:rPr lang="en-US" sz="2400" dirty="0"/>
              <a:t>          "Temperature is high."</a:t>
            </a:r>
          </a:p>
          <a:p>
            <a:pPr algn="just"/>
            <a:r>
              <a:rPr lang="en-US" sz="2400" dirty="0"/>
              <a:t>Here, "high" is a fuzzy set that represents a range of temperatures with varying degrees of membership.</a:t>
            </a:r>
          </a:p>
          <a:p>
            <a:pPr algn="just"/>
            <a:r>
              <a:rPr lang="en-US" sz="2400" b="1" dirty="0"/>
              <a:t>2.	Composite Fuzzy Proposition</a:t>
            </a:r>
          </a:p>
          <a:p>
            <a:pPr algn="just"/>
            <a:r>
              <a:rPr lang="en-US" sz="2400" dirty="0"/>
              <a:t>	"Temperature is high and humidity is low."</a:t>
            </a:r>
          </a:p>
          <a:p>
            <a:pPr algn="just"/>
            <a:r>
              <a:rPr lang="en-US" sz="2400" dirty="0"/>
              <a:t>This involves two fuzzy sets ("high" and "low") combined using fuzzy operators.</a:t>
            </a:r>
          </a:p>
          <a:p>
            <a:pPr algn="just"/>
            <a:endParaRPr lang="en-US" sz="2400" dirty="0"/>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580062876"/>
      </p:ext>
    </p:extLst>
  </p:cSld>
  <p:clrMapOvr>
    <a:masterClrMapping/>
  </p:clrMapOvr>
  <p:transition advTm="7742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a:t>Fuzzy Inference Rules</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4093428"/>
          </a:xfrm>
          <a:prstGeom prst="rect">
            <a:avLst/>
          </a:prstGeom>
          <a:noFill/>
        </p:spPr>
        <p:txBody>
          <a:bodyPr wrap="square">
            <a:spAutoFit/>
          </a:bodyPr>
          <a:lstStyle/>
          <a:p>
            <a:pPr algn="just"/>
            <a:r>
              <a:rPr lang="en-US" sz="2000" dirty="0"/>
              <a:t>Fuzzy inference rules are "IF-THEN" statements that form the basis for decision-making in fuzzy logic systems. They describe how to derive fuzzy outputs from fuzzy inputs.</a:t>
            </a:r>
          </a:p>
          <a:p>
            <a:pPr algn="just"/>
            <a:endParaRPr lang="en-US" sz="2000" b="1" dirty="0"/>
          </a:p>
          <a:p>
            <a:pPr algn="just"/>
            <a:r>
              <a:rPr lang="en-US" sz="2000" b="1" dirty="0"/>
              <a:t>Structure of Fuzzy Inference Rules</a:t>
            </a:r>
          </a:p>
          <a:p>
            <a:pPr algn="just"/>
            <a:endParaRPr lang="en-US" sz="2000" b="1" dirty="0"/>
          </a:p>
          <a:p>
            <a:pPr algn="just"/>
            <a:r>
              <a:rPr lang="en-US" sz="2000" dirty="0"/>
              <a:t>1.	</a:t>
            </a:r>
            <a:r>
              <a:rPr lang="en-US" sz="2000" b="1" dirty="0"/>
              <a:t>Antecedent (IF part)</a:t>
            </a:r>
          </a:p>
          <a:p>
            <a:pPr algn="just"/>
            <a:r>
              <a:rPr lang="en-US" sz="2000" dirty="0"/>
              <a:t>The condition or premise that involves fuzzy propositions.</a:t>
            </a:r>
          </a:p>
          <a:p>
            <a:pPr algn="just"/>
            <a:r>
              <a:rPr lang="en-US" sz="2000" dirty="0"/>
              <a:t>Example: "IF temperature is high AND humidity is low"</a:t>
            </a:r>
          </a:p>
          <a:p>
            <a:pPr algn="just"/>
            <a:r>
              <a:rPr lang="en-US" sz="2000" dirty="0"/>
              <a:t>2.	</a:t>
            </a:r>
            <a:r>
              <a:rPr lang="en-US" sz="2000" b="1" dirty="0"/>
              <a:t>Consequent (THEN part)</a:t>
            </a:r>
          </a:p>
          <a:p>
            <a:pPr algn="just"/>
            <a:endParaRPr lang="en-US" sz="2000" dirty="0"/>
          </a:p>
          <a:p>
            <a:pPr algn="just"/>
            <a:r>
              <a:rPr lang="en-US" sz="2000" dirty="0"/>
              <a:t>The conclusion or action that follows when the antecedent is satisfied.</a:t>
            </a:r>
          </a:p>
          <a:p>
            <a:pPr algn="just"/>
            <a:r>
              <a:rPr lang="en-US" sz="2000" dirty="0" err="1"/>
              <a:t>oExample</a:t>
            </a:r>
            <a:r>
              <a:rPr lang="en-US" sz="2000" dirty="0"/>
              <a:t>: "THEN fan speed is high"</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209843865"/>
      </p:ext>
    </p:extLst>
  </p:cSld>
  <p:clrMapOvr>
    <a:masterClrMapping/>
  </p:clrMapOvr>
  <p:transition advTm="7742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22412" y="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a:t>Fuzzy Inference Rules</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sp>
        <p:nvSpPr>
          <p:cNvPr id="12" name="TextBox 11"/>
          <p:cNvSpPr txBox="1"/>
          <p:nvPr/>
        </p:nvSpPr>
        <p:spPr>
          <a:xfrm>
            <a:off x="212912" y="2330450"/>
            <a:ext cx="8763000" cy="3785652"/>
          </a:xfrm>
          <a:prstGeom prst="rect">
            <a:avLst/>
          </a:prstGeom>
          <a:noFill/>
        </p:spPr>
        <p:txBody>
          <a:bodyPr wrap="square">
            <a:spAutoFit/>
          </a:bodyPr>
          <a:lstStyle/>
          <a:p>
            <a:pPr algn="just"/>
            <a:r>
              <a:rPr lang="en-US" sz="2400" b="1" dirty="0"/>
              <a:t>Examples of Fuzzy Inference Rules</a:t>
            </a:r>
          </a:p>
          <a:p>
            <a:pPr algn="just"/>
            <a:endParaRPr lang="en-US" sz="2400" b="1" dirty="0"/>
          </a:p>
          <a:p>
            <a:pPr algn="just"/>
            <a:r>
              <a:rPr lang="en-US" sz="2400" dirty="0"/>
              <a:t>1. </a:t>
            </a:r>
            <a:r>
              <a:rPr lang="en-US" sz="2400" b="1" dirty="0"/>
              <a:t>Single Condition Rule</a:t>
            </a:r>
          </a:p>
          <a:p>
            <a:pPr algn="just"/>
            <a:r>
              <a:rPr lang="en-US" sz="2400" dirty="0"/>
              <a:t>"IF temperature is high THEN fan speed is high."</a:t>
            </a:r>
          </a:p>
          <a:p>
            <a:pPr algn="just"/>
            <a:r>
              <a:rPr lang="en-US" sz="2400" dirty="0"/>
              <a:t>2. </a:t>
            </a:r>
            <a:r>
              <a:rPr lang="en-US" sz="2400" b="1" dirty="0"/>
              <a:t>Multiple Condition Rule</a:t>
            </a:r>
          </a:p>
          <a:p>
            <a:pPr algn="just"/>
            <a:r>
              <a:rPr lang="en-US" sz="2400" dirty="0"/>
              <a:t>"IF temperature is high AND humidity is low THEN fan speed is medium."</a:t>
            </a:r>
          </a:p>
          <a:p>
            <a:pPr algn="just"/>
            <a:r>
              <a:rPr lang="en-US" sz="2400" b="1" dirty="0"/>
              <a:t>3. Nested Condition Rule</a:t>
            </a:r>
          </a:p>
          <a:p>
            <a:pPr algn="just"/>
            <a:r>
              <a:rPr lang="en-US" sz="2400" dirty="0"/>
              <a:t>"IF temperature is high AND (humidity is low OR humidity is medium) THEN fan speed is high."</a:t>
            </a:r>
          </a:p>
        </p:txBody>
      </p:sp>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073331986"/>
      </p:ext>
    </p:extLst>
  </p:cSld>
  <p:clrMapOvr>
    <a:masterClrMapping/>
  </p:clrMapOvr>
  <p:transition advTm="7742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76200" y="-21432"/>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a:t>Fuzzy Inference Process</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
        <p:nvSpPr>
          <p:cNvPr id="2" name="Rectangle 1">
            <a:extLst>
              <a:ext uri="{FF2B5EF4-FFF2-40B4-BE49-F238E27FC236}">
                <a16:creationId xmlns:a16="http://schemas.microsoft.com/office/drawing/2014/main" id="{DB77C0EB-DF26-4C33-BB8D-A96BAF69F9B7}"/>
              </a:ext>
            </a:extLst>
          </p:cNvPr>
          <p:cNvSpPr/>
          <p:nvPr/>
        </p:nvSpPr>
        <p:spPr>
          <a:xfrm>
            <a:off x="76200" y="2743201"/>
            <a:ext cx="9197788" cy="3908762"/>
          </a:xfrm>
          <a:prstGeom prst="rect">
            <a:avLst/>
          </a:prstGeom>
        </p:spPr>
        <p:txBody>
          <a:bodyPr wrap="square">
            <a:spAutoFit/>
          </a:bodyPr>
          <a:lstStyle/>
          <a:p>
            <a:r>
              <a:rPr lang="en-US" sz="2400" dirty="0"/>
              <a:t>The process of deriving conclusions from fuzzy rules involves several steps</a:t>
            </a:r>
          </a:p>
          <a:p>
            <a:endParaRPr lang="en-US" dirty="0"/>
          </a:p>
          <a:p>
            <a:r>
              <a:rPr lang="en-US" dirty="0"/>
              <a:t>1</a:t>
            </a:r>
            <a:r>
              <a:rPr lang="en-US" b="1" dirty="0"/>
              <a:t>. Fuzzification</a:t>
            </a:r>
          </a:p>
          <a:p>
            <a:r>
              <a:rPr lang="en-US" dirty="0"/>
              <a:t>Convert crisp input values into fuzzy values using membership functions.</a:t>
            </a:r>
          </a:p>
          <a:p>
            <a:r>
              <a:rPr lang="en-US" dirty="0"/>
              <a:t>Example: Convert a temperature of 28°C into a degree of membership in the fuzzy set "high."</a:t>
            </a:r>
          </a:p>
          <a:p>
            <a:r>
              <a:rPr lang="en-US" b="1" dirty="0"/>
              <a:t>2. Rule Evaluation</a:t>
            </a:r>
          </a:p>
          <a:p>
            <a:r>
              <a:rPr lang="en-US" dirty="0"/>
              <a:t>Apply fuzzy operators (AND, OR, NOT) to compute the degree of truth for the antecedents.</a:t>
            </a:r>
          </a:p>
          <a:p>
            <a:r>
              <a:rPr lang="en-US" dirty="0"/>
              <a:t>Example: For the rule "IF temperature is high AND humidity is low," compute the minimum of the degrees of membership for "high temperature" and "low humidity."</a:t>
            </a:r>
          </a:p>
          <a:p>
            <a:endParaRPr lang="en-IN" sz="2000" dirty="0"/>
          </a:p>
        </p:txBody>
      </p:sp>
    </p:spTree>
    <p:extLst>
      <p:ext uri="{BB962C8B-B14F-4D97-AF65-F5344CB8AC3E}">
        <p14:creationId xmlns:p14="http://schemas.microsoft.com/office/powerpoint/2010/main" val="1411719804"/>
      </p:ext>
    </p:extLst>
  </p:cSld>
  <p:clrMapOvr>
    <a:masterClrMapping/>
  </p:clrMapOvr>
  <p:transition advTm="7742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228600"/>
            <a:ext cx="9166412"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a:t>Fuzzy Inference Process</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828800" cy="1395413"/>
          </a:xfrm>
          <a:prstGeom prst="rect">
            <a:avLst/>
          </a:prstGeom>
          <a:noFill/>
          <a:ln w="9525">
            <a:noFill/>
            <a:miter lim="800000"/>
            <a:headEnd/>
            <a:tailEnd/>
          </a:ln>
        </p:spPr>
      </p:pic>
      <p:sp>
        <p:nvSpPr>
          <p:cNvPr id="3" name="Rectangle 2">
            <a:extLst>
              <a:ext uri="{FF2B5EF4-FFF2-40B4-BE49-F238E27FC236}">
                <a16:creationId xmlns:a16="http://schemas.microsoft.com/office/drawing/2014/main" id="{89E4F5EC-1413-490E-B70D-0B94B3DB7CDA}"/>
              </a:ext>
            </a:extLst>
          </p:cNvPr>
          <p:cNvSpPr/>
          <p:nvPr/>
        </p:nvSpPr>
        <p:spPr>
          <a:xfrm>
            <a:off x="685800" y="2585164"/>
            <a:ext cx="8001000" cy="3416320"/>
          </a:xfrm>
          <a:prstGeom prst="rect">
            <a:avLst/>
          </a:prstGeom>
        </p:spPr>
        <p:txBody>
          <a:bodyPr wrap="square">
            <a:spAutoFit/>
          </a:bodyPr>
          <a:lstStyle/>
          <a:p>
            <a:pPr algn="just"/>
            <a:r>
              <a:rPr lang="en-US" sz="2400" dirty="0"/>
              <a:t>3. </a:t>
            </a:r>
            <a:r>
              <a:rPr lang="en-US" sz="2400" b="1" dirty="0"/>
              <a:t>Aggregation of Rule Outputs</a:t>
            </a:r>
          </a:p>
          <a:p>
            <a:pPr algn="just"/>
            <a:r>
              <a:rPr lang="en-US" sz="2400" dirty="0"/>
              <a:t>Combine the fuzzy outputs of all relevant rules.</a:t>
            </a:r>
          </a:p>
          <a:p>
            <a:pPr algn="just"/>
            <a:r>
              <a:rPr lang="en-US" sz="2400" dirty="0"/>
              <a:t>Example: Combine the fuzzy sets resulting from multiple rules about fan speed.</a:t>
            </a:r>
          </a:p>
          <a:p>
            <a:pPr algn="just"/>
            <a:r>
              <a:rPr lang="en-US" sz="2400" b="1" dirty="0"/>
              <a:t>4.	Defuzzification</a:t>
            </a:r>
          </a:p>
          <a:p>
            <a:pPr algn="just"/>
            <a:r>
              <a:rPr lang="en-US" sz="2400" dirty="0"/>
              <a:t>Convert the aggregated fuzzy output into a single crisp value.</a:t>
            </a:r>
          </a:p>
          <a:p>
            <a:pPr algn="just"/>
            <a:r>
              <a:rPr lang="en-US" sz="2400" dirty="0"/>
              <a:t>Example: Use the centroid method to determine the final fan speed setting.</a:t>
            </a:r>
          </a:p>
        </p:txBody>
      </p:sp>
    </p:spTree>
    <p:extLst>
      <p:ext uri="{BB962C8B-B14F-4D97-AF65-F5344CB8AC3E}">
        <p14:creationId xmlns:p14="http://schemas.microsoft.com/office/powerpoint/2010/main" val="1825238144"/>
      </p:ext>
    </p:extLst>
  </p:cSld>
  <p:clrMapOvr>
    <a:masterClrMapping/>
  </p:clrMapOvr>
  <p:transition advTm="7742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0" y="-228600"/>
            <a:ext cx="9166412"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dirty="0"/>
              <a:t>Fuzzy System</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828800" cy="1395413"/>
          </a:xfrm>
          <a:prstGeom prst="rect">
            <a:avLst/>
          </a:prstGeom>
          <a:noFill/>
          <a:ln w="9525">
            <a:noFill/>
            <a:miter lim="800000"/>
            <a:headEnd/>
            <a:tailEnd/>
          </a:ln>
        </p:spPr>
      </p:pic>
      <p:sp>
        <p:nvSpPr>
          <p:cNvPr id="2" name="Rectangle 1">
            <a:extLst>
              <a:ext uri="{FF2B5EF4-FFF2-40B4-BE49-F238E27FC236}">
                <a16:creationId xmlns:a16="http://schemas.microsoft.com/office/drawing/2014/main" id="{6264AE91-3649-4CEC-B9BD-9296CB3325C0}"/>
              </a:ext>
            </a:extLst>
          </p:cNvPr>
          <p:cNvSpPr/>
          <p:nvPr/>
        </p:nvSpPr>
        <p:spPr>
          <a:xfrm>
            <a:off x="22412" y="3009900"/>
            <a:ext cx="9121588" cy="1938992"/>
          </a:xfrm>
          <a:prstGeom prst="rect">
            <a:avLst/>
          </a:prstGeom>
        </p:spPr>
        <p:txBody>
          <a:bodyPr wrap="square">
            <a:spAutoFit/>
          </a:bodyPr>
          <a:lstStyle/>
          <a:p>
            <a:pPr algn="just"/>
            <a:r>
              <a:rPr lang="en-US" sz="2400" dirty="0"/>
              <a:t>Fuzzy systems are frameworks based on fuzzy logic used to model complex processes and make decisions under uncertainty. These systems leverage fuzzy sets, fuzzy propositions, and inference rules to handle imprecise information and approximate reasoning, closely mimicking human decision-making.</a:t>
            </a:r>
            <a:endParaRPr lang="en-IN" sz="2400" dirty="0"/>
          </a:p>
        </p:txBody>
      </p:sp>
    </p:spTree>
    <p:extLst>
      <p:ext uri="{BB962C8B-B14F-4D97-AF65-F5344CB8AC3E}">
        <p14:creationId xmlns:p14="http://schemas.microsoft.com/office/powerpoint/2010/main" val="1904636076"/>
      </p:ext>
    </p:extLst>
  </p:cSld>
  <p:clrMapOvr>
    <a:masterClrMapping/>
  </p:clrMapOvr>
  <p:transition advTm="7742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12887" y="15240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US" sz="4400"/>
              <a:t>Components of a Fuzzy System</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
        <p:nvSpPr>
          <p:cNvPr id="2" name="Rectangle 1">
            <a:extLst>
              <a:ext uri="{FF2B5EF4-FFF2-40B4-BE49-F238E27FC236}">
                <a16:creationId xmlns:a16="http://schemas.microsoft.com/office/drawing/2014/main" id="{42B8284A-A7B0-4828-A606-D3FBA0986BFF}"/>
              </a:ext>
            </a:extLst>
          </p:cNvPr>
          <p:cNvSpPr/>
          <p:nvPr/>
        </p:nvSpPr>
        <p:spPr>
          <a:xfrm>
            <a:off x="22412" y="2360911"/>
            <a:ext cx="9121588" cy="4431983"/>
          </a:xfrm>
          <a:prstGeom prst="rect">
            <a:avLst/>
          </a:prstGeom>
        </p:spPr>
        <p:txBody>
          <a:bodyPr wrap="square">
            <a:spAutoFit/>
          </a:bodyPr>
          <a:lstStyle/>
          <a:p>
            <a:pPr algn="just"/>
            <a:r>
              <a:rPr lang="en-US" sz="2400" b="1" dirty="0"/>
              <a:t>A typical fuzzy system consists of the following components</a:t>
            </a:r>
          </a:p>
          <a:p>
            <a:pPr algn="just"/>
            <a:endParaRPr lang="en-US" sz="2000" b="1" dirty="0"/>
          </a:p>
          <a:p>
            <a:pPr marL="342900" indent="-342900" algn="just">
              <a:buAutoNum type="arabicPeriod"/>
            </a:pPr>
            <a:r>
              <a:rPr lang="en-US" sz="2000" b="1" dirty="0"/>
              <a:t>Fuzzification Module</a:t>
            </a:r>
          </a:p>
          <a:p>
            <a:pPr marL="342900" indent="-342900" algn="just">
              <a:buAutoNum type="arabicPeriod"/>
            </a:pPr>
            <a:endParaRPr lang="en-US" sz="2000" b="1" dirty="0"/>
          </a:p>
          <a:p>
            <a:pPr algn="just"/>
            <a:r>
              <a:rPr lang="en-US" sz="2000" dirty="0"/>
              <a:t>Converts crisp input values into fuzzy values using membership functions.</a:t>
            </a:r>
          </a:p>
          <a:p>
            <a:pPr algn="just"/>
            <a:r>
              <a:rPr lang="en-US" sz="2000" dirty="0"/>
              <a:t>Example: Converting a temperature of 30°C into degrees of membership in fuzzy sets like "warm" and "hot.“</a:t>
            </a:r>
          </a:p>
          <a:p>
            <a:pPr algn="just"/>
            <a:endParaRPr lang="en-US" sz="2000" dirty="0"/>
          </a:p>
          <a:p>
            <a:pPr algn="just"/>
            <a:r>
              <a:rPr lang="en-US" sz="2000" dirty="0"/>
              <a:t>2. </a:t>
            </a:r>
            <a:r>
              <a:rPr lang="en-US" sz="2000" b="1" dirty="0"/>
              <a:t>Knowledge Base</a:t>
            </a:r>
          </a:p>
          <a:p>
            <a:pPr algn="just"/>
            <a:endParaRPr lang="en-US" sz="2000" b="1" dirty="0"/>
          </a:p>
          <a:p>
            <a:pPr algn="just"/>
            <a:r>
              <a:rPr lang="en-US" sz="2000" dirty="0"/>
              <a:t>Contains the fuzzy rules and membership functions. The fuzzy rules are in the form of "IF-THEN" statements.</a:t>
            </a:r>
          </a:p>
          <a:p>
            <a:pPr algn="just"/>
            <a:r>
              <a:rPr lang="en-US" sz="2000" dirty="0"/>
              <a:t>Example: "IF temperature is high AND humidity is low THEN fan speed is high.“</a:t>
            </a:r>
          </a:p>
          <a:p>
            <a:pPr algn="just"/>
            <a:endParaRPr lang="en-US" dirty="0"/>
          </a:p>
        </p:txBody>
      </p:sp>
    </p:spTree>
    <p:extLst>
      <p:ext uri="{BB962C8B-B14F-4D97-AF65-F5344CB8AC3E}">
        <p14:creationId xmlns:p14="http://schemas.microsoft.com/office/powerpoint/2010/main" val="617689107"/>
      </p:ext>
    </p:extLst>
  </p:cSld>
  <p:clrMapOvr>
    <a:masterClrMapping/>
  </p:clrMapOvr>
  <p:transition advTm="7742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12887" y="15240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US" sz="4400"/>
              <a:t>Components of a Fuzzy System</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
        <p:nvSpPr>
          <p:cNvPr id="2" name="Rectangle 1">
            <a:extLst>
              <a:ext uri="{FF2B5EF4-FFF2-40B4-BE49-F238E27FC236}">
                <a16:creationId xmlns:a16="http://schemas.microsoft.com/office/drawing/2014/main" id="{42B8284A-A7B0-4828-A606-D3FBA0986BFF}"/>
              </a:ext>
            </a:extLst>
          </p:cNvPr>
          <p:cNvSpPr/>
          <p:nvPr/>
        </p:nvSpPr>
        <p:spPr>
          <a:xfrm>
            <a:off x="22412" y="2360911"/>
            <a:ext cx="9121588" cy="4185761"/>
          </a:xfrm>
          <a:prstGeom prst="rect">
            <a:avLst/>
          </a:prstGeom>
        </p:spPr>
        <p:txBody>
          <a:bodyPr wrap="square">
            <a:spAutoFit/>
          </a:bodyPr>
          <a:lstStyle/>
          <a:p>
            <a:pPr algn="just"/>
            <a:r>
              <a:rPr lang="en-US" sz="2400" b="1" dirty="0"/>
              <a:t>A typical fuzzy system consists of the following components</a:t>
            </a:r>
          </a:p>
          <a:p>
            <a:pPr algn="just"/>
            <a:endParaRPr lang="en-US" sz="2400" b="1" dirty="0"/>
          </a:p>
          <a:p>
            <a:pPr algn="just"/>
            <a:r>
              <a:rPr lang="en-US" sz="2000" b="1" dirty="0"/>
              <a:t>3.  Inference Engine</a:t>
            </a:r>
          </a:p>
          <a:p>
            <a:pPr algn="just"/>
            <a:r>
              <a:rPr lang="en-US" sz="2000" dirty="0"/>
              <a:t>Applies fuzzy inference rules to the fuzzified inputs to generate fuzzy outputs.</a:t>
            </a:r>
          </a:p>
          <a:p>
            <a:pPr algn="just"/>
            <a:r>
              <a:rPr lang="en-US" sz="2000" dirty="0"/>
              <a:t>Example: Evaluating the degree to which the input data satisfies each rule and combining the results.</a:t>
            </a:r>
          </a:p>
          <a:p>
            <a:pPr algn="just"/>
            <a:endParaRPr lang="en-US" sz="2000" dirty="0"/>
          </a:p>
          <a:p>
            <a:pPr algn="just"/>
            <a:r>
              <a:rPr lang="en-US" sz="2000" dirty="0"/>
              <a:t>4.  </a:t>
            </a:r>
            <a:r>
              <a:rPr lang="en-US" sz="2000" b="1" dirty="0"/>
              <a:t>Defuzzification Module</a:t>
            </a:r>
          </a:p>
          <a:p>
            <a:pPr algn="just"/>
            <a:r>
              <a:rPr lang="en-US" sz="2000" dirty="0"/>
              <a:t>Converts the fuzzy output into a crisp value.</a:t>
            </a:r>
          </a:p>
          <a:p>
            <a:pPr algn="just"/>
            <a:r>
              <a:rPr lang="en-US" sz="2000" dirty="0"/>
              <a:t>Example: Using methods like the centroid method to derive a specific fan speed from the fuzzy output.</a:t>
            </a:r>
          </a:p>
          <a:p>
            <a:pPr algn="just"/>
            <a:endParaRPr lang="en-US" sz="2000" dirty="0"/>
          </a:p>
          <a:p>
            <a:pPr algn="just"/>
            <a:endParaRPr lang="en-US" dirty="0"/>
          </a:p>
        </p:txBody>
      </p:sp>
    </p:spTree>
    <p:extLst>
      <p:ext uri="{BB962C8B-B14F-4D97-AF65-F5344CB8AC3E}">
        <p14:creationId xmlns:p14="http://schemas.microsoft.com/office/powerpoint/2010/main" val="3984936501"/>
      </p:ext>
    </p:extLst>
  </p:cSld>
  <p:clrMapOvr>
    <a:masterClrMapping/>
  </p:clrMapOvr>
  <p:transition advTm="7742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12887" y="15240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dirty="0"/>
              <a:t>Types of Fuzzy Systems</a:t>
            </a:r>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
        <p:nvSpPr>
          <p:cNvPr id="2" name="Rectangle 1">
            <a:extLst>
              <a:ext uri="{FF2B5EF4-FFF2-40B4-BE49-F238E27FC236}">
                <a16:creationId xmlns:a16="http://schemas.microsoft.com/office/drawing/2014/main" id="{42B8284A-A7B0-4828-A606-D3FBA0986BFF}"/>
              </a:ext>
            </a:extLst>
          </p:cNvPr>
          <p:cNvSpPr/>
          <p:nvPr/>
        </p:nvSpPr>
        <p:spPr>
          <a:xfrm>
            <a:off x="22412" y="2360911"/>
            <a:ext cx="9121588" cy="677108"/>
          </a:xfrm>
          <a:prstGeom prst="rect">
            <a:avLst/>
          </a:prstGeom>
        </p:spPr>
        <p:txBody>
          <a:bodyPr wrap="square">
            <a:spAutoFit/>
          </a:bodyPr>
          <a:lstStyle/>
          <a:p>
            <a:pPr algn="just"/>
            <a:endParaRPr lang="en-US" sz="2000" dirty="0"/>
          </a:p>
          <a:p>
            <a:pPr algn="just"/>
            <a:endParaRPr lang="en-US" dirty="0"/>
          </a:p>
        </p:txBody>
      </p:sp>
      <p:sp>
        <p:nvSpPr>
          <p:cNvPr id="3" name="Rectangle 2">
            <a:extLst>
              <a:ext uri="{FF2B5EF4-FFF2-40B4-BE49-F238E27FC236}">
                <a16:creationId xmlns:a16="http://schemas.microsoft.com/office/drawing/2014/main" id="{B617B6D4-D134-4CFF-84F9-A1F96F828046}"/>
              </a:ext>
            </a:extLst>
          </p:cNvPr>
          <p:cNvSpPr/>
          <p:nvPr/>
        </p:nvSpPr>
        <p:spPr>
          <a:xfrm>
            <a:off x="22412" y="2848619"/>
            <a:ext cx="8969188" cy="3170099"/>
          </a:xfrm>
          <a:prstGeom prst="rect">
            <a:avLst/>
          </a:prstGeom>
        </p:spPr>
        <p:txBody>
          <a:bodyPr wrap="square">
            <a:spAutoFit/>
          </a:bodyPr>
          <a:lstStyle/>
          <a:p>
            <a:pPr algn="just"/>
            <a:r>
              <a:rPr lang="en-US" dirty="0"/>
              <a:t>1. </a:t>
            </a:r>
            <a:r>
              <a:rPr lang="en-US" sz="2000" b="1" dirty="0"/>
              <a:t>Mamdani Fuzzy Systems</a:t>
            </a:r>
          </a:p>
          <a:p>
            <a:pPr algn="just"/>
            <a:r>
              <a:rPr lang="en-US" sz="2000" dirty="0"/>
              <a:t>Named after Ebrahim Mamdani, these systems use fuzzy rules to relate input fuzzy sets to output fuzzy sets.</a:t>
            </a:r>
          </a:p>
          <a:p>
            <a:pPr algn="just"/>
            <a:r>
              <a:rPr lang="en-US" sz="2000" dirty="0"/>
              <a:t>Commonly used in control systems.</a:t>
            </a:r>
          </a:p>
          <a:p>
            <a:pPr algn="just"/>
            <a:r>
              <a:rPr lang="en-US" sz="2000" dirty="0"/>
              <a:t>2. </a:t>
            </a:r>
            <a:r>
              <a:rPr lang="en-US" sz="2000" b="1" dirty="0"/>
              <a:t>Takagi-</a:t>
            </a:r>
            <a:r>
              <a:rPr lang="en-US" sz="2000" b="1" dirty="0" err="1"/>
              <a:t>Sugeno</a:t>
            </a:r>
            <a:r>
              <a:rPr lang="en-US" sz="2000" b="1" dirty="0"/>
              <a:t> (T-S) Fuzzy Systems</a:t>
            </a:r>
          </a:p>
          <a:p>
            <a:pPr algn="just"/>
            <a:r>
              <a:rPr lang="en-US" sz="2000" dirty="0"/>
              <a:t>Developed by Takagi and </a:t>
            </a:r>
            <a:r>
              <a:rPr lang="en-US" sz="2000" dirty="0" err="1"/>
              <a:t>Sugeno</a:t>
            </a:r>
            <a:r>
              <a:rPr lang="en-US" sz="2000" dirty="0"/>
              <a:t>, these systems have rules where the consequent is a mathematical function of the </a:t>
            </a:r>
            <a:r>
              <a:rPr lang="en-US" sz="2000" dirty="0" err="1"/>
              <a:t>inputs.Example</a:t>
            </a:r>
            <a:r>
              <a:rPr lang="en-US" sz="2000" dirty="0"/>
              <a:t>: "IF temperature is high THEN fan speed = 0.5 * temperature + 10</a:t>
            </a:r>
          </a:p>
          <a:p>
            <a:pPr algn="just"/>
            <a:r>
              <a:rPr lang="en-US" sz="2000" dirty="0"/>
              <a:t>Often used in modeling and control applications where a more precise mathematical relationship is needed.</a:t>
            </a:r>
          </a:p>
        </p:txBody>
      </p:sp>
    </p:spTree>
    <p:extLst>
      <p:ext uri="{BB962C8B-B14F-4D97-AF65-F5344CB8AC3E}">
        <p14:creationId xmlns:p14="http://schemas.microsoft.com/office/powerpoint/2010/main" val="1837389451"/>
      </p:ext>
    </p:extLst>
  </p:cSld>
  <p:clrMapOvr>
    <a:masterClrMapping/>
  </p:clrMapOvr>
  <p:transition advTm="7742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12887" y="15240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a:t>Applications of Fuzzy Systems</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
        <p:nvSpPr>
          <p:cNvPr id="2" name="Rectangle 1">
            <a:extLst>
              <a:ext uri="{FF2B5EF4-FFF2-40B4-BE49-F238E27FC236}">
                <a16:creationId xmlns:a16="http://schemas.microsoft.com/office/drawing/2014/main" id="{42B8284A-A7B0-4828-A606-D3FBA0986BFF}"/>
              </a:ext>
            </a:extLst>
          </p:cNvPr>
          <p:cNvSpPr/>
          <p:nvPr/>
        </p:nvSpPr>
        <p:spPr>
          <a:xfrm>
            <a:off x="22412" y="3009899"/>
            <a:ext cx="8931088" cy="3785652"/>
          </a:xfrm>
          <a:prstGeom prst="rect">
            <a:avLst/>
          </a:prstGeom>
        </p:spPr>
        <p:txBody>
          <a:bodyPr wrap="square">
            <a:spAutoFit/>
          </a:bodyPr>
          <a:lstStyle/>
          <a:p>
            <a:pPr marL="457200" indent="-457200" algn="just">
              <a:buAutoNum type="arabicPeriod"/>
            </a:pPr>
            <a:r>
              <a:rPr lang="en-US" sz="2000" b="1" dirty="0"/>
              <a:t>Control Systems</a:t>
            </a:r>
          </a:p>
          <a:p>
            <a:pPr algn="just"/>
            <a:endParaRPr lang="en-US" sz="2000" b="1" dirty="0"/>
          </a:p>
          <a:p>
            <a:pPr algn="just"/>
            <a:r>
              <a:rPr lang="en-US" sz="2000" b="1" dirty="0"/>
              <a:t>Home Appliances </a:t>
            </a:r>
            <a:r>
              <a:rPr lang="en-US" sz="2000" dirty="0"/>
              <a:t>Fuzzy logic controllers in washing machines, air conditioners, and refrigerators for optimized performance.</a:t>
            </a:r>
          </a:p>
          <a:p>
            <a:pPr algn="just"/>
            <a:r>
              <a:rPr lang="en-US" sz="2000" b="1" dirty="0"/>
              <a:t>Automotive Systems  </a:t>
            </a:r>
          </a:p>
          <a:p>
            <a:pPr algn="just"/>
            <a:r>
              <a:rPr lang="en-US" sz="2000" dirty="0"/>
              <a:t>Fuzzy logic used in automatic transmissions, anti-lock braking systems, and  adaptive cruise control.</a:t>
            </a:r>
          </a:p>
          <a:p>
            <a:pPr algn="just"/>
            <a:r>
              <a:rPr lang="en-US" sz="2000" dirty="0"/>
              <a:t>2.</a:t>
            </a:r>
            <a:r>
              <a:rPr lang="en-US" sz="2000" b="1" dirty="0"/>
              <a:t>Decision-Making Systems</a:t>
            </a:r>
          </a:p>
          <a:p>
            <a:pPr algn="just"/>
            <a:endParaRPr lang="en-US" sz="2000" b="1" dirty="0"/>
          </a:p>
          <a:p>
            <a:pPr algn="just"/>
            <a:r>
              <a:rPr lang="en-US" sz="2000" b="1" dirty="0"/>
              <a:t>Financial Systems </a:t>
            </a:r>
            <a:r>
              <a:rPr lang="en-US" sz="2000" dirty="0"/>
              <a:t>Fuzzy logic applied in risk assessment, stock trading algorithms, and credit scoring.</a:t>
            </a:r>
          </a:p>
          <a:p>
            <a:pPr algn="just"/>
            <a:r>
              <a:rPr lang="en-US" sz="2000" b="1" dirty="0"/>
              <a:t>Medical Diagnosis </a:t>
            </a:r>
            <a:r>
              <a:rPr lang="en-US" sz="2000" dirty="0"/>
              <a:t>Helps in diagnosing diseases </a:t>
            </a:r>
          </a:p>
        </p:txBody>
      </p:sp>
    </p:spTree>
    <p:extLst>
      <p:ext uri="{BB962C8B-B14F-4D97-AF65-F5344CB8AC3E}">
        <p14:creationId xmlns:p14="http://schemas.microsoft.com/office/powerpoint/2010/main" val="419254555"/>
      </p:ext>
    </p:extLst>
  </p:cSld>
  <p:clrMapOvr>
    <a:masterClrMapping/>
  </p:clrMapOvr>
  <p:transition advTm="7742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arul\Desktop\Digital Learning Content.png"/>
          <p:cNvPicPr>
            <a:picLocks noChangeAspect="1"/>
          </p:cNvPicPr>
          <p:nvPr>
            <p:custDataLst>
              <p:tags r:id="rId1"/>
            </p:custDataLst>
          </p:nvPr>
        </p:nvPicPr>
        <p:blipFill>
          <a:blip r:embed="rId6"/>
          <a:srcRect/>
          <a:stretch>
            <a:fillRect/>
          </a:stretch>
        </p:blipFill>
        <p:spPr bwMode="auto">
          <a:xfrm>
            <a:off x="12887" y="152400"/>
            <a:ext cx="9144000" cy="6900863"/>
          </a:xfrm>
          <a:prstGeom prst="rect">
            <a:avLst/>
          </a:prstGeom>
          <a:noFill/>
          <a:ln w="9525">
            <a:noFill/>
            <a:miter lim="800000"/>
            <a:headEnd/>
            <a:tailEnd/>
          </a:ln>
        </p:spPr>
      </p:pic>
      <p:sp>
        <p:nvSpPr>
          <p:cNvPr id="19460" name="Rectangle 7"/>
          <p:cNvSpPr/>
          <p:nvPr>
            <p:custDataLst>
              <p:tags r:id="rId2"/>
            </p:custDataLst>
          </p:nvPr>
        </p:nvSpPr>
        <p:spPr>
          <a:xfrm>
            <a:off x="22412" y="1556694"/>
            <a:ext cx="9144000" cy="642937"/>
          </a:xfrm>
          <a:prstGeom prst="rect">
            <a:avLst/>
          </a:prstGeom>
          <a:solidFill>
            <a:srgbClr val="1F497D"/>
          </a:solidFill>
          <a:ln w="25400">
            <a:noFill/>
          </a:ln>
        </p:spPr>
        <p:txBody>
          <a:bodyPr anchor="ct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buNone/>
            </a:pPr>
            <a:r>
              <a:rPr lang="en-IN" sz="4400"/>
              <a:t>Applications of Fuzzy Systems</a:t>
            </a:r>
            <a:endParaRPr lang="en-IN" sz="4400" dirty="0"/>
          </a:p>
        </p:txBody>
      </p:sp>
      <p:sp>
        <p:nvSpPr>
          <p:cNvPr id="19461" name="TextBox 6"/>
          <p:cNvSpPr/>
          <p:nvPr>
            <p:custDataLst>
              <p:tags r:id="rId3"/>
            </p:custDataLst>
          </p:nvPr>
        </p:nvSpPr>
        <p:spPr>
          <a:xfrm>
            <a:off x="190500" y="1687513"/>
            <a:ext cx="8763000" cy="554037"/>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indent="0" algn="ctr">
              <a:spcBef>
                <a:spcPct val="0"/>
              </a:spcBef>
              <a:buFont typeface="Arial" panose="020B0604020202020204" pitchFamily="34" charset="0"/>
              <a:buNone/>
              <a:defRPr/>
            </a:pPr>
            <a:endParaRPr lang="en-US" altLang="en-US" sz="3000" b="1" dirty="0">
              <a:solidFill>
                <a:schemeClr val="bg1"/>
              </a:solidFill>
              <a:latin typeface="+mj-lt"/>
              <a:ea typeface="PMingLiU" pitchFamily="18" charset="-120"/>
              <a:cs typeface="+mj-lt"/>
              <a:sym typeface="+mn-ea"/>
            </a:endParaRPr>
          </a:p>
        </p:txBody>
      </p:sp>
      <p:pic>
        <p:nvPicPr>
          <p:cNvPr id="4101" name="Picture 6" descr="C:\Users\parul\Desktop\Untitled-1.png"/>
          <p:cNvPicPr>
            <a:picLocks noChangeAspect="1"/>
          </p:cNvPicPr>
          <p:nvPr>
            <p:custDataLst>
              <p:tags r:id="rId4"/>
            </p:custDataLst>
          </p:nvPr>
        </p:nvPicPr>
        <p:blipFill>
          <a:blip r:embed="rId7"/>
          <a:srcRect/>
          <a:stretch>
            <a:fillRect/>
          </a:stretch>
        </p:blipFill>
        <p:spPr bwMode="auto">
          <a:xfrm>
            <a:off x="2124075" y="3009900"/>
            <a:ext cx="5430838" cy="2803525"/>
          </a:xfrm>
          <a:prstGeom prst="rect">
            <a:avLst/>
          </a:prstGeom>
          <a:noFill/>
          <a:ln w="9525">
            <a:noFill/>
            <a:miter lim="800000"/>
            <a:headEnd/>
            <a:tailEnd/>
          </a:ln>
        </p:spPr>
      </p:pic>
      <p:pic>
        <p:nvPicPr>
          <p:cNvPr id="4103" name="Picture 12"/>
          <p:cNvPicPr>
            <a:picLocks noChangeAspect="1" noChangeArrowheads="1"/>
          </p:cNvPicPr>
          <p:nvPr/>
        </p:nvPicPr>
        <p:blipFill>
          <a:blip r:embed="rId8"/>
          <a:srcRect/>
          <a:stretch>
            <a:fillRect/>
          </a:stretch>
        </p:blipFill>
        <p:spPr bwMode="auto">
          <a:xfrm>
            <a:off x="381000" y="0"/>
            <a:ext cx="1524000" cy="1395413"/>
          </a:xfrm>
          <a:prstGeom prst="rect">
            <a:avLst/>
          </a:prstGeom>
          <a:noFill/>
          <a:ln w="9525">
            <a:noFill/>
            <a:miter lim="800000"/>
            <a:headEnd/>
            <a:tailEnd/>
          </a:ln>
        </p:spPr>
      </p:pic>
      <p:sp>
        <p:nvSpPr>
          <p:cNvPr id="3" name="Rectangle 2">
            <a:extLst>
              <a:ext uri="{FF2B5EF4-FFF2-40B4-BE49-F238E27FC236}">
                <a16:creationId xmlns:a16="http://schemas.microsoft.com/office/drawing/2014/main" id="{DB1C69AF-435E-499D-9F15-19CFF07543D4}"/>
              </a:ext>
            </a:extLst>
          </p:cNvPr>
          <p:cNvSpPr/>
          <p:nvPr/>
        </p:nvSpPr>
        <p:spPr>
          <a:xfrm>
            <a:off x="22412" y="2743200"/>
            <a:ext cx="8931088" cy="2954655"/>
          </a:xfrm>
          <a:prstGeom prst="rect">
            <a:avLst/>
          </a:prstGeom>
        </p:spPr>
        <p:txBody>
          <a:bodyPr wrap="square">
            <a:spAutoFit/>
          </a:bodyPr>
          <a:lstStyle/>
          <a:p>
            <a:r>
              <a:rPr lang="en-US" sz="2400" dirty="0"/>
              <a:t>3</a:t>
            </a:r>
            <a:r>
              <a:rPr lang="en-US" sz="2400" b="1" dirty="0"/>
              <a:t>.  Robotics</a:t>
            </a:r>
          </a:p>
          <a:p>
            <a:r>
              <a:rPr lang="en-US" sz="2400" dirty="0"/>
              <a:t>Navigation and control in uncertain environments, improving the ability of robots to handle dynamic changes and obstacles.</a:t>
            </a:r>
          </a:p>
          <a:p>
            <a:endParaRPr lang="en-US" sz="2400" dirty="0"/>
          </a:p>
          <a:p>
            <a:r>
              <a:rPr lang="en-US" sz="2400" dirty="0"/>
              <a:t>4. </a:t>
            </a:r>
            <a:r>
              <a:rPr lang="en-US" sz="2400" b="1" dirty="0"/>
              <a:t>Natural Language Processing</a:t>
            </a:r>
          </a:p>
          <a:p>
            <a:r>
              <a:rPr lang="en-US" sz="2400" dirty="0"/>
              <a:t>Enhances understanding and generation of human language by dealing with the imprecision and nuances of natural speech.</a:t>
            </a:r>
          </a:p>
          <a:p>
            <a:endParaRPr lang="en-US" dirty="0"/>
          </a:p>
        </p:txBody>
      </p:sp>
    </p:spTree>
    <p:extLst>
      <p:ext uri="{BB962C8B-B14F-4D97-AF65-F5344CB8AC3E}">
        <p14:creationId xmlns:p14="http://schemas.microsoft.com/office/powerpoint/2010/main" val="1848816856"/>
      </p:ext>
    </p:extLst>
  </p:cSld>
  <p:clrMapOvr>
    <a:masterClrMapping/>
  </p:clrMapOvr>
  <p:transition advTm="77420"/>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a:extLst>
              <a:ext uri="{FF2B5EF4-FFF2-40B4-BE49-F238E27FC236}">
                <a16:creationId xmlns:a16="http://schemas.microsoft.com/office/drawing/2014/main" id="{5FF1E4B1-2BB1-811B-BC8F-499DB5D772E1}"/>
              </a:ext>
            </a:extLst>
          </p:cNvPr>
          <p:cNvSpPr>
            <a:spLocks noChangeArrowheads="1"/>
          </p:cNvSpPr>
          <p:nvPr>
            <p:custDataLst>
              <p:tags r:id="rId1"/>
            </p:custDataLst>
          </p:nvPr>
        </p:nvSpPr>
        <p:spPr bwMode="auto">
          <a:xfrm>
            <a:off x="1600200" y="3276600"/>
            <a:ext cx="6324600" cy="3352800"/>
          </a:xfrm>
          <a:prstGeom prst="rect">
            <a:avLst/>
          </a:prstGeom>
          <a:solidFill>
            <a:srgbClr val="1F497D"/>
          </a:solidFill>
          <a:ln>
            <a:noFill/>
          </a:ln>
          <a:extLst>
            <a:ext uri="{91240B29-F687-4F45-9708-019B960494DF}">
              <a14:hiddenLine xmlns:a14="http://schemas.microsoft.com/office/drawing/2010/main" w="25400">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pic>
        <p:nvPicPr>
          <p:cNvPr id="57346" name="Picture 2" descr="C:\Users\parul\Desktop\1.png">
            <a:extLst>
              <a:ext uri="{FF2B5EF4-FFF2-40B4-BE49-F238E27FC236}">
                <a16:creationId xmlns:a16="http://schemas.microsoft.com/office/drawing/2014/main" id="{B326BAD4-F9D9-DC8C-B463-5AC522358272}"/>
              </a:ext>
            </a:extLst>
          </p:cNvPr>
          <p:cNvPicPr>
            <a:picLocks noChangeAspect="1" noChangeArrowheads="1"/>
          </p:cNvPicPr>
          <p:nvPr>
            <p:custDataLst>
              <p:tags r:id="rId2"/>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2057400" y="361950"/>
            <a:ext cx="50292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3" descr="C:\Users\parul\Desktop\2.png">
            <a:extLst>
              <a:ext uri="{FF2B5EF4-FFF2-40B4-BE49-F238E27FC236}">
                <a16:creationId xmlns:a16="http://schemas.microsoft.com/office/drawing/2014/main" id="{B44AD1AB-27AE-96F7-D52B-1FC50A0D8489}"/>
              </a:ext>
            </a:extLst>
          </p:cNvPr>
          <p:cNvPicPr>
            <a:picLocks noChangeAspect="1" noChangeArrowheads="1"/>
          </p:cNvPicPr>
          <p:nvPr>
            <p:custDataLst>
              <p:tags r:id="rId3"/>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2968230" y="4000500"/>
            <a:ext cx="3207544"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4" descr="C:\Users\parul\Desktop\Cover Page with yellow patch - Version 18.png">
            <a:extLst>
              <a:ext uri="{FF2B5EF4-FFF2-40B4-BE49-F238E27FC236}">
                <a16:creationId xmlns:a16="http://schemas.microsoft.com/office/drawing/2014/main" id="{593A6C51-60A2-4FBD-EB80-0BCBF8CFA637}"/>
              </a:ext>
            </a:extLst>
          </p:cNvPr>
          <p:cNvPicPr>
            <a:picLocks noChangeAspect="1" noChangeArrowheads="1"/>
          </p:cNvPicPr>
          <p:nvPr>
            <p:custDataLst>
              <p:tags r:id="rId4"/>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3421856" y="4946650"/>
            <a:ext cx="2300288"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Rectangle 7">
            <a:extLst>
              <a:ext uri="{FF2B5EF4-FFF2-40B4-BE49-F238E27FC236}">
                <a16:creationId xmlns:a16="http://schemas.microsoft.com/office/drawing/2014/main" id="{507FE6EA-3AE0-7140-64DD-80FD30AA780D}"/>
              </a:ext>
            </a:extLst>
          </p:cNvPr>
          <p:cNvSpPr>
            <a:spLocks noChangeArrowheads="1"/>
          </p:cNvSpPr>
          <p:nvPr>
            <p:custDataLst>
              <p:tags r:id="rId5"/>
            </p:custDataLst>
          </p:nvPr>
        </p:nvSpPr>
        <p:spPr bwMode="auto">
          <a:xfrm>
            <a:off x="1143000" y="6003925"/>
            <a:ext cx="6858000" cy="357188"/>
          </a:xfrm>
          <a:prstGeom prst="rect">
            <a:avLst/>
          </a:prstGeom>
          <a:solidFill>
            <a:srgbClr val="FFFFFF"/>
          </a:solidFill>
          <a:ln>
            <a:noFill/>
          </a:ln>
          <a:extLst>
            <a:ext uri="{91240B29-F687-4F45-9708-019B960494DF}">
              <a14:hiddenLine xmlns:a14="http://schemas.microsoft.com/office/drawing/2010/main" w="25400">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57350" name="TextBox 8">
            <a:extLst>
              <a:ext uri="{FF2B5EF4-FFF2-40B4-BE49-F238E27FC236}">
                <a16:creationId xmlns:a16="http://schemas.microsoft.com/office/drawing/2014/main" id="{C67135C0-7421-D5BF-F0A3-031A46BC0C51}"/>
              </a:ext>
            </a:extLst>
          </p:cNvPr>
          <p:cNvSpPr>
            <a:spLocks noChangeArrowheads="1"/>
          </p:cNvSpPr>
          <p:nvPr>
            <p:custDataLst>
              <p:tags r:id="rId6"/>
            </p:custDataLst>
          </p:nvPr>
        </p:nvSpPr>
        <p:spPr bwMode="auto">
          <a:xfrm>
            <a:off x="3580211" y="5997575"/>
            <a:ext cx="1983581"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1800">
                <a:solidFill>
                  <a:schemeClr val="tx2"/>
                </a:solidFill>
                <a:cs typeface="Times New Roman" panose="02020603050405020304" pitchFamily="18" charset="0"/>
              </a:rPr>
              <a:t>www.paruluniversity.ac.in</a:t>
            </a:r>
          </a:p>
        </p:txBody>
      </p:sp>
      <p:pic>
        <p:nvPicPr>
          <p:cNvPr id="57351" name="Audio 1">
            <a:hlinkClick r:id="" action="ppaction://media"/>
            <a:extLst>
              <a:ext uri="{FF2B5EF4-FFF2-40B4-BE49-F238E27FC236}">
                <a16:creationId xmlns:a16="http://schemas.microsoft.com/office/drawing/2014/main" id="{386F04D7-BAC7-21C8-5E64-D8A7D923E122}"/>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381875" y="6032500"/>
            <a:ext cx="457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3512"/>
</p:sld>
</file>

<file path=ppt/tags/tag1.xml><?xml version="1.0" encoding="utf-8"?>
<p:tagLst xmlns:a="http://schemas.openxmlformats.org/drawingml/2006/main" xmlns:r="http://schemas.openxmlformats.org/officeDocument/2006/relationships" xmlns:p="http://schemas.openxmlformats.org/presentationml/2006/main">
  <p:tag name="AS_UNIQUEID" val="37"/>
</p:tagLst>
</file>

<file path=ppt/tags/tag2.xml><?xml version="1.0" encoding="utf-8"?>
<p:tagLst xmlns:a="http://schemas.openxmlformats.org/drawingml/2006/main" xmlns:r="http://schemas.openxmlformats.org/officeDocument/2006/relationships" xmlns:p="http://schemas.openxmlformats.org/presentationml/2006/main">
  <p:tag name="AS_UNIQUEID" val="38"/>
</p:tagLst>
</file>

<file path=ppt/tags/tag3.xml><?xml version="1.0" encoding="utf-8"?>
<p:tagLst xmlns:a="http://schemas.openxmlformats.org/drawingml/2006/main" xmlns:r="http://schemas.openxmlformats.org/officeDocument/2006/relationships" xmlns:p="http://schemas.openxmlformats.org/presentationml/2006/main">
  <p:tag name="AS_UNIQUEID" val="80"/>
</p:tagLst>
</file>

<file path=ppt/tags/tag4.xml><?xml version="1.0" encoding="utf-8"?>
<p:tagLst xmlns:a="http://schemas.openxmlformats.org/drawingml/2006/main" xmlns:r="http://schemas.openxmlformats.org/officeDocument/2006/relationships" xmlns:p="http://schemas.openxmlformats.org/presentationml/2006/main">
  <p:tag name="AS_UNIQUEID" val="82"/>
</p:tagLst>
</file>

<file path=ppt/tags/tag5.xml><?xml version="1.0" encoding="utf-8"?>
<p:tagLst xmlns:a="http://schemas.openxmlformats.org/drawingml/2006/main" xmlns:r="http://schemas.openxmlformats.org/officeDocument/2006/relationships" xmlns:p="http://schemas.openxmlformats.org/presentationml/2006/main">
  <p:tag name="AS_UNIQUEID" val="83"/>
</p:tagLst>
</file>

<file path=ppt/tags/tag6.xml><?xml version="1.0" encoding="utf-8"?>
<p:tagLst xmlns:a="http://schemas.openxmlformats.org/drawingml/2006/main" xmlns:r="http://schemas.openxmlformats.org/officeDocument/2006/relationships" xmlns:p="http://schemas.openxmlformats.org/presentationml/2006/main">
  <p:tag name="AS_UNIQUEID" val="50"/>
</p:tagLst>
</file>

<file path=ppt/tags/tag7.xml><?xml version="1.0" encoding="utf-8"?>
<p:tagLst xmlns:a="http://schemas.openxmlformats.org/drawingml/2006/main" xmlns:r="http://schemas.openxmlformats.org/officeDocument/2006/relationships" xmlns:p="http://schemas.openxmlformats.org/presentationml/2006/main">
  <p:tag name="AS_UNIQUEID" val="80"/>
</p:tagLst>
</file>

<file path=ppt/tags/tag8.xml><?xml version="1.0" encoding="utf-8"?>
<p:tagLst xmlns:a="http://schemas.openxmlformats.org/drawingml/2006/main" xmlns:r="http://schemas.openxmlformats.org/officeDocument/2006/relationships" xmlns:p="http://schemas.openxmlformats.org/presentationml/2006/main">
  <p:tag name="AS_UNIQUEID" val="82"/>
</p:tagLst>
</file>

<file path=ppt/tags/tag9.xml><?xml version="1.0" encoding="utf-8"?>
<p:tagLst xmlns:a="http://schemas.openxmlformats.org/drawingml/2006/main" xmlns:r="http://schemas.openxmlformats.org/officeDocument/2006/relationships" xmlns:p="http://schemas.openxmlformats.org/presentationml/2006/main">
  <p:tag name="AS_UNIQUEID" val="83"/>
</p:tagLst>
</file>

<file path=ppt/tags/tag10.xml><?xml version="1.0" encoding="utf-8"?>
<p:tagLst xmlns:a="http://schemas.openxmlformats.org/drawingml/2006/main" xmlns:r="http://schemas.openxmlformats.org/officeDocument/2006/relationships" xmlns:p="http://schemas.openxmlformats.org/presentationml/2006/main">
  <p:tag name="AS_UNIQUEID" val="50"/>
</p:tagLst>
</file>

<file path=ppt/tags/tag11.xml><?xml version="1.0" encoding="utf-8"?>
<p:tagLst xmlns:a="http://schemas.openxmlformats.org/drawingml/2006/main" xmlns:r="http://schemas.openxmlformats.org/officeDocument/2006/relationships" xmlns:p="http://schemas.openxmlformats.org/presentationml/2006/main">
  <p:tag name="AS_UNIQUEID" val="80"/>
</p:tagLst>
</file>

<file path=ppt/tags/tag12.xml><?xml version="1.0" encoding="utf-8"?>
<p:tagLst xmlns:a="http://schemas.openxmlformats.org/drawingml/2006/main" xmlns:r="http://schemas.openxmlformats.org/officeDocument/2006/relationships" xmlns:p="http://schemas.openxmlformats.org/presentationml/2006/main">
  <p:tag name="AS_UNIQUEID" val="82"/>
</p:tagLst>
</file>

<file path=ppt/tags/tag13.xml><?xml version="1.0" encoding="utf-8"?>
<p:tagLst xmlns:a="http://schemas.openxmlformats.org/drawingml/2006/main" xmlns:r="http://schemas.openxmlformats.org/officeDocument/2006/relationships" xmlns:p="http://schemas.openxmlformats.org/presentationml/2006/main">
  <p:tag name="AS_UNIQUEID" val="83"/>
</p:tagLst>
</file>

<file path=ppt/tags/tag14.xml><?xml version="1.0" encoding="utf-8"?>
<p:tagLst xmlns:a="http://schemas.openxmlformats.org/drawingml/2006/main" xmlns:r="http://schemas.openxmlformats.org/officeDocument/2006/relationships" xmlns:p="http://schemas.openxmlformats.org/presentationml/2006/main">
  <p:tag name="AS_UNIQUEID" val="50"/>
</p:tagLst>
</file>

<file path=ppt/tags/tag15.xml><?xml version="1.0" encoding="utf-8"?>
<p:tagLst xmlns:a="http://schemas.openxmlformats.org/drawingml/2006/main" xmlns:r="http://schemas.openxmlformats.org/officeDocument/2006/relationships" xmlns:p="http://schemas.openxmlformats.org/presentationml/2006/main">
  <p:tag name="AS_UNIQUEID" val="80"/>
</p:tagLst>
</file>

<file path=ppt/tags/tag16.xml><?xml version="1.0" encoding="utf-8"?>
<p:tagLst xmlns:a="http://schemas.openxmlformats.org/drawingml/2006/main" xmlns:r="http://schemas.openxmlformats.org/officeDocument/2006/relationships" xmlns:p="http://schemas.openxmlformats.org/presentationml/2006/main">
  <p:tag name="AS_UNIQUEID" val="82"/>
</p:tagLst>
</file>

<file path=ppt/tags/tag17.xml><?xml version="1.0" encoding="utf-8"?>
<p:tagLst xmlns:a="http://schemas.openxmlformats.org/drawingml/2006/main" xmlns:r="http://schemas.openxmlformats.org/officeDocument/2006/relationships" xmlns:p="http://schemas.openxmlformats.org/presentationml/2006/main">
  <p:tag name="AS_UNIQUEID" val="83"/>
</p:tagLst>
</file>

<file path=ppt/tags/tag18.xml><?xml version="1.0" encoding="utf-8"?>
<p:tagLst xmlns:a="http://schemas.openxmlformats.org/drawingml/2006/main" xmlns:r="http://schemas.openxmlformats.org/officeDocument/2006/relationships" xmlns:p="http://schemas.openxmlformats.org/presentationml/2006/main">
  <p:tag name="AS_UNIQUEID" val="50"/>
</p:tagLst>
</file>

<file path=ppt/tags/tag19.xml><?xml version="1.0" encoding="utf-8"?>
<p:tagLst xmlns:a="http://schemas.openxmlformats.org/drawingml/2006/main" xmlns:r="http://schemas.openxmlformats.org/officeDocument/2006/relationships" xmlns:p="http://schemas.openxmlformats.org/presentationml/2006/main">
  <p:tag name="AS_UNIQUEID" val="80"/>
</p:tagLst>
</file>

<file path=ppt/tags/tag20.xml><?xml version="1.0" encoding="utf-8"?>
<p:tagLst xmlns:a="http://schemas.openxmlformats.org/drawingml/2006/main" xmlns:r="http://schemas.openxmlformats.org/officeDocument/2006/relationships" xmlns:p="http://schemas.openxmlformats.org/presentationml/2006/main">
  <p:tag name="AS_UNIQUEID" val="82"/>
</p:tagLst>
</file>

<file path=ppt/tags/tag21.xml><?xml version="1.0" encoding="utf-8"?>
<p:tagLst xmlns:a="http://schemas.openxmlformats.org/drawingml/2006/main" xmlns:r="http://schemas.openxmlformats.org/officeDocument/2006/relationships" xmlns:p="http://schemas.openxmlformats.org/presentationml/2006/main">
  <p:tag name="AS_UNIQUEID" val="83"/>
</p:tagLst>
</file>

<file path=ppt/tags/tag22.xml><?xml version="1.0" encoding="utf-8"?>
<p:tagLst xmlns:a="http://schemas.openxmlformats.org/drawingml/2006/main" xmlns:r="http://schemas.openxmlformats.org/officeDocument/2006/relationships" xmlns:p="http://schemas.openxmlformats.org/presentationml/2006/main">
  <p:tag name="AS_UNIQUEID" val="50"/>
</p:tagLst>
</file>

<file path=ppt/tags/tag23.xml><?xml version="1.0" encoding="utf-8"?>
<p:tagLst xmlns:a="http://schemas.openxmlformats.org/drawingml/2006/main" xmlns:r="http://schemas.openxmlformats.org/officeDocument/2006/relationships" xmlns:p="http://schemas.openxmlformats.org/presentationml/2006/main">
  <p:tag name="AS_UNIQUEID" val="80"/>
</p:tagLst>
</file>

<file path=ppt/tags/tag24.xml><?xml version="1.0" encoding="utf-8"?>
<p:tagLst xmlns:a="http://schemas.openxmlformats.org/drawingml/2006/main" xmlns:r="http://schemas.openxmlformats.org/officeDocument/2006/relationships" xmlns:p="http://schemas.openxmlformats.org/presentationml/2006/main">
  <p:tag name="AS_UNIQUEID" val="82"/>
</p:tagLst>
</file>

<file path=ppt/tags/tag25.xml><?xml version="1.0" encoding="utf-8"?>
<p:tagLst xmlns:a="http://schemas.openxmlformats.org/drawingml/2006/main" xmlns:r="http://schemas.openxmlformats.org/officeDocument/2006/relationships" xmlns:p="http://schemas.openxmlformats.org/presentationml/2006/main">
  <p:tag name="AS_UNIQUEID" val="83"/>
</p:tagLst>
</file>

<file path=ppt/tags/tag26.xml><?xml version="1.0" encoding="utf-8"?>
<p:tagLst xmlns:a="http://schemas.openxmlformats.org/drawingml/2006/main" xmlns:r="http://schemas.openxmlformats.org/officeDocument/2006/relationships" xmlns:p="http://schemas.openxmlformats.org/presentationml/2006/main">
  <p:tag name="AS_UNIQUEID" val="50"/>
</p:tagLst>
</file>

<file path=ppt/tags/tag27.xml><?xml version="1.0" encoding="utf-8"?>
<p:tagLst xmlns:a="http://schemas.openxmlformats.org/drawingml/2006/main" xmlns:r="http://schemas.openxmlformats.org/officeDocument/2006/relationships" xmlns:p="http://schemas.openxmlformats.org/presentationml/2006/main">
  <p:tag name="AS_UNIQUEID" val="80"/>
</p:tagLst>
</file>

<file path=ppt/tags/tag28.xml><?xml version="1.0" encoding="utf-8"?>
<p:tagLst xmlns:a="http://schemas.openxmlformats.org/drawingml/2006/main" xmlns:r="http://schemas.openxmlformats.org/officeDocument/2006/relationships" xmlns:p="http://schemas.openxmlformats.org/presentationml/2006/main">
  <p:tag name="AS_UNIQUEID" val="82"/>
</p:tagLst>
</file>

<file path=ppt/tags/tag29.xml><?xml version="1.0" encoding="utf-8"?>
<p:tagLst xmlns:a="http://schemas.openxmlformats.org/drawingml/2006/main" xmlns:r="http://schemas.openxmlformats.org/officeDocument/2006/relationships" xmlns:p="http://schemas.openxmlformats.org/presentationml/2006/main">
  <p:tag name="AS_UNIQUEID" val="83"/>
</p:tagLst>
</file>

<file path=ppt/tags/tag30.xml><?xml version="1.0" encoding="utf-8"?>
<p:tagLst xmlns:a="http://schemas.openxmlformats.org/drawingml/2006/main" xmlns:r="http://schemas.openxmlformats.org/officeDocument/2006/relationships" xmlns:p="http://schemas.openxmlformats.org/presentationml/2006/main">
  <p:tag name="AS_UNIQUEID" val="50"/>
</p:tagLst>
</file>

<file path=ppt/tags/tag31.xml><?xml version="1.0" encoding="utf-8"?>
<p:tagLst xmlns:a="http://schemas.openxmlformats.org/drawingml/2006/main" xmlns:r="http://schemas.openxmlformats.org/officeDocument/2006/relationships" xmlns:p="http://schemas.openxmlformats.org/presentationml/2006/main">
  <p:tag name="AS_UNIQUEID" val="80"/>
</p:tagLst>
</file>

<file path=ppt/tags/tag32.xml><?xml version="1.0" encoding="utf-8"?>
<p:tagLst xmlns:a="http://schemas.openxmlformats.org/drawingml/2006/main" xmlns:r="http://schemas.openxmlformats.org/officeDocument/2006/relationships" xmlns:p="http://schemas.openxmlformats.org/presentationml/2006/main">
  <p:tag name="AS_UNIQUEID" val="82"/>
</p:tagLst>
</file>

<file path=ppt/tags/tag33.xml><?xml version="1.0" encoding="utf-8"?>
<p:tagLst xmlns:a="http://schemas.openxmlformats.org/drawingml/2006/main" xmlns:r="http://schemas.openxmlformats.org/officeDocument/2006/relationships" xmlns:p="http://schemas.openxmlformats.org/presentationml/2006/main">
  <p:tag name="AS_UNIQUEID" val="83"/>
</p:tagLst>
</file>

<file path=ppt/tags/tag34.xml><?xml version="1.0" encoding="utf-8"?>
<p:tagLst xmlns:a="http://schemas.openxmlformats.org/drawingml/2006/main" xmlns:r="http://schemas.openxmlformats.org/officeDocument/2006/relationships" xmlns:p="http://schemas.openxmlformats.org/presentationml/2006/main">
  <p:tag name="AS_UNIQUEID" val="50"/>
</p:tagLst>
</file>

<file path=ppt/tags/tag35.xml><?xml version="1.0" encoding="utf-8"?>
<p:tagLst xmlns:a="http://schemas.openxmlformats.org/drawingml/2006/main" xmlns:r="http://schemas.openxmlformats.org/officeDocument/2006/relationships" xmlns:p="http://schemas.openxmlformats.org/presentationml/2006/main">
  <p:tag name="AS_UNIQUEID" val="80"/>
</p:tagLst>
</file>

<file path=ppt/tags/tag36.xml><?xml version="1.0" encoding="utf-8"?>
<p:tagLst xmlns:a="http://schemas.openxmlformats.org/drawingml/2006/main" xmlns:r="http://schemas.openxmlformats.org/officeDocument/2006/relationships" xmlns:p="http://schemas.openxmlformats.org/presentationml/2006/main">
  <p:tag name="AS_UNIQUEID" val="82"/>
</p:tagLst>
</file>

<file path=ppt/tags/tag37.xml><?xml version="1.0" encoding="utf-8"?>
<p:tagLst xmlns:a="http://schemas.openxmlformats.org/drawingml/2006/main" xmlns:r="http://schemas.openxmlformats.org/officeDocument/2006/relationships" xmlns:p="http://schemas.openxmlformats.org/presentationml/2006/main">
  <p:tag name="AS_UNIQUEID" val="83"/>
</p:tagLst>
</file>

<file path=ppt/tags/tag38.xml><?xml version="1.0" encoding="utf-8"?>
<p:tagLst xmlns:a="http://schemas.openxmlformats.org/drawingml/2006/main" xmlns:r="http://schemas.openxmlformats.org/officeDocument/2006/relationships" xmlns:p="http://schemas.openxmlformats.org/presentationml/2006/main">
  <p:tag name="AS_UNIQUEID" val="50"/>
</p:tagLst>
</file>

<file path=ppt/tags/tag39.xml><?xml version="1.0" encoding="utf-8"?>
<p:tagLst xmlns:a="http://schemas.openxmlformats.org/drawingml/2006/main" xmlns:r="http://schemas.openxmlformats.org/officeDocument/2006/relationships" xmlns:p="http://schemas.openxmlformats.org/presentationml/2006/main">
  <p:tag name="AS_UNIQUEID" val="80"/>
</p:tagLst>
</file>

<file path=ppt/tags/tag40.xml><?xml version="1.0" encoding="utf-8"?>
<p:tagLst xmlns:a="http://schemas.openxmlformats.org/drawingml/2006/main" xmlns:r="http://schemas.openxmlformats.org/officeDocument/2006/relationships" xmlns:p="http://schemas.openxmlformats.org/presentationml/2006/main">
  <p:tag name="AS_UNIQUEID" val="82"/>
</p:tagLst>
</file>

<file path=ppt/tags/tag41.xml><?xml version="1.0" encoding="utf-8"?>
<p:tagLst xmlns:a="http://schemas.openxmlformats.org/drawingml/2006/main" xmlns:r="http://schemas.openxmlformats.org/officeDocument/2006/relationships" xmlns:p="http://schemas.openxmlformats.org/presentationml/2006/main">
  <p:tag name="AS_UNIQUEID" val="83"/>
</p:tagLst>
</file>

<file path=ppt/tags/tag42.xml><?xml version="1.0" encoding="utf-8"?>
<p:tagLst xmlns:a="http://schemas.openxmlformats.org/drawingml/2006/main" xmlns:r="http://schemas.openxmlformats.org/officeDocument/2006/relationships" xmlns:p="http://schemas.openxmlformats.org/presentationml/2006/main">
  <p:tag name="AS_UNIQUEID" val="50"/>
</p:tagLst>
</file>

<file path=ppt/tags/tag43.xml><?xml version="1.0" encoding="utf-8"?>
<p:tagLst xmlns:a="http://schemas.openxmlformats.org/drawingml/2006/main" xmlns:r="http://schemas.openxmlformats.org/officeDocument/2006/relationships" xmlns:p="http://schemas.openxmlformats.org/presentationml/2006/main">
  <p:tag name="AS_UNIQUEID" val="80"/>
</p:tagLst>
</file>

<file path=ppt/tags/tag44.xml><?xml version="1.0" encoding="utf-8"?>
<p:tagLst xmlns:a="http://schemas.openxmlformats.org/drawingml/2006/main" xmlns:r="http://schemas.openxmlformats.org/officeDocument/2006/relationships" xmlns:p="http://schemas.openxmlformats.org/presentationml/2006/main">
  <p:tag name="AS_UNIQUEID" val="82"/>
</p:tagLst>
</file>

<file path=ppt/tags/tag45.xml><?xml version="1.0" encoding="utf-8"?>
<p:tagLst xmlns:a="http://schemas.openxmlformats.org/drawingml/2006/main" xmlns:r="http://schemas.openxmlformats.org/officeDocument/2006/relationships" xmlns:p="http://schemas.openxmlformats.org/presentationml/2006/main">
  <p:tag name="AS_UNIQUEID" val="83"/>
</p:tagLst>
</file>

<file path=ppt/tags/tag46.xml><?xml version="1.0" encoding="utf-8"?>
<p:tagLst xmlns:a="http://schemas.openxmlformats.org/drawingml/2006/main" xmlns:r="http://schemas.openxmlformats.org/officeDocument/2006/relationships" xmlns:p="http://schemas.openxmlformats.org/presentationml/2006/main">
  <p:tag name="AS_UNIQUEID" val="50"/>
</p:tagLst>
</file>

<file path=ppt/tags/tag47.xml><?xml version="1.0" encoding="utf-8"?>
<p:tagLst xmlns:a="http://schemas.openxmlformats.org/drawingml/2006/main" xmlns:r="http://schemas.openxmlformats.org/officeDocument/2006/relationships" xmlns:p="http://schemas.openxmlformats.org/presentationml/2006/main">
  <p:tag name="AS_UNIQUEID" val="80"/>
</p:tagLst>
</file>

<file path=ppt/tags/tag48.xml><?xml version="1.0" encoding="utf-8"?>
<p:tagLst xmlns:a="http://schemas.openxmlformats.org/drawingml/2006/main" xmlns:r="http://schemas.openxmlformats.org/officeDocument/2006/relationships" xmlns:p="http://schemas.openxmlformats.org/presentationml/2006/main">
  <p:tag name="AS_UNIQUEID" val="82"/>
</p:tagLst>
</file>

<file path=ppt/tags/tag49.xml><?xml version="1.0" encoding="utf-8"?>
<p:tagLst xmlns:a="http://schemas.openxmlformats.org/drawingml/2006/main" xmlns:r="http://schemas.openxmlformats.org/officeDocument/2006/relationships" xmlns:p="http://schemas.openxmlformats.org/presentationml/2006/main">
  <p:tag name="AS_UNIQUEID" val="83"/>
</p:tagLst>
</file>

<file path=ppt/tags/tag50.xml><?xml version="1.0" encoding="utf-8"?>
<p:tagLst xmlns:a="http://schemas.openxmlformats.org/drawingml/2006/main" xmlns:r="http://schemas.openxmlformats.org/officeDocument/2006/relationships" xmlns:p="http://schemas.openxmlformats.org/presentationml/2006/main">
  <p:tag name="AS_UNIQUEID" val="50"/>
</p:tagLst>
</file>

<file path=ppt/tags/tag51.xml><?xml version="1.0" encoding="utf-8"?>
<p:tagLst xmlns:a="http://schemas.openxmlformats.org/drawingml/2006/main" xmlns:r="http://schemas.openxmlformats.org/officeDocument/2006/relationships" xmlns:p="http://schemas.openxmlformats.org/presentationml/2006/main">
  <p:tag name="AS_UNIQUEID" val="80"/>
</p:tagLst>
</file>

<file path=ppt/tags/tag52.xml><?xml version="1.0" encoding="utf-8"?>
<p:tagLst xmlns:a="http://schemas.openxmlformats.org/drawingml/2006/main" xmlns:r="http://schemas.openxmlformats.org/officeDocument/2006/relationships" xmlns:p="http://schemas.openxmlformats.org/presentationml/2006/main">
  <p:tag name="AS_UNIQUEID" val="82"/>
</p:tagLst>
</file>

<file path=ppt/tags/tag53.xml><?xml version="1.0" encoding="utf-8"?>
<p:tagLst xmlns:a="http://schemas.openxmlformats.org/drawingml/2006/main" xmlns:r="http://schemas.openxmlformats.org/officeDocument/2006/relationships" xmlns:p="http://schemas.openxmlformats.org/presentationml/2006/main">
  <p:tag name="AS_UNIQUEID" val="83"/>
</p:tagLst>
</file>

<file path=ppt/tags/tag54.xml><?xml version="1.0" encoding="utf-8"?>
<p:tagLst xmlns:a="http://schemas.openxmlformats.org/drawingml/2006/main" xmlns:r="http://schemas.openxmlformats.org/officeDocument/2006/relationships" xmlns:p="http://schemas.openxmlformats.org/presentationml/2006/main">
  <p:tag name="AS_UNIQUEID" val="50"/>
</p:tagLst>
</file>

<file path=ppt/tags/tag55.xml><?xml version="1.0" encoding="utf-8"?>
<p:tagLst xmlns:a="http://schemas.openxmlformats.org/drawingml/2006/main" xmlns:r="http://schemas.openxmlformats.org/officeDocument/2006/relationships" xmlns:p="http://schemas.openxmlformats.org/presentationml/2006/main">
  <p:tag name="AS_UNIQUEID" val="80"/>
</p:tagLst>
</file>

<file path=ppt/tags/tag56.xml><?xml version="1.0" encoding="utf-8"?>
<p:tagLst xmlns:a="http://schemas.openxmlformats.org/drawingml/2006/main" xmlns:r="http://schemas.openxmlformats.org/officeDocument/2006/relationships" xmlns:p="http://schemas.openxmlformats.org/presentationml/2006/main">
  <p:tag name="AS_UNIQUEID" val="82"/>
</p:tagLst>
</file>

<file path=ppt/tags/tag57.xml><?xml version="1.0" encoding="utf-8"?>
<p:tagLst xmlns:a="http://schemas.openxmlformats.org/drawingml/2006/main" xmlns:r="http://schemas.openxmlformats.org/officeDocument/2006/relationships" xmlns:p="http://schemas.openxmlformats.org/presentationml/2006/main">
  <p:tag name="AS_UNIQUEID" val="83"/>
</p:tagLst>
</file>

<file path=ppt/tags/tag58.xml><?xml version="1.0" encoding="utf-8"?>
<p:tagLst xmlns:a="http://schemas.openxmlformats.org/drawingml/2006/main" xmlns:r="http://schemas.openxmlformats.org/officeDocument/2006/relationships" xmlns:p="http://schemas.openxmlformats.org/presentationml/2006/main">
  <p:tag name="AS_UNIQUEID" val="50"/>
</p:tagLst>
</file>

<file path=ppt/tags/tag59.xml><?xml version="1.0" encoding="utf-8"?>
<p:tagLst xmlns:a="http://schemas.openxmlformats.org/drawingml/2006/main" xmlns:r="http://schemas.openxmlformats.org/officeDocument/2006/relationships" xmlns:p="http://schemas.openxmlformats.org/presentationml/2006/main">
  <p:tag name="AS_UNIQUEID" val="80"/>
</p:tagLst>
</file>

<file path=ppt/tags/tag60.xml><?xml version="1.0" encoding="utf-8"?>
<p:tagLst xmlns:a="http://schemas.openxmlformats.org/drawingml/2006/main" xmlns:r="http://schemas.openxmlformats.org/officeDocument/2006/relationships" xmlns:p="http://schemas.openxmlformats.org/presentationml/2006/main">
  <p:tag name="AS_UNIQUEID" val="82"/>
</p:tagLst>
</file>

<file path=ppt/tags/tag61.xml><?xml version="1.0" encoding="utf-8"?>
<p:tagLst xmlns:a="http://schemas.openxmlformats.org/drawingml/2006/main" xmlns:r="http://schemas.openxmlformats.org/officeDocument/2006/relationships" xmlns:p="http://schemas.openxmlformats.org/presentationml/2006/main">
  <p:tag name="AS_UNIQUEID" val="83"/>
</p:tagLst>
</file>

<file path=ppt/tags/tag62.xml><?xml version="1.0" encoding="utf-8"?>
<p:tagLst xmlns:a="http://schemas.openxmlformats.org/drawingml/2006/main" xmlns:r="http://schemas.openxmlformats.org/officeDocument/2006/relationships" xmlns:p="http://schemas.openxmlformats.org/presentationml/2006/main">
  <p:tag name="AS_UNIQUEID" val="50"/>
</p:tagLst>
</file>

<file path=ppt/tags/tag63.xml><?xml version="1.0" encoding="utf-8"?>
<p:tagLst xmlns:a="http://schemas.openxmlformats.org/drawingml/2006/main" xmlns:r="http://schemas.openxmlformats.org/officeDocument/2006/relationships" xmlns:p="http://schemas.openxmlformats.org/presentationml/2006/main">
  <p:tag name="AS_UNIQUEID" val="80"/>
</p:tagLst>
</file>

<file path=ppt/tags/tag64.xml><?xml version="1.0" encoding="utf-8"?>
<p:tagLst xmlns:a="http://schemas.openxmlformats.org/drawingml/2006/main" xmlns:r="http://schemas.openxmlformats.org/officeDocument/2006/relationships" xmlns:p="http://schemas.openxmlformats.org/presentationml/2006/main">
  <p:tag name="AS_UNIQUEID" val="82"/>
</p:tagLst>
</file>

<file path=ppt/tags/tag65.xml><?xml version="1.0" encoding="utf-8"?>
<p:tagLst xmlns:a="http://schemas.openxmlformats.org/drawingml/2006/main" xmlns:r="http://schemas.openxmlformats.org/officeDocument/2006/relationships" xmlns:p="http://schemas.openxmlformats.org/presentationml/2006/main">
  <p:tag name="AS_UNIQUEID" val="83"/>
</p:tagLst>
</file>

<file path=ppt/tags/tag66.xml><?xml version="1.0" encoding="utf-8"?>
<p:tagLst xmlns:a="http://schemas.openxmlformats.org/drawingml/2006/main" xmlns:r="http://schemas.openxmlformats.org/officeDocument/2006/relationships" xmlns:p="http://schemas.openxmlformats.org/presentationml/2006/main">
  <p:tag name="AS_UNIQUEID" val="50"/>
</p:tagLst>
</file>

<file path=ppt/tags/tag67.xml><?xml version="1.0" encoding="utf-8"?>
<p:tagLst xmlns:a="http://schemas.openxmlformats.org/drawingml/2006/main" xmlns:r="http://schemas.openxmlformats.org/officeDocument/2006/relationships" xmlns:p="http://schemas.openxmlformats.org/presentationml/2006/main">
  <p:tag name="AS_UNIQUEID" val="80"/>
</p:tagLst>
</file>

<file path=ppt/tags/tag68.xml><?xml version="1.0" encoding="utf-8"?>
<p:tagLst xmlns:a="http://schemas.openxmlformats.org/drawingml/2006/main" xmlns:r="http://schemas.openxmlformats.org/officeDocument/2006/relationships" xmlns:p="http://schemas.openxmlformats.org/presentationml/2006/main">
  <p:tag name="AS_UNIQUEID" val="82"/>
</p:tagLst>
</file>

<file path=ppt/tags/tag69.xml><?xml version="1.0" encoding="utf-8"?>
<p:tagLst xmlns:a="http://schemas.openxmlformats.org/drawingml/2006/main" xmlns:r="http://schemas.openxmlformats.org/officeDocument/2006/relationships" xmlns:p="http://schemas.openxmlformats.org/presentationml/2006/main">
  <p:tag name="AS_UNIQUEID" val="83"/>
</p:tagLst>
</file>

<file path=ppt/tags/tag70.xml><?xml version="1.0" encoding="utf-8"?>
<p:tagLst xmlns:a="http://schemas.openxmlformats.org/drawingml/2006/main" xmlns:r="http://schemas.openxmlformats.org/officeDocument/2006/relationships" xmlns:p="http://schemas.openxmlformats.org/presentationml/2006/main">
  <p:tag name="AS_UNIQUEID" val="50"/>
</p:tagLst>
</file>

<file path=ppt/tags/tag71.xml><?xml version="1.0" encoding="utf-8"?>
<p:tagLst xmlns:a="http://schemas.openxmlformats.org/drawingml/2006/main" xmlns:r="http://schemas.openxmlformats.org/officeDocument/2006/relationships" xmlns:p="http://schemas.openxmlformats.org/presentationml/2006/main">
  <p:tag name="AS_UNIQUEID" val="80"/>
</p:tagLst>
</file>

<file path=ppt/tags/tag72.xml><?xml version="1.0" encoding="utf-8"?>
<p:tagLst xmlns:a="http://schemas.openxmlformats.org/drawingml/2006/main" xmlns:r="http://schemas.openxmlformats.org/officeDocument/2006/relationships" xmlns:p="http://schemas.openxmlformats.org/presentationml/2006/main">
  <p:tag name="AS_UNIQUEID" val="82"/>
</p:tagLst>
</file>

<file path=ppt/tags/tag73.xml><?xml version="1.0" encoding="utf-8"?>
<p:tagLst xmlns:a="http://schemas.openxmlformats.org/drawingml/2006/main" xmlns:r="http://schemas.openxmlformats.org/officeDocument/2006/relationships" xmlns:p="http://schemas.openxmlformats.org/presentationml/2006/main">
  <p:tag name="AS_UNIQUEID" val="83"/>
</p:tagLst>
</file>

<file path=ppt/tags/tag74.xml><?xml version="1.0" encoding="utf-8"?>
<p:tagLst xmlns:a="http://schemas.openxmlformats.org/drawingml/2006/main" xmlns:r="http://schemas.openxmlformats.org/officeDocument/2006/relationships" xmlns:p="http://schemas.openxmlformats.org/presentationml/2006/main">
  <p:tag name="AS_UNIQUEID" val="50"/>
</p:tagLst>
</file>

<file path=ppt/tags/tag75.xml><?xml version="1.0" encoding="utf-8"?>
<p:tagLst xmlns:a="http://schemas.openxmlformats.org/drawingml/2006/main" xmlns:r="http://schemas.openxmlformats.org/officeDocument/2006/relationships" xmlns:p="http://schemas.openxmlformats.org/presentationml/2006/main">
  <p:tag name="AS_UNIQUEID" val="80"/>
</p:tagLst>
</file>

<file path=ppt/tags/tag76.xml><?xml version="1.0" encoding="utf-8"?>
<p:tagLst xmlns:a="http://schemas.openxmlformats.org/drawingml/2006/main" xmlns:r="http://schemas.openxmlformats.org/officeDocument/2006/relationships" xmlns:p="http://schemas.openxmlformats.org/presentationml/2006/main">
  <p:tag name="AS_UNIQUEID" val="82"/>
</p:tagLst>
</file>

<file path=ppt/tags/tag77.xml><?xml version="1.0" encoding="utf-8"?>
<p:tagLst xmlns:a="http://schemas.openxmlformats.org/drawingml/2006/main" xmlns:r="http://schemas.openxmlformats.org/officeDocument/2006/relationships" xmlns:p="http://schemas.openxmlformats.org/presentationml/2006/main">
  <p:tag name="AS_UNIQUEID" val="83"/>
</p:tagLst>
</file>

<file path=ppt/tags/tag78.xml><?xml version="1.0" encoding="utf-8"?>
<p:tagLst xmlns:a="http://schemas.openxmlformats.org/drawingml/2006/main" xmlns:r="http://schemas.openxmlformats.org/officeDocument/2006/relationships" xmlns:p="http://schemas.openxmlformats.org/presentationml/2006/main">
  <p:tag name="AS_UNIQUEID" val="50"/>
</p:tagLst>
</file>

<file path=ppt/tags/tag79.xml><?xml version="1.0" encoding="utf-8"?>
<p:tagLst xmlns:a="http://schemas.openxmlformats.org/drawingml/2006/main" xmlns:r="http://schemas.openxmlformats.org/officeDocument/2006/relationships" xmlns:p="http://schemas.openxmlformats.org/presentationml/2006/main">
  <p:tag name="AS_UNIQUEID" val="80"/>
</p:tagLst>
</file>

<file path=ppt/tags/tag80.xml><?xml version="1.0" encoding="utf-8"?>
<p:tagLst xmlns:a="http://schemas.openxmlformats.org/drawingml/2006/main" xmlns:r="http://schemas.openxmlformats.org/officeDocument/2006/relationships" xmlns:p="http://schemas.openxmlformats.org/presentationml/2006/main">
  <p:tag name="AS_UNIQUEID" val="82"/>
</p:tagLst>
</file>

<file path=ppt/tags/tag81.xml><?xml version="1.0" encoding="utf-8"?>
<p:tagLst xmlns:a="http://schemas.openxmlformats.org/drawingml/2006/main" xmlns:r="http://schemas.openxmlformats.org/officeDocument/2006/relationships" xmlns:p="http://schemas.openxmlformats.org/presentationml/2006/main">
  <p:tag name="AS_UNIQUEID" val="83"/>
</p:tagLst>
</file>

<file path=ppt/tags/tag82.xml><?xml version="1.0" encoding="utf-8"?>
<p:tagLst xmlns:a="http://schemas.openxmlformats.org/drawingml/2006/main" xmlns:r="http://schemas.openxmlformats.org/officeDocument/2006/relationships" xmlns:p="http://schemas.openxmlformats.org/presentationml/2006/main">
  <p:tag name="AS_UNIQUEID" val="50"/>
</p:tagLst>
</file>

<file path=ppt/tags/tag83.xml><?xml version="1.0" encoding="utf-8"?>
<p:tagLst xmlns:a="http://schemas.openxmlformats.org/drawingml/2006/main" xmlns:r="http://schemas.openxmlformats.org/officeDocument/2006/relationships" xmlns:p="http://schemas.openxmlformats.org/presentationml/2006/main">
  <p:tag name="AS_UNIQUEID" val="80"/>
</p:tagLst>
</file>

<file path=ppt/tags/tag84.xml><?xml version="1.0" encoding="utf-8"?>
<p:tagLst xmlns:a="http://schemas.openxmlformats.org/drawingml/2006/main" xmlns:r="http://schemas.openxmlformats.org/officeDocument/2006/relationships" xmlns:p="http://schemas.openxmlformats.org/presentationml/2006/main">
  <p:tag name="AS_UNIQUEID" val="82"/>
</p:tagLst>
</file>

<file path=ppt/tags/tag85.xml><?xml version="1.0" encoding="utf-8"?>
<p:tagLst xmlns:a="http://schemas.openxmlformats.org/drawingml/2006/main" xmlns:r="http://schemas.openxmlformats.org/officeDocument/2006/relationships" xmlns:p="http://schemas.openxmlformats.org/presentationml/2006/main">
  <p:tag name="AS_UNIQUEID" val="83"/>
</p:tagLst>
</file>

<file path=ppt/tags/tag86.xml><?xml version="1.0" encoding="utf-8"?>
<p:tagLst xmlns:a="http://schemas.openxmlformats.org/drawingml/2006/main" xmlns:r="http://schemas.openxmlformats.org/officeDocument/2006/relationships" xmlns:p="http://schemas.openxmlformats.org/presentationml/2006/main">
  <p:tag name="AS_UNIQUEID" val="50"/>
</p:tagLst>
</file>

<file path=ppt/tags/tag87.xml><?xml version="1.0" encoding="utf-8"?>
<p:tagLst xmlns:a="http://schemas.openxmlformats.org/drawingml/2006/main" xmlns:r="http://schemas.openxmlformats.org/officeDocument/2006/relationships" xmlns:p="http://schemas.openxmlformats.org/presentationml/2006/main">
  <p:tag name="AS_UNIQUEID" val="80"/>
</p:tagLst>
</file>

<file path=ppt/tags/tag88.xml><?xml version="1.0" encoding="utf-8"?>
<p:tagLst xmlns:a="http://schemas.openxmlformats.org/drawingml/2006/main" xmlns:r="http://schemas.openxmlformats.org/officeDocument/2006/relationships" xmlns:p="http://schemas.openxmlformats.org/presentationml/2006/main">
  <p:tag name="AS_UNIQUEID" val="82"/>
</p:tagLst>
</file>

<file path=ppt/tags/tag89.xml><?xml version="1.0" encoding="utf-8"?>
<p:tagLst xmlns:a="http://schemas.openxmlformats.org/drawingml/2006/main" xmlns:r="http://schemas.openxmlformats.org/officeDocument/2006/relationships" xmlns:p="http://schemas.openxmlformats.org/presentationml/2006/main">
  <p:tag name="AS_UNIQUEID" val="83"/>
</p:tagLst>
</file>

<file path=ppt/tags/tag90.xml><?xml version="1.0" encoding="utf-8"?>
<p:tagLst xmlns:a="http://schemas.openxmlformats.org/drawingml/2006/main" xmlns:r="http://schemas.openxmlformats.org/officeDocument/2006/relationships" xmlns:p="http://schemas.openxmlformats.org/presentationml/2006/main">
  <p:tag name="AS_UNIQUEID" val="50"/>
</p:tagLst>
</file>

<file path=ppt/tags/tag91.xml><?xml version="1.0" encoding="utf-8"?>
<p:tagLst xmlns:a="http://schemas.openxmlformats.org/drawingml/2006/main" xmlns:r="http://schemas.openxmlformats.org/officeDocument/2006/relationships" xmlns:p="http://schemas.openxmlformats.org/presentationml/2006/main">
  <p:tag name="AS_UNIQUEID" val="80"/>
</p:tagLst>
</file>

<file path=ppt/tags/tag92.xml><?xml version="1.0" encoding="utf-8"?>
<p:tagLst xmlns:a="http://schemas.openxmlformats.org/drawingml/2006/main" xmlns:r="http://schemas.openxmlformats.org/officeDocument/2006/relationships" xmlns:p="http://schemas.openxmlformats.org/presentationml/2006/main">
  <p:tag name="AS_UNIQUEID" val="82"/>
</p:tagLst>
</file>

<file path=ppt/tags/tag93.xml><?xml version="1.0" encoding="utf-8"?>
<p:tagLst xmlns:a="http://schemas.openxmlformats.org/drawingml/2006/main" xmlns:r="http://schemas.openxmlformats.org/officeDocument/2006/relationships" xmlns:p="http://schemas.openxmlformats.org/presentationml/2006/main">
  <p:tag name="AS_UNIQUEID" val="83"/>
</p:tagLst>
</file>

<file path=ppt/tags/tag94.xml><?xml version="1.0" encoding="utf-8"?>
<p:tagLst xmlns:a="http://schemas.openxmlformats.org/drawingml/2006/main" xmlns:r="http://schemas.openxmlformats.org/officeDocument/2006/relationships" xmlns:p="http://schemas.openxmlformats.org/presentationml/2006/main">
  <p:tag name="AS_UNIQUEID" val="50"/>
</p:tagLst>
</file>

<file path=ppt/tags/tag95.xml><?xml version="1.0" encoding="utf-8"?>
<p:tagLst xmlns:a="http://schemas.openxmlformats.org/drawingml/2006/main" xmlns:r="http://schemas.openxmlformats.org/officeDocument/2006/relationships" xmlns:p="http://schemas.openxmlformats.org/presentationml/2006/main">
  <p:tag name="AS_UNIQUEID" val="80"/>
</p:tagLst>
</file>

<file path=ppt/tags/tag96.xml><?xml version="1.0" encoding="utf-8"?>
<p:tagLst xmlns:a="http://schemas.openxmlformats.org/drawingml/2006/main" xmlns:r="http://schemas.openxmlformats.org/officeDocument/2006/relationships" xmlns:p="http://schemas.openxmlformats.org/presentationml/2006/main">
  <p:tag name="AS_UNIQUEID" val="82"/>
</p:tagLst>
</file>

<file path=ppt/tags/tag97.xml><?xml version="1.0" encoding="utf-8"?>
<p:tagLst xmlns:a="http://schemas.openxmlformats.org/drawingml/2006/main" xmlns:r="http://schemas.openxmlformats.org/officeDocument/2006/relationships" xmlns:p="http://schemas.openxmlformats.org/presentationml/2006/main">
  <p:tag name="AS_UNIQUEID" val="83"/>
</p:tagLst>
</file>

<file path=ppt/tags/tag98.xml><?xml version="1.0" encoding="utf-8"?>
<p:tagLst xmlns:a="http://schemas.openxmlformats.org/drawingml/2006/main" xmlns:r="http://schemas.openxmlformats.org/officeDocument/2006/relationships" xmlns:p="http://schemas.openxmlformats.org/presentationml/2006/main">
  <p:tag name="AS_UNIQUEID" val="50"/>
</p:tagLst>
</file>

<file path=ppt/tags/tag99.xml><?xml version="1.0" encoding="utf-8"?>
<p:tagLst xmlns:a="http://schemas.openxmlformats.org/drawingml/2006/main" xmlns:r="http://schemas.openxmlformats.org/officeDocument/2006/relationships" xmlns:p="http://schemas.openxmlformats.org/presentationml/2006/main">
  <p:tag name="AS_UNIQUEID" val="80"/>
</p:tagLst>
</file>

<file path=ppt/tags/tag100.xml><?xml version="1.0" encoding="utf-8"?>
<p:tagLst xmlns:a="http://schemas.openxmlformats.org/drawingml/2006/main" xmlns:r="http://schemas.openxmlformats.org/officeDocument/2006/relationships" xmlns:p="http://schemas.openxmlformats.org/presentationml/2006/main">
  <p:tag name="AS_UNIQUEID" val="82"/>
</p:tagLst>
</file>

<file path=ppt/tags/tag101.xml><?xml version="1.0" encoding="utf-8"?>
<p:tagLst xmlns:a="http://schemas.openxmlformats.org/drawingml/2006/main" xmlns:r="http://schemas.openxmlformats.org/officeDocument/2006/relationships" xmlns:p="http://schemas.openxmlformats.org/presentationml/2006/main">
  <p:tag name="AS_UNIQUEID" val="83"/>
</p:tagLst>
</file>

<file path=ppt/tags/tag102.xml><?xml version="1.0" encoding="utf-8"?>
<p:tagLst xmlns:a="http://schemas.openxmlformats.org/drawingml/2006/main" xmlns:r="http://schemas.openxmlformats.org/officeDocument/2006/relationships" xmlns:p="http://schemas.openxmlformats.org/presentationml/2006/main">
  <p:tag name="AS_UNIQUEID" val="50"/>
</p:tagLst>
</file>

<file path=ppt/tags/tag103.xml><?xml version="1.0" encoding="utf-8"?>
<p:tagLst xmlns:a="http://schemas.openxmlformats.org/drawingml/2006/main" xmlns:r="http://schemas.openxmlformats.org/officeDocument/2006/relationships" xmlns:p="http://schemas.openxmlformats.org/presentationml/2006/main">
  <p:tag name="AS_UNIQUEID" val="80"/>
</p:tagLst>
</file>

<file path=ppt/tags/tag104.xml><?xml version="1.0" encoding="utf-8"?>
<p:tagLst xmlns:a="http://schemas.openxmlformats.org/drawingml/2006/main" xmlns:r="http://schemas.openxmlformats.org/officeDocument/2006/relationships" xmlns:p="http://schemas.openxmlformats.org/presentationml/2006/main">
  <p:tag name="AS_UNIQUEID" val="82"/>
</p:tagLst>
</file>

<file path=ppt/tags/tag105.xml><?xml version="1.0" encoding="utf-8"?>
<p:tagLst xmlns:a="http://schemas.openxmlformats.org/drawingml/2006/main" xmlns:r="http://schemas.openxmlformats.org/officeDocument/2006/relationships" xmlns:p="http://schemas.openxmlformats.org/presentationml/2006/main">
  <p:tag name="AS_UNIQUEID" val="83"/>
</p:tagLst>
</file>

<file path=ppt/tags/tag106.xml><?xml version="1.0" encoding="utf-8"?>
<p:tagLst xmlns:a="http://schemas.openxmlformats.org/drawingml/2006/main" xmlns:r="http://schemas.openxmlformats.org/officeDocument/2006/relationships" xmlns:p="http://schemas.openxmlformats.org/presentationml/2006/main">
  <p:tag name="AS_UNIQUEID" val="50"/>
</p:tagLst>
</file>

<file path=ppt/tags/tag107.xml><?xml version="1.0" encoding="utf-8"?>
<p:tagLst xmlns:a="http://schemas.openxmlformats.org/drawingml/2006/main" xmlns:r="http://schemas.openxmlformats.org/officeDocument/2006/relationships" xmlns:p="http://schemas.openxmlformats.org/presentationml/2006/main">
  <p:tag name="AS_UNIQUEID" val="80"/>
</p:tagLst>
</file>

<file path=ppt/tags/tag108.xml><?xml version="1.0" encoding="utf-8"?>
<p:tagLst xmlns:a="http://schemas.openxmlformats.org/drawingml/2006/main" xmlns:r="http://schemas.openxmlformats.org/officeDocument/2006/relationships" xmlns:p="http://schemas.openxmlformats.org/presentationml/2006/main">
  <p:tag name="AS_UNIQUEID" val="82"/>
</p:tagLst>
</file>

<file path=ppt/tags/tag109.xml><?xml version="1.0" encoding="utf-8"?>
<p:tagLst xmlns:a="http://schemas.openxmlformats.org/drawingml/2006/main" xmlns:r="http://schemas.openxmlformats.org/officeDocument/2006/relationships" xmlns:p="http://schemas.openxmlformats.org/presentationml/2006/main">
  <p:tag name="AS_UNIQUEID" val="83"/>
</p:tagLst>
</file>

<file path=ppt/tags/tag110.xml><?xml version="1.0" encoding="utf-8"?>
<p:tagLst xmlns:a="http://schemas.openxmlformats.org/drawingml/2006/main" xmlns:r="http://schemas.openxmlformats.org/officeDocument/2006/relationships" xmlns:p="http://schemas.openxmlformats.org/presentationml/2006/main">
  <p:tag name="AS_UNIQUEID" val="50"/>
</p:tagLst>
</file>

<file path=ppt/tags/tag111.xml><?xml version="1.0" encoding="utf-8"?>
<p:tagLst xmlns:a="http://schemas.openxmlformats.org/drawingml/2006/main" xmlns:r="http://schemas.openxmlformats.org/officeDocument/2006/relationships" xmlns:p="http://schemas.openxmlformats.org/presentationml/2006/main">
  <p:tag name="AS_UNIQUEID" val="80"/>
</p:tagLst>
</file>

<file path=ppt/tags/tag112.xml><?xml version="1.0" encoding="utf-8"?>
<p:tagLst xmlns:a="http://schemas.openxmlformats.org/drawingml/2006/main" xmlns:r="http://schemas.openxmlformats.org/officeDocument/2006/relationships" xmlns:p="http://schemas.openxmlformats.org/presentationml/2006/main">
  <p:tag name="AS_UNIQUEID" val="82"/>
</p:tagLst>
</file>

<file path=ppt/tags/tag113.xml><?xml version="1.0" encoding="utf-8"?>
<p:tagLst xmlns:a="http://schemas.openxmlformats.org/drawingml/2006/main" xmlns:r="http://schemas.openxmlformats.org/officeDocument/2006/relationships" xmlns:p="http://schemas.openxmlformats.org/presentationml/2006/main">
  <p:tag name="AS_UNIQUEID" val="83"/>
</p:tagLst>
</file>

<file path=ppt/tags/tag114.xml><?xml version="1.0" encoding="utf-8"?>
<p:tagLst xmlns:a="http://schemas.openxmlformats.org/drawingml/2006/main" xmlns:r="http://schemas.openxmlformats.org/officeDocument/2006/relationships" xmlns:p="http://schemas.openxmlformats.org/presentationml/2006/main">
  <p:tag name="AS_UNIQUEID" val="50"/>
</p:tagLst>
</file>

<file path=ppt/tags/tag115.xml><?xml version="1.0" encoding="utf-8"?>
<p:tagLst xmlns:a="http://schemas.openxmlformats.org/drawingml/2006/main" xmlns:r="http://schemas.openxmlformats.org/officeDocument/2006/relationships" xmlns:p="http://schemas.openxmlformats.org/presentationml/2006/main">
  <p:tag name="AS_UNIQUEID" val="80"/>
</p:tagLst>
</file>

<file path=ppt/tags/tag116.xml><?xml version="1.0" encoding="utf-8"?>
<p:tagLst xmlns:a="http://schemas.openxmlformats.org/drawingml/2006/main" xmlns:r="http://schemas.openxmlformats.org/officeDocument/2006/relationships" xmlns:p="http://schemas.openxmlformats.org/presentationml/2006/main">
  <p:tag name="AS_UNIQUEID" val="82"/>
</p:tagLst>
</file>

<file path=ppt/tags/tag117.xml><?xml version="1.0" encoding="utf-8"?>
<p:tagLst xmlns:a="http://schemas.openxmlformats.org/drawingml/2006/main" xmlns:r="http://schemas.openxmlformats.org/officeDocument/2006/relationships" xmlns:p="http://schemas.openxmlformats.org/presentationml/2006/main">
  <p:tag name="AS_UNIQUEID" val="83"/>
</p:tagLst>
</file>

<file path=ppt/tags/tag118.xml><?xml version="1.0" encoding="utf-8"?>
<p:tagLst xmlns:a="http://schemas.openxmlformats.org/drawingml/2006/main" xmlns:r="http://schemas.openxmlformats.org/officeDocument/2006/relationships" xmlns:p="http://schemas.openxmlformats.org/presentationml/2006/main">
  <p:tag name="AS_UNIQUEID" val="50"/>
</p:tagLst>
</file>

<file path=ppt/tags/tag119.xml><?xml version="1.0" encoding="utf-8"?>
<p:tagLst xmlns:a="http://schemas.openxmlformats.org/drawingml/2006/main" xmlns:r="http://schemas.openxmlformats.org/officeDocument/2006/relationships" xmlns:p="http://schemas.openxmlformats.org/presentationml/2006/main">
  <p:tag name="AS_UNIQUEID" val="80"/>
</p:tagLst>
</file>

<file path=ppt/tags/tag120.xml><?xml version="1.0" encoding="utf-8"?>
<p:tagLst xmlns:a="http://schemas.openxmlformats.org/drawingml/2006/main" xmlns:r="http://schemas.openxmlformats.org/officeDocument/2006/relationships" xmlns:p="http://schemas.openxmlformats.org/presentationml/2006/main">
  <p:tag name="AS_UNIQUEID" val="82"/>
</p:tagLst>
</file>

<file path=ppt/tags/tag121.xml><?xml version="1.0" encoding="utf-8"?>
<p:tagLst xmlns:a="http://schemas.openxmlformats.org/drawingml/2006/main" xmlns:r="http://schemas.openxmlformats.org/officeDocument/2006/relationships" xmlns:p="http://schemas.openxmlformats.org/presentationml/2006/main">
  <p:tag name="AS_UNIQUEID" val="83"/>
</p:tagLst>
</file>

<file path=ppt/tags/tag122.xml><?xml version="1.0" encoding="utf-8"?>
<p:tagLst xmlns:a="http://schemas.openxmlformats.org/drawingml/2006/main" xmlns:r="http://schemas.openxmlformats.org/officeDocument/2006/relationships" xmlns:p="http://schemas.openxmlformats.org/presentationml/2006/main">
  <p:tag name="AS_UNIQUEID" val="50"/>
</p:tagLst>
</file>

<file path=ppt/tags/tag123.xml><?xml version="1.0" encoding="utf-8"?>
<p:tagLst xmlns:a="http://schemas.openxmlformats.org/drawingml/2006/main" xmlns:r="http://schemas.openxmlformats.org/officeDocument/2006/relationships" xmlns:p="http://schemas.openxmlformats.org/presentationml/2006/main">
  <p:tag name="AS_UNIQUEID" val="80"/>
</p:tagLst>
</file>

<file path=ppt/tags/tag124.xml><?xml version="1.0" encoding="utf-8"?>
<p:tagLst xmlns:a="http://schemas.openxmlformats.org/drawingml/2006/main" xmlns:r="http://schemas.openxmlformats.org/officeDocument/2006/relationships" xmlns:p="http://schemas.openxmlformats.org/presentationml/2006/main">
  <p:tag name="AS_UNIQUEID" val="82"/>
</p:tagLst>
</file>

<file path=ppt/tags/tag125.xml><?xml version="1.0" encoding="utf-8"?>
<p:tagLst xmlns:a="http://schemas.openxmlformats.org/drawingml/2006/main" xmlns:r="http://schemas.openxmlformats.org/officeDocument/2006/relationships" xmlns:p="http://schemas.openxmlformats.org/presentationml/2006/main">
  <p:tag name="AS_UNIQUEID" val="83"/>
</p:tagLst>
</file>

<file path=ppt/tags/tag126.xml><?xml version="1.0" encoding="utf-8"?>
<p:tagLst xmlns:a="http://schemas.openxmlformats.org/drawingml/2006/main" xmlns:r="http://schemas.openxmlformats.org/officeDocument/2006/relationships" xmlns:p="http://schemas.openxmlformats.org/presentationml/2006/main">
  <p:tag name="AS_UNIQUEID" val="50"/>
</p:tagLst>
</file>

<file path=ppt/tags/tag127.xml><?xml version="1.0" encoding="utf-8"?>
<p:tagLst xmlns:a="http://schemas.openxmlformats.org/drawingml/2006/main" xmlns:r="http://schemas.openxmlformats.org/officeDocument/2006/relationships" xmlns:p="http://schemas.openxmlformats.org/presentationml/2006/main">
  <p:tag name="AS_UNIQUEID" val="80"/>
</p:tagLst>
</file>

<file path=ppt/tags/tag128.xml><?xml version="1.0" encoding="utf-8"?>
<p:tagLst xmlns:a="http://schemas.openxmlformats.org/drawingml/2006/main" xmlns:r="http://schemas.openxmlformats.org/officeDocument/2006/relationships" xmlns:p="http://schemas.openxmlformats.org/presentationml/2006/main">
  <p:tag name="AS_UNIQUEID" val="82"/>
</p:tagLst>
</file>

<file path=ppt/tags/tag129.xml><?xml version="1.0" encoding="utf-8"?>
<p:tagLst xmlns:a="http://schemas.openxmlformats.org/drawingml/2006/main" xmlns:r="http://schemas.openxmlformats.org/officeDocument/2006/relationships" xmlns:p="http://schemas.openxmlformats.org/presentationml/2006/main">
  <p:tag name="AS_UNIQUEID" val="83"/>
</p:tagLst>
</file>

<file path=ppt/tags/tag130.xml><?xml version="1.0" encoding="utf-8"?>
<p:tagLst xmlns:a="http://schemas.openxmlformats.org/drawingml/2006/main" xmlns:r="http://schemas.openxmlformats.org/officeDocument/2006/relationships" xmlns:p="http://schemas.openxmlformats.org/presentationml/2006/main">
  <p:tag name="AS_UNIQUEID" val="50"/>
</p:tagLst>
</file>

<file path=ppt/tags/tag131.xml><?xml version="1.0" encoding="utf-8"?>
<p:tagLst xmlns:a="http://schemas.openxmlformats.org/drawingml/2006/main" xmlns:r="http://schemas.openxmlformats.org/officeDocument/2006/relationships" xmlns:p="http://schemas.openxmlformats.org/presentationml/2006/main">
  <p:tag name="AS_UNIQUEID" val="80"/>
</p:tagLst>
</file>

<file path=ppt/tags/tag132.xml><?xml version="1.0" encoding="utf-8"?>
<p:tagLst xmlns:a="http://schemas.openxmlformats.org/drawingml/2006/main" xmlns:r="http://schemas.openxmlformats.org/officeDocument/2006/relationships" xmlns:p="http://schemas.openxmlformats.org/presentationml/2006/main">
  <p:tag name="AS_UNIQUEID" val="82"/>
</p:tagLst>
</file>

<file path=ppt/tags/tag133.xml><?xml version="1.0" encoding="utf-8"?>
<p:tagLst xmlns:a="http://schemas.openxmlformats.org/drawingml/2006/main" xmlns:r="http://schemas.openxmlformats.org/officeDocument/2006/relationships" xmlns:p="http://schemas.openxmlformats.org/presentationml/2006/main">
  <p:tag name="AS_UNIQUEID" val="83"/>
</p:tagLst>
</file>

<file path=ppt/tags/tag134.xml><?xml version="1.0" encoding="utf-8"?>
<p:tagLst xmlns:a="http://schemas.openxmlformats.org/drawingml/2006/main" xmlns:r="http://schemas.openxmlformats.org/officeDocument/2006/relationships" xmlns:p="http://schemas.openxmlformats.org/presentationml/2006/main">
  <p:tag name="AS_UNIQUEID" val="50"/>
</p:tagLst>
</file>

<file path=ppt/tags/tag135.xml><?xml version="1.0" encoding="utf-8"?>
<p:tagLst xmlns:a="http://schemas.openxmlformats.org/drawingml/2006/main" xmlns:r="http://schemas.openxmlformats.org/officeDocument/2006/relationships" xmlns:p="http://schemas.openxmlformats.org/presentationml/2006/main">
  <p:tag name="AS_UNIQUEID" val="80"/>
</p:tagLst>
</file>

<file path=ppt/tags/tag136.xml><?xml version="1.0" encoding="utf-8"?>
<p:tagLst xmlns:a="http://schemas.openxmlformats.org/drawingml/2006/main" xmlns:r="http://schemas.openxmlformats.org/officeDocument/2006/relationships" xmlns:p="http://schemas.openxmlformats.org/presentationml/2006/main">
  <p:tag name="AS_UNIQUEID" val="82"/>
</p:tagLst>
</file>

<file path=ppt/tags/tag137.xml><?xml version="1.0" encoding="utf-8"?>
<p:tagLst xmlns:a="http://schemas.openxmlformats.org/drawingml/2006/main" xmlns:r="http://schemas.openxmlformats.org/officeDocument/2006/relationships" xmlns:p="http://schemas.openxmlformats.org/presentationml/2006/main">
  <p:tag name="AS_UNIQUEID" val="83"/>
</p:tagLst>
</file>

<file path=ppt/tags/tag138.xml><?xml version="1.0" encoding="utf-8"?>
<p:tagLst xmlns:a="http://schemas.openxmlformats.org/drawingml/2006/main" xmlns:r="http://schemas.openxmlformats.org/officeDocument/2006/relationships" xmlns:p="http://schemas.openxmlformats.org/presentationml/2006/main">
  <p:tag name="AS_UNIQUEID" val="50"/>
</p:tagLst>
</file>

<file path=ppt/tags/tag139.xml><?xml version="1.0" encoding="utf-8"?>
<p:tagLst xmlns:a="http://schemas.openxmlformats.org/drawingml/2006/main" xmlns:r="http://schemas.openxmlformats.org/officeDocument/2006/relationships" xmlns:p="http://schemas.openxmlformats.org/presentationml/2006/main">
  <p:tag name="AS_UNIQUEID" val="80"/>
</p:tagLst>
</file>

<file path=ppt/tags/tag140.xml><?xml version="1.0" encoding="utf-8"?>
<p:tagLst xmlns:a="http://schemas.openxmlformats.org/drawingml/2006/main" xmlns:r="http://schemas.openxmlformats.org/officeDocument/2006/relationships" xmlns:p="http://schemas.openxmlformats.org/presentationml/2006/main">
  <p:tag name="AS_UNIQUEID" val="82"/>
</p:tagLst>
</file>

<file path=ppt/tags/tag141.xml><?xml version="1.0" encoding="utf-8"?>
<p:tagLst xmlns:a="http://schemas.openxmlformats.org/drawingml/2006/main" xmlns:r="http://schemas.openxmlformats.org/officeDocument/2006/relationships" xmlns:p="http://schemas.openxmlformats.org/presentationml/2006/main">
  <p:tag name="AS_UNIQUEID" val="83"/>
</p:tagLst>
</file>

<file path=ppt/tags/tag142.xml><?xml version="1.0" encoding="utf-8"?>
<p:tagLst xmlns:a="http://schemas.openxmlformats.org/drawingml/2006/main" xmlns:r="http://schemas.openxmlformats.org/officeDocument/2006/relationships" xmlns:p="http://schemas.openxmlformats.org/presentationml/2006/main">
  <p:tag name="AS_UNIQUEID" val="50"/>
</p:tagLst>
</file>

<file path=ppt/tags/tag143.xml><?xml version="1.0" encoding="utf-8"?>
<p:tagLst xmlns:a="http://schemas.openxmlformats.org/drawingml/2006/main" xmlns:r="http://schemas.openxmlformats.org/officeDocument/2006/relationships" xmlns:p="http://schemas.openxmlformats.org/presentationml/2006/main">
  <p:tag name="AS_UNIQUEID" val="80"/>
</p:tagLst>
</file>

<file path=ppt/tags/tag144.xml><?xml version="1.0" encoding="utf-8"?>
<p:tagLst xmlns:a="http://schemas.openxmlformats.org/drawingml/2006/main" xmlns:r="http://schemas.openxmlformats.org/officeDocument/2006/relationships" xmlns:p="http://schemas.openxmlformats.org/presentationml/2006/main">
  <p:tag name="AS_UNIQUEID" val="82"/>
</p:tagLst>
</file>

<file path=ppt/tags/tag145.xml><?xml version="1.0" encoding="utf-8"?>
<p:tagLst xmlns:a="http://schemas.openxmlformats.org/drawingml/2006/main" xmlns:r="http://schemas.openxmlformats.org/officeDocument/2006/relationships" xmlns:p="http://schemas.openxmlformats.org/presentationml/2006/main">
  <p:tag name="AS_UNIQUEID" val="83"/>
</p:tagLst>
</file>

<file path=ppt/tags/tag146.xml><?xml version="1.0" encoding="utf-8"?>
<p:tagLst xmlns:a="http://schemas.openxmlformats.org/drawingml/2006/main" xmlns:r="http://schemas.openxmlformats.org/officeDocument/2006/relationships" xmlns:p="http://schemas.openxmlformats.org/presentationml/2006/main">
  <p:tag name="AS_UNIQUEID" val="50"/>
</p:tagLst>
</file>

<file path=ppt/tags/tag147.xml><?xml version="1.0" encoding="utf-8"?>
<p:tagLst xmlns:a="http://schemas.openxmlformats.org/drawingml/2006/main" xmlns:r="http://schemas.openxmlformats.org/officeDocument/2006/relationships" xmlns:p="http://schemas.openxmlformats.org/presentationml/2006/main">
  <p:tag name="AS_UNIQUEID" val="80"/>
</p:tagLst>
</file>

<file path=ppt/tags/tag148.xml><?xml version="1.0" encoding="utf-8"?>
<p:tagLst xmlns:a="http://schemas.openxmlformats.org/drawingml/2006/main" xmlns:r="http://schemas.openxmlformats.org/officeDocument/2006/relationships" xmlns:p="http://schemas.openxmlformats.org/presentationml/2006/main">
  <p:tag name="AS_UNIQUEID" val="82"/>
</p:tagLst>
</file>

<file path=ppt/tags/tag149.xml><?xml version="1.0" encoding="utf-8"?>
<p:tagLst xmlns:a="http://schemas.openxmlformats.org/drawingml/2006/main" xmlns:r="http://schemas.openxmlformats.org/officeDocument/2006/relationships" xmlns:p="http://schemas.openxmlformats.org/presentationml/2006/main">
  <p:tag name="AS_UNIQUEID" val="83"/>
</p:tagLst>
</file>

<file path=ppt/tags/tag150.xml><?xml version="1.0" encoding="utf-8"?>
<p:tagLst xmlns:a="http://schemas.openxmlformats.org/drawingml/2006/main" xmlns:r="http://schemas.openxmlformats.org/officeDocument/2006/relationships" xmlns:p="http://schemas.openxmlformats.org/presentationml/2006/main">
  <p:tag name="AS_UNIQUEID" val="50"/>
</p:tagLst>
</file>

<file path=ppt/tags/tag151.xml><?xml version="1.0" encoding="utf-8"?>
<p:tagLst xmlns:a="http://schemas.openxmlformats.org/drawingml/2006/main" xmlns:r="http://schemas.openxmlformats.org/officeDocument/2006/relationships" xmlns:p="http://schemas.openxmlformats.org/presentationml/2006/main">
  <p:tag name="AS_UNIQUEID" val="80"/>
</p:tagLst>
</file>

<file path=ppt/tags/tag152.xml><?xml version="1.0" encoding="utf-8"?>
<p:tagLst xmlns:a="http://schemas.openxmlformats.org/drawingml/2006/main" xmlns:r="http://schemas.openxmlformats.org/officeDocument/2006/relationships" xmlns:p="http://schemas.openxmlformats.org/presentationml/2006/main">
  <p:tag name="AS_UNIQUEID" val="82"/>
</p:tagLst>
</file>

<file path=ppt/tags/tag153.xml><?xml version="1.0" encoding="utf-8"?>
<p:tagLst xmlns:a="http://schemas.openxmlformats.org/drawingml/2006/main" xmlns:r="http://schemas.openxmlformats.org/officeDocument/2006/relationships" xmlns:p="http://schemas.openxmlformats.org/presentationml/2006/main">
  <p:tag name="AS_UNIQUEID" val="83"/>
</p:tagLst>
</file>

<file path=ppt/tags/tag154.xml><?xml version="1.0" encoding="utf-8"?>
<p:tagLst xmlns:a="http://schemas.openxmlformats.org/drawingml/2006/main" xmlns:r="http://schemas.openxmlformats.org/officeDocument/2006/relationships" xmlns:p="http://schemas.openxmlformats.org/presentationml/2006/main">
  <p:tag name="AS_UNIQUEID" val="50"/>
</p:tagLst>
</file>

<file path=ppt/tags/tag155.xml><?xml version="1.0" encoding="utf-8"?>
<p:tagLst xmlns:a="http://schemas.openxmlformats.org/drawingml/2006/main" xmlns:r="http://schemas.openxmlformats.org/officeDocument/2006/relationships" xmlns:p="http://schemas.openxmlformats.org/presentationml/2006/main">
  <p:tag name="AS_UNIQUEID" val="80"/>
</p:tagLst>
</file>

<file path=ppt/tags/tag156.xml><?xml version="1.0" encoding="utf-8"?>
<p:tagLst xmlns:a="http://schemas.openxmlformats.org/drawingml/2006/main" xmlns:r="http://schemas.openxmlformats.org/officeDocument/2006/relationships" xmlns:p="http://schemas.openxmlformats.org/presentationml/2006/main">
  <p:tag name="AS_UNIQUEID" val="82"/>
</p:tagLst>
</file>

<file path=ppt/tags/tag157.xml><?xml version="1.0" encoding="utf-8"?>
<p:tagLst xmlns:a="http://schemas.openxmlformats.org/drawingml/2006/main" xmlns:r="http://schemas.openxmlformats.org/officeDocument/2006/relationships" xmlns:p="http://schemas.openxmlformats.org/presentationml/2006/main">
  <p:tag name="AS_UNIQUEID" val="83"/>
</p:tagLst>
</file>

<file path=ppt/tags/tag158.xml><?xml version="1.0" encoding="utf-8"?>
<p:tagLst xmlns:a="http://schemas.openxmlformats.org/drawingml/2006/main" xmlns:r="http://schemas.openxmlformats.org/officeDocument/2006/relationships" xmlns:p="http://schemas.openxmlformats.org/presentationml/2006/main">
  <p:tag name="AS_UNIQUEID" val="50"/>
</p:tagLst>
</file>

<file path=ppt/tags/tag159.xml><?xml version="1.0" encoding="utf-8"?>
<p:tagLst xmlns:a="http://schemas.openxmlformats.org/drawingml/2006/main" xmlns:r="http://schemas.openxmlformats.org/officeDocument/2006/relationships" xmlns:p="http://schemas.openxmlformats.org/presentationml/2006/main">
  <p:tag name="AS_UNIQUEID" val="80"/>
</p:tagLst>
</file>

<file path=ppt/tags/tag160.xml><?xml version="1.0" encoding="utf-8"?>
<p:tagLst xmlns:a="http://schemas.openxmlformats.org/drawingml/2006/main" xmlns:r="http://schemas.openxmlformats.org/officeDocument/2006/relationships" xmlns:p="http://schemas.openxmlformats.org/presentationml/2006/main">
  <p:tag name="AS_UNIQUEID" val="82"/>
</p:tagLst>
</file>

<file path=ppt/tags/tag161.xml><?xml version="1.0" encoding="utf-8"?>
<p:tagLst xmlns:a="http://schemas.openxmlformats.org/drawingml/2006/main" xmlns:r="http://schemas.openxmlformats.org/officeDocument/2006/relationships" xmlns:p="http://schemas.openxmlformats.org/presentationml/2006/main">
  <p:tag name="AS_UNIQUEID" val="83"/>
</p:tagLst>
</file>

<file path=ppt/tags/tag162.xml><?xml version="1.0" encoding="utf-8"?>
<p:tagLst xmlns:a="http://schemas.openxmlformats.org/drawingml/2006/main" xmlns:r="http://schemas.openxmlformats.org/officeDocument/2006/relationships" xmlns:p="http://schemas.openxmlformats.org/presentationml/2006/main">
  <p:tag name="AS_UNIQUEID" val="50"/>
</p:tagLst>
</file>

<file path=ppt/tags/tag163.xml><?xml version="1.0" encoding="utf-8"?>
<p:tagLst xmlns:a="http://schemas.openxmlformats.org/drawingml/2006/main" xmlns:r="http://schemas.openxmlformats.org/officeDocument/2006/relationships" xmlns:p="http://schemas.openxmlformats.org/presentationml/2006/main">
  <p:tag name="AS_UNIQUEID" val="80"/>
</p:tagLst>
</file>

<file path=ppt/tags/tag164.xml><?xml version="1.0" encoding="utf-8"?>
<p:tagLst xmlns:a="http://schemas.openxmlformats.org/drawingml/2006/main" xmlns:r="http://schemas.openxmlformats.org/officeDocument/2006/relationships" xmlns:p="http://schemas.openxmlformats.org/presentationml/2006/main">
  <p:tag name="AS_UNIQUEID" val="82"/>
</p:tagLst>
</file>

<file path=ppt/tags/tag165.xml><?xml version="1.0" encoding="utf-8"?>
<p:tagLst xmlns:a="http://schemas.openxmlformats.org/drawingml/2006/main" xmlns:r="http://schemas.openxmlformats.org/officeDocument/2006/relationships" xmlns:p="http://schemas.openxmlformats.org/presentationml/2006/main">
  <p:tag name="AS_UNIQUEID" val="83"/>
</p:tagLst>
</file>

<file path=ppt/tags/tag166.xml><?xml version="1.0" encoding="utf-8"?>
<p:tagLst xmlns:a="http://schemas.openxmlformats.org/drawingml/2006/main" xmlns:r="http://schemas.openxmlformats.org/officeDocument/2006/relationships" xmlns:p="http://schemas.openxmlformats.org/presentationml/2006/main">
  <p:tag name="AS_UNIQUEID" val="50"/>
</p:tagLst>
</file>

<file path=ppt/tags/tag167.xml><?xml version="1.0" encoding="utf-8"?>
<p:tagLst xmlns:a="http://schemas.openxmlformats.org/drawingml/2006/main" xmlns:r="http://schemas.openxmlformats.org/officeDocument/2006/relationships" xmlns:p="http://schemas.openxmlformats.org/presentationml/2006/main">
  <p:tag name="AS_UNIQUEID" val="80"/>
</p:tagLst>
</file>

<file path=ppt/tags/tag168.xml><?xml version="1.0" encoding="utf-8"?>
<p:tagLst xmlns:a="http://schemas.openxmlformats.org/drawingml/2006/main" xmlns:r="http://schemas.openxmlformats.org/officeDocument/2006/relationships" xmlns:p="http://schemas.openxmlformats.org/presentationml/2006/main">
  <p:tag name="AS_UNIQUEID" val="82"/>
</p:tagLst>
</file>

<file path=ppt/tags/tag169.xml><?xml version="1.0" encoding="utf-8"?>
<p:tagLst xmlns:a="http://schemas.openxmlformats.org/drawingml/2006/main" xmlns:r="http://schemas.openxmlformats.org/officeDocument/2006/relationships" xmlns:p="http://schemas.openxmlformats.org/presentationml/2006/main">
  <p:tag name="AS_UNIQUEID" val="83"/>
</p:tagLst>
</file>

<file path=ppt/tags/tag170.xml><?xml version="1.0" encoding="utf-8"?>
<p:tagLst xmlns:a="http://schemas.openxmlformats.org/drawingml/2006/main" xmlns:r="http://schemas.openxmlformats.org/officeDocument/2006/relationships" xmlns:p="http://schemas.openxmlformats.org/presentationml/2006/main">
  <p:tag name="AS_UNIQUEID" val="50"/>
</p:tagLst>
</file>

<file path=ppt/tags/tag171.xml><?xml version="1.0" encoding="utf-8"?>
<p:tagLst xmlns:a="http://schemas.openxmlformats.org/drawingml/2006/main" xmlns:r="http://schemas.openxmlformats.org/officeDocument/2006/relationships" xmlns:p="http://schemas.openxmlformats.org/presentationml/2006/main">
  <p:tag name="AS_UNIQUEID" val="80"/>
</p:tagLst>
</file>

<file path=ppt/tags/tag172.xml><?xml version="1.0" encoding="utf-8"?>
<p:tagLst xmlns:a="http://schemas.openxmlformats.org/drawingml/2006/main" xmlns:r="http://schemas.openxmlformats.org/officeDocument/2006/relationships" xmlns:p="http://schemas.openxmlformats.org/presentationml/2006/main">
  <p:tag name="AS_UNIQUEID" val="82"/>
</p:tagLst>
</file>

<file path=ppt/tags/tag173.xml><?xml version="1.0" encoding="utf-8"?>
<p:tagLst xmlns:a="http://schemas.openxmlformats.org/drawingml/2006/main" xmlns:r="http://schemas.openxmlformats.org/officeDocument/2006/relationships" xmlns:p="http://schemas.openxmlformats.org/presentationml/2006/main">
  <p:tag name="AS_UNIQUEID" val="83"/>
</p:tagLst>
</file>

<file path=ppt/tags/tag174.xml><?xml version="1.0" encoding="utf-8"?>
<p:tagLst xmlns:a="http://schemas.openxmlformats.org/drawingml/2006/main" xmlns:r="http://schemas.openxmlformats.org/officeDocument/2006/relationships" xmlns:p="http://schemas.openxmlformats.org/presentationml/2006/main">
  <p:tag name="AS_UNIQUEID" val="50"/>
</p:tagLst>
</file>

<file path=ppt/tags/tag175.xml><?xml version="1.0" encoding="utf-8"?>
<p:tagLst xmlns:a="http://schemas.openxmlformats.org/drawingml/2006/main" xmlns:r="http://schemas.openxmlformats.org/officeDocument/2006/relationships" xmlns:p="http://schemas.openxmlformats.org/presentationml/2006/main">
  <p:tag name="AS_UNIQUEID" val="80"/>
</p:tagLst>
</file>

<file path=ppt/tags/tag176.xml><?xml version="1.0" encoding="utf-8"?>
<p:tagLst xmlns:a="http://schemas.openxmlformats.org/drawingml/2006/main" xmlns:r="http://schemas.openxmlformats.org/officeDocument/2006/relationships" xmlns:p="http://schemas.openxmlformats.org/presentationml/2006/main">
  <p:tag name="AS_UNIQUEID" val="82"/>
</p:tagLst>
</file>

<file path=ppt/tags/tag177.xml><?xml version="1.0" encoding="utf-8"?>
<p:tagLst xmlns:a="http://schemas.openxmlformats.org/drawingml/2006/main" xmlns:r="http://schemas.openxmlformats.org/officeDocument/2006/relationships" xmlns:p="http://schemas.openxmlformats.org/presentationml/2006/main">
  <p:tag name="AS_UNIQUEID" val="83"/>
</p:tagLst>
</file>

<file path=ppt/tags/tag178.xml><?xml version="1.0" encoding="utf-8"?>
<p:tagLst xmlns:a="http://schemas.openxmlformats.org/drawingml/2006/main" xmlns:r="http://schemas.openxmlformats.org/officeDocument/2006/relationships" xmlns:p="http://schemas.openxmlformats.org/presentationml/2006/main">
  <p:tag name="AS_UNIQUEID" val="50"/>
</p:tagLst>
</file>

<file path=ppt/tags/tag179.xml><?xml version="1.0" encoding="utf-8"?>
<p:tagLst xmlns:a="http://schemas.openxmlformats.org/drawingml/2006/main" xmlns:r="http://schemas.openxmlformats.org/officeDocument/2006/relationships" xmlns:p="http://schemas.openxmlformats.org/presentationml/2006/main">
  <p:tag name="AS_UNIQUEID" val="80"/>
</p:tagLst>
</file>

<file path=ppt/tags/tag180.xml><?xml version="1.0" encoding="utf-8"?>
<p:tagLst xmlns:a="http://schemas.openxmlformats.org/drawingml/2006/main" xmlns:r="http://schemas.openxmlformats.org/officeDocument/2006/relationships" xmlns:p="http://schemas.openxmlformats.org/presentationml/2006/main">
  <p:tag name="AS_UNIQUEID" val="82"/>
</p:tagLst>
</file>

<file path=ppt/tags/tag181.xml><?xml version="1.0" encoding="utf-8"?>
<p:tagLst xmlns:a="http://schemas.openxmlformats.org/drawingml/2006/main" xmlns:r="http://schemas.openxmlformats.org/officeDocument/2006/relationships" xmlns:p="http://schemas.openxmlformats.org/presentationml/2006/main">
  <p:tag name="AS_UNIQUEID" val="83"/>
</p:tagLst>
</file>

<file path=ppt/tags/tag182.xml><?xml version="1.0" encoding="utf-8"?>
<p:tagLst xmlns:a="http://schemas.openxmlformats.org/drawingml/2006/main" xmlns:r="http://schemas.openxmlformats.org/officeDocument/2006/relationships" xmlns:p="http://schemas.openxmlformats.org/presentationml/2006/main">
  <p:tag name="AS_UNIQUEID" val="50"/>
</p:tagLst>
</file>

<file path=ppt/tags/tag183.xml><?xml version="1.0" encoding="utf-8"?>
<p:tagLst xmlns:a="http://schemas.openxmlformats.org/drawingml/2006/main" xmlns:r="http://schemas.openxmlformats.org/officeDocument/2006/relationships" xmlns:p="http://schemas.openxmlformats.org/presentationml/2006/main">
  <p:tag name="AS_UNIQUEID" val="80"/>
</p:tagLst>
</file>

<file path=ppt/tags/tag184.xml><?xml version="1.0" encoding="utf-8"?>
<p:tagLst xmlns:a="http://schemas.openxmlformats.org/drawingml/2006/main" xmlns:r="http://schemas.openxmlformats.org/officeDocument/2006/relationships" xmlns:p="http://schemas.openxmlformats.org/presentationml/2006/main">
  <p:tag name="AS_UNIQUEID" val="82"/>
</p:tagLst>
</file>

<file path=ppt/tags/tag185.xml><?xml version="1.0" encoding="utf-8"?>
<p:tagLst xmlns:a="http://schemas.openxmlformats.org/drawingml/2006/main" xmlns:r="http://schemas.openxmlformats.org/officeDocument/2006/relationships" xmlns:p="http://schemas.openxmlformats.org/presentationml/2006/main">
  <p:tag name="AS_UNIQUEID" val="83"/>
</p:tagLst>
</file>

<file path=ppt/tags/tag186.xml><?xml version="1.0" encoding="utf-8"?>
<p:tagLst xmlns:a="http://schemas.openxmlformats.org/drawingml/2006/main" xmlns:r="http://schemas.openxmlformats.org/officeDocument/2006/relationships" xmlns:p="http://schemas.openxmlformats.org/presentationml/2006/main">
  <p:tag name="AS_UNIQUEID" val="50"/>
</p:tagLst>
</file>

<file path=ppt/tags/tag187.xml><?xml version="1.0" encoding="utf-8"?>
<p:tagLst xmlns:a="http://schemas.openxmlformats.org/drawingml/2006/main" xmlns:r="http://schemas.openxmlformats.org/officeDocument/2006/relationships" xmlns:p="http://schemas.openxmlformats.org/presentationml/2006/main">
  <p:tag name="AS_UNIQUEID" val="80"/>
</p:tagLst>
</file>

<file path=ppt/tags/tag188.xml><?xml version="1.0" encoding="utf-8"?>
<p:tagLst xmlns:a="http://schemas.openxmlformats.org/drawingml/2006/main" xmlns:r="http://schemas.openxmlformats.org/officeDocument/2006/relationships" xmlns:p="http://schemas.openxmlformats.org/presentationml/2006/main">
  <p:tag name="AS_UNIQUEID" val="82"/>
</p:tagLst>
</file>

<file path=ppt/tags/tag189.xml><?xml version="1.0" encoding="utf-8"?>
<p:tagLst xmlns:a="http://schemas.openxmlformats.org/drawingml/2006/main" xmlns:r="http://schemas.openxmlformats.org/officeDocument/2006/relationships" xmlns:p="http://schemas.openxmlformats.org/presentationml/2006/main">
  <p:tag name="AS_UNIQUEID" val="83"/>
</p:tagLst>
</file>

<file path=ppt/tags/tag190.xml><?xml version="1.0" encoding="utf-8"?>
<p:tagLst xmlns:a="http://schemas.openxmlformats.org/drawingml/2006/main" xmlns:r="http://schemas.openxmlformats.org/officeDocument/2006/relationships" xmlns:p="http://schemas.openxmlformats.org/presentationml/2006/main">
  <p:tag name="AS_UNIQUEID" val="50"/>
</p:tagLst>
</file>

<file path=ppt/tags/tag191.xml><?xml version="1.0" encoding="utf-8"?>
<p:tagLst xmlns:a="http://schemas.openxmlformats.org/drawingml/2006/main" xmlns:r="http://schemas.openxmlformats.org/officeDocument/2006/relationships" xmlns:p="http://schemas.openxmlformats.org/presentationml/2006/main">
  <p:tag name="AS_UNIQUEID" val="80"/>
</p:tagLst>
</file>

<file path=ppt/tags/tag192.xml><?xml version="1.0" encoding="utf-8"?>
<p:tagLst xmlns:a="http://schemas.openxmlformats.org/drawingml/2006/main" xmlns:r="http://schemas.openxmlformats.org/officeDocument/2006/relationships" xmlns:p="http://schemas.openxmlformats.org/presentationml/2006/main">
  <p:tag name="AS_UNIQUEID" val="82"/>
</p:tagLst>
</file>

<file path=ppt/tags/tag193.xml><?xml version="1.0" encoding="utf-8"?>
<p:tagLst xmlns:a="http://schemas.openxmlformats.org/drawingml/2006/main" xmlns:r="http://schemas.openxmlformats.org/officeDocument/2006/relationships" xmlns:p="http://schemas.openxmlformats.org/presentationml/2006/main">
  <p:tag name="AS_UNIQUEID" val="83"/>
</p:tagLst>
</file>

<file path=ppt/tags/tag194.xml><?xml version="1.0" encoding="utf-8"?>
<p:tagLst xmlns:a="http://schemas.openxmlformats.org/drawingml/2006/main" xmlns:r="http://schemas.openxmlformats.org/officeDocument/2006/relationships" xmlns:p="http://schemas.openxmlformats.org/presentationml/2006/main">
  <p:tag name="AS_UNIQUEID" val="50"/>
</p:tagLst>
</file>

<file path=ppt/tags/tag195.xml><?xml version="1.0" encoding="utf-8"?>
<p:tagLst xmlns:a="http://schemas.openxmlformats.org/drawingml/2006/main" xmlns:r="http://schemas.openxmlformats.org/officeDocument/2006/relationships" xmlns:p="http://schemas.openxmlformats.org/presentationml/2006/main">
  <p:tag name="AS_UNIQUEID" val="80"/>
</p:tagLst>
</file>

<file path=ppt/tags/tag196.xml><?xml version="1.0" encoding="utf-8"?>
<p:tagLst xmlns:a="http://schemas.openxmlformats.org/drawingml/2006/main" xmlns:r="http://schemas.openxmlformats.org/officeDocument/2006/relationships" xmlns:p="http://schemas.openxmlformats.org/presentationml/2006/main">
  <p:tag name="AS_UNIQUEID" val="82"/>
</p:tagLst>
</file>

<file path=ppt/tags/tag197.xml><?xml version="1.0" encoding="utf-8"?>
<p:tagLst xmlns:a="http://schemas.openxmlformats.org/drawingml/2006/main" xmlns:r="http://schemas.openxmlformats.org/officeDocument/2006/relationships" xmlns:p="http://schemas.openxmlformats.org/presentationml/2006/main">
  <p:tag name="AS_UNIQUEID" val="83"/>
</p:tagLst>
</file>

<file path=ppt/tags/tag198.xml><?xml version="1.0" encoding="utf-8"?>
<p:tagLst xmlns:a="http://schemas.openxmlformats.org/drawingml/2006/main" xmlns:r="http://schemas.openxmlformats.org/officeDocument/2006/relationships" xmlns:p="http://schemas.openxmlformats.org/presentationml/2006/main">
  <p:tag name="AS_UNIQUEID" val="50"/>
</p:tagLst>
</file>

<file path=ppt/tags/tag199.xml><?xml version="1.0" encoding="utf-8"?>
<p:tagLst xmlns:a="http://schemas.openxmlformats.org/drawingml/2006/main" xmlns:r="http://schemas.openxmlformats.org/officeDocument/2006/relationships" xmlns:p="http://schemas.openxmlformats.org/presentationml/2006/main">
  <p:tag name="AS_UNIQUEID" val="80"/>
</p:tagLst>
</file>

<file path=ppt/tags/tag200.xml><?xml version="1.0" encoding="utf-8"?>
<p:tagLst xmlns:a="http://schemas.openxmlformats.org/drawingml/2006/main" xmlns:r="http://schemas.openxmlformats.org/officeDocument/2006/relationships" xmlns:p="http://schemas.openxmlformats.org/presentationml/2006/main">
  <p:tag name="AS_UNIQUEID" val="82"/>
</p:tagLst>
</file>

<file path=ppt/tags/tag201.xml><?xml version="1.0" encoding="utf-8"?>
<p:tagLst xmlns:a="http://schemas.openxmlformats.org/drawingml/2006/main" xmlns:r="http://schemas.openxmlformats.org/officeDocument/2006/relationships" xmlns:p="http://schemas.openxmlformats.org/presentationml/2006/main">
  <p:tag name="AS_UNIQUEID" val="83"/>
</p:tagLst>
</file>

<file path=ppt/tags/tag202.xml><?xml version="1.0" encoding="utf-8"?>
<p:tagLst xmlns:a="http://schemas.openxmlformats.org/drawingml/2006/main" xmlns:r="http://schemas.openxmlformats.org/officeDocument/2006/relationships" xmlns:p="http://schemas.openxmlformats.org/presentationml/2006/main">
  <p:tag name="AS_UNIQUEID" val="50"/>
</p:tagLst>
</file>

<file path=ppt/tags/tag203.xml><?xml version="1.0" encoding="utf-8"?>
<p:tagLst xmlns:a="http://schemas.openxmlformats.org/drawingml/2006/main" xmlns:r="http://schemas.openxmlformats.org/officeDocument/2006/relationships" xmlns:p="http://schemas.openxmlformats.org/presentationml/2006/main">
  <p:tag name="AS_UNIQUEID" val="80"/>
</p:tagLst>
</file>

<file path=ppt/tags/tag204.xml><?xml version="1.0" encoding="utf-8"?>
<p:tagLst xmlns:a="http://schemas.openxmlformats.org/drawingml/2006/main" xmlns:r="http://schemas.openxmlformats.org/officeDocument/2006/relationships" xmlns:p="http://schemas.openxmlformats.org/presentationml/2006/main">
  <p:tag name="AS_UNIQUEID" val="82"/>
</p:tagLst>
</file>

<file path=ppt/tags/tag205.xml><?xml version="1.0" encoding="utf-8"?>
<p:tagLst xmlns:a="http://schemas.openxmlformats.org/drawingml/2006/main" xmlns:r="http://schemas.openxmlformats.org/officeDocument/2006/relationships" xmlns:p="http://schemas.openxmlformats.org/presentationml/2006/main">
  <p:tag name="AS_UNIQUEID" val="83"/>
</p:tagLst>
</file>

<file path=ppt/tags/tag206.xml><?xml version="1.0" encoding="utf-8"?>
<p:tagLst xmlns:a="http://schemas.openxmlformats.org/drawingml/2006/main" xmlns:r="http://schemas.openxmlformats.org/officeDocument/2006/relationships" xmlns:p="http://schemas.openxmlformats.org/presentationml/2006/main">
  <p:tag name="AS_UNIQUEID" val="50"/>
</p:tagLst>
</file>

<file path=ppt/tags/tag207.xml><?xml version="1.0" encoding="utf-8"?>
<p:tagLst xmlns:a="http://schemas.openxmlformats.org/drawingml/2006/main" xmlns:r="http://schemas.openxmlformats.org/officeDocument/2006/relationships" xmlns:p="http://schemas.openxmlformats.org/presentationml/2006/main">
  <p:tag name="AS_UNIQUEID" val="80"/>
</p:tagLst>
</file>

<file path=ppt/tags/tag208.xml><?xml version="1.0" encoding="utf-8"?>
<p:tagLst xmlns:a="http://schemas.openxmlformats.org/drawingml/2006/main" xmlns:r="http://schemas.openxmlformats.org/officeDocument/2006/relationships" xmlns:p="http://schemas.openxmlformats.org/presentationml/2006/main">
  <p:tag name="AS_UNIQUEID" val="82"/>
</p:tagLst>
</file>

<file path=ppt/tags/tag209.xml><?xml version="1.0" encoding="utf-8"?>
<p:tagLst xmlns:a="http://schemas.openxmlformats.org/drawingml/2006/main" xmlns:r="http://schemas.openxmlformats.org/officeDocument/2006/relationships" xmlns:p="http://schemas.openxmlformats.org/presentationml/2006/main">
  <p:tag name="AS_UNIQUEID" val="83"/>
</p:tagLst>
</file>

<file path=ppt/tags/tag210.xml><?xml version="1.0" encoding="utf-8"?>
<p:tagLst xmlns:a="http://schemas.openxmlformats.org/drawingml/2006/main" xmlns:r="http://schemas.openxmlformats.org/officeDocument/2006/relationships" xmlns:p="http://schemas.openxmlformats.org/presentationml/2006/main">
  <p:tag name="AS_UNIQUEID" val="50"/>
</p:tagLst>
</file>

<file path=ppt/tags/tag211.xml><?xml version="1.0" encoding="utf-8"?>
<p:tagLst xmlns:a="http://schemas.openxmlformats.org/drawingml/2006/main" xmlns:r="http://schemas.openxmlformats.org/officeDocument/2006/relationships" xmlns:p="http://schemas.openxmlformats.org/presentationml/2006/main">
  <p:tag name="AS_UNIQUEID" val="80"/>
</p:tagLst>
</file>

<file path=ppt/tags/tag212.xml><?xml version="1.0" encoding="utf-8"?>
<p:tagLst xmlns:a="http://schemas.openxmlformats.org/drawingml/2006/main" xmlns:r="http://schemas.openxmlformats.org/officeDocument/2006/relationships" xmlns:p="http://schemas.openxmlformats.org/presentationml/2006/main">
  <p:tag name="AS_UNIQUEID" val="82"/>
</p:tagLst>
</file>

<file path=ppt/tags/tag213.xml><?xml version="1.0" encoding="utf-8"?>
<p:tagLst xmlns:a="http://schemas.openxmlformats.org/drawingml/2006/main" xmlns:r="http://schemas.openxmlformats.org/officeDocument/2006/relationships" xmlns:p="http://schemas.openxmlformats.org/presentationml/2006/main">
  <p:tag name="AS_UNIQUEID" val="83"/>
</p:tagLst>
</file>

<file path=ppt/tags/tag214.xml><?xml version="1.0" encoding="utf-8"?>
<p:tagLst xmlns:a="http://schemas.openxmlformats.org/drawingml/2006/main" xmlns:r="http://schemas.openxmlformats.org/officeDocument/2006/relationships" xmlns:p="http://schemas.openxmlformats.org/presentationml/2006/main">
  <p:tag name="AS_UNIQUEID" val="50"/>
</p:tagLst>
</file>

<file path=ppt/tags/tag215.xml><?xml version="1.0" encoding="utf-8"?>
<p:tagLst xmlns:a="http://schemas.openxmlformats.org/drawingml/2006/main" xmlns:r="http://schemas.openxmlformats.org/officeDocument/2006/relationships" xmlns:p="http://schemas.openxmlformats.org/presentationml/2006/main">
  <p:tag name="AS_UNIQUEID" val="80"/>
</p:tagLst>
</file>

<file path=ppt/tags/tag216.xml><?xml version="1.0" encoding="utf-8"?>
<p:tagLst xmlns:a="http://schemas.openxmlformats.org/drawingml/2006/main" xmlns:r="http://schemas.openxmlformats.org/officeDocument/2006/relationships" xmlns:p="http://schemas.openxmlformats.org/presentationml/2006/main">
  <p:tag name="AS_UNIQUEID" val="82"/>
</p:tagLst>
</file>

<file path=ppt/tags/tag217.xml><?xml version="1.0" encoding="utf-8"?>
<p:tagLst xmlns:a="http://schemas.openxmlformats.org/drawingml/2006/main" xmlns:r="http://schemas.openxmlformats.org/officeDocument/2006/relationships" xmlns:p="http://schemas.openxmlformats.org/presentationml/2006/main">
  <p:tag name="AS_UNIQUEID" val="83"/>
</p:tagLst>
</file>

<file path=ppt/tags/tag218.xml><?xml version="1.0" encoding="utf-8"?>
<p:tagLst xmlns:a="http://schemas.openxmlformats.org/drawingml/2006/main" xmlns:r="http://schemas.openxmlformats.org/officeDocument/2006/relationships" xmlns:p="http://schemas.openxmlformats.org/presentationml/2006/main">
  <p:tag name="AS_UNIQUEID" val="50"/>
</p:tagLst>
</file>

<file path=ppt/tags/tag219.xml><?xml version="1.0" encoding="utf-8"?>
<p:tagLst xmlns:a="http://schemas.openxmlformats.org/drawingml/2006/main" xmlns:r="http://schemas.openxmlformats.org/officeDocument/2006/relationships" xmlns:p="http://schemas.openxmlformats.org/presentationml/2006/main">
  <p:tag name="AS_UNIQUEID" val="80"/>
</p:tagLst>
</file>

<file path=ppt/tags/tag220.xml><?xml version="1.0" encoding="utf-8"?>
<p:tagLst xmlns:a="http://schemas.openxmlformats.org/drawingml/2006/main" xmlns:r="http://schemas.openxmlformats.org/officeDocument/2006/relationships" xmlns:p="http://schemas.openxmlformats.org/presentationml/2006/main">
  <p:tag name="AS_UNIQUEID" val="82"/>
</p:tagLst>
</file>

<file path=ppt/tags/tag221.xml><?xml version="1.0" encoding="utf-8"?>
<p:tagLst xmlns:a="http://schemas.openxmlformats.org/drawingml/2006/main" xmlns:r="http://schemas.openxmlformats.org/officeDocument/2006/relationships" xmlns:p="http://schemas.openxmlformats.org/presentationml/2006/main">
  <p:tag name="AS_UNIQUEID" val="83"/>
</p:tagLst>
</file>

<file path=ppt/tags/tag222.xml><?xml version="1.0" encoding="utf-8"?>
<p:tagLst xmlns:a="http://schemas.openxmlformats.org/drawingml/2006/main" xmlns:r="http://schemas.openxmlformats.org/officeDocument/2006/relationships" xmlns:p="http://schemas.openxmlformats.org/presentationml/2006/main">
  <p:tag name="AS_UNIQUEID" val="50"/>
</p:tagLst>
</file>

<file path=ppt/tags/tag223.xml><?xml version="1.0" encoding="utf-8"?>
<p:tagLst xmlns:a="http://schemas.openxmlformats.org/drawingml/2006/main" xmlns:r="http://schemas.openxmlformats.org/officeDocument/2006/relationships" xmlns:p="http://schemas.openxmlformats.org/presentationml/2006/main">
  <p:tag name="AS_UNIQUEID" val="92"/>
</p:tagLst>
</file>

<file path=ppt/tags/tag224.xml><?xml version="1.0" encoding="utf-8"?>
<p:tagLst xmlns:a="http://schemas.openxmlformats.org/drawingml/2006/main" xmlns:r="http://schemas.openxmlformats.org/officeDocument/2006/relationships" xmlns:p="http://schemas.openxmlformats.org/presentationml/2006/main">
  <p:tag name="AS_UNIQUEID" val="93"/>
</p:tagLst>
</file>

<file path=ppt/tags/tag225.xml><?xml version="1.0" encoding="utf-8"?>
<p:tagLst xmlns:a="http://schemas.openxmlformats.org/drawingml/2006/main" xmlns:r="http://schemas.openxmlformats.org/officeDocument/2006/relationships" xmlns:p="http://schemas.openxmlformats.org/presentationml/2006/main">
  <p:tag name="AS_UNIQUEID" val="94"/>
</p:tagLst>
</file>

<file path=ppt/tags/tag226.xml><?xml version="1.0" encoding="utf-8"?>
<p:tagLst xmlns:a="http://schemas.openxmlformats.org/drawingml/2006/main" xmlns:r="http://schemas.openxmlformats.org/officeDocument/2006/relationships" xmlns:p="http://schemas.openxmlformats.org/presentationml/2006/main">
  <p:tag name="AS_UNIQUEID" val="95"/>
</p:tagLst>
</file>

<file path=ppt/tags/tag227.xml><?xml version="1.0" encoding="utf-8"?>
<p:tagLst xmlns:a="http://schemas.openxmlformats.org/drawingml/2006/main" xmlns:r="http://schemas.openxmlformats.org/officeDocument/2006/relationships" xmlns:p="http://schemas.openxmlformats.org/presentationml/2006/main">
  <p:tag name="AS_UNIQUEID" val="96"/>
</p:tagLst>
</file>

<file path=ppt/tags/tag228.xml><?xml version="1.0" encoding="utf-8"?>
<p:tagLst xmlns:a="http://schemas.openxmlformats.org/drawingml/2006/main" xmlns:r="http://schemas.openxmlformats.org/officeDocument/2006/relationships" xmlns:p="http://schemas.openxmlformats.org/presentationml/2006/main">
  <p:tag name="AS_UNIQUEID" val="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3874</TotalTime>
  <Words>3839</Words>
  <Application>Microsoft Office PowerPoint</Application>
  <PresentationFormat>On-screen Show (4:3)</PresentationFormat>
  <Paragraphs>438</Paragraphs>
  <Slides>57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PMingLiU</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parul</dc:creator>
  <cp:lastModifiedBy>ASHWANI CHAUDHARY</cp:lastModifiedBy>
  <cp:revision>635</cp:revision>
  <dcterms:created xsi:type="dcterms:W3CDTF">2020-05-18T10:32:00Z</dcterms:created>
  <dcterms:modified xsi:type="dcterms:W3CDTF">2024-08-25T15:10:14Z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1033-10.2.0.7477</vt:lpwstr>
  </property>
</Properties>
</file>