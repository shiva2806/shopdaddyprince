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6"/>
  </p:notesMasterIdLst>
  <p:sldIdLst>
    <p:sldId id="330" r:id="rId2"/>
    <p:sldId id="32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3" r:id="rId29"/>
    <p:sldId id="287" r:id="rId30"/>
    <p:sldId id="288" r:id="rId31"/>
    <p:sldId id="289" r:id="rId32"/>
    <p:sldId id="291" r:id="rId33"/>
    <p:sldId id="328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327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21" r:id="rId5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569" autoAdjust="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F565-DD08-4F53-B1F1-E210C7228830}" type="datetimeFigureOut">
              <a:rPr lang="en-US" smtClean="0"/>
              <a:pPr/>
              <a:t>7/19/2024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D31AA-210E-4AE0-A3C1-976040D4B8F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5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8228"/>
            <a:ext cx="1035812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919"/>
            <a:ext cx="100228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5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5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5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  <p:grpSp>
        <p:nvGrpSpPr>
          <p:cNvPr id="7" name="object 2">
            <a:extLst>
              <a:ext uri="{FF2B5EF4-FFF2-40B4-BE49-F238E27FC236}">
                <a16:creationId xmlns:a16="http://schemas.microsoft.com/office/drawing/2014/main" id="{EDBDDDF3-FFDC-8122-0AD8-390CF9F5460F}"/>
              </a:ext>
            </a:extLst>
          </p:cNvPr>
          <p:cNvGrpSpPr/>
          <p:nvPr userDrawn="1"/>
        </p:nvGrpSpPr>
        <p:grpSpPr>
          <a:xfrm>
            <a:off x="0" y="0"/>
            <a:ext cx="12192000" cy="6857997"/>
            <a:chOff x="0" y="0"/>
            <a:chExt cx="12192000" cy="6857997"/>
          </a:xfrm>
        </p:grpSpPr>
        <p:pic>
          <p:nvPicPr>
            <p:cNvPr id="8" name="object 3">
              <a:extLst>
                <a:ext uri="{FF2B5EF4-FFF2-40B4-BE49-F238E27FC236}">
                  <a16:creationId xmlns:a16="http://schemas.microsoft.com/office/drawing/2014/main" id="{0C8BF586-F049-D4C0-4F93-AE32F4DA6E05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E4F898C3-F85B-C807-0E1D-CD7AE84410BE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78023" y="2572511"/>
              <a:ext cx="7239000" cy="280416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9A2E1D1-8F2F-F589-8179-412DEB654AA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5240" y="0"/>
            <a:ext cx="3398520" cy="12742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 descr="C:\Users\parul\Desktop\te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0" y="-22225"/>
            <a:ext cx="12192000" cy="690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TextBox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6400" y="1143000"/>
            <a:ext cx="10871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3600" dirty="0"/>
          </a:p>
          <a:p>
            <a:r>
              <a:rPr lang="en-US" sz="3200" b="1" dirty="0"/>
              <a:t>Subject: Artificial Intelligence  </a:t>
            </a:r>
            <a:endParaRPr lang="en-US" altLang="en-US" sz="2400" b="1" dirty="0">
              <a:solidFill>
                <a:srgbClr val="000000"/>
              </a:solidFill>
              <a:latin typeface="Calibri" pitchFamily="34" charset="0"/>
              <a:cs typeface="Times New Roman" pitchFamily="18" charset="0"/>
            </a:endParaRPr>
          </a:p>
          <a:p>
            <a:r>
              <a:rPr lang="en-US" altLang="en-US" sz="2400" b="1" dirty="0">
                <a:solidFill>
                  <a:srgbClr val="000000"/>
                </a:solidFill>
                <a:latin typeface="Calibri" pitchFamily="34" charset="0"/>
                <a:cs typeface="Times New Roman" pitchFamily="18" charset="0"/>
              </a:rPr>
              <a:t>Unit 2 :  </a:t>
            </a:r>
            <a:r>
              <a:rPr lang="en-US" sz="3600" b="1" dirty="0"/>
              <a:t>Search techniques:</a:t>
            </a:r>
            <a:endParaRPr lang="en-US" sz="3600" dirty="0"/>
          </a:p>
          <a:p>
            <a:pPr algn="r"/>
            <a:r>
              <a:rPr lang="en-US" sz="3600" b="1"/>
              <a:t>                                                          ASHWANI CHAUDHARY</a:t>
            </a:r>
            <a:endParaRPr lang="en-US" sz="3600" b="1" dirty="0"/>
          </a:p>
          <a:p>
            <a:pPr algn="ctr" eaLnBrk="0" hangingPunct="0">
              <a:spcBef>
                <a:spcPct val="20000"/>
              </a:spcBef>
              <a:buFont typeface="Arial" pitchFamily="34" charset="0"/>
              <a:buNone/>
            </a:pPr>
            <a:r>
              <a:rPr lang="en-US" altLang="en-US" sz="2800" dirty="0">
                <a:solidFill>
                  <a:srgbClr val="000000"/>
                </a:solidFill>
                <a:latin typeface="Calibri" pitchFamily="34" charset="0"/>
                <a:cs typeface="Times New Roman" pitchFamily="18" charset="0"/>
              </a:rPr>
              <a:t>                                                                         Computer Science &amp; Engineering</a:t>
            </a:r>
          </a:p>
          <a:p>
            <a:pPr algn="r" eaLnBrk="0" hangingPunct="0">
              <a:spcBef>
                <a:spcPct val="20000"/>
              </a:spcBef>
              <a:buFont typeface="Arial" pitchFamily="34" charset="0"/>
              <a:buNone/>
            </a:pPr>
            <a:endParaRPr lang="en-IN" altLang="en-US" sz="2000" dirty="0">
              <a:solidFill>
                <a:srgbClr val="000000"/>
              </a:solidFill>
              <a:latin typeface="Calibri" pitchFamily="34" charset="0"/>
              <a:cs typeface="Times New Roman" pitchFamily="18" charset="0"/>
            </a:endParaRPr>
          </a:p>
          <a:p>
            <a:pPr algn="ctr" eaLnBrk="0" hangingPunct="0">
              <a:buFont typeface="Arial" pitchFamily="34" charset="0"/>
              <a:buNone/>
            </a:pPr>
            <a:endParaRPr lang="en-IN" altLang="en-US" sz="3500" b="1" dirty="0">
              <a:solidFill>
                <a:srgbClr val="000000"/>
              </a:solidFill>
              <a:latin typeface="Calibri" pitchFamily="34" charset="0"/>
              <a:cs typeface="Times New Roman" pitchFamily="18" charset="0"/>
            </a:endParaRPr>
          </a:p>
        </p:txBody>
      </p:sp>
      <p:pic>
        <p:nvPicPr>
          <p:cNvPr id="2052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091333" y="6032500"/>
            <a:ext cx="812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52400"/>
            <a:ext cx="43688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4673600" y="228600"/>
            <a:ext cx="711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PARULINSTITUTEOF ENGINEERING &amp;TECHNOLOGY</a:t>
            </a:r>
            <a:endParaRPr lang="en-US" sz="1600" dirty="0"/>
          </a:p>
          <a:p>
            <a:r>
              <a:rPr lang="en-US" sz="1600" b="1" dirty="0"/>
              <a:t>FACULTY OF ENGINEERING &amp; TECHNOLOGY</a:t>
            </a:r>
            <a:endParaRPr lang="en-US" sz="1600" dirty="0"/>
          </a:p>
          <a:p>
            <a:r>
              <a:rPr lang="en-US" sz="1600" b="1" dirty="0"/>
              <a:t>PARULUNIVERSITY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 advTm="3055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905000"/>
            <a:ext cx="12192000" cy="3733800"/>
            <a:chOff x="0" y="2572511"/>
            <a:chExt cx="9144000" cy="280263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755" y="2572511"/>
              <a:ext cx="5430012" cy="280263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715511"/>
              <a:ext cx="9144000" cy="713740"/>
            </a:xfrm>
            <a:custGeom>
              <a:avLst/>
              <a:gdLst/>
              <a:ahLst/>
              <a:cxnLst/>
              <a:rect l="l" t="t" r="r" b="b"/>
              <a:pathLst>
                <a:path w="9144000" h="713739">
                  <a:moveTo>
                    <a:pt x="9144000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9144000" y="7132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791372" y="3764031"/>
            <a:ext cx="4614333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solidFill>
                  <a:srgbClr val="FFFFFF"/>
                </a:solidFill>
                <a:latin typeface="Calibri"/>
                <a:cs typeface="Calibri"/>
              </a:rPr>
              <a:t>Search</a:t>
            </a:r>
            <a:r>
              <a:rPr sz="3500" b="1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500" b="1" dirty="0">
                <a:solidFill>
                  <a:srgbClr val="FFFFFF"/>
                </a:solidFill>
                <a:latin typeface="Calibri"/>
                <a:cs typeface="Calibri"/>
              </a:rPr>
              <a:t>Techniques</a:t>
            </a:r>
            <a:endParaRPr sz="35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2240" y="2868322"/>
            <a:ext cx="1747520" cy="559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b="1" dirty="0">
                <a:latin typeface="Calibri"/>
                <a:cs typeface="Calibri"/>
              </a:rPr>
              <a:t>UNI</a:t>
            </a:r>
            <a:r>
              <a:rPr sz="3500" b="1" spc="5" dirty="0">
                <a:latin typeface="Calibri"/>
                <a:cs typeface="Calibri"/>
              </a:rPr>
              <a:t>T</a:t>
            </a:r>
            <a:r>
              <a:rPr sz="3500" b="1" spc="-5" dirty="0">
                <a:latin typeface="Calibri"/>
                <a:cs typeface="Calibri"/>
              </a:rPr>
              <a:t>-</a:t>
            </a:r>
            <a:r>
              <a:rPr sz="3500" b="1" dirty="0">
                <a:latin typeface="Calibri"/>
                <a:cs typeface="Calibri"/>
              </a:rPr>
              <a:t>2</a:t>
            </a:r>
            <a:endParaRPr sz="35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90656" y="6031992"/>
            <a:ext cx="812800" cy="6095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2">
            <a:extLst>
              <a:ext uri="{FF2B5EF4-FFF2-40B4-BE49-F238E27FC236}">
                <a16:creationId xmlns:a16="http://schemas.microsoft.com/office/drawing/2014/main" id="{B285810B-B77B-4D60-4BA4-BE2A1834B6E9}"/>
              </a:ext>
            </a:extLst>
          </p:cNvPr>
          <p:cNvGrpSpPr/>
          <p:nvPr/>
        </p:nvGrpSpPr>
        <p:grpSpPr>
          <a:xfrm>
            <a:off x="0" y="0"/>
            <a:ext cx="12192000" cy="6857997"/>
            <a:chOff x="0" y="0"/>
            <a:chExt cx="12192000" cy="6857997"/>
          </a:xfrm>
        </p:grpSpPr>
        <p:pic>
          <p:nvPicPr>
            <p:cNvPr id="9" name="object 3">
              <a:extLst>
                <a:ext uri="{FF2B5EF4-FFF2-40B4-BE49-F238E27FC236}">
                  <a16:creationId xmlns:a16="http://schemas.microsoft.com/office/drawing/2014/main" id="{ADC2C70C-1C6A-8DE9-7438-5F31454BF7F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E3D5CE85-D46E-CA7A-3713-56F4AF72045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8023" y="2572511"/>
              <a:ext cx="7239000" cy="2804160"/>
            </a:xfrm>
            <a:prstGeom prst="rect">
              <a:avLst/>
            </a:prstGeom>
          </p:spPr>
        </p:pic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460273"/>
            <a:ext cx="139065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Unit</a:t>
            </a:r>
            <a:r>
              <a:rPr spc="-90" dirty="0"/>
              <a:t> 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41" y="1793494"/>
            <a:ext cx="10267315" cy="354533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923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30" dirty="0">
                <a:latin typeface="Calibri"/>
                <a:cs typeface="Calibri"/>
              </a:rPr>
              <a:t>Generate-And-Test,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Hill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Climbing,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Best-First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Problem </a:t>
            </a:r>
            <a:r>
              <a:rPr sz="2800" spc="-10" dirty="0">
                <a:latin typeface="Calibri"/>
                <a:cs typeface="Calibri"/>
              </a:rPr>
              <a:t> Reduction,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Constraint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Satisfaction,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Means-Ends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Analysis.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Heuristic </a:t>
            </a:r>
            <a:r>
              <a:rPr sz="2800" spc="-10" dirty="0">
                <a:latin typeface="Calibri"/>
                <a:cs typeface="Calibri"/>
              </a:rPr>
              <a:t> search,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Hill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Climbing,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Best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first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end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analysis,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Constraint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Satisfaction,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A*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AO*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Algorithm,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Knowledge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Representation: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Basic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concepts,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Knowledge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Paradigms,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Propositional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Logic,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Inference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Rules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Propositional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Logic,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Knowledge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representation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Predicate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Predicate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Calculus,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Predicate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arguments,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hierarchy,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Frame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notation,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Resolution,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Natural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Deduction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43" y="599059"/>
            <a:ext cx="652081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5" dirty="0">
                <a:latin typeface="+mj-lt"/>
                <a:cs typeface="Microsoft Sans Serif"/>
              </a:rPr>
              <a:t>Generate</a:t>
            </a:r>
            <a:r>
              <a:rPr b="1" spc="-50" dirty="0">
                <a:latin typeface="+mj-lt"/>
                <a:cs typeface="Microsoft Sans Serif"/>
              </a:rPr>
              <a:t> </a:t>
            </a:r>
            <a:r>
              <a:rPr b="1" spc="20" dirty="0">
                <a:latin typeface="+mj-lt"/>
                <a:cs typeface="Microsoft Sans Serif"/>
              </a:rPr>
              <a:t>and</a:t>
            </a:r>
            <a:r>
              <a:rPr b="1" spc="-50" dirty="0">
                <a:latin typeface="+mj-lt"/>
                <a:cs typeface="Microsoft Sans Serif"/>
              </a:rPr>
              <a:t> </a:t>
            </a:r>
            <a:r>
              <a:rPr b="1" spc="25" dirty="0">
                <a:latin typeface="+mj-lt"/>
                <a:cs typeface="Microsoft Sans Serif"/>
              </a:rPr>
              <a:t>Test</a:t>
            </a:r>
            <a:r>
              <a:rPr b="1" spc="-75" dirty="0">
                <a:latin typeface="+mj-lt"/>
                <a:cs typeface="Microsoft Sans Serif"/>
              </a:rPr>
              <a:t> Search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0297EF-D8EE-494E-35E5-9423F3DB0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6944" y="1788923"/>
            <a:ext cx="10116185" cy="32778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11809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5" dirty="0">
                <a:cs typeface="Microsoft Sans Serif"/>
              </a:rPr>
              <a:t>is </a:t>
            </a:r>
            <a:r>
              <a:rPr sz="2800" spc="-80" dirty="0">
                <a:cs typeface="Microsoft Sans Serif"/>
              </a:rPr>
              <a:t>a </a:t>
            </a:r>
            <a:r>
              <a:rPr sz="2800" spc="10" dirty="0">
                <a:cs typeface="Microsoft Sans Serif"/>
              </a:rPr>
              <a:t>heuristic </a:t>
            </a:r>
            <a:r>
              <a:rPr sz="2800" spc="-40" dirty="0">
                <a:cs typeface="Microsoft Sans Serif"/>
              </a:rPr>
              <a:t>search </a:t>
            </a:r>
            <a:r>
              <a:rPr sz="2800" spc="10" dirty="0">
                <a:cs typeface="Microsoft Sans Serif"/>
              </a:rPr>
              <a:t>technique </a:t>
            </a:r>
            <a:r>
              <a:rPr sz="2800" spc="-15" dirty="0">
                <a:cs typeface="Microsoft Sans Serif"/>
              </a:rPr>
              <a:t>based </a:t>
            </a:r>
            <a:r>
              <a:rPr sz="2800" spc="10" dirty="0">
                <a:cs typeface="Microsoft Sans Serif"/>
              </a:rPr>
              <a:t>on </a:t>
            </a:r>
            <a:r>
              <a:rPr sz="2800" spc="55" dirty="0">
                <a:cs typeface="Microsoft Sans Serif"/>
              </a:rPr>
              <a:t>Depth </a:t>
            </a:r>
            <a:r>
              <a:rPr sz="2800" spc="5" dirty="0">
                <a:cs typeface="Microsoft Sans Serif"/>
              </a:rPr>
              <a:t>First </a:t>
            </a:r>
            <a:r>
              <a:rPr sz="2800" spc="-50" dirty="0">
                <a:cs typeface="Microsoft Sans Serif"/>
              </a:rPr>
              <a:t>Search </a:t>
            </a:r>
            <a:r>
              <a:rPr sz="2800" spc="-730" dirty="0">
                <a:cs typeface="Microsoft Sans Serif"/>
              </a:rPr>
              <a:t> </a:t>
            </a:r>
            <a:r>
              <a:rPr sz="2800" spc="140" dirty="0">
                <a:cs typeface="Microsoft Sans Serif"/>
              </a:rPr>
              <a:t>with</a:t>
            </a:r>
            <a:r>
              <a:rPr sz="2800" spc="-25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Backtracking</a:t>
            </a:r>
            <a:r>
              <a:rPr sz="2800" spc="-5" dirty="0">
                <a:cs typeface="Microsoft Sans Serif"/>
              </a:rPr>
              <a:t> </a:t>
            </a:r>
            <a:r>
              <a:rPr sz="2800" spc="55" dirty="0">
                <a:cs typeface="Microsoft Sans Serif"/>
              </a:rPr>
              <a:t>which</a:t>
            </a:r>
            <a:r>
              <a:rPr sz="2800" spc="-20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guarantees</a:t>
            </a:r>
            <a:r>
              <a:rPr sz="2800" spc="15" dirty="0">
                <a:cs typeface="Microsoft Sans Serif"/>
              </a:rPr>
              <a:t> </a:t>
            </a:r>
            <a:r>
              <a:rPr sz="2800" spc="95" dirty="0">
                <a:cs typeface="Microsoft Sans Serif"/>
              </a:rPr>
              <a:t>to</a:t>
            </a:r>
            <a:r>
              <a:rPr sz="2800" spc="-10" dirty="0">
                <a:cs typeface="Microsoft Sans Serif"/>
              </a:rPr>
              <a:t> </a:t>
            </a:r>
            <a:r>
              <a:rPr sz="2800" spc="65" dirty="0">
                <a:cs typeface="Microsoft Sans Serif"/>
              </a:rPr>
              <a:t>find</a:t>
            </a:r>
            <a:r>
              <a:rPr sz="2800" spc="-15" dirty="0">
                <a:cs typeface="Microsoft Sans Serif"/>
              </a:rPr>
              <a:t> </a:t>
            </a:r>
            <a:r>
              <a:rPr sz="2800" spc="-80" dirty="0">
                <a:cs typeface="Microsoft Sans Serif"/>
              </a:rPr>
              <a:t>a</a:t>
            </a:r>
            <a:r>
              <a:rPr sz="2800" spc="-20" dirty="0">
                <a:cs typeface="Microsoft Sans Serif"/>
              </a:rPr>
              <a:t> </a:t>
            </a:r>
            <a:r>
              <a:rPr sz="2800" spc="45" dirty="0">
                <a:cs typeface="Microsoft Sans Serif"/>
              </a:rPr>
              <a:t>solution</a:t>
            </a:r>
            <a:endParaRPr sz="2800" dirty="0">
              <a:cs typeface="Microsoft Sans Serif"/>
            </a:endParaRPr>
          </a:p>
          <a:p>
            <a:pPr marL="241300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5" dirty="0">
                <a:cs typeface="Arial"/>
              </a:rPr>
              <a:t>Algorithm</a:t>
            </a:r>
            <a:endParaRPr sz="2800" dirty="0"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i="1" spc="-20" dirty="0">
                <a:cs typeface="Arial"/>
              </a:rPr>
              <a:t>Generate</a:t>
            </a:r>
            <a:r>
              <a:rPr sz="2800" i="1" spc="-60" dirty="0">
                <a:cs typeface="Arial"/>
              </a:rPr>
              <a:t> </a:t>
            </a:r>
            <a:r>
              <a:rPr sz="2800" i="1" spc="-80" dirty="0">
                <a:cs typeface="Arial"/>
              </a:rPr>
              <a:t>a</a:t>
            </a:r>
            <a:r>
              <a:rPr sz="2800" i="1" spc="-75" dirty="0">
                <a:cs typeface="Arial"/>
              </a:rPr>
              <a:t> </a:t>
            </a:r>
            <a:r>
              <a:rPr sz="2800" i="1" spc="25" dirty="0">
                <a:cs typeface="Arial"/>
              </a:rPr>
              <a:t>possible</a:t>
            </a:r>
            <a:r>
              <a:rPr sz="2800" i="1" spc="-40" dirty="0">
                <a:cs typeface="Arial"/>
              </a:rPr>
              <a:t> </a:t>
            </a:r>
            <a:r>
              <a:rPr sz="2800" i="1" spc="30" dirty="0">
                <a:cs typeface="Arial"/>
              </a:rPr>
              <a:t>solution.</a:t>
            </a:r>
            <a:endParaRPr sz="2800" dirty="0">
              <a:cs typeface="Arial"/>
            </a:endParaRPr>
          </a:p>
          <a:p>
            <a:pPr marL="241300" marR="5080" indent="-229235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i="1" spc="10" dirty="0">
                <a:cs typeface="Arial"/>
              </a:rPr>
              <a:t>Test</a:t>
            </a:r>
            <a:r>
              <a:rPr sz="2800" i="1" spc="-50" dirty="0">
                <a:cs typeface="Arial"/>
              </a:rPr>
              <a:t> </a:t>
            </a:r>
            <a:r>
              <a:rPr sz="2800" i="1" spc="95" dirty="0">
                <a:cs typeface="Arial"/>
              </a:rPr>
              <a:t>to</a:t>
            </a:r>
            <a:r>
              <a:rPr sz="2800" i="1" spc="-50" dirty="0">
                <a:cs typeface="Arial"/>
              </a:rPr>
              <a:t> </a:t>
            </a:r>
            <a:r>
              <a:rPr sz="2800" i="1" spc="-65" dirty="0">
                <a:cs typeface="Arial"/>
              </a:rPr>
              <a:t>see</a:t>
            </a:r>
            <a:r>
              <a:rPr sz="2800" i="1" spc="-60" dirty="0">
                <a:cs typeface="Arial"/>
              </a:rPr>
              <a:t> </a:t>
            </a:r>
            <a:r>
              <a:rPr sz="2800" i="1" spc="85" dirty="0">
                <a:cs typeface="Arial"/>
              </a:rPr>
              <a:t>if</a:t>
            </a:r>
            <a:r>
              <a:rPr sz="2800" i="1" spc="-50" dirty="0">
                <a:cs typeface="Arial"/>
              </a:rPr>
              <a:t> </a:t>
            </a:r>
            <a:r>
              <a:rPr sz="2800" i="1" spc="50" dirty="0">
                <a:cs typeface="Arial"/>
              </a:rPr>
              <a:t>this</a:t>
            </a:r>
            <a:r>
              <a:rPr sz="2800" i="1" spc="-50" dirty="0">
                <a:cs typeface="Arial"/>
              </a:rPr>
              <a:t> </a:t>
            </a:r>
            <a:r>
              <a:rPr sz="2800" i="1" spc="-15" dirty="0">
                <a:cs typeface="Arial"/>
              </a:rPr>
              <a:t>is</a:t>
            </a:r>
            <a:r>
              <a:rPr sz="2800" i="1" spc="-55" dirty="0">
                <a:cs typeface="Arial"/>
              </a:rPr>
              <a:t> </a:t>
            </a:r>
            <a:r>
              <a:rPr sz="2800" i="1" spc="-80" dirty="0">
                <a:cs typeface="Arial"/>
              </a:rPr>
              <a:t>a</a:t>
            </a:r>
            <a:r>
              <a:rPr sz="2800" i="1" spc="-60" dirty="0">
                <a:cs typeface="Arial"/>
              </a:rPr>
              <a:t> </a:t>
            </a:r>
            <a:r>
              <a:rPr sz="2800" i="1" spc="25" dirty="0">
                <a:cs typeface="Arial"/>
              </a:rPr>
              <a:t>actual</a:t>
            </a:r>
            <a:r>
              <a:rPr sz="2800" i="1" spc="-45" dirty="0">
                <a:cs typeface="Arial"/>
              </a:rPr>
              <a:t> </a:t>
            </a:r>
            <a:r>
              <a:rPr sz="2800" i="1" spc="50" dirty="0">
                <a:cs typeface="Arial"/>
              </a:rPr>
              <a:t>solution</a:t>
            </a:r>
            <a:r>
              <a:rPr sz="2800" i="1" spc="-50" dirty="0">
                <a:cs typeface="Arial"/>
              </a:rPr>
              <a:t> </a:t>
            </a:r>
            <a:r>
              <a:rPr sz="2800" i="1" spc="55" dirty="0">
                <a:cs typeface="Arial"/>
              </a:rPr>
              <a:t>by</a:t>
            </a:r>
            <a:r>
              <a:rPr sz="2800" i="1" spc="-45" dirty="0">
                <a:cs typeface="Arial"/>
              </a:rPr>
              <a:t> </a:t>
            </a:r>
            <a:r>
              <a:rPr sz="2800" i="1" spc="15" dirty="0">
                <a:cs typeface="Arial"/>
              </a:rPr>
              <a:t>comparing</a:t>
            </a:r>
            <a:r>
              <a:rPr sz="2800" i="1" spc="-10" dirty="0">
                <a:cs typeface="Arial"/>
              </a:rPr>
              <a:t> </a:t>
            </a:r>
            <a:r>
              <a:rPr sz="2800" i="1" spc="50" dirty="0">
                <a:cs typeface="Arial"/>
              </a:rPr>
              <a:t>the</a:t>
            </a:r>
            <a:r>
              <a:rPr sz="2800" i="1" spc="-65" dirty="0">
                <a:cs typeface="Arial"/>
              </a:rPr>
              <a:t> </a:t>
            </a:r>
            <a:r>
              <a:rPr sz="2800" i="1" spc="-30" dirty="0">
                <a:cs typeface="Arial"/>
              </a:rPr>
              <a:t>chosen </a:t>
            </a:r>
            <a:r>
              <a:rPr sz="2800" i="1" spc="-765" dirty="0">
                <a:cs typeface="Arial"/>
              </a:rPr>
              <a:t> </a:t>
            </a:r>
            <a:r>
              <a:rPr sz="2800" i="1" spc="65" dirty="0">
                <a:cs typeface="Arial"/>
              </a:rPr>
              <a:t>point</a:t>
            </a:r>
            <a:r>
              <a:rPr sz="2800" i="1" spc="-55" dirty="0">
                <a:cs typeface="Arial"/>
              </a:rPr>
              <a:t> </a:t>
            </a:r>
            <a:r>
              <a:rPr sz="2800" i="1" spc="30" dirty="0">
                <a:cs typeface="Arial"/>
              </a:rPr>
              <a:t>or</a:t>
            </a:r>
            <a:r>
              <a:rPr sz="2800" i="1" spc="-60" dirty="0">
                <a:cs typeface="Arial"/>
              </a:rPr>
              <a:t> </a:t>
            </a:r>
            <a:r>
              <a:rPr sz="2800" i="1" spc="55" dirty="0">
                <a:cs typeface="Arial"/>
              </a:rPr>
              <a:t>the</a:t>
            </a:r>
            <a:r>
              <a:rPr sz="2800" i="1" spc="-60" dirty="0">
                <a:cs typeface="Arial"/>
              </a:rPr>
              <a:t> </a:t>
            </a:r>
            <a:r>
              <a:rPr sz="2800" i="1" spc="45" dirty="0">
                <a:cs typeface="Arial"/>
              </a:rPr>
              <a:t>endpoint</a:t>
            </a:r>
            <a:endParaRPr sz="2800" dirty="0"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i="1" spc="45" dirty="0">
                <a:cs typeface="Arial"/>
              </a:rPr>
              <a:t>If</a:t>
            </a:r>
            <a:r>
              <a:rPr sz="2800" i="1" spc="-50" dirty="0">
                <a:cs typeface="Arial"/>
              </a:rPr>
              <a:t> </a:t>
            </a:r>
            <a:r>
              <a:rPr sz="2800" i="1" spc="-80" dirty="0">
                <a:cs typeface="Arial"/>
              </a:rPr>
              <a:t>a</a:t>
            </a:r>
            <a:r>
              <a:rPr sz="2800" i="1" spc="-60" dirty="0">
                <a:cs typeface="Arial"/>
              </a:rPr>
              <a:t> </a:t>
            </a:r>
            <a:r>
              <a:rPr sz="2800" i="1" spc="50" dirty="0">
                <a:cs typeface="Arial"/>
              </a:rPr>
              <a:t>solution</a:t>
            </a:r>
            <a:r>
              <a:rPr sz="2800" i="1" spc="-50" dirty="0">
                <a:cs typeface="Arial"/>
              </a:rPr>
              <a:t> </a:t>
            </a:r>
            <a:r>
              <a:rPr sz="2800" i="1" spc="-15" dirty="0">
                <a:cs typeface="Arial"/>
              </a:rPr>
              <a:t>is</a:t>
            </a:r>
            <a:r>
              <a:rPr sz="2800" i="1" spc="-55" dirty="0">
                <a:cs typeface="Arial"/>
              </a:rPr>
              <a:t> </a:t>
            </a:r>
            <a:r>
              <a:rPr sz="2800" i="1" spc="20" dirty="0">
                <a:cs typeface="Arial"/>
              </a:rPr>
              <a:t>found,</a:t>
            </a:r>
            <a:r>
              <a:rPr sz="2800" i="1" spc="-40" dirty="0">
                <a:cs typeface="Arial"/>
              </a:rPr>
              <a:t> </a:t>
            </a:r>
            <a:r>
              <a:rPr sz="2800" i="1" spc="35" dirty="0">
                <a:cs typeface="Arial"/>
              </a:rPr>
              <a:t>quit.</a:t>
            </a:r>
            <a:r>
              <a:rPr sz="2800" i="1" spc="-55" dirty="0">
                <a:cs typeface="Arial"/>
              </a:rPr>
              <a:t> </a:t>
            </a:r>
            <a:r>
              <a:rPr sz="2800" i="1" spc="45" dirty="0">
                <a:cs typeface="Arial"/>
              </a:rPr>
              <a:t>Otherwise</a:t>
            </a:r>
            <a:r>
              <a:rPr sz="2800" i="1" spc="-50" dirty="0">
                <a:cs typeface="Arial"/>
              </a:rPr>
              <a:t> </a:t>
            </a:r>
            <a:r>
              <a:rPr sz="2800" i="1" spc="35" dirty="0">
                <a:cs typeface="Arial"/>
              </a:rPr>
              <a:t>go</a:t>
            </a:r>
            <a:r>
              <a:rPr sz="2800" i="1" spc="-50" dirty="0">
                <a:cs typeface="Arial"/>
              </a:rPr>
              <a:t> </a:t>
            </a:r>
            <a:r>
              <a:rPr sz="2800" i="1" spc="95" dirty="0">
                <a:cs typeface="Arial"/>
              </a:rPr>
              <a:t>to</a:t>
            </a:r>
            <a:r>
              <a:rPr sz="2800" i="1" spc="-55" dirty="0">
                <a:cs typeface="Arial"/>
              </a:rPr>
              <a:t> </a:t>
            </a:r>
            <a:r>
              <a:rPr sz="2800" i="1" spc="10" dirty="0">
                <a:cs typeface="Arial"/>
              </a:rPr>
              <a:t>Step</a:t>
            </a:r>
            <a:r>
              <a:rPr sz="2800" i="1" spc="-50" dirty="0">
                <a:cs typeface="Arial"/>
              </a:rPr>
              <a:t> </a:t>
            </a:r>
            <a:r>
              <a:rPr sz="2800" i="1" spc="120" dirty="0">
                <a:cs typeface="Arial"/>
              </a:rPr>
              <a:t>1</a:t>
            </a:r>
            <a:endParaRPr sz="2800" dirty="0"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B91468-A686-B268-5FC3-C01616BBE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63" y="-30480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1620443"/>
            <a:ext cx="7924800" cy="6446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b="1" spc="-55" dirty="0">
                <a:latin typeface="+mj-lt"/>
                <a:cs typeface="Arial"/>
              </a:rPr>
              <a:t>Properties </a:t>
            </a:r>
            <a:r>
              <a:rPr b="1" spc="-10" dirty="0">
                <a:latin typeface="+mj-lt"/>
                <a:cs typeface="Arial"/>
              </a:rPr>
              <a:t>of</a:t>
            </a:r>
            <a:r>
              <a:rPr b="1" spc="-50" dirty="0">
                <a:latin typeface="+mj-lt"/>
                <a:cs typeface="Arial"/>
              </a:rPr>
              <a:t> </a:t>
            </a:r>
            <a:r>
              <a:rPr b="1" spc="-125" dirty="0">
                <a:latin typeface="+mj-lt"/>
                <a:cs typeface="Arial"/>
              </a:rPr>
              <a:t>Good </a:t>
            </a:r>
            <a:r>
              <a:rPr b="1" spc="-1095" dirty="0">
                <a:latin typeface="+mj-lt"/>
                <a:cs typeface="Arial"/>
              </a:rPr>
              <a:t> </a:t>
            </a:r>
            <a:r>
              <a:rPr b="1" spc="-90" dirty="0">
                <a:latin typeface="+mj-lt"/>
                <a:cs typeface="Arial"/>
              </a:rPr>
              <a:t>Generators:</a:t>
            </a:r>
            <a:endParaRPr dirty="0">
              <a:latin typeface="+mj-lt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607" y="2851484"/>
            <a:ext cx="10344785" cy="3465564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54000" indent="-229235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54635" algn="l"/>
                <a:tab pos="1950085" algn="l"/>
              </a:tabLst>
            </a:pPr>
            <a:r>
              <a:rPr sz="2200" b="1" i="1" spc="-35" dirty="0">
                <a:latin typeface="Arial"/>
                <a:cs typeface="Arial"/>
              </a:rPr>
              <a:t>Complete:	</a:t>
            </a:r>
            <a:r>
              <a:rPr sz="2200" i="1" spc="40" dirty="0">
                <a:latin typeface="Arial"/>
                <a:cs typeface="Arial"/>
              </a:rPr>
              <a:t>they</a:t>
            </a:r>
            <a:r>
              <a:rPr sz="2200" i="1" spc="-55" dirty="0">
                <a:latin typeface="Arial"/>
                <a:cs typeface="Arial"/>
              </a:rPr>
              <a:t> </a:t>
            </a:r>
            <a:r>
              <a:rPr sz="2200" i="1" spc="35" dirty="0">
                <a:latin typeface="Arial"/>
                <a:cs typeface="Arial"/>
              </a:rPr>
              <a:t>should</a:t>
            </a:r>
            <a:r>
              <a:rPr sz="2200" i="1" spc="-35" dirty="0">
                <a:latin typeface="Arial"/>
                <a:cs typeface="Arial"/>
              </a:rPr>
              <a:t> </a:t>
            </a:r>
            <a:r>
              <a:rPr sz="2200" i="1" spc="10" dirty="0">
                <a:latin typeface="Arial"/>
                <a:cs typeface="Arial"/>
              </a:rPr>
              <a:t>generate</a:t>
            </a:r>
            <a:r>
              <a:rPr sz="2200" i="1" spc="-35" dirty="0">
                <a:latin typeface="Arial"/>
                <a:cs typeface="Arial"/>
              </a:rPr>
              <a:t> </a:t>
            </a:r>
            <a:r>
              <a:rPr sz="2200" i="1" spc="95" dirty="0">
                <a:latin typeface="Arial"/>
                <a:cs typeface="Arial"/>
              </a:rPr>
              <a:t>all</a:t>
            </a:r>
            <a:r>
              <a:rPr sz="2200" i="1" spc="-40" dirty="0">
                <a:latin typeface="Arial"/>
                <a:cs typeface="Arial"/>
              </a:rPr>
              <a:t> </a:t>
            </a:r>
            <a:r>
              <a:rPr sz="2200" i="1" spc="45" dirty="0">
                <a:latin typeface="Arial"/>
                <a:cs typeface="Arial"/>
              </a:rPr>
              <a:t>the</a:t>
            </a:r>
            <a:r>
              <a:rPr sz="2200" i="1" spc="-50" dirty="0">
                <a:latin typeface="Arial"/>
                <a:cs typeface="Arial"/>
              </a:rPr>
              <a:t> </a:t>
            </a:r>
            <a:r>
              <a:rPr sz="2200" i="1" spc="20" dirty="0">
                <a:latin typeface="Arial"/>
                <a:cs typeface="Arial"/>
              </a:rPr>
              <a:t>possible</a:t>
            </a:r>
            <a:r>
              <a:rPr sz="2200" i="1" spc="-40" dirty="0">
                <a:latin typeface="Arial"/>
                <a:cs typeface="Arial"/>
              </a:rPr>
              <a:t> </a:t>
            </a:r>
            <a:r>
              <a:rPr sz="2200" i="1" spc="30" dirty="0">
                <a:latin typeface="Arial"/>
                <a:cs typeface="Arial"/>
              </a:rPr>
              <a:t>solutions</a:t>
            </a:r>
            <a:endParaRPr sz="2200" dirty="0">
              <a:latin typeface="Arial"/>
              <a:cs typeface="Arial"/>
            </a:endParaRPr>
          </a:p>
          <a:p>
            <a:pPr marL="254000" indent="-22923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54635" algn="l"/>
                <a:tab pos="2715260" algn="l"/>
              </a:tabLst>
            </a:pPr>
            <a:r>
              <a:rPr sz="2200" b="1" i="1" spc="-30" dirty="0">
                <a:latin typeface="Arial"/>
                <a:cs typeface="Arial"/>
              </a:rPr>
              <a:t>Non</a:t>
            </a:r>
            <a:r>
              <a:rPr sz="2200" b="1" i="1" spc="-20" dirty="0">
                <a:latin typeface="Arial"/>
                <a:cs typeface="Arial"/>
              </a:rPr>
              <a:t> </a:t>
            </a:r>
            <a:r>
              <a:rPr sz="2200" b="1" i="1" spc="-50" dirty="0">
                <a:latin typeface="Arial"/>
                <a:cs typeface="Arial"/>
              </a:rPr>
              <a:t>Redundant:	</a:t>
            </a:r>
            <a:r>
              <a:rPr sz="2200" i="1" spc="-20" dirty="0">
                <a:latin typeface="Arial"/>
                <a:cs typeface="Arial"/>
              </a:rPr>
              <a:t>Good</a:t>
            </a:r>
            <a:r>
              <a:rPr sz="2200" i="1" spc="-40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Generators</a:t>
            </a:r>
            <a:r>
              <a:rPr sz="2200" i="1" spc="-40" dirty="0">
                <a:latin typeface="Arial"/>
                <a:cs typeface="Arial"/>
              </a:rPr>
              <a:t> </a:t>
            </a:r>
            <a:r>
              <a:rPr sz="2200" i="1" spc="35" dirty="0">
                <a:latin typeface="Arial"/>
                <a:cs typeface="Arial"/>
              </a:rPr>
              <a:t>should</a:t>
            </a:r>
            <a:r>
              <a:rPr sz="2200" i="1" spc="-30" dirty="0">
                <a:latin typeface="Arial"/>
                <a:cs typeface="Arial"/>
              </a:rPr>
              <a:t> </a:t>
            </a:r>
            <a:r>
              <a:rPr sz="2200" i="1" spc="65" dirty="0">
                <a:latin typeface="Arial"/>
                <a:cs typeface="Arial"/>
              </a:rPr>
              <a:t>not</a:t>
            </a:r>
            <a:r>
              <a:rPr sz="2200" i="1" spc="-45" dirty="0">
                <a:latin typeface="Arial"/>
                <a:cs typeface="Arial"/>
              </a:rPr>
              <a:t> </a:t>
            </a:r>
            <a:r>
              <a:rPr sz="2200" i="1" spc="40" dirty="0">
                <a:latin typeface="Arial"/>
                <a:cs typeface="Arial"/>
              </a:rPr>
              <a:t>yield</a:t>
            </a:r>
            <a:r>
              <a:rPr sz="2200" i="1" spc="-15" dirty="0">
                <a:latin typeface="Arial"/>
                <a:cs typeface="Arial"/>
              </a:rPr>
              <a:t> </a:t>
            </a:r>
            <a:r>
              <a:rPr sz="2200" i="1" spc="-65" dirty="0">
                <a:latin typeface="Arial"/>
                <a:cs typeface="Arial"/>
              </a:rPr>
              <a:t>a</a:t>
            </a:r>
            <a:r>
              <a:rPr sz="2200" i="1" spc="-45" dirty="0">
                <a:latin typeface="Arial"/>
                <a:cs typeface="Arial"/>
              </a:rPr>
              <a:t> </a:t>
            </a:r>
            <a:r>
              <a:rPr sz="2200" i="1" spc="30" dirty="0">
                <a:latin typeface="Arial"/>
                <a:cs typeface="Arial"/>
              </a:rPr>
              <a:t>duplicate</a:t>
            </a:r>
            <a:r>
              <a:rPr sz="2200" i="1" spc="-35" dirty="0">
                <a:latin typeface="Arial"/>
                <a:cs typeface="Arial"/>
              </a:rPr>
              <a:t> </a:t>
            </a:r>
            <a:r>
              <a:rPr sz="2200" i="1" spc="40" dirty="0">
                <a:latin typeface="Arial"/>
                <a:cs typeface="Arial"/>
              </a:rPr>
              <a:t>solution</a:t>
            </a:r>
            <a:endParaRPr sz="2200" dirty="0">
              <a:latin typeface="Arial"/>
              <a:cs typeface="Arial"/>
            </a:endParaRPr>
          </a:p>
          <a:p>
            <a:pPr marL="254000" indent="-22923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54635" algn="l"/>
              </a:tabLst>
            </a:pPr>
            <a:r>
              <a:rPr sz="2200" b="1" i="1" spc="-45" dirty="0">
                <a:latin typeface="Arial"/>
                <a:cs typeface="Arial"/>
              </a:rPr>
              <a:t>Informed:</a:t>
            </a:r>
            <a:r>
              <a:rPr sz="2200" b="1" i="1" dirty="0">
                <a:latin typeface="Arial"/>
                <a:cs typeface="Arial"/>
              </a:rPr>
              <a:t> </a:t>
            </a:r>
            <a:r>
              <a:rPr sz="2200" i="1" spc="-20" dirty="0">
                <a:latin typeface="Arial"/>
                <a:cs typeface="Arial"/>
              </a:rPr>
              <a:t>Good</a:t>
            </a:r>
            <a:r>
              <a:rPr sz="2200" i="1" spc="-45" dirty="0">
                <a:latin typeface="Arial"/>
                <a:cs typeface="Arial"/>
              </a:rPr>
              <a:t> </a:t>
            </a:r>
            <a:r>
              <a:rPr sz="2200" i="1" spc="-5" dirty="0">
                <a:latin typeface="Arial"/>
                <a:cs typeface="Arial"/>
              </a:rPr>
              <a:t>Generators</a:t>
            </a:r>
            <a:r>
              <a:rPr sz="2200" i="1" spc="-45" dirty="0">
                <a:latin typeface="Arial"/>
                <a:cs typeface="Arial"/>
              </a:rPr>
              <a:t> </a:t>
            </a:r>
            <a:r>
              <a:rPr sz="2200" i="1" spc="-15" dirty="0">
                <a:latin typeface="Arial"/>
                <a:cs typeface="Arial"/>
              </a:rPr>
              <a:t>have</a:t>
            </a:r>
            <a:r>
              <a:rPr sz="2200" i="1" spc="-25" dirty="0">
                <a:latin typeface="Arial"/>
                <a:cs typeface="Arial"/>
              </a:rPr>
              <a:t> </a:t>
            </a:r>
            <a:r>
              <a:rPr sz="2200" i="1" spc="45" dirty="0">
                <a:latin typeface="Arial"/>
                <a:cs typeface="Arial"/>
              </a:rPr>
              <a:t>the</a:t>
            </a:r>
            <a:r>
              <a:rPr sz="2200" i="1" spc="-55" dirty="0">
                <a:latin typeface="Arial"/>
                <a:cs typeface="Arial"/>
              </a:rPr>
              <a:t> </a:t>
            </a:r>
            <a:r>
              <a:rPr sz="2200" i="1" spc="55" dirty="0">
                <a:latin typeface="Arial"/>
                <a:cs typeface="Arial"/>
              </a:rPr>
              <a:t>knowledge</a:t>
            </a:r>
            <a:r>
              <a:rPr sz="2200" i="1" spc="-40" dirty="0">
                <a:latin typeface="Arial"/>
                <a:cs typeface="Arial"/>
              </a:rPr>
              <a:t> </a:t>
            </a:r>
            <a:r>
              <a:rPr sz="2200" i="1" spc="35" dirty="0">
                <a:latin typeface="Arial"/>
                <a:cs typeface="Arial"/>
              </a:rPr>
              <a:t>about</a:t>
            </a:r>
            <a:r>
              <a:rPr sz="2200" i="1" spc="-30" dirty="0">
                <a:latin typeface="Arial"/>
                <a:cs typeface="Arial"/>
              </a:rPr>
              <a:t> </a:t>
            </a:r>
            <a:r>
              <a:rPr sz="2200" i="1" spc="45" dirty="0">
                <a:latin typeface="Arial"/>
                <a:cs typeface="Arial"/>
              </a:rPr>
              <a:t>the</a:t>
            </a:r>
            <a:r>
              <a:rPr sz="2200" i="1" spc="-45" dirty="0">
                <a:latin typeface="Arial"/>
                <a:cs typeface="Arial"/>
              </a:rPr>
              <a:t> </a:t>
            </a:r>
            <a:r>
              <a:rPr sz="2200" i="1" spc="-30" dirty="0">
                <a:latin typeface="Arial"/>
                <a:cs typeface="Arial"/>
              </a:rPr>
              <a:t>search</a:t>
            </a:r>
            <a:r>
              <a:rPr sz="2200" i="1" spc="-45" dirty="0">
                <a:latin typeface="Arial"/>
                <a:cs typeface="Arial"/>
              </a:rPr>
              <a:t> </a:t>
            </a:r>
            <a:r>
              <a:rPr sz="2200" i="1" spc="-40" dirty="0">
                <a:latin typeface="Arial"/>
                <a:cs typeface="Arial"/>
              </a:rPr>
              <a:t>space</a:t>
            </a:r>
            <a:endParaRPr sz="2200" dirty="0">
              <a:latin typeface="Arial"/>
              <a:cs typeface="Arial"/>
            </a:endParaRPr>
          </a:p>
          <a:p>
            <a:pPr marL="254000" marR="1165225" indent="-229235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54635" algn="l"/>
              </a:tabLst>
            </a:pPr>
            <a:r>
              <a:rPr sz="2200" spc="-15" dirty="0">
                <a:latin typeface="Microsoft Sans Serif"/>
                <a:cs typeface="Microsoft Sans Serif"/>
              </a:rPr>
              <a:t>In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40" dirty="0">
                <a:latin typeface="Microsoft Sans Serif"/>
                <a:cs typeface="Microsoft Sans Serif"/>
              </a:rPr>
              <a:t>this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spc="-80" dirty="0">
                <a:latin typeface="Microsoft Sans Serif"/>
                <a:cs typeface="Microsoft Sans Serif"/>
              </a:rPr>
              <a:t>case,</a:t>
            </a:r>
            <a:r>
              <a:rPr sz="2200" spc="-10" dirty="0">
                <a:latin typeface="Microsoft Sans Serif"/>
                <a:cs typeface="Microsoft Sans Serif"/>
              </a:rPr>
              <a:t> one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85" dirty="0">
                <a:latin typeface="Microsoft Sans Serif"/>
                <a:cs typeface="Microsoft Sans Serif"/>
              </a:rPr>
              <a:t>way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85" dirty="0">
                <a:latin typeface="Microsoft Sans Serif"/>
                <a:cs typeface="Microsoft Sans Serif"/>
              </a:rPr>
              <a:t>to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55" dirty="0">
                <a:latin typeface="Microsoft Sans Serif"/>
                <a:cs typeface="Microsoft Sans Serif"/>
              </a:rPr>
              <a:t>find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45" dirty="0">
                <a:latin typeface="Microsoft Sans Serif"/>
                <a:cs typeface="Microsoft Sans Serif"/>
              </a:rPr>
              <a:t>the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spc="15" dirty="0">
                <a:latin typeface="Microsoft Sans Serif"/>
                <a:cs typeface="Microsoft Sans Serif"/>
              </a:rPr>
              <a:t>required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30" dirty="0">
                <a:latin typeface="Microsoft Sans Serif"/>
                <a:cs typeface="Microsoft Sans Serif"/>
              </a:rPr>
              <a:t>pin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is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85" dirty="0">
                <a:latin typeface="Microsoft Sans Serif"/>
                <a:cs typeface="Microsoft Sans Serif"/>
              </a:rPr>
              <a:t>to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10" dirty="0">
                <a:latin typeface="Microsoft Sans Serif"/>
                <a:cs typeface="Microsoft Sans Serif"/>
              </a:rPr>
              <a:t>generate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85" dirty="0">
                <a:latin typeface="Microsoft Sans Serif"/>
                <a:cs typeface="Microsoft Sans Serif"/>
              </a:rPr>
              <a:t>all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45" dirty="0">
                <a:latin typeface="Microsoft Sans Serif"/>
                <a:cs typeface="Microsoft Sans Serif"/>
              </a:rPr>
              <a:t>the </a:t>
            </a:r>
            <a:r>
              <a:rPr sz="2200" spc="-620" dirty="0">
                <a:latin typeface="Microsoft Sans Serif"/>
                <a:cs typeface="Microsoft Sans Serif"/>
              </a:rPr>
              <a:t> </a:t>
            </a:r>
            <a:r>
              <a:rPr sz="2200" spc="30" dirty="0">
                <a:latin typeface="Microsoft Sans Serif"/>
                <a:cs typeface="Microsoft Sans Serif"/>
              </a:rPr>
              <a:t>solutions</a:t>
            </a:r>
            <a:r>
              <a:rPr sz="2200" dirty="0">
                <a:latin typeface="Microsoft Sans Serif"/>
                <a:cs typeface="Microsoft Sans Serif"/>
              </a:rPr>
              <a:t> </a:t>
            </a:r>
            <a:r>
              <a:rPr sz="2200" spc="15" dirty="0">
                <a:latin typeface="Microsoft Sans Serif"/>
                <a:cs typeface="Microsoft Sans Serif"/>
              </a:rPr>
              <a:t>in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65" dirty="0">
                <a:latin typeface="Microsoft Sans Serif"/>
                <a:cs typeface="Microsoft Sans Serif"/>
              </a:rPr>
              <a:t>a</a:t>
            </a:r>
            <a:r>
              <a:rPr sz="2200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brute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10" dirty="0">
                <a:latin typeface="Microsoft Sans Serif"/>
                <a:cs typeface="Microsoft Sans Serif"/>
              </a:rPr>
              <a:t>force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5" dirty="0">
                <a:latin typeface="Microsoft Sans Serif"/>
                <a:cs typeface="Microsoft Sans Serif"/>
              </a:rPr>
              <a:t>manner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60" dirty="0">
                <a:latin typeface="Microsoft Sans Serif"/>
                <a:cs typeface="Microsoft Sans Serif"/>
              </a:rPr>
              <a:t>for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example,</a:t>
            </a:r>
          </a:p>
          <a:p>
            <a:pPr marL="254000" marR="1966595" indent="-229235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54635" algn="l"/>
                <a:tab pos="7258684" algn="l"/>
              </a:tabLst>
            </a:pPr>
            <a:r>
              <a:rPr sz="2200" spc="-20" dirty="0">
                <a:latin typeface="Microsoft Sans Serif"/>
                <a:cs typeface="Microsoft Sans Serif"/>
              </a:rPr>
              <a:t>The</a:t>
            </a:r>
            <a:r>
              <a:rPr sz="2200" dirty="0">
                <a:latin typeface="Microsoft Sans Serif"/>
                <a:cs typeface="Microsoft Sans Serif"/>
              </a:rPr>
              <a:t> </a:t>
            </a:r>
            <a:r>
              <a:rPr sz="2200" spc="85" dirty="0">
                <a:latin typeface="Microsoft Sans Serif"/>
                <a:cs typeface="Microsoft Sans Serif"/>
              </a:rPr>
              <a:t>total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25" dirty="0">
                <a:latin typeface="Microsoft Sans Serif"/>
                <a:cs typeface="Microsoft Sans Serif"/>
              </a:rPr>
              <a:t>number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65" dirty="0">
                <a:latin typeface="Microsoft Sans Serif"/>
                <a:cs typeface="Microsoft Sans Serif"/>
              </a:rPr>
              <a:t>of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30" dirty="0">
                <a:latin typeface="Microsoft Sans Serif"/>
                <a:cs typeface="Microsoft Sans Serif"/>
              </a:rPr>
              <a:t>solutions</a:t>
            </a:r>
            <a:r>
              <a:rPr sz="2200" spc="15" dirty="0">
                <a:latin typeface="Microsoft Sans Serif"/>
                <a:cs typeface="Microsoft Sans Serif"/>
              </a:rPr>
              <a:t> in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40" dirty="0">
                <a:latin typeface="Microsoft Sans Serif"/>
                <a:cs typeface="Microsoft Sans Serif"/>
              </a:rPr>
              <a:t>this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-65" dirty="0">
                <a:latin typeface="Microsoft Sans Serif"/>
                <a:cs typeface="Microsoft Sans Serif"/>
              </a:rPr>
              <a:t>case</a:t>
            </a:r>
            <a:r>
              <a:rPr sz="2200" spc="-20" dirty="0">
                <a:latin typeface="Microsoft Sans Serif"/>
                <a:cs typeface="Microsoft Sans Serif"/>
              </a:rPr>
              <a:t> is</a:t>
            </a:r>
            <a:r>
              <a:rPr sz="2200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(100)</a:t>
            </a:r>
            <a:r>
              <a:rPr sz="2200" spc="75" baseline="24305" dirty="0">
                <a:latin typeface="Microsoft Sans Serif"/>
                <a:cs typeface="Microsoft Sans Serif"/>
              </a:rPr>
              <a:t>3	</a:t>
            </a:r>
            <a:r>
              <a:rPr sz="2200" spc="50" dirty="0">
                <a:latin typeface="Microsoft Sans Serif"/>
                <a:cs typeface="Microsoft Sans Serif"/>
              </a:rPr>
              <a:t>which</a:t>
            </a:r>
            <a:r>
              <a:rPr sz="2200" spc="-95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is </a:t>
            </a:r>
            <a:r>
              <a:rPr sz="2200" spc="-625" dirty="0">
                <a:latin typeface="Microsoft Sans Serif"/>
                <a:cs typeface="Microsoft Sans Serif"/>
              </a:rPr>
              <a:t> </a:t>
            </a:r>
            <a:r>
              <a:rPr sz="2200" spc="35" dirty="0">
                <a:latin typeface="Microsoft Sans Serif"/>
                <a:cs typeface="Microsoft Sans Serif"/>
              </a:rPr>
              <a:t>approximately</a:t>
            </a:r>
            <a:r>
              <a:rPr sz="2200" dirty="0">
                <a:latin typeface="Microsoft Sans Serif"/>
                <a:cs typeface="Microsoft Sans Serif"/>
              </a:rPr>
              <a:t> </a:t>
            </a:r>
            <a:r>
              <a:rPr sz="2200" spc="10" dirty="0">
                <a:latin typeface="Microsoft Sans Serif"/>
                <a:cs typeface="Microsoft Sans Serif"/>
              </a:rPr>
              <a:t>1M.</a:t>
            </a:r>
            <a:endParaRPr sz="2200" dirty="0">
              <a:latin typeface="Microsoft Sans Serif"/>
              <a:cs typeface="Microsoft Sans Serif"/>
            </a:endParaRPr>
          </a:p>
          <a:p>
            <a:pPr marL="254000" marR="17780" indent="-229235">
              <a:lnSpc>
                <a:spcPct val="80400"/>
              </a:lnSpc>
              <a:spcBef>
                <a:spcPts val="1000"/>
              </a:spcBef>
              <a:buFont typeface="Arial MT"/>
              <a:buChar char="•"/>
              <a:tabLst>
                <a:tab pos="333375" algn="l"/>
                <a:tab pos="334010" algn="l"/>
              </a:tabLst>
            </a:pPr>
            <a:r>
              <a:rPr sz="2200" dirty="0"/>
              <a:t>	</a:t>
            </a:r>
            <a:r>
              <a:rPr sz="2200" spc="105" dirty="0">
                <a:latin typeface="Microsoft Sans Serif"/>
                <a:cs typeface="Microsoft Sans Serif"/>
              </a:rPr>
              <a:t>Now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consider</a:t>
            </a:r>
            <a:r>
              <a:rPr sz="2200" dirty="0">
                <a:latin typeface="Microsoft Sans Serif"/>
                <a:cs typeface="Microsoft Sans Serif"/>
              </a:rPr>
              <a:t> </a:t>
            </a:r>
            <a:r>
              <a:rPr sz="2200" spc="10" dirty="0">
                <a:latin typeface="Microsoft Sans Serif"/>
                <a:cs typeface="Microsoft Sans Serif"/>
              </a:rPr>
              <a:t>using</a:t>
            </a:r>
            <a:r>
              <a:rPr sz="2200" dirty="0">
                <a:latin typeface="Microsoft Sans Serif"/>
                <a:cs typeface="Microsoft Sans Serif"/>
              </a:rPr>
              <a:t> </a:t>
            </a:r>
            <a:r>
              <a:rPr sz="2200" spc="10" dirty="0">
                <a:latin typeface="Microsoft Sans Serif"/>
                <a:cs typeface="Microsoft Sans Serif"/>
              </a:rPr>
              <a:t>heuristic</a:t>
            </a:r>
            <a:r>
              <a:rPr sz="2200" dirty="0">
                <a:latin typeface="Microsoft Sans Serif"/>
                <a:cs typeface="Microsoft Sans Serif"/>
              </a:rPr>
              <a:t> </a:t>
            </a:r>
            <a:r>
              <a:rPr sz="2200" spc="35" dirty="0">
                <a:latin typeface="Microsoft Sans Serif"/>
                <a:cs typeface="Microsoft Sans Serif"/>
              </a:rPr>
              <a:t>function</a:t>
            </a:r>
            <a:r>
              <a:rPr sz="2200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where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spc="110" dirty="0">
                <a:latin typeface="Microsoft Sans Serif"/>
                <a:cs typeface="Microsoft Sans Serif"/>
              </a:rPr>
              <a:t>we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-15" dirty="0">
                <a:latin typeface="Microsoft Sans Serif"/>
                <a:cs typeface="Microsoft Sans Serif"/>
              </a:rPr>
              <a:t>have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15" dirty="0">
                <a:latin typeface="Microsoft Sans Serif"/>
                <a:cs typeface="Microsoft Sans Serif"/>
              </a:rPr>
              <a:t>domain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knowledge </a:t>
            </a:r>
            <a:r>
              <a:rPr sz="2200" spc="-625" dirty="0">
                <a:latin typeface="Microsoft Sans Serif"/>
                <a:cs typeface="Microsoft Sans Serif"/>
              </a:rPr>
              <a:t> </a:t>
            </a:r>
            <a:r>
              <a:rPr sz="2200" spc="75" dirty="0">
                <a:latin typeface="Microsoft Sans Serif"/>
                <a:cs typeface="Microsoft Sans Serif"/>
              </a:rPr>
              <a:t>that </a:t>
            </a:r>
            <a:r>
              <a:rPr sz="2200" dirty="0">
                <a:latin typeface="Microsoft Sans Serif"/>
                <a:cs typeface="Microsoft Sans Serif"/>
              </a:rPr>
              <a:t>every </a:t>
            </a:r>
            <a:r>
              <a:rPr sz="2200" spc="25" dirty="0">
                <a:latin typeface="Microsoft Sans Serif"/>
                <a:cs typeface="Microsoft Sans Serif"/>
              </a:rPr>
              <a:t>number </a:t>
            </a:r>
            <a:r>
              <a:rPr sz="2200" spc="-20" dirty="0">
                <a:latin typeface="Microsoft Sans Serif"/>
                <a:cs typeface="Microsoft Sans Serif"/>
              </a:rPr>
              <a:t>is </a:t>
            </a:r>
            <a:r>
              <a:rPr sz="2200" spc="-65" dirty="0">
                <a:latin typeface="Microsoft Sans Serif"/>
                <a:cs typeface="Microsoft Sans Serif"/>
              </a:rPr>
              <a:t>a </a:t>
            </a:r>
            <a:r>
              <a:rPr sz="2200" spc="25" dirty="0">
                <a:latin typeface="Microsoft Sans Serif"/>
                <a:cs typeface="Microsoft Sans Serif"/>
              </a:rPr>
              <a:t>prime number </a:t>
            </a:r>
            <a:r>
              <a:rPr sz="2200" spc="50" dirty="0">
                <a:latin typeface="Microsoft Sans Serif"/>
                <a:cs typeface="Microsoft Sans Serif"/>
              </a:rPr>
              <a:t>between </a:t>
            </a:r>
            <a:r>
              <a:rPr sz="2200" spc="135" dirty="0">
                <a:latin typeface="Microsoft Sans Serif"/>
                <a:cs typeface="Microsoft Sans Serif"/>
              </a:rPr>
              <a:t>0-99 </a:t>
            </a:r>
            <a:r>
              <a:rPr sz="2200" spc="40" dirty="0">
                <a:latin typeface="Microsoft Sans Serif"/>
                <a:cs typeface="Microsoft Sans Serif"/>
              </a:rPr>
              <a:t>then </a:t>
            </a:r>
            <a:r>
              <a:rPr sz="2200" spc="45" dirty="0">
                <a:latin typeface="Microsoft Sans Serif"/>
                <a:cs typeface="Microsoft Sans Serif"/>
              </a:rPr>
              <a:t>the </a:t>
            </a:r>
            <a:r>
              <a:rPr sz="2200" spc="15" dirty="0">
                <a:latin typeface="Microsoft Sans Serif"/>
                <a:cs typeface="Microsoft Sans Serif"/>
              </a:rPr>
              <a:t>possible 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25" dirty="0">
                <a:latin typeface="Microsoft Sans Serif"/>
                <a:cs typeface="Microsoft Sans Serif"/>
              </a:rPr>
              <a:t>number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65" dirty="0">
                <a:latin typeface="Microsoft Sans Serif"/>
                <a:cs typeface="Microsoft Sans Serif"/>
              </a:rPr>
              <a:t>of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30" dirty="0">
                <a:latin typeface="Microsoft Sans Serif"/>
                <a:cs typeface="Microsoft Sans Serif"/>
              </a:rPr>
              <a:t>solutions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are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40" dirty="0">
                <a:latin typeface="Microsoft Sans Serif"/>
                <a:cs typeface="Microsoft Sans Serif"/>
              </a:rPr>
              <a:t>(25)</a:t>
            </a:r>
            <a:r>
              <a:rPr sz="2200" spc="60" baseline="24305" dirty="0">
                <a:latin typeface="Microsoft Sans Serif"/>
                <a:cs typeface="Microsoft Sans Serif"/>
              </a:rPr>
              <a:t>3</a:t>
            </a:r>
            <a:r>
              <a:rPr sz="2200" spc="315" baseline="24305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which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is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35" dirty="0">
                <a:latin typeface="Microsoft Sans Serif"/>
                <a:cs typeface="Microsoft Sans Serif"/>
              </a:rPr>
              <a:t>approximately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40" dirty="0">
                <a:latin typeface="Microsoft Sans Serif"/>
                <a:cs typeface="Microsoft Sans Serif"/>
              </a:rPr>
              <a:t>15,000.</a:t>
            </a:r>
            <a:endParaRPr sz="22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37737" y="1620443"/>
            <a:ext cx="2989125" cy="12310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34D1F2-E1E0-D59C-938B-53B737FF8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5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6832" y="1710230"/>
            <a:ext cx="51790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+mj-lt"/>
              </a:rPr>
              <a:t>Hill</a:t>
            </a:r>
            <a:r>
              <a:rPr spc="-70" dirty="0">
                <a:latin typeface="+mj-lt"/>
              </a:rPr>
              <a:t> </a:t>
            </a:r>
            <a:r>
              <a:rPr spc="-5" dirty="0">
                <a:latin typeface="+mj-lt"/>
              </a:rPr>
              <a:t>Climbing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4906" y="2667000"/>
            <a:ext cx="10358755" cy="390876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408305" indent="-229235" algn="just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hill-climbing algorithm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is a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local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search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algorithm that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moves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continuously</a:t>
            </a:r>
            <a:r>
              <a:rPr sz="28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upward</a:t>
            </a:r>
            <a:r>
              <a:rPr sz="2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(increasing)</a:t>
            </a:r>
            <a:r>
              <a:rPr sz="2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until</a:t>
            </a:r>
            <a:r>
              <a:rPr sz="2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sz="2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solution</a:t>
            </a:r>
            <a:r>
              <a:rPr sz="28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attained.</a:t>
            </a:r>
            <a:endParaRPr sz="2800" dirty="0">
              <a:latin typeface="Calibri"/>
              <a:cs typeface="Calibri"/>
            </a:endParaRPr>
          </a:p>
          <a:p>
            <a:pPr marL="241300" marR="5715" indent="-229235" algn="just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20" dirty="0">
                <a:latin typeface="Calibri"/>
                <a:cs typeface="Calibri"/>
              </a:rPr>
              <a:t>Generate</a:t>
            </a:r>
            <a:r>
              <a:rPr sz="2800" b="1" spc="59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and </a:t>
            </a:r>
            <a:r>
              <a:rPr sz="2800" b="1" spc="-70" dirty="0">
                <a:latin typeface="Calibri"/>
                <a:cs typeface="Calibri"/>
              </a:rPr>
              <a:t>Test</a:t>
            </a:r>
            <a:r>
              <a:rPr sz="2800" b="1" spc="49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variant: </a:t>
            </a:r>
            <a:r>
              <a:rPr sz="2800" spc="-5" dirty="0">
                <a:latin typeface="Calibri"/>
                <a:cs typeface="Calibri"/>
              </a:rPr>
              <a:t>Hill Climbing </a:t>
            </a:r>
            <a:r>
              <a:rPr sz="2800" spc="-10" dirty="0">
                <a:latin typeface="Calibri"/>
                <a:cs typeface="Calibri"/>
              </a:rPr>
              <a:t>is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variant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20" dirty="0">
                <a:latin typeface="Calibri"/>
                <a:cs typeface="Calibri"/>
              </a:rPr>
              <a:t>Generate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75" dirty="0">
                <a:latin typeface="Calibri"/>
                <a:cs typeface="Calibri"/>
              </a:rPr>
              <a:t>Test </a:t>
            </a:r>
            <a:r>
              <a:rPr sz="2800" spc="-5" dirty="0">
                <a:latin typeface="Calibri"/>
                <a:cs typeface="Calibri"/>
              </a:rPr>
              <a:t>method. </a:t>
            </a:r>
            <a:r>
              <a:rPr sz="2800" spc="-10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Generate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75" dirty="0">
                <a:latin typeface="Calibri"/>
                <a:cs typeface="Calibri"/>
              </a:rPr>
              <a:t>Test </a:t>
            </a:r>
            <a:r>
              <a:rPr sz="2800" spc="-5" dirty="0">
                <a:latin typeface="Calibri"/>
                <a:cs typeface="Calibri"/>
              </a:rPr>
              <a:t>method </a:t>
            </a:r>
            <a:r>
              <a:rPr sz="2800" spc="-15" dirty="0">
                <a:latin typeface="Calibri"/>
                <a:cs typeface="Calibri"/>
              </a:rPr>
              <a:t>produce feedback 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helps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decide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direction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move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search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space.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 algn="just">
              <a:lnSpc>
                <a:spcPts val="3030"/>
              </a:lnSpc>
              <a:spcBef>
                <a:spcPts val="100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10" dirty="0">
                <a:latin typeface="Calibri"/>
                <a:cs typeface="Calibri"/>
              </a:rPr>
              <a:t>Greedy</a:t>
            </a:r>
            <a:r>
              <a:rPr sz="2800" b="1" spc="-5" dirty="0">
                <a:latin typeface="Calibri"/>
                <a:cs typeface="Calibri"/>
              </a:rPr>
              <a:t> approach: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Hill-climbing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search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moves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direction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optimizes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cost.</a:t>
            </a:r>
            <a:endParaRPr sz="2800" dirty="0">
              <a:latin typeface="Calibri"/>
              <a:cs typeface="Calibri"/>
            </a:endParaRPr>
          </a:p>
          <a:p>
            <a:pPr marL="241300" marR="6985" indent="-229235" algn="just">
              <a:lnSpc>
                <a:spcPts val="3020"/>
              </a:lnSpc>
              <a:spcBef>
                <a:spcPts val="99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10" dirty="0">
                <a:latin typeface="Calibri"/>
                <a:cs typeface="Calibri"/>
              </a:rPr>
              <a:t>No</a:t>
            </a:r>
            <a:r>
              <a:rPr sz="2800" b="1" spc="36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backtracking:</a:t>
            </a:r>
            <a:r>
              <a:rPr sz="2800" b="1" spc="3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does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backtrack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36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search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space,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3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</a:t>
            </a:r>
            <a:r>
              <a:rPr sz="2800" spc="3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does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remember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previous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states.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6E5B568-52A9-D4B1-628A-E6A4677D1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5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40" y="1828800"/>
            <a:ext cx="649160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45" dirty="0">
                <a:latin typeface="Arial"/>
                <a:cs typeface="Arial"/>
              </a:rPr>
              <a:t>Algorithm(Hill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Climbing)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40" y="3048000"/>
            <a:ext cx="10273031" cy="275717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41300" marR="5080" indent="-229235">
              <a:lnSpc>
                <a:spcPts val="3000"/>
              </a:lnSpc>
              <a:spcBef>
                <a:spcPts val="49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1.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Examine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current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state,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If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20" dirty="0">
                <a:latin typeface="Microsoft Sans Serif"/>
                <a:cs typeface="Microsoft Sans Serif"/>
              </a:rPr>
              <a:t>Current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20" dirty="0">
                <a:latin typeface="Microsoft Sans Serif"/>
                <a:cs typeface="Microsoft Sans Serif"/>
              </a:rPr>
              <a:t>State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=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Goal</a:t>
            </a:r>
            <a:r>
              <a:rPr sz="2800" spc="-5" dirty="0">
                <a:latin typeface="Microsoft Sans Serif"/>
                <a:cs typeface="Microsoft Sans Serif"/>
              </a:rPr>
              <a:t> State,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Return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65" dirty="0">
                <a:latin typeface="Microsoft Sans Serif"/>
                <a:cs typeface="Microsoft Sans Serif"/>
              </a:rPr>
              <a:t>success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 </a:t>
            </a:r>
            <a:r>
              <a:rPr sz="2800" spc="50" dirty="0">
                <a:latin typeface="Microsoft Sans Serif"/>
                <a:cs typeface="Microsoft Sans Serif"/>
              </a:rPr>
              <a:t>exit</a:t>
            </a:r>
            <a:endParaRPr sz="2800" dirty="0">
              <a:latin typeface="Microsoft Sans Serif"/>
              <a:cs typeface="Microsoft Sans Serif"/>
            </a:endParaRPr>
          </a:p>
          <a:p>
            <a:pPr marL="241300" marR="484505" indent="-22923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45" dirty="0">
                <a:latin typeface="Microsoft Sans Serif"/>
                <a:cs typeface="Microsoft Sans Serif"/>
              </a:rPr>
              <a:t>Else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if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New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state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is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better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than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25" dirty="0">
                <a:latin typeface="Microsoft Sans Serif"/>
                <a:cs typeface="Microsoft Sans Serif"/>
              </a:rPr>
              <a:t>current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state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then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10" dirty="0">
                <a:latin typeface="Microsoft Sans Serif"/>
                <a:cs typeface="Microsoft Sans Serif"/>
              </a:rPr>
              <a:t>Goto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New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state</a:t>
            </a:r>
            <a:endParaRPr sz="2800" dirty="0">
              <a:latin typeface="Microsoft Sans Serif"/>
              <a:cs typeface="Microsoft Sans Serif"/>
            </a:endParaRPr>
          </a:p>
          <a:p>
            <a:pPr marL="241300" indent="-22923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50" dirty="0">
                <a:latin typeface="Microsoft Sans Serif"/>
                <a:cs typeface="Microsoft Sans Serif"/>
              </a:rPr>
              <a:t>return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to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step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1</a:t>
            </a:r>
            <a:endParaRPr sz="2800" dirty="0">
              <a:latin typeface="Microsoft Sans Serif"/>
              <a:cs typeface="Microsoft Sans Serif"/>
            </a:endParaRPr>
          </a:p>
          <a:p>
            <a:pPr marL="321945" indent="-30988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21945" algn="l"/>
                <a:tab pos="322580" algn="l"/>
              </a:tabLst>
            </a:pPr>
            <a:r>
              <a:rPr sz="2800" spc="-10" dirty="0">
                <a:latin typeface="Calibri"/>
                <a:cs typeface="Calibri"/>
              </a:rPr>
              <a:t>Exit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3C8A88-F7C3-3DD0-2A9E-D34570842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5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1804837"/>
            <a:ext cx="951674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solidFill>
                  <a:srgbClr val="600A38"/>
                </a:solidFill>
                <a:latin typeface="Calibri"/>
                <a:cs typeface="Calibri"/>
              </a:rPr>
              <a:t>Different</a:t>
            </a:r>
            <a:r>
              <a:rPr sz="4000" spc="-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600A38"/>
                </a:solidFill>
                <a:latin typeface="Calibri"/>
                <a:cs typeface="Calibri"/>
              </a:rPr>
              <a:t>regions</a:t>
            </a:r>
            <a:r>
              <a:rPr sz="4000" spc="-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600A38"/>
                </a:solidFill>
                <a:latin typeface="Calibri"/>
                <a:cs typeface="Calibri"/>
              </a:rPr>
              <a:t>in</a:t>
            </a:r>
            <a:r>
              <a:rPr sz="400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600A38"/>
                </a:solidFill>
                <a:latin typeface="Calibri"/>
                <a:cs typeface="Calibri"/>
              </a:rPr>
              <a:t>the </a:t>
            </a:r>
            <a:r>
              <a:rPr sz="4000" spc="-40" dirty="0">
                <a:solidFill>
                  <a:srgbClr val="600A38"/>
                </a:solidFill>
                <a:latin typeface="Calibri"/>
                <a:cs typeface="Calibri"/>
              </a:rPr>
              <a:t>state</a:t>
            </a:r>
            <a:r>
              <a:rPr sz="400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4000" spc="-5" dirty="0">
                <a:solidFill>
                  <a:srgbClr val="600A38"/>
                </a:solidFill>
                <a:latin typeface="Calibri"/>
                <a:cs typeface="Calibri"/>
              </a:rPr>
              <a:t>space</a:t>
            </a:r>
            <a:r>
              <a:rPr sz="4000" spc="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600A38"/>
                </a:solidFill>
                <a:latin typeface="Calibri"/>
                <a:cs typeface="Calibri"/>
              </a:rPr>
              <a:t>landscape: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2472416"/>
            <a:ext cx="10358755" cy="4031873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77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5" dirty="0">
                <a:solidFill>
                  <a:srgbClr val="333333"/>
                </a:solidFill>
                <a:latin typeface="Calibri"/>
                <a:cs typeface="Calibri"/>
              </a:rPr>
              <a:t>Local</a:t>
            </a:r>
            <a:r>
              <a:rPr sz="2800" b="1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33333"/>
                </a:solidFill>
                <a:latin typeface="Calibri"/>
                <a:cs typeface="Calibri"/>
              </a:rPr>
              <a:t>Maximum:</a:t>
            </a:r>
            <a:r>
              <a:rPr sz="2800" b="1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Local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maximum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33333"/>
                </a:solidFill>
                <a:latin typeface="Calibri"/>
                <a:cs typeface="Calibri"/>
              </a:rPr>
              <a:t>state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better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than</a:t>
            </a:r>
            <a:r>
              <a:rPr sz="28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its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neighbor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states,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but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there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also another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33333"/>
                </a:solidFill>
                <a:latin typeface="Calibri"/>
                <a:cs typeface="Calibri"/>
              </a:rPr>
              <a:t>state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higher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than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it.</a:t>
            </a:r>
            <a:endParaRPr sz="2800" dirty="0">
              <a:latin typeface="Calibri"/>
              <a:cs typeface="Calibri"/>
            </a:endParaRPr>
          </a:p>
          <a:p>
            <a:pPr marL="241300" marR="156845" indent="-22923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5" dirty="0">
                <a:solidFill>
                  <a:srgbClr val="333333"/>
                </a:solidFill>
                <a:latin typeface="Calibri"/>
                <a:cs typeface="Calibri"/>
              </a:rPr>
              <a:t>Global</a:t>
            </a:r>
            <a:r>
              <a:rPr sz="2800" b="1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33333"/>
                </a:solidFill>
                <a:latin typeface="Calibri"/>
                <a:cs typeface="Calibri"/>
              </a:rPr>
              <a:t>Maximum:</a:t>
            </a:r>
            <a:r>
              <a:rPr sz="2800" b="1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Global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maximum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best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possible</a:t>
            </a:r>
            <a:r>
              <a:rPr sz="28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33333"/>
                </a:solidFill>
                <a:latin typeface="Calibri"/>
                <a:cs typeface="Calibri"/>
              </a:rPr>
              <a:t>state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33333"/>
                </a:solidFill>
                <a:latin typeface="Calibri"/>
                <a:cs typeface="Calibri"/>
              </a:rPr>
              <a:t>state </a:t>
            </a:r>
            <a:r>
              <a:rPr sz="2800" spc="-6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space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landscape.</a:t>
            </a:r>
            <a:r>
              <a:rPr sz="28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It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has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highest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value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objective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function.</a:t>
            </a:r>
            <a:endParaRPr sz="2800" dirty="0">
              <a:latin typeface="Calibri"/>
              <a:cs typeface="Calibri"/>
            </a:endParaRPr>
          </a:p>
          <a:p>
            <a:pPr marL="241300" marR="7620" indent="-22923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15" dirty="0">
                <a:solidFill>
                  <a:srgbClr val="333333"/>
                </a:solidFill>
                <a:latin typeface="Calibri"/>
                <a:cs typeface="Calibri"/>
              </a:rPr>
              <a:t>Current</a:t>
            </a:r>
            <a:r>
              <a:rPr sz="2800" b="1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333333"/>
                </a:solidFill>
                <a:latin typeface="Calibri"/>
                <a:cs typeface="Calibri"/>
              </a:rPr>
              <a:t>state:</a:t>
            </a:r>
            <a:r>
              <a:rPr sz="2800" b="1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280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80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2800" spc="2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33333"/>
                </a:solidFill>
                <a:latin typeface="Calibri"/>
                <a:cs typeface="Calibri"/>
              </a:rPr>
              <a:t>state</a:t>
            </a:r>
            <a:r>
              <a:rPr sz="280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280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280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landscape</a:t>
            </a:r>
            <a:r>
              <a:rPr sz="28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diagram</a:t>
            </a:r>
            <a:r>
              <a:rPr sz="2800" spc="2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where</a:t>
            </a:r>
            <a:r>
              <a:rPr sz="280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280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agent</a:t>
            </a:r>
            <a:r>
              <a:rPr sz="2800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is </a:t>
            </a:r>
            <a:r>
              <a:rPr sz="2800" spc="-6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currently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present.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10" dirty="0">
                <a:solidFill>
                  <a:srgbClr val="333333"/>
                </a:solidFill>
                <a:latin typeface="Calibri"/>
                <a:cs typeface="Calibri"/>
              </a:rPr>
              <a:t>Flat</a:t>
            </a:r>
            <a:r>
              <a:rPr sz="2800" b="1" spc="2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33333"/>
                </a:solidFill>
                <a:latin typeface="Calibri"/>
                <a:cs typeface="Calibri"/>
              </a:rPr>
              <a:t>local</a:t>
            </a:r>
            <a:r>
              <a:rPr sz="2800" b="1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333333"/>
                </a:solidFill>
                <a:latin typeface="Calibri"/>
                <a:cs typeface="Calibri"/>
              </a:rPr>
              <a:t>maximum:</a:t>
            </a:r>
            <a:r>
              <a:rPr sz="2800" b="1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2800" spc="25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8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2800" spc="2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flat</a:t>
            </a:r>
            <a:r>
              <a:rPr sz="2800" spc="2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space</a:t>
            </a:r>
            <a:r>
              <a:rPr sz="28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2800" spc="2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landscape</a:t>
            </a:r>
            <a:r>
              <a:rPr sz="2800" spc="2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where</a:t>
            </a:r>
            <a:r>
              <a:rPr sz="2800" spc="25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sz="2800" spc="25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2800" spc="-6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neighbor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Calibri"/>
                <a:cs typeface="Calibri"/>
              </a:rPr>
              <a:t>states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current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Calibri"/>
                <a:cs typeface="Calibri"/>
              </a:rPr>
              <a:t>states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Calibri"/>
                <a:cs typeface="Calibri"/>
              </a:rPr>
              <a:t>have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same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value.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10" dirty="0">
                <a:solidFill>
                  <a:srgbClr val="333333"/>
                </a:solidFill>
                <a:latin typeface="Calibri"/>
                <a:cs typeface="Calibri"/>
              </a:rPr>
              <a:t>Shoulder:</a:t>
            </a:r>
            <a:r>
              <a:rPr sz="2800" b="1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plateau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region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has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uphill</a:t>
            </a:r>
            <a:r>
              <a:rPr sz="2800" spc="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edge.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9F9790-1A1B-9D06-8C7E-BD30547CC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5" y="0"/>
            <a:ext cx="12191999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134" y="1905000"/>
            <a:ext cx="10047732" cy="4579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7007" y="1905000"/>
            <a:ext cx="7240016" cy="3733800"/>
          </a:xfrm>
          <a:prstGeom prst="rect">
            <a:avLst/>
          </a:prstGeom>
          <a:noFill/>
        </p:spPr>
      </p:pic>
      <p:sp>
        <p:nvSpPr>
          <p:cNvPr id="4" name="object 4"/>
          <p:cNvSpPr/>
          <p:nvPr/>
        </p:nvSpPr>
        <p:spPr>
          <a:xfrm>
            <a:off x="0" y="3427757"/>
            <a:ext cx="12192000" cy="950877"/>
          </a:xfrm>
          <a:custGeom>
            <a:avLst/>
            <a:gdLst/>
            <a:ahLst/>
            <a:cxnLst/>
            <a:rect l="l" t="t" r="r" b="b"/>
            <a:pathLst>
              <a:path w="9144000" h="713739">
                <a:moveTo>
                  <a:pt x="9144000" y="0"/>
                </a:moveTo>
                <a:lnTo>
                  <a:pt x="0" y="0"/>
                </a:lnTo>
                <a:lnTo>
                  <a:pt x="0" y="713232"/>
                </a:lnTo>
                <a:lnTo>
                  <a:pt x="9144000" y="713232"/>
                </a:lnTo>
                <a:lnTo>
                  <a:pt x="914400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640361-8C23-8657-DA86-C772DFB99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" y="1752600"/>
            <a:ext cx="9595085" cy="48010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3EF5AB-A4E5-779A-84C5-76CBFB875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5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6994" y="2078798"/>
            <a:ext cx="917003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82975" algn="l"/>
              </a:tabLst>
            </a:pPr>
            <a:r>
              <a:rPr sz="4000" b="1" spc="-20" dirty="0">
                <a:latin typeface="Arial"/>
                <a:cs typeface="Arial"/>
              </a:rPr>
              <a:t>Advantage</a:t>
            </a:r>
            <a:r>
              <a:rPr sz="4000" b="1" spc="-5" dirty="0">
                <a:latin typeface="Arial"/>
                <a:cs typeface="Arial"/>
              </a:rPr>
              <a:t> </a:t>
            </a:r>
            <a:r>
              <a:rPr sz="4000" b="1" spc="-10" dirty="0">
                <a:latin typeface="Arial"/>
                <a:cs typeface="Arial"/>
              </a:rPr>
              <a:t>of	</a:t>
            </a:r>
            <a:r>
              <a:rPr sz="4000" b="1" spc="105" dirty="0">
                <a:latin typeface="Arial"/>
                <a:cs typeface="Arial"/>
              </a:rPr>
              <a:t>Hill</a:t>
            </a:r>
            <a:r>
              <a:rPr sz="4000" b="1" spc="-55" dirty="0">
                <a:latin typeface="Arial"/>
                <a:cs typeface="Arial"/>
              </a:rPr>
              <a:t> Climbing</a:t>
            </a:r>
            <a:r>
              <a:rPr sz="4000" b="1" spc="-15" dirty="0">
                <a:latin typeface="Arial"/>
                <a:cs typeface="Arial"/>
              </a:rPr>
              <a:t> </a:t>
            </a:r>
            <a:r>
              <a:rPr sz="4000" b="1" spc="-45" dirty="0">
                <a:latin typeface="Arial"/>
                <a:cs typeface="Arial"/>
              </a:rPr>
              <a:t>algorithm: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41" y="3657600"/>
            <a:ext cx="9909175" cy="224933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30" dirty="0">
                <a:latin typeface="Microsoft Sans Serif"/>
                <a:cs typeface="Microsoft Sans Serif"/>
              </a:rPr>
              <a:t>simple</a:t>
            </a:r>
            <a:r>
              <a:rPr sz="2800" dirty="0">
                <a:latin typeface="Microsoft Sans Serif"/>
                <a:cs typeface="Microsoft Sans Serif"/>
              </a:rPr>
              <a:t> and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intuitive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algorithm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that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is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easy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to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25" dirty="0">
                <a:latin typeface="Microsoft Sans Serif"/>
                <a:cs typeface="Microsoft Sans Serif"/>
              </a:rPr>
              <a:t>understand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30" dirty="0">
                <a:latin typeface="Microsoft Sans Serif"/>
                <a:cs typeface="Microsoft Sans Serif"/>
              </a:rPr>
              <a:t>implement.</a:t>
            </a:r>
            <a:endParaRPr sz="2800" dirty="0">
              <a:latin typeface="Microsoft Sans Serif"/>
              <a:cs typeface="Microsoft Sans Serif"/>
            </a:endParaRPr>
          </a:p>
          <a:p>
            <a:pPr marL="241300" marR="629920" indent="-22923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35" dirty="0">
                <a:latin typeface="Microsoft Sans Serif"/>
                <a:cs typeface="Microsoft Sans Serif"/>
              </a:rPr>
              <a:t>efficient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20" dirty="0">
                <a:latin typeface="Microsoft Sans Serif"/>
                <a:cs typeface="Microsoft Sans Serif"/>
              </a:rPr>
              <a:t>in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finding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local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optima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good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choice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for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problems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where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-80" dirty="0">
                <a:latin typeface="Microsoft Sans Serif"/>
                <a:cs typeface="Microsoft Sans Serif"/>
              </a:rPr>
              <a:t>a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good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solution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is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needed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5" dirty="0">
                <a:latin typeface="Microsoft Sans Serif"/>
                <a:cs typeface="Microsoft Sans Serif"/>
              </a:rPr>
              <a:t>quickly.</a:t>
            </a:r>
            <a:endParaRPr sz="2800" dirty="0">
              <a:latin typeface="Microsoft Sans Serif"/>
              <a:cs typeface="Microsoft Sans Serif"/>
            </a:endParaRPr>
          </a:p>
          <a:p>
            <a:pPr marL="241300" indent="-229235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5" dirty="0">
                <a:latin typeface="Microsoft Sans Serif"/>
                <a:cs typeface="Microsoft Sans Serif"/>
              </a:rPr>
              <a:t>The </a:t>
            </a:r>
            <a:r>
              <a:rPr sz="2800" spc="60" dirty="0">
                <a:latin typeface="Microsoft Sans Serif"/>
                <a:cs typeface="Microsoft Sans Serif"/>
              </a:rPr>
              <a:t>algorithm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can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5" dirty="0">
                <a:latin typeface="Microsoft Sans Serif"/>
                <a:cs typeface="Microsoft Sans Serif"/>
              </a:rPr>
              <a:t>easily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modified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25" dirty="0">
                <a:latin typeface="Microsoft Sans Serif"/>
                <a:cs typeface="Microsoft Sans Serif"/>
              </a:rPr>
              <a:t>extended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3E5D4B-C8F9-845F-723A-251B3435C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5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40" y="1752600"/>
            <a:ext cx="982408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60" dirty="0">
                <a:latin typeface="Arial"/>
                <a:cs typeface="Arial"/>
              </a:rPr>
              <a:t>Disadvantages</a:t>
            </a:r>
            <a:r>
              <a:rPr sz="4000" b="1" spc="-15" dirty="0">
                <a:latin typeface="Arial"/>
                <a:cs typeface="Arial"/>
              </a:rPr>
              <a:t> </a:t>
            </a:r>
            <a:r>
              <a:rPr sz="4000" b="1" spc="-10" dirty="0">
                <a:latin typeface="Arial"/>
                <a:cs typeface="Arial"/>
              </a:rPr>
              <a:t>of</a:t>
            </a:r>
            <a:r>
              <a:rPr sz="4000" b="1" spc="-35" dirty="0">
                <a:latin typeface="Arial"/>
                <a:cs typeface="Arial"/>
              </a:rPr>
              <a:t> </a:t>
            </a:r>
            <a:r>
              <a:rPr sz="4000" b="1" spc="105" dirty="0">
                <a:latin typeface="Arial"/>
                <a:cs typeface="Arial"/>
              </a:rPr>
              <a:t>Hill</a:t>
            </a:r>
            <a:r>
              <a:rPr sz="4000" b="1" spc="-30" dirty="0">
                <a:latin typeface="Arial"/>
                <a:cs typeface="Arial"/>
              </a:rPr>
              <a:t> </a:t>
            </a:r>
            <a:r>
              <a:rPr sz="4000" b="1" spc="-55" dirty="0">
                <a:latin typeface="Arial"/>
                <a:cs typeface="Arial"/>
              </a:rPr>
              <a:t>Climbing</a:t>
            </a:r>
            <a:r>
              <a:rPr sz="4000" b="1" spc="10" dirty="0">
                <a:latin typeface="Arial"/>
                <a:cs typeface="Arial"/>
              </a:rPr>
              <a:t> </a:t>
            </a:r>
            <a:r>
              <a:rPr sz="4000" b="1" spc="-10" dirty="0">
                <a:latin typeface="Arial"/>
                <a:cs typeface="Arial"/>
              </a:rPr>
              <a:t>algorithm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40" y="2971800"/>
            <a:ext cx="10172065" cy="3154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70" dirty="0">
                <a:latin typeface="Microsoft Sans Serif"/>
                <a:cs typeface="Microsoft Sans Serif"/>
              </a:rPr>
              <a:t>It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can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get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10" dirty="0">
                <a:latin typeface="Microsoft Sans Serif"/>
                <a:cs typeface="Microsoft Sans Serif"/>
              </a:rPr>
              <a:t>stuck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20" dirty="0">
                <a:latin typeface="Microsoft Sans Serif"/>
                <a:cs typeface="Microsoft Sans Serif"/>
              </a:rPr>
              <a:t>in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local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maxima,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may never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find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the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global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maxima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of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the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30" dirty="0">
                <a:latin typeface="Microsoft Sans Serif"/>
                <a:cs typeface="Microsoft Sans Serif"/>
              </a:rPr>
              <a:t>problem.</a:t>
            </a:r>
            <a:endParaRPr sz="2800" dirty="0">
              <a:latin typeface="Microsoft Sans Serif"/>
              <a:cs typeface="Microsoft Sans Serif"/>
            </a:endParaRPr>
          </a:p>
          <a:p>
            <a:pPr marL="332740" indent="-32067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32740" algn="l"/>
                <a:tab pos="333375" algn="l"/>
              </a:tabLst>
            </a:pPr>
            <a:r>
              <a:rPr sz="2800" spc="-80" dirty="0">
                <a:latin typeface="Microsoft Sans Serif"/>
                <a:cs typeface="Microsoft Sans Serif"/>
              </a:rPr>
              <a:t>a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poor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initial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solution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may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result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20" dirty="0">
                <a:latin typeface="Microsoft Sans Serif"/>
                <a:cs typeface="Microsoft Sans Serif"/>
              </a:rPr>
              <a:t>in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-80" dirty="0">
                <a:latin typeface="Microsoft Sans Serif"/>
                <a:cs typeface="Microsoft Sans Serif"/>
              </a:rPr>
              <a:t>a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poor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final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25" dirty="0">
                <a:latin typeface="Microsoft Sans Serif"/>
                <a:cs typeface="Microsoft Sans Serif"/>
              </a:rPr>
              <a:t>solution.</a:t>
            </a:r>
            <a:endParaRPr sz="2800" dirty="0">
              <a:latin typeface="Microsoft Sans Serif"/>
              <a:cs typeface="Microsoft Sans Serif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Microsoft Sans Serif"/>
                <a:cs typeface="Microsoft Sans Serif"/>
              </a:rPr>
              <a:t>does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not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explore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the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-40" dirty="0">
                <a:latin typeface="Microsoft Sans Serif"/>
                <a:cs typeface="Microsoft Sans Serif"/>
              </a:rPr>
              <a:t>search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space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15" dirty="0">
                <a:latin typeface="Microsoft Sans Serif"/>
                <a:cs typeface="Microsoft Sans Serif"/>
              </a:rPr>
              <a:t>very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thoroughly</a:t>
            </a:r>
            <a:endParaRPr sz="2800" dirty="0">
              <a:latin typeface="Microsoft Sans Serif"/>
              <a:cs typeface="Microsoft Sans Serif"/>
            </a:endParaRPr>
          </a:p>
          <a:p>
            <a:pPr marL="241300" marR="151765" indent="-229235">
              <a:lnSpc>
                <a:spcPts val="3030"/>
              </a:lnSpc>
              <a:spcBef>
                <a:spcPts val="105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70" dirty="0">
                <a:latin typeface="Microsoft Sans Serif"/>
                <a:cs typeface="Microsoft Sans Serif"/>
              </a:rPr>
              <a:t>It </a:t>
            </a:r>
            <a:r>
              <a:rPr sz="2800" spc="5" dirty="0">
                <a:latin typeface="Microsoft Sans Serif"/>
                <a:cs typeface="Microsoft Sans Serif"/>
              </a:rPr>
              <a:t>may </a:t>
            </a:r>
            <a:r>
              <a:rPr sz="2800" dirty="0">
                <a:latin typeface="Microsoft Sans Serif"/>
                <a:cs typeface="Microsoft Sans Serif"/>
              </a:rPr>
              <a:t>be less </a:t>
            </a:r>
            <a:r>
              <a:rPr sz="2800" spc="25" dirty="0">
                <a:latin typeface="Microsoft Sans Serif"/>
                <a:cs typeface="Microsoft Sans Serif"/>
              </a:rPr>
              <a:t>effective </a:t>
            </a:r>
            <a:r>
              <a:rPr sz="2800" spc="40" dirty="0">
                <a:latin typeface="Microsoft Sans Serif"/>
                <a:cs typeface="Microsoft Sans Serif"/>
              </a:rPr>
              <a:t>than </a:t>
            </a:r>
            <a:r>
              <a:rPr sz="2800" spc="45" dirty="0">
                <a:latin typeface="Microsoft Sans Serif"/>
                <a:cs typeface="Microsoft Sans Serif"/>
              </a:rPr>
              <a:t>other </a:t>
            </a:r>
            <a:r>
              <a:rPr sz="2800" spc="30" dirty="0">
                <a:latin typeface="Microsoft Sans Serif"/>
                <a:cs typeface="Microsoft Sans Serif"/>
              </a:rPr>
              <a:t>optimization algorithms, 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such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-65" dirty="0">
                <a:latin typeface="Microsoft Sans Serif"/>
                <a:cs typeface="Microsoft Sans Serif"/>
              </a:rPr>
              <a:t>as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10" dirty="0">
                <a:latin typeface="Microsoft Sans Serif"/>
                <a:cs typeface="Microsoft Sans Serif"/>
              </a:rPr>
              <a:t>genetic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algorithms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30" dirty="0">
                <a:latin typeface="Microsoft Sans Serif"/>
                <a:cs typeface="Microsoft Sans Serif"/>
              </a:rPr>
              <a:t>or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simulated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annealing, </a:t>
            </a:r>
            <a:r>
              <a:rPr sz="2800" spc="70" dirty="0">
                <a:latin typeface="Microsoft Sans Serif"/>
                <a:cs typeface="Microsoft Sans Serif"/>
              </a:rPr>
              <a:t>for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5" dirty="0">
                <a:latin typeface="Microsoft Sans Serif"/>
                <a:cs typeface="Microsoft Sans Serif"/>
              </a:rPr>
              <a:t>certain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types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of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20" dirty="0">
                <a:latin typeface="Microsoft Sans Serif"/>
                <a:cs typeface="Microsoft Sans Serif"/>
              </a:rPr>
              <a:t>problems.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BD7182-4D02-4A71-F6EE-E82DFF182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5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0900" y="2312503"/>
            <a:ext cx="375539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Best-First</a:t>
            </a:r>
            <a:r>
              <a:rPr spc="-95" dirty="0"/>
              <a:t> </a:t>
            </a:r>
            <a:r>
              <a:rPr spc="-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900" y="3429000"/>
            <a:ext cx="9547225" cy="23285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15" dirty="0">
                <a:solidFill>
                  <a:srgbClr val="600A38"/>
                </a:solidFill>
                <a:latin typeface="Calibri"/>
                <a:cs typeface="Calibri"/>
              </a:rPr>
              <a:t>Informed</a:t>
            </a:r>
            <a:r>
              <a:rPr sz="2800" spc="-1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00A38"/>
                </a:solidFill>
                <a:latin typeface="Calibri"/>
                <a:cs typeface="Calibri"/>
              </a:rPr>
              <a:t>Search</a:t>
            </a:r>
            <a:r>
              <a:rPr sz="2800" spc="-2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00A38"/>
                </a:solidFill>
                <a:latin typeface="Calibri"/>
                <a:cs typeface="Calibri"/>
              </a:rPr>
              <a:t>Algorithms</a:t>
            </a:r>
            <a:endParaRPr sz="2800" dirty="0">
              <a:latin typeface="Calibri"/>
              <a:cs typeface="Calibri"/>
            </a:endParaRPr>
          </a:p>
          <a:p>
            <a:pPr marL="12700" marR="5080">
              <a:lnSpc>
                <a:spcPts val="3030"/>
              </a:lnSpc>
              <a:spcBef>
                <a:spcPts val="1045"/>
              </a:spcBef>
            </a:pPr>
            <a:r>
              <a:rPr sz="2800" b="1" spc="-10" dirty="0">
                <a:solidFill>
                  <a:srgbClr val="333333"/>
                </a:solidFill>
                <a:latin typeface="Calibri"/>
                <a:cs typeface="Calibri"/>
              </a:rPr>
              <a:t>Heuristics</a:t>
            </a:r>
            <a:r>
              <a:rPr sz="2800" b="1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333333"/>
                </a:solidFill>
                <a:latin typeface="Calibri"/>
                <a:cs typeface="Calibri"/>
              </a:rPr>
              <a:t>function(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used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Informed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Search,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finds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most </a:t>
            </a:r>
            <a:r>
              <a:rPr sz="2800" spc="-6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promising</a:t>
            </a:r>
            <a:r>
              <a:rPr sz="28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path</a:t>
            </a:r>
            <a:r>
              <a:rPr sz="2800" b="1" spc="-10" dirty="0">
                <a:solidFill>
                  <a:srgbClr val="333333"/>
                </a:solidFill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12700" marR="90170">
              <a:lnSpc>
                <a:spcPts val="3020"/>
              </a:lnSpc>
              <a:spcBef>
                <a:spcPts val="994"/>
              </a:spcBef>
            </a:pPr>
            <a:r>
              <a:rPr sz="2800" spc="-10" dirty="0">
                <a:solidFill>
                  <a:srgbClr val="600A38"/>
                </a:solidFill>
                <a:latin typeface="Calibri"/>
                <a:cs typeface="Calibri"/>
              </a:rPr>
              <a:t>Greedy</a:t>
            </a:r>
            <a:r>
              <a:rPr sz="2800" spc="-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00A38"/>
                </a:solidFill>
                <a:latin typeface="Calibri"/>
                <a:cs typeface="Calibri"/>
              </a:rPr>
              <a:t>Search(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always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selects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path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appears</a:t>
            </a:r>
            <a:r>
              <a:rPr sz="28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best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at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that </a:t>
            </a:r>
            <a:r>
              <a:rPr sz="2800" spc="-6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moment</a:t>
            </a:r>
            <a:r>
              <a:rPr sz="2800" spc="-10" dirty="0">
                <a:solidFill>
                  <a:srgbClr val="600A38"/>
                </a:solidFill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C62BAE-7E09-60B7-EE80-F396781F0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5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8865" y="1564773"/>
            <a:ext cx="61061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600A4A"/>
                </a:solidFill>
                <a:latin typeface="Calibri"/>
                <a:cs typeface="Calibri"/>
              </a:rPr>
              <a:t>Best</a:t>
            </a:r>
            <a:r>
              <a:rPr spc="-4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pc="-30" dirty="0">
                <a:solidFill>
                  <a:srgbClr val="600A4A"/>
                </a:solidFill>
                <a:latin typeface="Calibri"/>
                <a:cs typeface="Calibri"/>
              </a:rPr>
              <a:t>first</a:t>
            </a:r>
            <a:r>
              <a:rPr spc="-2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600A4A"/>
                </a:solidFill>
                <a:latin typeface="Calibri"/>
                <a:cs typeface="Calibri"/>
              </a:rPr>
              <a:t>search</a:t>
            </a:r>
            <a:r>
              <a:rPr spc="-1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600A4A"/>
                </a:solidFill>
                <a:latin typeface="Calibri"/>
                <a:cs typeface="Calibri"/>
              </a:rPr>
              <a:t>algorithm: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8865" y="2543463"/>
            <a:ext cx="10360660" cy="39822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10" dirty="0">
                <a:latin typeface="Calibri"/>
                <a:cs typeface="Calibri"/>
              </a:rPr>
              <a:t>Step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1: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starting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OPEN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list.</a:t>
            </a:r>
            <a:endParaRPr sz="2400" dirty="0">
              <a:latin typeface="Calibri"/>
              <a:cs typeface="Calibri"/>
            </a:endParaRPr>
          </a:p>
          <a:p>
            <a:pPr marL="241300" indent="-229235" algn="just">
              <a:lnSpc>
                <a:spcPct val="100000"/>
              </a:lnSpc>
              <a:spcBef>
                <a:spcPts val="5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10" dirty="0">
                <a:latin typeface="Calibri"/>
                <a:cs typeface="Calibri"/>
              </a:rPr>
              <a:t>Step </a:t>
            </a:r>
            <a:r>
              <a:rPr sz="2400" b="1" dirty="0">
                <a:latin typeface="Calibri"/>
                <a:cs typeface="Calibri"/>
              </a:rPr>
              <a:t>2: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OPEN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35" dirty="0">
                <a:latin typeface="Calibri"/>
                <a:cs typeface="Calibri"/>
              </a:rPr>
              <a:t>empty,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Stop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failure.</a:t>
            </a:r>
            <a:endParaRPr sz="2400" dirty="0">
              <a:latin typeface="Calibri"/>
              <a:cs typeface="Calibri"/>
            </a:endParaRPr>
          </a:p>
          <a:p>
            <a:pPr marL="241300" marR="6350" indent="-229235" algn="just">
              <a:lnSpc>
                <a:spcPct val="70100"/>
              </a:lnSpc>
              <a:spcBef>
                <a:spcPts val="994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10" dirty="0">
                <a:latin typeface="Calibri"/>
                <a:cs typeface="Calibri"/>
              </a:rPr>
              <a:t>Step </a:t>
            </a:r>
            <a:r>
              <a:rPr sz="2400" b="1" dirty="0">
                <a:latin typeface="Calibri"/>
                <a:cs typeface="Calibri"/>
              </a:rPr>
              <a:t>3: </a:t>
            </a:r>
            <a:r>
              <a:rPr sz="2400" spc="-20" dirty="0">
                <a:latin typeface="Calibri"/>
                <a:cs typeface="Calibri"/>
              </a:rPr>
              <a:t>Remove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node </a:t>
            </a:r>
            <a:r>
              <a:rPr sz="2400" dirty="0">
                <a:latin typeface="Calibri"/>
                <a:cs typeface="Calibri"/>
              </a:rPr>
              <a:t>n,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OPEN </a:t>
            </a:r>
            <a:r>
              <a:rPr sz="2400" spc="-10" dirty="0">
                <a:latin typeface="Calibri"/>
                <a:cs typeface="Calibri"/>
              </a:rPr>
              <a:t>list </a:t>
            </a:r>
            <a:r>
              <a:rPr sz="2400" spc="-5" dirty="0">
                <a:latin typeface="Calibri"/>
                <a:cs typeface="Calibri"/>
              </a:rPr>
              <a:t>which has the </a:t>
            </a:r>
            <a:r>
              <a:rPr sz="2400" spc="-15" dirty="0">
                <a:latin typeface="Calibri"/>
                <a:cs typeface="Calibri"/>
              </a:rPr>
              <a:t>lowest </a:t>
            </a:r>
            <a:r>
              <a:rPr sz="2400" spc="-10" dirty="0">
                <a:latin typeface="Calibri"/>
                <a:cs typeface="Calibri"/>
              </a:rPr>
              <a:t>value </a:t>
            </a:r>
            <a:r>
              <a:rPr sz="2400" spc="-5" dirty="0">
                <a:latin typeface="Calibri"/>
                <a:cs typeface="Calibri"/>
              </a:rPr>
              <a:t> 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h(n),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places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 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CLOSED</a:t>
            </a:r>
            <a:r>
              <a:rPr sz="2400" spc="-5" dirty="0">
                <a:latin typeface="Calibri"/>
                <a:cs typeface="Calibri"/>
              </a:rPr>
              <a:t> list.</a:t>
            </a:r>
            <a:endParaRPr sz="2400" dirty="0">
              <a:latin typeface="Calibri"/>
              <a:cs typeface="Calibri"/>
            </a:endParaRPr>
          </a:p>
          <a:p>
            <a:pPr marL="241300" indent="-229235" algn="just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10" dirty="0">
                <a:latin typeface="Calibri"/>
                <a:cs typeface="Calibri"/>
              </a:rPr>
              <a:t>Step </a:t>
            </a:r>
            <a:r>
              <a:rPr sz="2400" b="1" dirty="0">
                <a:latin typeface="Calibri"/>
                <a:cs typeface="Calibri"/>
              </a:rPr>
              <a:t>4: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node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generate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successors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node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n.</a:t>
            </a:r>
            <a:endParaRPr sz="2400" dirty="0">
              <a:latin typeface="Calibri"/>
              <a:cs typeface="Calibri"/>
            </a:endParaRPr>
          </a:p>
          <a:p>
            <a:pPr marL="241300" marR="5715" indent="-229235" algn="just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10" dirty="0">
                <a:latin typeface="Calibri"/>
                <a:cs typeface="Calibri"/>
              </a:rPr>
              <a:t>Step</a:t>
            </a:r>
            <a:r>
              <a:rPr sz="2400" b="1" spc="3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5:</a:t>
            </a:r>
            <a:r>
              <a:rPr sz="2400" b="1" spc="3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Check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successor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n,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find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whether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any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goal node or not.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400" spc="-15" dirty="0">
                <a:latin typeface="Calibri"/>
                <a:cs typeface="Calibri"/>
              </a:rPr>
              <a:t>any </a:t>
            </a:r>
            <a:r>
              <a:rPr sz="2400" spc="-10" dirty="0">
                <a:latin typeface="Calibri"/>
                <a:cs typeface="Calibri"/>
              </a:rPr>
              <a:t>successor </a:t>
            </a:r>
            <a:r>
              <a:rPr sz="2400" spc="-5" dirty="0">
                <a:latin typeface="Calibri"/>
                <a:cs typeface="Calibri"/>
              </a:rPr>
              <a:t>node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goal node, then </a:t>
            </a:r>
            <a:r>
              <a:rPr sz="2400" spc="-10" dirty="0">
                <a:latin typeface="Calibri"/>
                <a:cs typeface="Calibri"/>
              </a:rPr>
              <a:t>return success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terminate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search,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Step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6.</a:t>
            </a:r>
          </a:p>
          <a:p>
            <a:pPr marL="241300" marR="5080" indent="-229235" algn="just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10" dirty="0">
                <a:latin typeface="Calibri"/>
                <a:cs typeface="Calibri"/>
              </a:rPr>
              <a:t>Step </a:t>
            </a:r>
            <a:r>
              <a:rPr sz="2400" b="1" dirty="0">
                <a:latin typeface="Calibri"/>
                <a:cs typeface="Calibri"/>
              </a:rPr>
              <a:t>6: </a:t>
            </a:r>
            <a:r>
              <a:rPr sz="2400" spc="-15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each successor </a:t>
            </a:r>
            <a:r>
              <a:rPr sz="2400" spc="-10" dirty="0">
                <a:latin typeface="Calibri"/>
                <a:cs typeface="Calibri"/>
              </a:rPr>
              <a:t>node, </a:t>
            </a:r>
            <a:r>
              <a:rPr sz="2400" dirty="0">
                <a:latin typeface="Calibri"/>
                <a:cs typeface="Calibri"/>
              </a:rPr>
              <a:t>algorithm </a:t>
            </a:r>
            <a:r>
              <a:rPr sz="2400" spc="-10" dirty="0">
                <a:latin typeface="Calibri"/>
                <a:cs typeface="Calibri"/>
              </a:rPr>
              <a:t>checks </a:t>
            </a:r>
            <a:r>
              <a:rPr sz="2400" spc="-25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evaluation </a:t>
            </a:r>
            <a:r>
              <a:rPr sz="2400" spc="-5" dirty="0">
                <a:latin typeface="Calibri"/>
                <a:cs typeface="Calibri"/>
              </a:rPr>
              <a:t>function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f(n), and then check </a:t>
            </a:r>
            <a:r>
              <a:rPr sz="2400" dirty="0">
                <a:latin typeface="Calibri"/>
                <a:cs typeface="Calibri"/>
              </a:rPr>
              <a:t>if the </a:t>
            </a:r>
            <a:r>
              <a:rPr sz="2400" spc="-5" dirty="0">
                <a:latin typeface="Calibri"/>
                <a:cs typeface="Calibri"/>
              </a:rPr>
              <a:t>node has </a:t>
            </a:r>
            <a:r>
              <a:rPr sz="2400" spc="-10" dirty="0">
                <a:latin typeface="Calibri"/>
                <a:cs typeface="Calibri"/>
              </a:rPr>
              <a:t>been </a:t>
            </a:r>
            <a:r>
              <a:rPr sz="2400" spc="-5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either </a:t>
            </a:r>
            <a:r>
              <a:rPr sz="2400" spc="-10" dirty="0">
                <a:latin typeface="Calibri"/>
                <a:cs typeface="Calibri"/>
              </a:rPr>
              <a:t>OPEN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15" dirty="0">
                <a:latin typeface="Calibri"/>
                <a:cs typeface="Calibri"/>
              </a:rPr>
              <a:t>CLOSED </a:t>
            </a:r>
            <a:r>
              <a:rPr sz="2400" spc="-5" dirty="0">
                <a:latin typeface="Calibri"/>
                <a:cs typeface="Calibri"/>
              </a:rPr>
              <a:t>list.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5" dirty="0">
                <a:latin typeface="Calibri"/>
                <a:cs typeface="Calibri"/>
              </a:rPr>
              <a:t>both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list,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OPEN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list.</a:t>
            </a:r>
            <a:endParaRPr sz="2400" dirty="0">
              <a:latin typeface="Calibri"/>
              <a:cs typeface="Calibri"/>
            </a:endParaRPr>
          </a:p>
          <a:p>
            <a:pPr marL="241300" indent="-229235" algn="just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10" dirty="0">
                <a:latin typeface="Calibri"/>
                <a:cs typeface="Calibri"/>
              </a:rPr>
              <a:t>Step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7: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Step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1B2B4B-6B36-40F8-4E3B-16662FE6A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5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38200" y="1747826"/>
            <a:ext cx="70802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latin typeface="Calibri Light"/>
                <a:cs typeface="Calibri Light"/>
              </a:rPr>
              <a:t>Eg</a:t>
            </a:r>
            <a:r>
              <a:rPr sz="4400" dirty="0">
                <a:latin typeface="Calibri Light"/>
                <a:cs typeface="Calibri Light"/>
              </a:rPr>
              <a:t>: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9828" y="2438400"/>
            <a:ext cx="7396703" cy="38927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A8C668-B4CF-C678-C1D6-617A0FF9C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5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96954" y="1752600"/>
            <a:ext cx="10462260" cy="4749762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92100" indent="-229235">
              <a:lnSpc>
                <a:spcPct val="100000"/>
              </a:lnSpc>
              <a:spcBef>
                <a:spcPts val="595"/>
              </a:spcBef>
              <a:buClr>
                <a:srgbClr val="600A4A"/>
              </a:buClr>
              <a:buFont typeface="Arial MT"/>
              <a:buChar char="•"/>
              <a:tabLst>
                <a:tab pos="292735" algn="l"/>
              </a:tabLst>
            </a:pPr>
            <a:r>
              <a:rPr sz="2000" spc="-20" dirty="0">
                <a:solidFill>
                  <a:srgbClr val="600A4A"/>
                </a:solidFill>
                <a:latin typeface="Calibri"/>
                <a:cs typeface="Calibri"/>
              </a:rPr>
              <a:t>Advantages:</a:t>
            </a:r>
            <a:endParaRPr sz="2000" dirty="0">
              <a:latin typeface="Calibri"/>
              <a:cs typeface="Calibri"/>
            </a:endParaRPr>
          </a:p>
          <a:p>
            <a:pPr marL="292100" marR="57150" indent="-229235">
              <a:lnSpc>
                <a:spcPts val="2500"/>
              </a:lnSpc>
              <a:spcBef>
                <a:spcPts val="1000"/>
              </a:spcBef>
              <a:buFont typeface="Arial MT"/>
              <a:buChar char="•"/>
              <a:tabLst>
                <a:tab pos="292735" algn="l"/>
                <a:tab pos="1090295" algn="l"/>
                <a:tab pos="1829435" algn="l"/>
                <a:tab pos="2924175" algn="l"/>
                <a:tab pos="3609975" algn="l"/>
                <a:tab pos="4687570" algn="l"/>
                <a:tab pos="6085205" algn="l"/>
                <a:tab pos="6783070" algn="l"/>
                <a:tab pos="7506334" algn="l"/>
                <a:tab pos="8228330" algn="l"/>
                <a:tab pos="8768080" algn="l"/>
                <a:tab pos="9947910" algn="l"/>
              </a:tabLst>
            </a:pPr>
            <a:r>
              <a:rPr sz="2000" dirty="0">
                <a:latin typeface="Calibri"/>
                <a:cs typeface="Calibri"/>
              </a:rPr>
              <a:t>B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spc="-2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t	</a:t>
            </a:r>
            <a:r>
              <a:rPr sz="2000" spc="-5" dirty="0">
                <a:latin typeface="Calibri"/>
                <a:cs typeface="Calibri"/>
              </a:rPr>
              <a:t>fi</a:t>
            </a:r>
            <a:r>
              <a:rPr sz="2000" spc="-65" dirty="0">
                <a:latin typeface="Calibri"/>
                <a:cs typeface="Calibri"/>
              </a:rPr>
              <a:t>r</a:t>
            </a:r>
            <a:r>
              <a:rPr sz="2000" spc="-2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t	</a:t>
            </a:r>
            <a:r>
              <a:rPr sz="2000" spc="-5" dirty="0">
                <a:latin typeface="Calibri"/>
                <a:cs typeface="Calibri"/>
              </a:rPr>
              <a:t>sea</a:t>
            </a:r>
            <a:r>
              <a:rPr sz="2000" spc="-5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ch	</a:t>
            </a:r>
            <a:r>
              <a:rPr sz="2000" spc="-25" dirty="0">
                <a:latin typeface="Calibri"/>
                <a:cs typeface="Calibri"/>
              </a:rPr>
              <a:t>c</a:t>
            </a:r>
            <a:r>
              <a:rPr sz="2000" spc="-1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n	</a:t>
            </a:r>
            <a:r>
              <a:rPr sz="2000" spc="-1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wi</a:t>
            </a:r>
            <a:r>
              <a:rPr sz="2000" spc="-40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ch	</a:t>
            </a:r>
            <a:r>
              <a:rPr sz="2000" spc="-5" dirty="0">
                <a:latin typeface="Calibri"/>
                <a:cs typeface="Calibri"/>
              </a:rPr>
              <a:t>b</a:t>
            </a:r>
            <a:r>
              <a:rPr sz="2000" spc="-20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-40" dirty="0">
                <a:latin typeface="Calibri"/>
                <a:cs typeface="Calibri"/>
              </a:rPr>
              <a:t>w</a:t>
            </a:r>
            <a:r>
              <a:rPr sz="2000" spc="-1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en	B</a:t>
            </a:r>
            <a:r>
              <a:rPr sz="2000" spc="-35" dirty="0">
                <a:latin typeface="Calibri"/>
                <a:cs typeface="Calibri"/>
              </a:rPr>
              <a:t>F</a:t>
            </a:r>
            <a:r>
              <a:rPr sz="2000" dirty="0">
                <a:latin typeface="Calibri"/>
                <a:cs typeface="Calibri"/>
              </a:rPr>
              <a:t>S	</a:t>
            </a:r>
            <a:r>
              <a:rPr sz="2000" spc="-5" dirty="0">
                <a:latin typeface="Calibri"/>
                <a:cs typeface="Calibri"/>
              </a:rPr>
              <a:t>an</a:t>
            </a:r>
            <a:r>
              <a:rPr sz="2000" dirty="0">
                <a:latin typeface="Calibri"/>
                <a:cs typeface="Calibri"/>
              </a:rPr>
              <a:t>d	</a:t>
            </a:r>
            <a:r>
              <a:rPr sz="2000" spc="-5" dirty="0">
                <a:latin typeface="Calibri"/>
                <a:cs typeface="Calibri"/>
              </a:rPr>
              <a:t>D</a:t>
            </a:r>
            <a:r>
              <a:rPr sz="2000" spc="-30" dirty="0">
                <a:latin typeface="Calibri"/>
                <a:cs typeface="Calibri"/>
              </a:rPr>
              <a:t>F</a:t>
            </a:r>
            <a:r>
              <a:rPr sz="2000" dirty="0">
                <a:latin typeface="Calibri"/>
                <a:cs typeface="Calibri"/>
              </a:rPr>
              <a:t>S	</a:t>
            </a:r>
            <a:r>
              <a:rPr sz="2000" spc="-15" dirty="0">
                <a:latin typeface="Calibri"/>
                <a:cs typeface="Calibri"/>
              </a:rPr>
              <a:t>b</a:t>
            </a:r>
            <a:r>
              <a:rPr sz="2000" dirty="0">
                <a:latin typeface="Calibri"/>
                <a:cs typeface="Calibri"/>
              </a:rPr>
              <a:t>y	</a:t>
            </a:r>
            <a:r>
              <a:rPr sz="2000" spc="-65" dirty="0">
                <a:latin typeface="Calibri"/>
                <a:cs typeface="Calibri"/>
              </a:rPr>
              <a:t>g</a:t>
            </a:r>
            <a:r>
              <a:rPr sz="2000" dirty="0">
                <a:latin typeface="Calibri"/>
                <a:cs typeface="Calibri"/>
              </a:rPr>
              <a:t>aining	t</a:t>
            </a:r>
            <a:r>
              <a:rPr sz="2000" spc="-15" dirty="0">
                <a:latin typeface="Calibri"/>
                <a:cs typeface="Calibri"/>
              </a:rPr>
              <a:t>h</a:t>
            </a:r>
            <a:r>
              <a:rPr sz="2000" dirty="0">
                <a:latin typeface="Calibri"/>
                <a:cs typeface="Calibri"/>
              </a:rPr>
              <a:t>e  </a:t>
            </a:r>
            <a:r>
              <a:rPr sz="2000" spc="-15" dirty="0">
                <a:latin typeface="Calibri"/>
                <a:cs typeface="Calibri"/>
              </a:rPr>
              <a:t>advantages </a:t>
            </a:r>
            <a:r>
              <a:rPr sz="2000" spc="-5" dirty="0">
                <a:latin typeface="Calibri"/>
                <a:cs typeface="Calibri"/>
              </a:rPr>
              <a:t>of both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algorithms.</a:t>
            </a:r>
            <a:endParaRPr sz="2000" dirty="0">
              <a:latin typeface="Calibri"/>
              <a:cs typeface="Calibri"/>
            </a:endParaRPr>
          </a:p>
          <a:p>
            <a:pPr marL="292100" indent="-22923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292735" algn="l"/>
              </a:tabLst>
            </a:pPr>
            <a:r>
              <a:rPr sz="2000" spc="-5" dirty="0">
                <a:latin typeface="Calibri"/>
                <a:cs typeface="Calibri"/>
              </a:rPr>
              <a:t>This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more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efficient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BFS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DFS </a:t>
            </a:r>
            <a:r>
              <a:rPr sz="2000" spc="-5" dirty="0">
                <a:latin typeface="Calibri"/>
                <a:cs typeface="Calibri"/>
              </a:rPr>
              <a:t>algorithms.</a:t>
            </a:r>
            <a:endParaRPr sz="2000" dirty="0">
              <a:latin typeface="Calibri"/>
              <a:cs typeface="Calibri"/>
            </a:endParaRPr>
          </a:p>
          <a:p>
            <a:pPr marL="292100" indent="-229235">
              <a:lnSpc>
                <a:spcPct val="100000"/>
              </a:lnSpc>
              <a:spcBef>
                <a:spcPts val="175"/>
              </a:spcBef>
              <a:buFont typeface="Arial MT"/>
              <a:buChar char="•"/>
              <a:tabLst>
                <a:tab pos="292735" algn="l"/>
              </a:tabLst>
            </a:pPr>
            <a:r>
              <a:rPr sz="2000" spc="-15" dirty="0">
                <a:solidFill>
                  <a:srgbClr val="600A4A"/>
                </a:solidFill>
                <a:latin typeface="Calibri"/>
                <a:cs typeface="Calibri"/>
              </a:rPr>
              <a:t>Disadvantages:</a:t>
            </a:r>
            <a:endParaRPr sz="2000" dirty="0">
              <a:latin typeface="Calibri"/>
              <a:cs typeface="Calibri"/>
            </a:endParaRPr>
          </a:p>
          <a:p>
            <a:pPr marL="292100" indent="-22923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292735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can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behave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 </a:t>
            </a:r>
            <a:r>
              <a:rPr sz="2000" spc="-5" dirty="0">
                <a:latin typeface="Calibri"/>
                <a:cs typeface="Calibri"/>
              </a:rPr>
              <a:t>unguided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depth-first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search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 the</a:t>
            </a:r>
            <a:r>
              <a:rPr sz="2000" spc="-20" dirty="0">
                <a:latin typeface="Calibri"/>
                <a:cs typeface="Calibri"/>
              </a:rPr>
              <a:t> worst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scenario.</a:t>
            </a:r>
            <a:endParaRPr sz="2000" dirty="0">
              <a:latin typeface="Calibri"/>
              <a:cs typeface="Calibri"/>
            </a:endParaRPr>
          </a:p>
          <a:p>
            <a:pPr marL="292100" indent="-22923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92735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get </a:t>
            </a:r>
            <a:r>
              <a:rPr sz="2000" spc="-5" dirty="0">
                <a:latin typeface="Calibri"/>
                <a:cs typeface="Calibri"/>
              </a:rPr>
              <a:t>stuck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loop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DFS.</a:t>
            </a:r>
            <a:endParaRPr sz="2000" dirty="0">
              <a:latin typeface="Calibri"/>
              <a:cs typeface="Calibri"/>
            </a:endParaRPr>
          </a:p>
          <a:p>
            <a:pPr marL="292100" indent="-22923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92735" algn="l"/>
              </a:tabLst>
            </a:pPr>
            <a:r>
              <a:rPr sz="2000" spc="-5" dirty="0">
                <a:latin typeface="Calibri"/>
                <a:cs typeface="Calibri"/>
              </a:rPr>
              <a:t>This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algorithm</a:t>
            </a:r>
            <a:r>
              <a:rPr sz="2000" dirty="0">
                <a:latin typeface="Calibri"/>
                <a:cs typeface="Calibri"/>
              </a:rPr>
              <a:t> 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not optimal.</a:t>
            </a:r>
            <a:endParaRPr sz="2000" dirty="0">
              <a:latin typeface="Calibri"/>
              <a:cs typeface="Calibri"/>
            </a:endParaRPr>
          </a:p>
          <a:p>
            <a:pPr marL="292100" marR="56515" indent="-229235">
              <a:lnSpc>
                <a:spcPts val="2500"/>
              </a:lnSpc>
              <a:spcBef>
                <a:spcPts val="969"/>
              </a:spcBef>
              <a:buFont typeface="Arial MT"/>
              <a:buChar char="•"/>
              <a:tabLst>
                <a:tab pos="292735" algn="l"/>
                <a:tab pos="1125855" algn="l"/>
                <a:tab pos="2915285" algn="l"/>
                <a:tab pos="3567429" algn="l"/>
                <a:tab pos="4474210" algn="l"/>
                <a:tab pos="5215255" algn="l"/>
                <a:tab pos="5982970" algn="l"/>
                <a:tab pos="7599045" algn="l"/>
                <a:tab pos="8025765" algn="l"/>
                <a:tab pos="9147175" algn="l"/>
                <a:tab pos="9872980" algn="l"/>
              </a:tabLst>
            </a:pPr>
            <a:r>
              <a:rPr sz="2000" b="1" spc="-5" dirty="0">
                <a:solidFill>
                  <a:srgbClr val="333333"/>
                </a:solidFill>
                <a:latin typeface="Calibri"/>
                <a:cs typeface="Calibri"/>
              </a:rPr>
              <a:t>T</a:t>
            </a:r>
            <a:r>
              <a:rPr sz="2000" b="1" spc="-15" dirty="0">
                <a:solidFill>
                  <a:srgbClr val="333333"/>
                </a:solidFill>
                <a:latin typeface="Calibri"/>
                <a:cs typeface="Calibri"/>
              </a:rPr>
              <a:t>i</a:t>
            </a:r>
            <a:r>
              <a:rPr sz="2000" b="1" dirty="0">
                <a:solidFill>
                  <a:srgbClr val="333333"/>
                </a:solidFill>
                <a:latin typeface="Calibri"/>
                <a:cs typeface="Calibri"/>
              </a:rPr>
              <a:t>me	</a:t>
            </a:r>
            <a:r>
              <a:rPr sz="2000" b="1" spc="-5" dirty="0">
                <a:solidFill>
                  <a:srgbClr val="333333"/>
                </a:solidFill>
                <a:latin typeface="Calibri"/>
                <a:cs typeface="Calibri"/>
              </a:rPr>
              <a:t>C</a:t>
            </a:r>
            <a:r>
              <a:rPr sz="2000" b="1" spc="-10" dirty="0">
                <a:solidFill>
                  <a:srgbClr val="333333"/>
                </a:solidFill>
                <a:latin typeface="Calibri"/>
                <a:cs typeface="Calibri"/>
              </a:rPr>
              <a:t>o</a:t>
            </a:r>
            <a:r>
              <a:rPr sz="2000" b="1" dirty="0">
                <a:solidFill>
                  <a:srgbClr val="333333"/>
                </a:solidFill>
                <a:latin typeface="Calibri"/>
                <a:cs typeface="Calibri"/>
              </a:rPr>
              <a:t>m</a:t>
            </a:r>
            <a:r>
              <a:rPr sz="2000" b="1" spc="-20" dirty="0">
                <a:solidFill>
                  <a:srgbClr val="333333"/>
                </a:solidFill>
                <a:latin typeface="Calibri"/>
                <a:cs typeface="Calibri"/>
              </a:rPr>
              <a:t>p</a:t>
            </a:r>
            <a:r>
              <a:rPr sz="2000" b="1" dirty="0">
                <a:solidFill>
                  <a:srgbClr val="333333"/>
                </a:solidFill>
                <a:latin typeface="Calibri"/>
                <a:cs typeface="Calibri"/>
              </a:rPr>
              <a:t>l</a:t>
            </a:r>
            <a:r>
              <a:rPr sz="2000" b="1" spc="-45" dirty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2000" b="1" spc="-5" dirty="0">
                <a:solidFill>
                  <a:srgbClr val="333333"/>
                </a:solidFill>
                <a:latin typeface="Calibri"/>
                <a:cs typeface="Calibri"/>
              </a:rPr>
              <a:t>xit</a:t>
            </a:r>
            <a:r>
              <a:rPr sz="2000" b="1" dirty="0">
                <a:solidFill>
                  <a:srgbClr val="333333"/>
                </a:solidFill>
                <a:latin typeface="Calibri"/>
                <a:cs typeface="Calibri"/>
              </a:rPr>
              <a:t>y:	</a:t>
            </a:r>
            <a:r>
              <a:rPr sz="2000" spc="-5" dirty="0">
                <a:solidFill>
                  <a:srgbClr val="333333"/>
                </a:solidFill>
                <a:latin typeface="Calibri"/>
                <a:cs typeface="Calibri"/>
              </a:rPr>
              <a:t>T</a:t>
            </a:r>
            <a:r>
              <a:rPr sz="2000" spc="-15" dirty="0">
                <a:solidFill>
                  <a:srgbClr val="333333"/>
                </a:solidFill>
                <a:latin typeface="Calibri"/>
                <a:cs typeface="Calibri"/>
              </a:rPr>
              <a:t>h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e	</a:t>
            </a:r>
            <a:r>
              <a:rPr sz="2000" spc="-30" dirty="0">
                <a:solidFill>
                  <a:srgbClr val="333333"/>
                </a:solidFill>
                <a:latin typeface="Calibri"/>
                <a:cs typeface="Calibri"/>
              </a:rPr>
              <a:t>w</a:t>
            </a:r>
            <a:r>
              <a:rPr sz="2000" spc="-5" dirty="0">
                <a:solidFill>
                  <a:srgbClr val="333333"/>
                </a:solidFill>
                <a:latin typeface="Calibri"/>
                <a:cs typeface="Calibri"/>
              </a:rPr>
              <a:t>o</a:t>
            </a:r>
            <a:r>
              <a:rPr sz="2000" spc="-55" dirty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2000" spc="-25" dirty="0">
                <a:solidFill>
                  <a:srgbClr val="333333"/>
                </a:solidFill>
                <a:latin typeface="Calibri"/>
                <a:cs typeface="Calibri"/>
              </a:rPr>
              <a:t>s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t	</a:t>
            </a:r>
            <a:r>
              <a:rPr sz="2000" spc="-25" dirty="0">
                <a:solidFill>
                  <a:srgbClr val="333333"/>
                </a:solidFill>
                <a:latin typeface="Calibri"/>
                <a:cs typeface="Calibri"/>
              </a:rPr>
              <a:t>c</a:t>
            </a:r>
            <a:r>
              <a:rPr sz="2000" spc="-15" dirty="0">
                <a:solidFill>
                  <a:srgbClr val="333333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333333"/>
                </a:solidFill>
                <a:latin typeface="Calibri"/>
                <a:cs typeface="Calibri"/>
              </a:rPr>
              <a:t>s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e	ti</a:t>
            </a:r>
            <a:r>
              <a:rPr sz="2000" spc="-15" dirty="0">
                <a:solidFill>
                  <a:srgbClr val="333333"/>
                </a:solidFill>
                <a:latin typeface="Calibri"/>
                <a:cs typeface="Calibri"/>
              </a:rPr>
              <a:t>m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e	</a:t>
            </a:r>
            <a:r>
              <a:rPr sz="2000" spc="-25" dirty="0">
                <a:solidFill>
                  <a:srgbClr val="333333"/>
                </a:solidFill>
                <a:latin typeface="Calibri"/>
                <a:cs typeface="Calibri"/>
              </a:rPr>
              <a:t>c</a:t>
            </a:r>
            <a:r>
              <a:rPr sz="2000" spc="-20" dirty="0">
                <a:solidFill>
                  <a:srgbClr val="333333"/>
                </a:solidFill>
                <a:latin typeface="Calibri"/>
                <a:cs typeface="Calibri"/>
              </a:rPr>
              <a:t>o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mp</a:t>
            </a:r>
            <a:r>
              <a:rPr sz="2000" spc="-20" dirty="0">
                <a:solidFill>
                  <a:srgbClr val="333333"/>
                </a:solidFill>
                <a:latin typeface="Calibri"/>
                <a:cs typeface="Calibri"/>
              </a:rPr>
              <a:t>l</a:t>
            </a:r>
            <a:r>
              <a:rPr sz="2000" spc="-40" dirty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2000" spc="-5" dirty="0">
                <a:solidFill>
                  <a:srgbClr val="333333"/>
                </a:solidFill>
                <a:latin typeface="Calibri"/>
                <a:cs typeface="Calibri"/>
              </a:rPr>
              <a:t>xit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y	</a:t>
            </a:r>
            <a:r>
              <a:rPr sz="2000" spc="-20" dirty="0">
                <a:solidFill>
                  <a:srgbClr val="333333"/>
                </a:solidFill>
                <a:latin typeface="Calibri"/>
                <a:cs typeface="Calibri"/>
              </a:rPr>
              <a:t>o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f	G</a:t>
            </a:r>
            <a:r>
              <a:rPr sz="2000" spc="-50" dirty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2000" spc="-15" dirty="0">
                <a:solidFill>
                  <a:srgbClr val="333333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edy	</a:t>
            </a:r>
            <a:r>
              <a:rPr sz="2000" spc="-15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2000" spc="-25" dirty="0">
                <a:solidFill>
                  <a:srgbClr val="333333"/>
                </a:solidFill>
                <a:latin typeface="Calibri"/>
                <a:cs typeface="Calibri"/>
              </a:rPr>
              <a:t>s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t	</a:t>
            </a:r>
            <a:r>
              <a:rPr sz="2000" spc="-5" dirty="0">
                <a:solidFill>
                  <a:srgbClr val="333333"/>
                </a:solidFill>
                <a:latin typeface="Calibri"/>
                <a:cs typeface="Calibri"/>
              </a:rPr>
              <a:t>fi</a:t>
            </a:r>
            <a:r>
              <a:rPr sz="2000" spc="-50" dirty="0">
                <a:solidFill>
                  <a:srgbClr val="333333"/>
                </a:solidFill>
                <a:latin typeface="Calibri"/>
                <a:cs typeface="Calibri"/>
              </a:rPr>
              <a:t>r</a:t>
            </a:r>
            <a:r>
              <a:rPr sz="2000" spc="-25" dirty="0">
                <a:solidFill>
                  <a:srgbClr val="333333"/>
                </a:solidFill>
                <a:latin typeface="Calibri"/>
                <a:cs typeface="Calibri"/>
              </a:rPr>
              <a:t>s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t 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search</a:t>
            </a:r>
            <a:r>
              <a:rPr sz="20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0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O(b</a:t>
            </a:r>
            <a:r>
              <a:rPr sz="2000" baseline="26143" dirty="0">
                <a:solidFill>
                  <a:srgbClr val="333333"/>
                </a:solidFill>
                <a:latin typeface="Calibri"/>
                <a:cs typeface="Calibri"/>
              </a:rPr>
              <a:t>m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).</a:t>
            </a:r>
            <a:endParaRPr sz="2000" dirty="0">
              <a:latin typeface="Calibri"/>
              <a:cs typeface="Calibri"/>
            </a:endParaRPr>
          </a:p>
          <a:p>
            <a:pPr marL="292100" marR="58419" indent="-229235">
              <a:lnSpc>
                <a:spcPct val="80000"/>
              </a:lnSpc>
              <a:spcBef>
                <a:spcPts val="1025"/>
              </a:spcBef>
              <a:buFont typeface="Arial MT"/>
              <a:buChar char="•"/>
              <a:tabLst>
                <a:tab pos="292735" algn="l"/>
                <a:tab pos="4488180" algn="l"/>
              </a:tabLst>
            </a:pPr>
            <a:r>
              <a:rPr sz="2000" b="1" dirty="0">
                <a:solidFill>
                  <a:srgbClr val="333333"/>
                </a:solidFill>
                <a:latin typeface="Calibri"/>
                <a:cs typeface="Calibri"/>
              </a:rPr>
              <a:t>Space</a:t>
            </a:r>
            <a:r>
              <a:rPr sz="2000" b="1" spc="4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333333"/>
                </a:solidFill>
                <a:latin typeface="Calibri"/>
                <a:cs typeface="Calibri"/>
              </a:rPr>
              <a:t>Complexity:</a:t>
            </a:r>
            <a:r>
              <a:rPr sz="2000" b="1" spc="4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000" spc="4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333333"/>
                </a:solidFill>
                <a:latin typeface="Calibri"/>
                <a:cs typeface="Calibri"/>
              </a:rPr>
              <a:t>worst	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case</a:t>
            </a:r>
            <a:r>
              <a:rPr sz="2000" spc="3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space</a:t>
            </a:r>
            <a:r>
              <a:rPr sz="2000" spc="4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complexity</a:t>
            </a:r>
            <a:r>
              <a:rPr sz="2000" spc="3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2000" spc="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Greedy</a:t>
            </a:r>
            <a:r>
              <a:rPr sz="2000" spc="3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best</a:t>
            </a:r>
            <a:r>
              <a:rPr sz="2000" spc="3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33333"/>
                </a:solidFill>
                <a:latin typeface="Calibri"/>
                <a:cs typeface="Calibri"/>
              </a:rPr>
              <a:t>first </a:t>
            </a:r>
            <a:r>
              <a:rPr sz="2000" spc="-5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search</a:t>
            </a:r>
            <a:r>
              <a:rPr sz="200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0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O(b</a:t>
            </a:r>
            <a:r>
              <a:rPr sz="2000" baseline="26143" dirty="0">
                <a:solidFill>
                  <a:srgbClr val="333333"/>
                </a:solidFill>
                <a:latin typeface="Calibri"/>
                <a:cs typeface="Calibri"/>
              </a:rPr>
              <a:t>m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).</a:t>
            </a:r>
            <a:endParaRPr sz="2000" dirty="0">
              <a:latin typeface="Calibri"/>
              <a:cs typeface="Calibri"/>
            </a:endParaRPr>
          </a:p>
          <a:p>
            <a:pPr marL="292100" marR="55880" indent="-229235">
              <a:lnSpc>
                <a:spcPts val="2500"/>
              </a:lnSpc>
              <a:spcBef>
                <a:spcPts val="975"/>
              </a:spcBef>
              <a:buFont typeface="Arial MT"/>
              <a:buChar char="•"/>
              <a:tabLst>
                <a:tab pos="292735" algn="l"/>
              </a:tabLst>
            </a:pPr>
            <a:r>
              <a:rPr sz="2000" spc="-10" dirty="0">
                <a:solidFill>
                  <a:srgbClr val="1F2023"/>
                </a:solidFill>
                <a:latin typeface="Calibri"/>
                <a:cs typeface="Calibri"/>
              </a:rPr>
              <a:t>Where</a:t>
            </a:r>
            <a:r>
              <a:rPr sz="2000" spc="2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2023"/>
                </a:solidFill>
                <a:latin typeface="Calibri"/>
                <a:cs typeface="Calibri"/>
              </a:rPr>
              <a:t>b</a:t>
            </a:r>
            <a:r>
              <a:rPr sz="2000" spc="2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1F2023"/>
                </a:solidFill>
                <a:latin typeface="Calibri"/>
                <a:cs typeface="Calibri"/>
              </a:rPr>
              <a:t>is</a:t>
            </a:r>
            <a:r>
              <a:rPr sz="2000" spc="1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40C28"/>
                </a:solidFill>
                <a:latin typeface="Calibri"/>
                <a:cs typeface="Calibri"/>
              </a:rPr>
              <a:t>the</a:t>
            </a:r>
            <a:r>
              <a:rPr sz="2000" spc="2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40C28"/>
                </a:solidFill>
                <a:latin typeface="Calibri"/>
                <a:cs typeface="Calibri"/>
              </a:rPr>
              <a:t>number</a:t>
            </a:r>
            <a:r>
              <a:rPr sz="2000" spc="3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40C28"/>
                </a:solidFill>
                <a:latin typeface="Calibri"/>
                <a:cs typeface="Calibri"/>
              </a:rPr>
              <a:t>of</a:t>
            </a:r>
            <a:r>
              <a:rPr sz="2000" spc="2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40C28"/>
                </a:solidFill>
                <a:latin typeface="Calibri"/>
                <a:cs typeface="Calibri"/>
              </a:rPr>
              <a:t>legal</a:t>
            </a:r>
            <a:r>
              <a:rPr sz="2000" spc="2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40C28"/>
                </a:solidFill>
                <a:latin typeface="Calibri"/>
                <a:cs typeface="Calibri"/>
              </a:rPr>
              <a:t>moves</a:t>
            </a:r>
            <a:r>
              <a:rPr sz="2000" spc="3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040C28"/>
                </a:solidFill>
                <a:latin typeface="Calibri"/>
                <a:cs typeface="Calibri"/>
              </a:rPr>
              <a:t>at</a:t>
            </a:r>
            <a:r>
              <a:rPr sz="2000" spc="2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40C28"/>
                </a:solidFill>
                <a:latin typeface="Calibri"/>
                <a:cs typeface="Calibri"/>
              </a:rPr>
              <a:t>each</a:t>
            </a:r>
            <a:r>
              <a:rPr sz="2000" spc="2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40C28"/>
                </a:solidFill>
                <a:latin typeface="Calibri"/>
                <a:cs typeface="Calibri"/>
              </a:rPr>
              <a:t>point</a:t>
            </a:r>
            <a:r>
              <a:rPr sz="2000" spc="3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2023"/>
                </a:solidFill>
                <a:latin typeface="Calibri"/>
                <a:cs typeface="Calibri"/>
              </a:rPr>
              <a:t>and</a:t>
            </a:r>
            <a:r>
              <a:rPr sz="2000" spc="1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2023"/>
                </a:solidFill>
                <a:latin typeface="Calibri"/>
                <a:cs typeface="Calibri"/>
              </a:rPr>
              <a:t>m</a:t>
            </a:r>
            <a:r>
              <a:rPr sz="2000" spc="2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2023"/>
                </a:solidFill>
                <a:latin typeface="Calibri"/>
                <a:cs typeface="Calibri"/>
              </a:rPr>
              <a:t>is</a:t>
            </a:r>
            <a:r>
              <a:rPr sz="2000" spc="3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2023"/>
                </a:solidFill>
                <a:latin typeface="Calibri"/>
                <a:cs typeface="Calibri"/>
              </a:rPr>
              <a:t>the</a:t>
            </a:r>
            <a:r>
              <a:rPr sz="2000" spc="2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2023"/>
                </a:solidFill>
                <a:latin typeface="Calibri"/>
                <a:cs typeface="Calibri"/>
              </a:rPr>
              <a:t>maximum </a:t>
            </a:r>
            <a:r>
              <a:rPr sz="2000" spc="-57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1F2023"/>
                </a:solidFill>
                <a:latin typeface="Calibri"/>
                <a:cs typeface="Calibri"/>
              </a:rPr>
              <a:t>depth</a:t>
            </a:r>
            <a:r>
              <a:rPr sz="2000" spc="-2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1F2023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1F2023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1F2023"/>
                </a:solidFill>
                <a:latin typeface="Calibri"/>
                <a:cs typeface="Calibri"/>
              </a:rPr>
              <a:t> tree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CD8BF7-7318-37BC-7BD6-08F86975B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5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34" y="2057400"/>
            <a:ext cx="430720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Problem</a:t>
            </a:r>
            <a:r>
              <a:rPr spc="-70" dirty="0"/>
              <a:t> </a:t>
            </a:r>
            <a:r>
              <a:rPr spc="-15" dirty="0"/>
              <a:t>Reduction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3087" y="2895600"/>
            <a:ext cx="10123805" cy="2987356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75" dirty="0">
                <a:solidFill>
                  <a:srgbClr val="111111"/>
                </a:solidFill>
                <a:latin typeface="Microsoft Sans Serif"/>
                <a:cs typeface="Microsoft Sans Serif"/>
              </a:rPr>
              <a:t>divide</a:t>
            </a:r>
            <a:r>
              <a:rPr sz="2800" spc="-30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100" dirty="0">
                <a:solidFill>
                  <a:srgbClr val="111111"/>
                </a:solidFill>
                <a:latin typeface="Microsoft Sans Serif"/>
                <a:cs typeface="Microsoft Sans Serif"/>
              </a:rPr>
              <a:t>and</a:t>
            </a:r>
            <a:r>
              <a:rPr sz="2800" spc="-2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105" dirty="0">
                <a:solidFill>
                  <a:srgbClr val="111111"/>
                </a:solidFill>
                <a:latin typeface="Microsoft Sans Serif"/>
                <a:cs typeface="Microsoft Sans Serif"/>
              </a:rPr>
              <a:t>conquer</a:t>
            </a:r>
            <a:r>
              <a:rPr sz="2800" spc="-3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55" dirty="0">
                <a:solidFill>
                  <a:srgbClr val="111111"/>
                </a:solidFill>
                <a:latin typeface="Microsoft Sans Serif"/>
                <a:cs typeface="Microsoft Sans Serif"/>
              </a:rPr>
              <a:t>strategy</a:t>
            </a:r>
            <a:endParaRPr sz="2800" dirty="0">
              <a:latin typeface="Microsoft Sans Serif"/>
              <a:cs typeface="Microsoft Sans Serif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85" dirty="0">
                <a:solidFill>
                  <a:srgbClr val="111111"/>
                </a:solidFill>
                <a:latin typeface="Microsoft Sans Serif"/>
                <a:cs typeface="Microsoft Sans Serif"/>
              </a:rPr>
              <a:t>decomposing</a:t>
            </a:r>
            <a:r>
              <a:rPr sz="2800" spc="-30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135" dirty="0">
                <a:solidFill>
                  <a:srgbClr val="111111"/>
                </a:solidFill>
                <a:latin typeface="Microsoft Sans Serif"/>
                <a:cs typeface="Microsoft Sans Serif"/>
              </a:rPr>
              <a:t>it</a:t>
            </a:r>
            <a:r>
              <a:rPr sz="2800" spc="-30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140" dirty="0">
                <a:solidFill>
                  <a:srgbClr val="111111"/>
                </a:solidFill>
                <a:latin typeface="Microsoft Sans Serif"/>
                <a:cs typeface="Microsoft Sans Serif"/>
              </a:rPr>
              <a:t>into</a:t>
            </a:r>
            <a:r>
              <a:rPr sz="2800" spc="-3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75" dirty="0">
                <a:solidFill>
                  <a:srgbClr val="111111"/>
                </a:solidFill>
                <a:latin typeface="Microsoft Sans Serif"/>
                <a:cs typeface="Microsoft Sans Serif"/>
              </a:rPr>
              <a:t>smaller</a:t>
            </a:r>
            <a:r>
              <a:rPr sz="2800" spc="-30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90" dirty="0">
                <a:solidFill>
                  <a:srgbClr val="111111"/>
                </a:solidFill>
                <a:latin typeface="Microsoft Sans Serif"/>
                <a:cs typeface="Microsoft Sans Serif"/>
              </a:rPr>
              <a:t>sub-problems</a:t>
            </a:r>
            <a:endParaRPr sz="2800" dirty="0">
              <a:latin typeface="Microsoft Sans Serif"/>
              <a:cs typeface="Microsoft Sans Serif"/>
            </a:endParaRPr>
          </a:p>
          <a:p>
            <a:pPr marL="241300" marR="5080" indent="-229235">
              <a:lnSpc>
                <a:spcPts val="3020"/>
              </a:lnSpc>
              <a:spcBef>
                <a:spcPts val="105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70" dirty="0">
                <a:solidFill>
                  <a:srgbClr val="111111"/>
                </a:solidFill>
                <a:latin typeface="Microsoft Sans Serif"/>
                <a:cs typeface="Microsoft Sans Serif"/>
              </a:rPr>
              <a:t>sub-solutions</a:t>
            </a:r>
            <a:r>
              <a:rPr sz="2800" spc="-20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25" dirty="0">
                <a:solidFill>
                  <a:srgbClr val="111111"/>
                </a:solidFill>
                <a:latin typeface="Microsoft Sans Serif"/>
                <a:cs typeface="Microsoft Sans Serif"/>
              </a:rPr>
              <a:t>can</a:t>
            </a:r>
            <a:r>
              <a:rPr sz="2800" spc="-1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130" dirty="0">
                <a:solidFill>
                  <a:srgbClr val="111111"/>
                </a:solidFill>
                <a:latin typeface="Microsoft Sans Serif"/>
                <a:cs typeface="Microsoft Sans Serif"/>
              </a:rPr>
              <a:t>then</a:t>
            </a:r>
            <a:r>
              <a:rPr sz="2800" spc="-1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80" dirty="0">
                <a:solidFill>
                  <a:srgbClr val="111111"/>
                </a:solidFill>
                <a:latin typeface="Microsoft Sans Serif"/>
                <a:cs typeface="Microsoft Sans Serif"/>
              </a:rPr>
              <a:t>be</a:t>
            </a:r>
            <a:r>
              <a:rPr sz="2800" spc="-1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100" dirty="0">
                <a:solidFill>
                  <a:srgbClr val="111111"/>
                </a:solidFill>
                <a:latin typeface="Microsoft Sans Serif"/>
                <a:cs typeface="Microsoft Sans Serif"/>
              </a:rPr>
              <a:t>recombined</a:t>
            </a:r>
            <a:r>
              <a:rPr sz="2800" spc="-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165" dirty="0">
                <a:solidFill>
                  <a:srgbClr val="111111"/>
                </a:solidFill>
                <a:latin typeface="Microsoft Sans Serif"/>
                <a:cs typeface="Microsoft Sans Serif"/>
              </a:rPr>
              <a:t>to</a:t>
            </a:r>
            <a:r>
              <a:rPr sz="2800" spc="-20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65" dirty="0">
                <a:solidFill>
                  <a:srgbClr val="111111"/>
                </a:solidFill>
                <a:latin typeface="Microsoft Sans Serif"/>
                <a:cs typeface="Microsoft Sans Serif"/>
              </a:rPr>
              <a:t>get</a:t>
            </a:r>
            <a:r>
              <a:rPr sz="2800" spc="-1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111111"/>
                </a:solidFill>
                <a:latin typeface="Microsoft Sans Serif"/>
                <a:cs typeface="Microsoft Sans Serif"/>
              </a:rPr>
              <a:t>a </a:t>
            </a:r>
            <a:r>
              <a:rPr sz="2800" spc="100" dirty="0">
                <a:solidFill>
                  <a:srgbClr val="111111"/>
                </a:solidFill>
                <a:latin typeface="Microsoft Sans Serif"/>
                <a:cs typeface="Microsoft Sans Serif"/>
              </a:rPr>
              <a:t>solution</a:t>
            </a:r>
            <a:r>
              <a:rPr sz="2800" spc="-1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-40" dirty="0">
                <a:solidFill>
                  <a:srgbClr val="111111"/>
                </a:solidFill>
                <a:latin typeface="Microsoft Sans Serif"/>
                <a:cs typeface="Microsoft Sans Serif"/>
              </a:rPr>
              <a:t>as</a:t>
            </a:r>
            <a:r>
              <a:rPr sz="2800" spc="-1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-5" dirty="0">
                <a:solidFill>
                  <a:srgbClr val="111111"/>
                </a:solidFill>
                <a:latin typeface="Microsoft Sans Serif"/>
                <a:cs typeface="Microsoft Sans Serif"/>
              </a:rPr>
              <a:t>a </a:t>
            </a:r>
            <a:r>
              <a:rPr sz="2800" spc="-730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100" dirty="0">
                <a:solidFill>
                  <a:srgbClr val="111111"/>
                </a:solidFill>
                <a:latin typeface="Microsoft Sans Serif"/>
                <a:cs typeface="Microsoft Sans Serif"/>
              </a:rPr>
              <a:t>whole</a:t>
            </a:r>
            <a:endParaRPr sz="2800" dirty="0">
              <a:latin typeface="Microsoft Sans Serif"/>
              <a:cs typeface="Microsoft Sans Serif"/>
            </a:endParaRPr>
          </a:p>
          <a:p>
            <a:pPr marL="241300" indent="-22923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dirty="0">
                <a:solidFill>
                  <a:srgbClr val="111111"/>
                </a:solidFill>
                <a:latin typeface="Microsoft Sans Serif"/>
                <a:cs typeface="Microsoft Sans Serif"/>
              </a:rPr>
              <a:t>is</a:t>
            </a:r>
            <a:r>
              <a:rPr sz="2800" spc="-30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35" dirty="0">
                <a:solidFill>
                  <a:srgbClr val="111111"/>
                </a:solidFill>
                <a:latin typeface="Microsoft Sans Serif"/>
                <a:cs typeface="Microsoft Sans Serif"/>
              </a:rPr>
              <a:t>called</a:t>
            </a:r>
            <a:r>
              <a:rPr sz="2800" spc="-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b="1" spc="-10" dirty="0">
                <a:solidFill>
                  <a:srgbClr val="111111"/>
                </a:solidFill>
                <a:latin typeface="Tahoma"/>
                <a:cs typeface="Tahoma"/>
              </a:rPr>
              <a:t>Problem</a:t>
            </a:r>
            <a:r>
              <a:rPr sz="2800" b="1" spc="-80" dirty="0">
                <a:solidFill>
                  <a:srgbClr val="111111"/>
                </a:solidFill>
                <a:latin typeface="Tahoma"/>
                <a:cs typeface="Tahoma"/>
              </a:rPr>
              <a:t> </a:t>
            </a:r>
            <a:r>
              <a:rPr sz="2800" b="1" spc="-15" dirty="0">
                <a:solidFill>
                  <a:srgbClr val="111111"/>
                </a:solidFill>
                <a:latin typeface="Tahoma"/>
                <a:cs typeface="Tahoma"/>
              </a:rPr>
              <a:t>Reduction</a:t>
            </a:r>
            <a:r>
              <a:rPr sz="2800" spc="-15" dirty="0">
                <a:solidFill>
                  <a:srgbClr val="111111"/>
                </a:solidFill>
                <a:latin typeface="Microsoft Sans Serif"/>
                <a:cs typeface="Microsoft Sans Serif"/>
              </a:rPr>
              <a:t>.</a:t>
            </a:r>
            <a:endParaRPr sz="2800" dirty="0">
              <a:latin typeface="Microsoft Sans Serif"/>
              <a:cs typeface="Microsoft Sans Serif"/>
            </a:endParaRPr>
          </a:p>
          <a:p>
            <a:pPr marL="332740" indent="-320675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32740" algn="l"/>
                <a:tab pos="333375" algn="l"/>
              </a:tabLst>
            </a:pPr>
            <a:r>
              <a:rPr sz="2800" spc="150" dirty="0">
                <a:solidFill>
                  <a:srgbClr val="111111"/>
                </a:solidFill>
                <a:latin typeface="Microsoft Sans Serif"/>
                <a:cs typeface="Microsoft Sans Serif"/>
              </a:rPr>
              <a:t>method</a:t>
            </a:r>
            <a:r>
              <a:rPr sz="2800" spc="-1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45" dirty="0">
                <a:solidFill>
                  <a:srgbClr val="111111"/>
                </a:solidFill>
                <a:latin typeface="Microsoft Sans Serif"/>
                <a:cs typeface="Microsoft Sans Serif"/>
              </a:rPr>
              <a:t>generates</a:t>
            </a:r>
            <a:r>
              <a:rPr sz="2800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111111"/>
                </a:solidFill>
                <a:latin typeface="Microsoft Sans Serif"/>
                <a:cs typeface="Microsoft Sans Serif"/>
              </a:rPr>
              <a:t>arcs:</a:t>
            </a:r>
            <a:r>
              <a:rPr sz="2800" spc="-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111111"/>
                </a:solidFill>
                <a:latin typeface="Microsoft Sans Serif"/>
                <a:cs typeface="Microsoft Sans Serif"/>
              </a:rPr>
              <a:t>AND </a:t>
            </a:r>
            <a:r>
              <a:rPr sz="2800" spc="40" dirty="0">
                <a:solidFill>
                  <a:srgbClr val="111111"/>
                </a:solidFill>
                <a:latin typeface="Microsoft Sans Serif"/>
                <a:cs typeface="Microsoft Sans Serif"/>
              </a:rPr>
              <a:t>arc(connected)</a:t>
            </a:r>
            <a:r>
              <a:rPr sz="2800" spc="-10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100" dirty="0">
                <a:solidFill>
                  <a:srgbClr val="111111"/>
                </a:solidFill>
                <a:latin typeface="Microsoft Sans Serif"/>
                <a:cs typeface="Microsoft Sans Serif"/>
              </a:rPr>
              <a:t>and</a:t>
            </a:r>
            <a:r>
              <a:rPr sz="2800" spc="-20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-150" dirty="0">
                <a:solidFill>
                  <a:srgbClr val="111111"/>
                </a:solidFill>
                <a:latin typeface="Microsoft Sans Serif"/>
                <a:cs typeface="Microsoft Sans Serif"/>
              </a:rPr>
              <a:t>OR</a:t>
            </a:r>
            <a:r>
              <a:rPr sz="2800" spc="-25" dirty="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sz="2800" spc="20" dirty="0">
                <a:solidFill>
                  <a:srgbClr val="111111"/>
                </a:solidFill>
                <a:latin typeface="Microsoft Sans Serif"/>
                <a:cs typeface="Microsoft Sans Serif"/>
              </a:rPr>
              <a:t>arc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E9EB46-E609-AA17-9CF6-B860EECAA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5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39652" y="2527588"/>
            <a:ext cx="5019675" cy="2091598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Arc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eg: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Charging</a:t>
            </a:r>
            <a:r>
              <a:rPr sz="2800" spc="-5" dirty="0">
                <a:latin typeface="Calibri"/>
                <a:cs typeface="Calibri"/>
              </a:rPr>
              <a:t> 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phone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Phone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&amp; </a:t>
            </a:r>
            <a:r>
              <a:rPr sz="2800" spc="-10" dirty="0">
                <a:latin typeface="Calibri"/>
                <a:cs typeface="Calibri"/>
              </a:rPr>
              <a:t>charger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&amp;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power supply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-15" dirty="0">
                <a:latin typeface="Calibri"/>
                <a:cs typeface="Calibri"/>
              </a:rPr>
              <a:t> arc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eg: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Unlocking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phone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0" dirty="0">
                <a:latin typeface="Calibri"/>
                <a:cs typeface="Calibri"/>
              </a:rPr>
              <a:t>Face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Pin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fingerprint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1481" y="1813793"/>
            <a:ext cx="5600449" cy="35191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771E1D-2CDB-0249-95AF-BC33DFEB5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240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8865" y="1780946"/>
            <a:ext cx="51181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0" dirty="0">
                <a:latin typeface="Calibri"/>
                <a:cs typeface="Calibri"/>
              </a:rPr>
              <a:t>Constraint</a:t>
            </a:r>
            <a:r>
              <a:rPr sz="4000" spc="-25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Satisfaction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8865" y="2714764"/>
            <a:ext cx="10313035" cy="399083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226185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20" dirty="0">
                <a:latin typeface="Calibri"/>
                <a:cs typeface="Calibri"/>
              </a:rPr>
              <a:t>constraint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satisfaction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means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solving</a:t>
            </a:r>
            <a:r>
              <a:rPr sz="2400" i="1" spc="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a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problem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under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Calibri"/>
                <a:cs typeface="Calibri"/>
              </a:rPr>
              <a:t>certain </a:t>
            </a:r>
            <a:r>
              <a:rPr sz="2400" i="1" spc="-620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Calibri"/>
                <a:cs typeface="Calibri"/>
              </a:rPr>
              <a:t>constraints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or rules.</a:t>
            </a:r>
            <a:endParaRPr sz="24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i="1" spc="-10" dirty="0">
                <a:latin typeface="Calibri"/>
                <a:cs typeface="Calibri"/>
              </a:rPr>
              <a:t>problem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is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solved when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its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values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satisfy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Calibri"/>
                <a:cs typeface="Calibri"/>
              </a:rPr>
              <a:t>certain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constraints</a:t>
            </a:r>
            <a:r>
              <a:rPr sz="2400" i="1" spc="-5" dirty="0">
                <a:latin typeface="Calibri"/>
                <a:cs typeface="Calibri"/>
              </a:rPr>
              <a:t> or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rules</a:t>
            </a:r>
            <a:r>
              <a:rPr sz="2400" i="1" spc="1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of </a:t>
            </a:r>
            <a:r>
              <a:rPr sz="2400" i="1" spc="-62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the</a:t>
            </a:r>
            <a:r>
              <a:rPr sz="2400" i="1" spc="-10" dirty="0">
                <a:latin typeface="Calibri"/>
                <a:cs typeface="Calibri"/>
              </a:rPr>
              <a:t> problem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20" dirty="0">
                <a:latin typeface="Calibri"/>
                <a:cs typeface="Calibri"/>
              </a:rPr>
              <a:t>Constraint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satisfaction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depends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three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components,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namely: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10" dirty="0">
                <a:latin typeface="Calibri"/>
                <a:cs typeface="Calibri"/>
              </a:rPr>
              <a:t>X: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It</a:t>
            </a:r>
            <a:r>
              <a:rPr sz="2400" spc="-10" dirty="0">
                <a:latin typeface="Calibri"/>
                <a:cs typeface="Calibri"/>
              </a:rPr>
              <a:t> is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set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variables.</a:t>
            </a:r>
            <a:endParaRPr sz="2400" dirty="0">
              <a:latin typeface="Calibri"/>
              <a:cs typeface="Calibri"/>
            </a:endParaRPr>
          </a:p>
          <a:p>
            <a:pPr marL="241300" marR="103505" indent="-229235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5" dirty="0">
                <a:latin typeface="Calibri"/>
                <a:cs typeface="Calibri"/>
              </a:rPr>
              <a:t>D: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domains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where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reside.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There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specific </a:t>
            </a:r>
            <a:r>
              <a:rPr sz="2400" spc="-6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domain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</a:t>
            </a:r>
            <a:r>
              <a:rPr sz="2400" spc="-5" dirty="0">
                <a:latin typeface="Calibri"/>
                <a:cs typeface="Calibri"/>
              </a:rPr>
              <a:t> each </a:t>
            </a:r>
            <a:r>
              <a:rPr sz="2400" spc="-10" dirty="0">
                <a:latin typeface="Calibri"/>
                <a:cs typeface="Calibri"/>
              </a:rPr>
              <a:t>variable.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10" dirty="0">
                <a:latin typeface="Calibri"/>
                <a:cs typeface="Calibri"/>
              </a:rPr>
              <a:t>C: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constraints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followed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771E1D-2CDB-0249-95AF-BC33DFEB5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38200" y="2743200"/>
            <a:ext cx="10232391" cy="2302938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430"/>
              </a:spcBef>
              <a:buClr>
                <a:srgbClr val="666666"/>
              </a:buClr>
              <a:buFont typeface="Arial MT"/>
              <a:buChar char="•"/>
              <a:tabLst>
                <a:tab pos="241935" algn="l"/>
              </a:tabLst>
            </a:pPr>
            <a:r>
              <a:rPr sz="2400" spc="-1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constraint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consists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pair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{scope,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rel}</a:t>
            </a:r>
            <a:r>
              <a:rPr sz="2400" spc="-15" dirty="0">
                <a:latin typeface="Calibri"/>
                <a:cs typeface="Calibri"/>
              </a:rPr>
              <a:t>.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scope </a:t>
            </a:r>
            <a:r>
              <a:rPr sz="2400" spc="-5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tuple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variables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participate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constraint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and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rel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relation</a:t>
            </a:r>
            <a:r>
              <a:rPr sz="2400" spc="-5" dirty="0">
                <a:latin typeface="Calibri"/>
                <a:cs typeface="Calibri"/>
              </a:rPr>
              <a:t> which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includes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list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values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variables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take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to </a:t>
            </a:r>
            <a:r>
              <a:rPr sz="2400" spc="-6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satisfy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constraints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problem.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10" dirty="0">
                <a:latin typeface="Calibri"/>
                <a:cs typeface="Calibri"/>
              </a:rPr>
              <a:t>C1=((v1,v2)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(v1&lt;&gt;v2))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20" dirty="0">
                <a:latin typeface="Calibri"/>
                <a:cs typeface="Calibri"/>
              </a:rPr>
              <a:t>Constraint1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=scope=V1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&amp;V2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where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V1&lt;&gt;V2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224DB3-2ED6-AEC9-A8C6-32B7812A6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41" y="1785579"/>
            <a:ext cx="704659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Means-Ends</a:t>
            </a:r>
            <a:r>
              <a:rPr spc="-45" dirty="0"/>
              <a:t> </a:t>
            </a:r>
            <a:r>
              <a:rPr spc="-10" dirty="0"/>
              <a:t>Analysis</a:t>
            </a:r>
            <a:r>
              <a:rPr spc="-5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41" y="2895600"/>
            <a:ext cx="10356851" cy="3510128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75895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6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have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studied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strategies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reason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either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forward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 </a:t>
            </a:r>
            <a:r>
              <a:rPr sz="2400" spc="-6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backward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10" dirty="0">
                <a:latin typeface="Calibri"/>
                <a:cs typeface="Calibri"/>
              </a:rPr>
              <a:t>but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mixture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two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directions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used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to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solve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complex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problems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latin typeface="Calibri"/>
                <a:cs typeface="Calibri"/>
              </a:rPr>
              <a:t>It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limits the </a:t>
            </a:r>
            <a:r>
              <a:rPr sz="2400" spc="-15" dirty="0">
                <a:latin typeface="Calibri"/>
                <a:cs typeface="Calibri"/>
              </a:rPr>
              <a:t>search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40" dirty="0">
                <a:solidFill>
                  <a:srgbClr val="600A38"/>
                </a:solidFill>
                <a:latin typeface="Calibri"/>
                <a:cs typeface="Calibri"/>
              </a:rPr>
              <a:t>Works</a:t>
            </a:r>
            <a:endParaRPr sz="2400" dirty="0">
              <a:latin typeface="Calibri"/>
              <a:cs typeface="Calibri"/>
            </a:endParaRPr>
          </a:p>
          <a:p>
            <a:pPr marL="12700" marR="5080">
              <a:lnSpc>
                <a:spcPct val="119600"/>
              </a:lnSpc>
              <a:spcBef>
                <a:spcPts val="15"/>
              </a:spcBef>
            </a:pPr>
            <a:r>
              <a:rPr sz="2400" spc="-15" dirty="0">
                <a:latin typeface="Calibri"/>
                <a:cs typeface="Calibri"/>
              </a:rPr>
              <a:t>1.First,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evaluate</a:t>
            </a:r>
            <a:r>
              <a:rPr sz="2400" spc="-5" dirty="0">
                <a:latin typeface="Calibri"/>
                <a:cs typeface="Calibri"/>
              </a:rPr>
              <a:t> 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difference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between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Initial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State</a:t>
            </a:r>
            <a:r>
              <a:rPr sz="2400" spc="-5" dirty="0">
                <a:latin typeface="Calibri"/>
                <a:cs typeface="Calibri"/>
              </a:rPr>
              <a:t> and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final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State. 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2.Select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various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operators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applied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each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difference. </a:t>
            </a:r>
            <a:r>
              <a:rPr sz="2400" spc="-6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3.Apply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operator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at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each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difference,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which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reduces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difference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3025"/>
              </a:lnSpc>
            </a:pPr>
            <a:r>
              <a:rPr sz="2400" spc="-10" dirty="0">
                <a:latin typeface="Calibri"/>
                <a:cs typeface="Calibri"/>
              </a:rPr>
              <a:t>between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current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state</a:t>
            </a:r>
            <a:r>
              <a:rPr sz="2400" spc="-5" dirty="0">
                <a:latin typeface="Calibri"/>
                <a:cs typeface="Calibri"/>
              </a:rPr>
              <a:t> 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goal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state.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6C7C00-DA92-BCCC-9D43-10D3C1B63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1541506"/>
            <a:ext cx="808418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600A38"/>
                </a:solidFill>
                <a:latin typeface="Calibri"/>
                <a:cs typeface="Calibri"/>
              </a:rPr>
              <a:t>Algorithm</a:t>
            </a:r>
            <a:r>
              <a:rPr spc="-15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pc="-30" dirty="0">
                <a:solidFill>
                  <a:srgbClr val="600A38"/>
                </a:solidFill>
                <a:latin typeface="Calibri"/>
                <a:cs typeface="Calibri"/>
              </a:rPr>
              <a:t>for</a:t>
            </a:r>
            <a:r>
              <a:rPr spc="-1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600A38"/>
                </a:solidFill>
                <a:latin typeface="Calibri"/>
                <a:cs typeface="Calibri"/>
              </a:rPr>
              <a:t>Means-Ends</a:t>
            </a:r>
            <a:r>
              <a:rPr spc="-1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600A38"/>
                </a:solidFill>
                <a:latin typeface="Calibri"/>
                <a:cs typeface="Calibri"/>
              </a:rPr>
              <a:t>Analysis: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1077" y="2565459"/>
            <a:ext cx="10361295" cy="395852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6350" indent="-229235">
              <a:lnSpc>
                <a:spcPct val="70000"/>
              </a:lnSpc>
              <a:spcBef>
                <a:spcPts val="1040"/>
              </a:spcBef>
              <a:buFont typeface="Arial MT"/>
              <a:buChar char="•"/>
              <a:tabLst>
                <a:tab pos="241935" algn="l"/>
                <a:tab pos="824865" algn="l"/>
                <a:tab pos="1213485" algn="l"/>
                <a:tab pos="2565400" algn="l"/>
                <a:tab pos="3975100" algn="l"/>
                <a:tab pos="4386580" algn="l"/>
                <a:tab pos="5354955" algn="l"/>
                <a:tab pos="5661025" algn="l"/>
                <a:tab pos="6514465" algn="l"/>
                <a:tab pos="7077075" algn="l"/>
                <a:tab pos="7554595" algn="l"/>
                <a:tab pos="9166860" algn="l"/>
              </a:tabLst>
            </a:pPr>
            <a:r>
              <a:rPr lang="en-US" sz="2600" b="1" spc="-40" dirty="0">
                <a:latin typeface="Calibri"/>
                <a:cs typeface="Calibri"/>
              </a:rPr>
              <a:t>S</a:t>
            </a:r>
            <a:r>
              <a:rPr sz="2600" b="1" spc="-40" dirty="0">
                <a:latin typeface="Calibri"/>
                <a:cs typeface="Calibri"/>
              </a:rPr>
              <a:t>t</a:t>
            </a:r>
            <a:r>
              <a:rPr sz="2600" b="1" spc="-5" dirty="0">
                <a:latin typeface="Calibri"/>
                <a:cs typeface="Calibri"/>
              </a:rPr>
              <a:t>e</a:t>
            </a:r>
            <a:r>
              <a:rPr sz="2600" b="1" dirty="0">
                <a:latin typeface="Calibri"/>
                <a:cs typeface="Calibri"/>
              </a:rPr>
              <a:t>p	1:	</a:t>
            </a:r>
            <a:r>
              <a:rPr sz="2600" spc="-5" dirty="0">
                <a:latin typeface="Calibri"/>
                <a:cs typeface="Calibri"/>
              </a:rPr>
              <a:t>Compa</a:t>
            </a:r>
            <a:r>
              <a:rPr sz="2600" spc="-4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e	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U</a:t>
            </a:r>
            <a:r>
              <a:rPr sz="2600" dirty="0">
                <a:latin typeface="Calibri"/>
                <a:cs typeface="Calibri"/>
              </a:rPr>
              <a:t>RRE</a:t>
            </a:r>
            <a:r>
              <a:rPr sz="2600" spc="-10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T	</a:t>
            </a:r>
            <a:r>
              <a:rPr sz="2600" spc="-2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o	G</a:t>
            </a:r>
            <a:r>
              <a:rPr sz="2600" spc="-3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10" dirty="0">
                <a:latin typeface="Calibri"/>
                <a:cs typeface="Calibri"/>
              </a:rPr>
              <a:t>L</a:t>
            </a:r>
            <a:r>
              <a:rPr sz="2600" dirty="0">
                <a:latin typeface="Calibri"/>
                <a:cs typeface="Calibri"/>
              </a:rPr>
              <a:t>,	if	th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spc="-35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e	a</a:t>
            </a:r>
            <a:r>
              <a:rPr sz="2600" spc="-35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e	</a:t>
            </a:r>
            <a:r>
              <a:rPr sz="2600" spc="-5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o	</a:t>
            </a:r>
            <a:r>
              <a:rPr sz="2600" spc="-5" dirty="0">
                <a:latin typeface="Calibri"/>
                <a:cs typeface="Calibri"/>
              </a:rPr>
              <a:t>di</a:t>
            </a:r>
            <a:r>
              <a:rPr sz="2600" spc="-40" dirty="0">
                <a:latin typeface="Calibri"/>
                <a:cs typeface="Calibri"/>
              </a:rPr>
              <a:t>f</a:t>
            </a:r>
            <a:r>
              <a:rPr sz="2600" spc="-6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s	</a:t>
            </a:r>
            <a:r>
              <a:rPr sz="2600" spc="-15" dirty="0">
                <a:latin typeface="Calibri"/>
                <a:cs typeface="Calibri"/>
              </a:rPr>
              <a:t>be</a:t>
            </a:r>
            <a:r>
              <a:rPr sz="2600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w</a:t>
            </a:r>
            <a:r>
              <a:rPr sz="2600" spc="-15" dirty="0">
                <a:latin typeface="Calibri"/>
                <a:cs typeface="Calibri"/>
              </a:rPr>
              <a:t>ee</a:t>
            </a:r>
            <a:r>
              <a:rPr sz="2600" dirty="0">
                <a:latin typeface="Calibri"/>
                <a:cs typeface="Calibri"/>
              </a:rPr>
              <a:t>n  </a:t>
            </a:r>
            <a:r>
              <a:rPr sz="2600" spc="-5" dirty="0">
                <a:latin typeface="Calibri"/>
                <a:cs typeface="Calibri"/>
              </a:rPr>
              <a:t>both </a:t>
            </a:r>
            <a:r>
              <a:rPr sz="2600" dirty="0">
                <a:latin typeface="Calibri"/>
                <a:cs typeface="Calibri"/>
              </a:rPr>
              <a:t>then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return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Success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Exit.</a:t>
            </a:r>
          </a:p>
          <a:p>
            <a:pPr marL="241300" marR="5715" indent="-229235">
              <a:lnSpc>
                <a:spcPct val="70100"/>
              </a:lnSpc>
              <a:spcBef>
                <a:spcPts val="99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b="1" spc="-10" dirty="0">
                <a:latin typeface="Calibri"/>
                <a:cs typeface="Calibri"/>
              </a:rPr>
              <a:t>Step</a:t>
            </a:r>
            <a:r>
              <a:rPr sz="2600" b="1" spc="2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2:</a:t>
            </a:r>
            <a:r>
              <a:rPr sz="2600" b="1" spc="28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Else,</a:t>
            </a:r>
            <a:r>
              <a:rPr sz="2600" spc="2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select</a:t>
            </a:r>
            <a:r>
              <a:rPr sz="2600" spc="2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</a:t>
            </a:r>
            <a:r>
              <a:rPr sz="2600" spc="2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most</a:t>
            </a:r>
            <a:r>
              <a:rPr sz="2600" spc="2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significant</a:t>
            </a:r>
            <a:r>
              <a:rPr sz="2600" spc="27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difference</a:t>
            </a:r>
            <a:r>
              <a:rPr sz="2600" spc="28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and</a:t>
            </a:r>
            <a:r>
              <a:rPr sz="2600" spc="25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reduce</a:t>
            </a:r>
            <a:r>
              <a:rPr sz="2600" spc="2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26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by</a:t>
            </a:r>
            <a:r>
              <a:rPr sz="2600" spc="2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doing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following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steps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until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success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or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failure occurs.</a:t>
            </a:r>
            <a:endParaRPr sz="2600" dirty="0">
              <a:latin typeface="Calibri"/>
              <a:cs typeface="Calibri"/>
            </a:endParaRPr>
          </a:p>
          <a:p>
            <a:pPr marL="756285" marR="8255" lvl="1" indent="-287020">
              <a:lnSpc>
                <a:spcPct val="70000"/>
              </a:lnSpc>
              <a:spcBef>
                <a:spcPts val="509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Select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new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operator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which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applicable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for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current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difference,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if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there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such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40" dirty="0">
                <a:latin typeface="Calibri"/>
                <a:cs typeface="Calibri"/>
              </a:rPr>
              <a:t>operator,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signal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failure.</a:t>
            </a:r>
            <a:endParaRPr sz="2200" dirty="0">
              <a:latin typeface="Calibri"/>
              <a:cs typeface="Calibri"/>
            </a:endParaRPr>
          </a:p>
          <a:p>
            <a:pPr marL="286385" marR="6985" lvl="1" indent="-286385" algn="r">
              <a:lnSpc>
                <a:spcPts val="1945"/>
              </a:lnSpc>
              <a:buFont typeface="Arial MT"/>
              <a:buChar char="•"/>
              <a:tabLst>
                <a:tab pos="286385" algn="l"/>
                <a:tab pos="756920" algn="l"/>
                <a:tab pos="1374140" algn="l"/>
                <a:tab pos="1764664" algn="l"/>
                <a:tab pos="2531110" algn="l"/>
                <a:tab pos="3672840" algn="l"/>
                <a:tab pos="4009390" algn="l"/>
                <a:tab pos="4398010" algn="l"/>
                <a:tab pos="5680075" algn="l"/>
                <a:tab pos="6460490" algn="l"/>
                <a:tab pos="6743700" algn="l"/>
                <a:tab pos="8164830" algn="l"/>
                <a:tab pos="8549005" algn="l"/>
                <a:tab pos="9138285" algn="l"/>
              </a:tabLst>
            </a:pPr>
            <a:r>
              <a:rPr sz="2200" spc="-20" dirty="0">
                <a:latin typeface="Calibri"/>
                <a:cs typeface="Calibri"/>
              </a:rPr>
              <a:t>Attempt	to	</a:t>
            </a:r>
            <a:r>
              <a:rPr sz="2200" spc="-5" dirty="0">
                <a:latin typeface="Calibri"/>
                <a:cs typeface="Calibri"/>
              </a:rPr>
              <a:t>apply	</a:t>
            </a:r>
            <a:r>
              <a:rPr sz="2200" spc="-15" dirty="0">
                <a:latin typeface="Calibri"/>
                <a:cs typeface="Calibri"/>
              </a:rPr>
              <a:t>operator	</a:t>
            </a:r>
            <a:r>
              <a:rPr sz="2200" spc="-5" dirty="0">
                <a:latin typeface="Calibri"/>
                <a:cs typeface="Calibri"/>
              </a:rPr>
              <a:t>O	</a:t>
            </a:r>
            <a:r>
              <a:rPr sz="2200" spc="-20" dirty="0">
                <a:latin typeface="Calibri"/>
                <a:cs typeface="Calibri"/>
              </a:rPr>
              <a:t>to	</a:t>
            </a:r>
            <a:r>
              <a:rPr sz="2200" spc="-30" dirty="0">
                <a:latin typeface="Calibri"/>
                <a:cs typeface="Calibri"/>
              </a:rPr>
              <a:t>CURRENT.	</a:t>
            </a:r>
            <a:r>
              <a:rPr sz="2200" spc="-20" dirty="0">
                <a:latin typeface="Calibri"/>
                <a:cs typeface="Calibri"/>
              </a:rPr>
              <a:t>Make	</a:t>
            </a:r>
            <a:r>
              <a:rPr sz="2200" spc="-5" dirty="0">
                <a:latin typeface="Calibri"/>
                <a:cs typeface="Calibri"/>
              </a:rPr>
              <a:t>a	description	</a:t>
            </a:r>
            <a:r>
              <a:rPr sz="2200" dirty="0">
                <a:latin typeface="Calibri"/>
                <a:cs typeface="Calibri"/>
              </a:rPr>
              <a:t>of	</a:t>
            </a:r>
            <a:r>
              <a:rPr sz="2200" spc="-10" dirty="0">
                <a:latin typeface="Calibri"/>
                <a:cs typeface="Calibri"/>
              </a:rPr>
              <a:t>two	</a:t>
            </a:r>
            <a:r>
              <a:rPr sz="2200" spc="-20" dirty="0">
                <a:latin typeface="Calibri"/>
                <a:cs typeface="Calibri"/>
              </a:rPr>
              <a:t>states.</a:t>
            </a:r>
            <a:endParaRPr sz="2200" dirty="0">
              <a:latin typeface="Calibri"/>
              <a:cs typeface="Calibri"/>
            </a:endParaRPr>
          </a:p>
          <a:p>
            <a:pPr marL="549910" marR="6985" lvl="2" indent="-549910" algn="r">
              <a:lnSpc>
                <a:spcPts val="1850"/>
              </a:lnSpc>
              <a:buAutoNum type="romanLcParenR"/>
              <a:tabLst>
                <a:tab pos="549910" algn="l"/>
                <a:tab pos="550545" algn="l"/>
                <a:tab pos="1836420" algn="l"/>
                <a:tab pos="2372995" algn="l"/>
                <a:tab pos="3333115" algn="l"/>
                <a:tab pos="3945890" algn="l"/>
                <a:tab pos="5021580" algn="l"/>
                <a:tab pos="5847715" algn="l"/>
                <a:tab pos="7809865" algn="l"/>
                <a:tab pos="8579485" algn="l"/>
              </a:tabLst>
            </a:pPr>
            <a:r>
              <a:rPr sz="2200" spc="-10" dirty="0">
                <a:latin typeface="Calibri"/>
                <a:cs typeface="Calibri"/>
              </a:rPr>
              <a:t>O-Start,	</a:t>
            </a:r>
            <a:r>
              <a:rPr sz="2200" spc="-5" dirty="0">
                <a:latin typeface="Calibri"/>
                <a:cs typeface="Calibri"/>
              </a:rPr>
              <a:t>a	</a:t>
            </a:r>
            <a:r>
              <a:rPr sz="2200" spc="-25" dirty="0">
                <a:latin typeface="Calibri"/>
                <a:cs typeface="Calibri"/>
              </a:rPr>
              <a:t>state	</a:t>
            </a:r>
            <a:r>
              <a:rPr sz="2200" spc="-5" dirty="0">
                <a:latin typeface="Calibri"/>
                <a:cs typeface="Calibri"/>
              </a:rPr>
              <a:t>in	which	</a:t>
            </a:r>
            <a:r>
              <a:rPr sz="2200" spc="-10" dirty="0">
                <a:latin typeface="Calibri"/>
                <a:cs typeface="Calibri"/>
              </a:rPr>
              <a:t>O?s	preconditions	are	satisfied.</a:t>
            </a:r>
            <a:endParaRPr sz="2200" dirty="0">
              <a:latin typeface="Calibri"/>
              <a:cs typeface="Calibri"/>
            </a:endParaRPr>
          </a:p>
          <a:p>
            <a:pPr marL="1030605" lvl="2" indent="-274955">
              <a:lnSpc>
                <a:spcPts val="2100"/>
              </a:lnSpc>
              <a:buAutoNum type="romanLcParenR"/>
              <a:tabLst>
                <a:tab pos="1031240" algn="l"/>
              </a:tabLst>
            </a:pPr>
            <a:r>
              <a:rPr sz="2200" spc="-10" dirty="0">
                <a:latin typeface="Calibri"/>
                <a:cs typeface="Calibri"/>
              </a:rPr>
              <a:t>O-Result,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state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would</a:t>
            </a:r>
            <a:r>
              <a:rPr sz="2200" spc="-5" dirty="0">
                <a:latin typeface="Calibri"/>
                <a:cs typeface="Calibri"/>
              </a:rPr>
              <a:t> result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were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applied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-10" dirty="0">
                <a:latin typeface="Calibri"/>
                <a:cs typeface="Calibri"/>
              </a:rPr>
              <a:t> O-start.</a:t>
            </a:r>
            <a:endParaRPr sz="2200" dirty="0">
              <a:latin typeface="Calibri"/>
              <a:cs typeface="Calibri"/>
            </a:endParaRPr>
          </a:p>
          <a:p>
            <a:pPr marL="5472430" lvl="3" indent="-287020">
              <a:lnSpc>
                <a:spcPts val="2100"/>
              </a:lnSpc>
              <a:buFont typeface="Arial MT"/>
              <a:buChar char="•"/>
              <a:tabLst>
                <a:tab pos="5472430" algn="l"/>
                <a:tab pos="5473065" algn="l"/>
              </a:tabLst>
            </a:pPr>
            <a:r>
              <a:rPr sz="2200" spc="-10" dirty="0">
                <a:latin typeface="Calibri"/>
                <a:cs typeface="Calibri"/>
              </a:rPr>
              <a:t>If</a:t>
            </a:r>
            <a:endParaRPr sz="2200" dirty="0">
              <a:latin typeface="Calibri"/>
              <a:cs typeface="Calibri"/>
            </a:endParaRPr>
          </a:p>
          <a:p>
            <a:pPr marL="743585" algn="ctr">
              <a:lnSpc>
                <a:spcPts val="1850"/>
              </a:lnSpc>
              <a:tabLst>
                <a:tab pos="3127375" algn="l"/>
                <a:tab pos="5012690" algn="l"/>
                <a:tab pos="6794500" algn="l"/>
                <a:tab pos="9262110" algn="l"/>
              </a:tabLst>
            </a:pPr>
            <a:r>
              <a:rPr sz="2200" b="1" spc="-10" dirty="0">
                <a:latin typeface="Calibri"/>
                <a:cs typeface="Calibri"/>
              </a:rPr>
              <a:t>(First-Part	</a:t>
            </a:r>
            <a:r>
              <a:rPr sz="2200" b="1" spc="-5" dirty="0">
                <a:latin typeface="Calibri"/>
                <a:cs typeface="Calibri"/>
              </a:rPr>
              <a:t>&lt;------	</a:t>
            </a:r>
            <a:r>
              <a:rPr sz="2200" b="1" spc="-10" dirty="0">
                <a:latin typeface="Calibri"/>
                <a:cs typeface="Calibri"/>
              </a:rPr>
              <a:t>MEA	</a:t>
            </a:r>
            <a:r>
              <a:rPr sz="2200" b="1" spc="-25" dirty="0">
                <a:latin typeface="Calibri"/>
                <a:cs typeface="Calibri"/>
              </a:rPr>
              <a:t>(CURRENT,	</a:t>
            </a:r>
            <a:r>
              <a:rPr sz="2200" b="1" spc="-30" dirty="0">
                <a:latin typeface="Calibri"/>
                <a:cs typeface="Calibri"/>
              </a:rPr>
              <a:t>O-START)</a:t>
            </a:r>
            <a:endParaRPr sz="2200" dirty="0">
              <a:latin typeface="Calibri"/>
              <a:cs typeface="Calibri"/>
            </a:endParaRPr>
          </a:p>
          <a:p>
            <a:pPr marL="739775" algn="ctr">
              <a:lnSpc>
                <a:spcPts val="1850"/>
              </a:lnSpc>
            </a:pPr>
            <a:r>
              <a:rPr sz="2200" spc="-5" dirty="0">
                <a:latin typeface="Calibri"/>
                <a:cs typeface="Calibri"/>
              </a:rPr>
              <a:t>And</a:t>
            </a:r>
            <a:endParaRPr sz="2200" dirty="0">
              <a:latin typeface="Calibri"/>
              <a:cs typeface="Calibri"/>
            </a:endParaRPr>
          </a:p>
          <a:p>
            <a:pPr marL="756285" marR="7620">
              <a:lnSpc>
                <a:spcPct val="70000"/>
              </a:lnSpc>
              <a:spcBef>
                <a:spcPts val="395"/>
              </a:spcBef>
              <a:tabLst>
                <a:tab pos="2088514" algn="l"/>
                <a:tab pos="2781935" algn="l"/>
                <a:tab pos="4734560" algn="l"/>
                <a:tab pos="9918065" algn="l"/>
              </a:tabLst>
            </a:pPr>
            <a:r>
              <a:rPr sz="2200" b="1" spc="-5" dirty="0">
                <a:latin typeface="Calibri"/>
                <a:cs typeface="Calibri"/>
              </a:rPr>
              <a:t>(LA</a:t>
            </a:r>
            <a:r>
              <a:rPr sz="2200" b="1" spc="-30" dirty="0">
                <a:latin typeface="Calibri"/>
                <a:cs typeface="Calibri"/>
              </a:rPr>
              <a:t>S</a:t>
            </a:r>
            <a:r>
              <a:rPr sz="2200" b="1" spc="-5" dirty="0">
                <a:latin typeface="Calibri"/>
                <a:cs typeface="Calibri"/>
              </a:rPr>
              <a:t>T</a:t>
            </a:r>
            <a:r>
              <a:rPr sz="2200" b="1" spc="5" dirty="0">
                <a:latin typeface="Calibri"/>
                <a:cs typeface="Calibri"/>
              </a:rPr>
              <a:t>-</a:t>
            </a:r>
            <a:r>
              <a:rPr sz="2200" b="1" spc="-60" dirty="0">
                <a:latin typeface="Calibri"/>
                <a:cs typeface="Calibri"/>
              </a:rPr>
              <a:t>P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-10" dirty="0">
                <a:latin typeface="Calibri"/>
                <a:cs typeface="Calibri"/>
              </a:rPr>
              <a:t>r</a:t>
            </a:r>
            <a:r>
              <a:rPr sz="2200" b="1" spc="-5" dirty="0">
                <a:latin typeface="Calibri"/>
                <a:cs typeface="Calibri"/>
              </a:rPr>
              <a:t>t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10" dirty="0">
                <a:latin typeface="Calibri"/>
                <a:cs typeface="Calibri"/>
              </a:rPr>
              <a:t>&lt;</a:t>
            </a:r>
            <a:r>
              <a:rPr sz="2200" b="1" dirty="0">
                <a:latin typeface="Calibri"/>
                <a:cs typeface="Calibri"/>
              </a:rPr>
              <a:t>-</a:t>
            </a:r>
            <a:r>
              <a:rPr sz="2200" b="1" spc="-10" dirty="0">
                <a:latin typeface="Calibri"/>
                <a:cs typeface="Calibri"/>
              </a:rPr>
              <a:t>---</a:t>
            </a:r>
            <a:r>
              <a:rPr sz="2200" b="1" spc="-5" dirty="0">
                <a:latin typeface="Calibri"/>
                <a:cs typeface="Calibri"/>
              </a:rPr>
              <a:t>-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10" dirty="0">
                <a:latin typeface="Calibri"/>
                <a:cs typeface="Calibri"/>
              </a:rPr>
              <a:t>M</a:t>
            </a:r>
            <a:r>
              <a:rPr sz="2200" b="1" spc="-25" dirty="0">
                <a:latin typeface="Calibri"/>
                <a:cs typeface="Calibri"/>
              </a:rPr>
              <a:t>E</a:t>
            </a:r>
            <a:r>
              <a:rPr sz="2200" b="1" spc="-5" dirty="0">
                <a:latin typeface="Calibri"/>
                <a:cs typeface="Calibri"/>
              </a:rPr>
              <a:t>A</a:t>
            </a:r>
            <a:r>
              <a:rPr sz="2200" b="1" dirty="0">
                <a:latin typeface="Calibri"/>
                <a:cs typeface="Calibri"/>
              </a:rPr>
              <a:t>  </a:t>
            </a:r>
            <a:r>
              <a:rPr sz="2200" b="1" spc="-10" dirty="0">
                <a:latin typeface="Calibri"/>
                <a:cs typeface="Calibri"/>
              </a:rPr>
              <a:t>(</a:t>
            </a:r>
            <a:r>
              <a:rPr sz="2200" b="1" spc="-5" dirty="0">
                <a:latin typeface="Calibri"/>
                <a:cs typeface="Calibri"/>
              </a:rPr>
              <a:t>O</a:t>
            </a:r>
            <a:r>
              <a:rPr sz="2200" b="1" spc="5" dirty="0">
                <a:latin typeface="Calibri"/>
                <a:cs typeface="Calibri"/>
              </a:rPr>
              <a:t>-</a:t>
            </a:r>
            <a:r>
              <a:rPr sz="2200" b="1" spc="-45" dirty="0">
                <a:latin typeface="Calibri"/>
                <a:cs typeface="Calibri"/>
              </a:rPr>
              <a:t>R</a:t>
            </a:r>
            <a:r>
              <a:rPr sz="2200" b="1" spc="-10" dirty="0">
                <a:latin typeface="Calibri"/>
                <a:cs typeface="Calibri"/>
              </a:rPr>
              <a:t>esul</a:t>
            </a:r>
            <a:r>
              <a:rPr sz="2200" b="1" spc="-20" dirty="0">
                <a:latin typeface="Calibri"/>
                <a:cs typeface="Calibri"/>
              </a:rPr>
              <a:t>t</a:t>
            </a:r>
            <a:r>
              <a:rPr sz="2200" b="1" spc="-5" dirty="0">
                <a:latin typeface="Calibri"/>
                <a:cs typeface="Calibri"/>
              </a:rPr>
              <a:t>,</a:t>
            </a:r>
            <a:r>
              <a:rPr sz="2200" b="1" dirty="0">
                <a:latin typeface="Calibri"/>
                <a:cs typeface="Calibri"/>
              </a:rPr>
              <a:t>	</a:t>
            </a:r>
            <a:r>
              <a:rPr sz="2200" b="1" spc="-10" dirty="0">
                <a:latin typeface="Calibri"/>
                <a:cs typeface="Calibri"/>
              </a:rPr>
              <a:t>G</a:t>
            </a:r>
            <a:r>
              <a:rPr sz="2200" b="1" spc="-25" dirty="0">
                <a:latin typeface="Calibri"/>
                <a:cs typeface="Calibri"/>
              </a:rPr>
              <a:t>O</a:t>
            </a:r>
            <a:r>
              <a:rPr sz="2200" b="1" spc="-5" dirty="0">
                <a:latin typeface="Calibri"/>
                <a:cs typeface="Calibri"/>
              </a:rPr>
              <a:t>AL</a:t>
            </a:r>
            <a:r>
              <a:rPr sz="2200" b="1" spc="-10" dirty="0">
                <a:latin typeface="Calibri"/>
                <a:cs typeface="Calibri"/>
              </a:rPr>
              <a:t>)</a:t>
            </a:r>
            <a:r>
              <a:rPr sz="2200" spc="-5" dirty="0">
                <a:latin typeface="Calibri"/>
                <a:cs typeface="Calibri"/>
              </a:rPr>
              <a:t>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suc</a:t>
            </a:r>
            <a:r>
              <a:rPr sz="2200" spc="-5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s</a:t>
            </a:r>
            <a:r>
              <a:rPr sz="2200" spc="-20" dirty="0">
                <a:latin typeface="Calibri"/>
                <a:cs typeface="Calibri"/>
              </a:rPr>
              <a:t>s</a:t>
            </a:r>
            <a:r>
              <a:rPr sz="2200" spc="-10" dirty="0">
                <a:latin typeface="Calibri"/>
                <a:cs typeface="Calibri"/>
              </a:rPr>
              <a:t>ful</a:t>
            </a:r>
            <a:r>
              <a:rPr sz="2200" spc="-5" dirty="0">
                <a:latin typeface="Calibri"/>
                <a:cs typeface="Calibri"/>
              </a:rPr>
              <a:t>,</a:t>
            </a:r>
            <a:r>
              <a:rPr sz="2200" dirty="0">
                <a:latin typeface="Calibri"/>
                <a:cs typeface="Calibri"/>
              </a:rPr>
              <a:t>  </a:t>
            </a:r>
            <a:r>
              <a:rPr sz="2200" spc="-5" dirty="0">
                <a:latin typeface="Calibri"/>
                <a:cs typeface="Calibri"/>
              </a:rPr>
              <a:t>then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 signa</a:t>
            </a:r>
            <a:r>
              <a:rPr sz="2200" spc="-5" dirty="0">
                <a:latin typeface="Calibri"/>
                <a:cs typeface="Calibri"/>
              </a:rPr>
              <a:t>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Suc</a:t>
            </a:r>
            <a:r>
              <a:rPr sz="2200" spc="-20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ess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and  </a:t>
            </a:r>
            <a:r>
              <a:rPr sz="2200" spc="-10" dirty="0">
                <a:latin typeface="Calibri"/>
                <a:cs typeface="Calibri"/>
              </a:rPr>
              <a:t>return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result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combining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FIRST-PART,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O,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50" dirty="0">
                <a:latin typeface="Calibri"/>
                <a:cs typeface="Calibri"/>
              </a:rPr>
              <a:t>LAST-PART.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E397EB-6244-9A7F-6253-4CE1FD534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1749223"/>
            <a:ext cx="73374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solidFill>
                  <a:srgbClr val="600A4A"/>
                </a:solidFill>
                <a:latin typeface="Calibri"/>
                <a:cs typeface="Calibri"/>
              </a:rPr>
              <a:t>Example</a:t>
            </a:r>
            <a:r>
              <a:rPr spc="-1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600A4A"/>
                </a:solidFill>
                <a:latin typeface="Calibri"/>
                <a:cs typeface="Calibri"/>
              </a:rPr>
              <a:t>of</a:t>
            </a:r>
            <a:r>
              <a:rPr spc="-1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600A4A"/>
                </a:solidFill>
                <a:latin typeface="Calibri"/>
                <a:cs typeface="Calibri"/>
              </a:rPr>
              <a:t>Mean-Ends</a:t>
            </a:r>
            <a:r>
              <a:rPr spc="-10" dirty="0">
                <a:solidFill>
                  <a:srgbClr val="600A4A"/>
                </a:solidFill>
                <a:latin typeface="Calibri"/>
                <a:cs typeface="Calibri"/>
              </a:rPr>
              <a:t> Analysis: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0" y="2667000"/>
            <a:ext cx="4368619" cy="18399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57400" y="4800600"/>
            <a:ext cx="7337425" cy="148458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D241CF8-A90A-4C75-0D1E-D6F530B24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1959404"/>
            <a:ext cx="309308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58519" algn="l"/>
              </a:tabLst>
            </a:pPr>
            <a:r>
              <a:rPr spc="-5" dirty="0"/>
              <a:t>A</a:t>
            </a:r>
            <a:r>
              <a:rPr dirty="0"/>
              <a:t>*	</a:t>
            </a:r>
            <a:r>
              <a:rPr spc="-5" dirty="0"/>
              <a:t>Al</a:t>
            </a:r>
            <a:r>
              <a:rPr spc="-25" dirty="0"/>
              <a:t>g</a:t>
            </a:r>
            <a:r>
              <a:rPr spc="-5" dirty="0"/>
              <a:t>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9186" y="3048000"/>
            <a:ext cx="9953625" cy="355142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A*</a:t>
            </a:r>
            <a:r>
              <a:rPr sz="2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search</a:t>
            </a:r>
            <a:r>
              <a:rPr sz="2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most</a:t>
            </a:r>
            <a:r>
              <a:rPr sz="2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commonly</a:t>
            </a:r>
            <a:r>
              <a:rPr sz="2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known</a:t>
            </a:r>
            <a:r>
              <a:rPr sz="24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33333"/>
                </a:solidFill>
                <a:latin typeface="Calibri"/>
                <a:cs typeface="Calibri"/>
              </a:rPr>
              <a:t>form</a:t>
            </a:r>
            <a:r>
              <a:rPr sz="2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best-first</a:t>
            </a:r>
            <a:r>
              <a:rPr sz="2400" spc="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search.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used</a:t>
            </a:r>
            <a:r>
              <a:rPr sz="2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find</a:t>
            </a:r>
            <a:r>
              <a:rPr sz="2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shortest</a:t>
            </a:r>
            <a:r>
              <a:rPr sz="2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path</a:t>
            </a:r>
            <a:r>
              <a:rPr sz="2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between</a:t>
            </a:r>
            <a:r>
              <a:rPr sz="2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two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 nodes</a:t>
            </a:r>
            <a:r>
              <a:rPr sz="2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2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a </a:t>
            </a: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graph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Fitness</a:t>
            </a:r>
            <a:r>
              <a:rPr sz="2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Function(F</a:t>
            </a:r>
            <a:r>
              <a:rPr sz="2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Score)</a:t>
            </a:r>
            <a:r>
              <a:rPr sz="2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=</a:t>
            </a:r>
            <a:r>
              <a:rPr sz="2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Actual</a:t>
            </a:r>
            <a:r>
              <a:rPr sz="2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Cost</a:t>
            </a:r>
            <a:r>
              <a:rPr sz="2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+</a:t>
            </a:r>
            <a:r>
              <a:rPr sz="2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Estimated</a:t>
            </a:r>
            <a:r>
              <a:rPr sz="2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Cost</a:t>
            </a:r>
            <a:endParaRPr sz="2400" dirty="0">
              <a:latin typeface="Calibri"/>
              <a:cs typeface="Calibri"/>
            </a:endParaRPr>
          </a:p>
          <a:p>
            <a:pPr marL="241300" marR="422909" indent="-229235">
              <a:lnSpc>
                <a:spcPts val="3020"/>
              </a:lnSpc>
              <a:spcBef>
                <a:spcPts val="104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It is</a:t>
            </a:r>
            <a:r>
              <a:rPr sz="2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widely</a:t>
            </a:r>
            <a:r>
              <a:rPr sz="2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used</a:t>
            </a:r>
            <a:r>
              <a:rPr sz="2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2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various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applications,</a:t>
            </a:r>
            <a:r>
              <a:rPr sz="2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including</a:t>
            </a:r>
            <a:r>
              <a:rPr sz="240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robotics,</a:t>
            </a:r>
            <a:r>
              <a:rPr sz="2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video </a:t>
            </a:r>
            <a:r>
              <a:rPr sz="2400" spc="-6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games,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2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33333"/>
                </a:solidFill>
                <a:latin typeface="Calibri"/>
                <a:cs typeface="Calibri"/>
              </a:rPr>
              <a:t>route</a:t>
            </a:r>
            <a:r>
              <a:rPr sz="2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planning</a:t>
            </a:r>
            <a:r>
              <a:rPr sz="2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33333"/>
                </a:solidFill>
                <a:latin typeface="Calibri"/>
                <a:cs typeface="Calibri"/>
              </a:rPr>
              <a:t>systems.</a:t>
            </a:r>
            <a:endParaRPr sz="24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19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cost</a:t>
            </a:r>
            <a:r>
              <a:rPr sz="2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function</a:t>
            </a:r>
            <a:r>
              <a:rPr sz="2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combines</a:t>
            </a:r>
            <a:r>
              <a:rPr sz="2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actual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cost</a:t>
            </a:r>
            <a:r>
              <a:rPr sz="2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reaching</a:t>
            </a:r>
            <a:r>
              <a:rPr sz="2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node</a:t>
            </a:r>
            <a:r>
              <a:rPr sz="2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from </a:t>
            </a:r>
            <a:r>
              <a:rPr sz="2400" spc="-6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start</a:t>
            </a:r>
            <a:r>
              <a:rPr sz="2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node</a:t>
            </a:r>
            <a:r>
              <a:rPr sz="2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(known</a:t>
            </a:r>
            <a:r>
              <a:rPr sz="24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as</a:t>
            </a:r>
            <a:r>
              <a:rPr sz="2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"g-score")</a:t>
            </a:r>
            <a:r>
              <a:rPr sz="2400" spc="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2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an</a:t>
            </a:r>
            <a:r>
              <a:rPr sz="2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estimated</a:t>
            </a:r>
            <a:r>
              <a:rPr sz="2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cost</a:t>
            </a:r>
            <a:r>
              <a:rPr sz="24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of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reaching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goal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node</a:t>
            </a:r>
            <a:r>
              <a:rPr sz="2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from</a:t>
            </a:r>
            <a:r>
              <a:rPr sz="24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333333"/>
                </a:solidFill>
                <a:latin typeface="Calibri"/>
                <a:cs typeface="Calibri"/>
              </a:rPr>
              <a:t>current</a:t>
            </a:r>
            <a:r>
              <a:rPr sz="24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node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0" y="1676400"/>
            <a:ext cx="4209719" cy="12661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18422E-C783-A88D-65BA-B03B8AA3D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3425" y="1798934"/>
            <a:ext cx="536575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600A4A"/>
                </a:solidFill>
                <a:latin typeface="Calibri"/>
                <a:cs typeface="Calibri"/>
              </a:rPr>
              <a:t>Algorithm</a:t>
            </a:r>
            <a:r>
              <a:rPr spc="-2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pc="5" dirty="0">
                <a:solidFill>
                  <a:srgbClr val="600A4A"/>
                </a:solidFill>
                <a:latin typeface="Calibri"/>
                <a:cs typeface="Calibri"/>
              </a:rPr>
              <a:t>of</a:t>
            </a:r>
            <a:r>
              <a:rPr spc="-2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600A4A"/>
                </a:solidFill>
                <a:latin typeface="Calibri"/>
                <a:cs typeface="Calibri"/>
              </a:rPr>
              <a:t>A*</a:t>
            </a:r>
            <a:r>
              <a:rPr spc="-1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600A4A"/>
                </a:solidFill>
                <a:latin typeface="Calibri"/>
                <a:cs typeface="Calibri"/>
              </a:rPr>
              <a:t>search: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42" y="2819400"/>
            <a:ext cx="10358755" cy="33631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10" dirty="0">
                <a:latin typeface="Calibri"/>
                <a:cs typeface="Calibri"/>
              </a:rPr>
              <a:t>Step1: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Place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starting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node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list.</a:t>
            </a:r>
            <a:endParaRPr sz="2200" dirty="0">
              <a:latin typeface="Calibri"/>
              <a:cs typeface="Calibri"/>
            </a:endParaRPr>
          </a:p>
          <a:p>
            <a:pPr marL="241300" indent="-229235">
              <a:lnSpc>
                <a:spcPts val="2245"/>
              </a:lnSpc>
              <a:spcBef>
                <a:spcPts val="20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10" dirty="0">
                <a:latin typeface="Calibri"/>
                <a:cs typeface="Calibri"/>
              </a:rPr>
              <a:t>Step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2: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Check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if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OPEN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list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empty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not,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list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empty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return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failure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endParaRPr sz="2200" dirty="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spc="-15" dirty="0">
                <a:latin typeface="Calibri"/>
                <a:cs typeface="Calibri"/>
              </a:rPr>
              <a:t>stops.</a:t>
            </a:r>
            <a:endParaRPr sz="2200" dirty="0">
              <a:latin typeface="Calibri"/>
              <a:cs typeface="Calibri"/>
            </a:endParaRPr>
          </a:p>
          <a:p>
            <a:pPr marL="241300" marR="483870" indent="-229235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  <a:tab pos="241935" algn="l"/>
              </a:tabLst>
            </a:pPr>
            <a:r>
              <a:rPr sz="2200" b="1" spc="-10" dirty="0">
                <a:solidFill>
                  <a:srgbClr val="333333"/>
                </a:solidFill>
                <a:latin typeface="Calibri"/>
                <a:cs typeface="Calibri"/>
              </a:rPr>
              <a:t>Step</a:t>
            </a:r>
            <a:r>
              <a:rPr sz="2200" b="1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33333"/>
                </a:solidFill>
                <a:latin typeface="Calibri"/>
                <a:cs typeface="Calibri"/>
              </a:rPr>
              <a:t>3:</a:t>
            </a:r>
            <a:r>
              <a:rPr sz="2200" b="1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Select</a:t>
            </a:r>
            <a:r>
              <a:rPr sz="22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2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node</a:t>
            </a:r>
            <a:r>
              <a:rPr sz="22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33333"/>
                </a:solidFill>
                <a:latin typeface="Calibri"/>
                <a:cs typeface="Calibri"/>
              </a:rPr>
              <a:t>from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OPEN</a:t>
            </a:r>
            <a:r>
              <a:rPr sz="22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list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 which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has</a:t>
            </a:r>
            <a:r>
              <a:rPr sz="22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smallest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value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22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evaluation </a:t>
            </a:r>
            <a:r>
              <a:rPr sz="2200" spc="-4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function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(g+h),</a:t>
            </a:r>
            <a:r>
              <a:rPr sz="22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22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node</a:t>
            </a:r>
            <a:r>
              <a:rPr sz="22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n is</a:t>
            </a:r>
            <a:r>
              <a:rPr sz="22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goal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node</a:t>
            </a:r>
            <a:r>
              <a:rPr sz="22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then</a:t>
            </a:r>
            <a:r>
              <a:rPr sz="22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return success</a:t>
            </a:r>
            <a:r>
              <a:rPr sz="22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33333"/>
                </a:solidFill>
                <a:latin typeface="Calibri"/>
                <a:cs typeface="Calibri"/>
              </a:rPr>
              <a:t>stop,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otherwise</a:t>
            </a:r>
            <a:endParaRPr sz="2200" dirty="0">
              <a:latin typeface="Calibri"/>
              <a:cs typeface="Calibri"/>
            </a:endParaRPr>
          </a:p>
          <a:p>
            <a:pPr marL="241300" marR="5080" indent="-229235" algn="just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935" algn="l"/>
              </a:tabLst>
            </a:pPr>
            <a:r>
              <a:rPr sz="2200" b="1" spc="-10" dirty="0">
                <a:solidFill>
                  <a:srgbClr val="333333"/>
                </a:solidFill>
                <a:latin typeface="Calibri"/>
                <a:cs typeface="Calibri"/>
              </a:rPr>
              <a:t>Step</a:t>
            </a:r>
            <a:r>
              <a:rPr sz="2200" b="1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b="1" spc="5" dirty="0">
                <a:solidFill>
                  <a:srgbClr val="333333"/>
                </a:solidFill>
                <a:latin typeface="Calibri"/>
                <a:cs typeface="Calibri"/>
              </a:rPr>
              <a:t>4:</a:t>
            </a:r>
            <a:r>
              <a:rPr sz="2200" b="1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Expand</a:t>
            </a:r>
            <a:r>
              <a:rPr sz="2200" spc="1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node</a:t>
            </a:r>
            <a:r>
              <a:rPr sz="2200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n</a:t>
            </a:r>
            <a:r>
              <a:rPr sz="2200" spc="1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2200" spc="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33333"/>
                </a:solidFill>
                <a:latin typeface="Calibri"/>
                <a:cs typeface="Calibri"/>
              </a:rPr>
              <a:t>generate</a:t>
            </a:r>
            <a:r>
              <a:rPr sz="2200" spc="1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all</a:t>
            </a:r>
            <a:r>
              <a:rPr sz="2200" spc="1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2200" spc="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its</a:t>
            </a:r>
            <a:r>
              <a:rPr sz="2200" spc="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successors,</a:t>
            </a:r>
            <a:r>
              <a:rPr sz="2200" spc="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2200" spc="1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put</a:t>
            </a:r>
            <a:r>
              <a:rPr sz="2200" spc="1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n</a:t>
            </a:r>
            <a:r>
              <a:rPr sz="2200" spc="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33333"/>
                </a:solidFill>
                <a:latin typeface="Calibri"/>
                <a:cs typeface="Calibri"/>
              </a:rPr>
              <a:t>into</a:t>
            </a:r>
            <a:r>
              <a:rPr sz="2200" spc="1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200" spc="1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closed</a:t>
            </a:r>
            <a:r>
              <a:rPr sz="2200" spc="1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list. </a:t>
            </a:r>
            <a:r>
              <a:rPr sz="2200" spc="-48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33333"/>
                </a:solidFill>
                <a:latin typeface="Calibri"/>
                <a:cs typeface="Calibri"/>
              </a:rPr>
              <a:t>For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each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successor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n', check whether 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n'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is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already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in the OPEN 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or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CLOSED list,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if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not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then 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33333"/>
                </a:solidFill>
                <a:latin typeface="Calibri"/>
                <a:cs typeface="Calibri"/>
              </a:rPr>
              <a:t>compute</a:t>
            </a:r>
            <a:r>
              <a:rPr sz="2200" spc="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evaluation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 function</a:t>
            </a:r>
            <a:r>
              <a:rPr sz="22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33333"/>
                </a:solidFill>
                <a:latin typeface="Calibri"/>
                <a:cs typeface="Calibri"/>
              </a:rPr>
              <a:t>for</a:t>
            </a:r>
            <a:r>
              <a:rPr sz="22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n'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22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place</a:t>
            </a:r>
            <a:r>
              <a:rPr sz="22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33333"/>
                </a:solidFill>
                <a:latin typeface="Calibri"/>
                <a:cs typeface="Calibri"/>
              </a:rPr>
              <a:t>into</a:t>
            </a:r>
            <a:r>
              <a:rPr sz="22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Open</a:t>
            </a:r>
            <a:r>
              <a:rPr sz="22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list.</a:t>
            </a:r>
            <a:endParaRPr sz="2200" dirty="0">
              <a:latin typeface="Calibri"/>
              <a:cs typeface="Calibri"/>
            </a:endParaRPr>
          </a:p>
          <a:p>
            <a:pPr marL="241300" indent="-229235" algn="just">
              <a:lnSpc>
                <a:spcPts val="2245"/>
              </a:lnSpc>
              <a:spcBef>
                <a:spcPts val="204"/>
              </a:spcBef>
              <a:buFont typeface="Arial MT"/>
              <a:buChar char="•"/>
              <a:tabLst>
                <a:tab pos="241935" algn="l"/>
              </a:tabLst>
            </a:pPr>
            <a:r>
              <a:rPr sz="2200" b="1" spc="-10" dirty="0">
                <a:solidFill>
                  <a:srgbClr val="333333"/>
                </a:solidFill>
                <a:latin typeface="Calibri"/>
                <a:cs typeface="Calibri"/>
              </a:rPr>
              <a:t>Step</a:t>
            </a:r>
            <a:r>
              <a:rPr sz="2200" b="1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33333"/>
                </a:solidFill>
                <a:latin typeface="Calibri"/>
                <a:cs typeface="Calibri"/>
              </a:rPr>
              <a:t>5:</a:t>
            </a:r>
            <a:r>
              <a:rPr sz="2200" b="1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Else</a:t>
            </a:r>
            <a:r>
              <a:rPr sz="22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if</a:t>
            </a:r>
            <a:r>
              <a:rPr sz="22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node</a:t>
            </a:r>
            <a:r>
              <a:rPr sz="22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n'</a:t>
            </a:r>
            <a:r>
              <a:rPr sz="22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200" spc="1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already</a:t>
            </a:r>
            <a:r>
              <a:rPr sz="22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in</a:t>
            </a:r>
            <a:r>
              <a:rPr sz="22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OPEN</a:t>
            </a:r>
            <a:r>
              <a:rPr sz="22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22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33333"/>
                </a:solidFill>
                <a:latin typeface="Calibri"/>
                <a:cs typeface="Calibri"/>
              </a:rPr>
              <a:t>CLOSED,</a:t>
            </a:r>
            <a:r>
              <a:rPr sz="2200" spc="1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then</a:t>
            </a:r>
            <a:r>
              <a:rPr sz="2200" spc="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it</a:t>
            </a:r>
            <a:r>
              <a:rPr sz="22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should</a:t>
            </a:r>
            <a:r>
              <a:rPr sz="2200" spc="1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be</a:t>
            </a:r>
            <a:r>
              <a:rPr sz="22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33333"/>
                </a:solidFill>
                <a:latin typeface="Calibri"/>
                <a:cs typeface="Calibri"/>
              </a:rPr>
              <a:t>attached</a:t>
            </a:r>
            <a:r>
              <a:rPr sz="2200" spc="114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2200" spc="1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endParaRPr sz="2200" dirty="0">
              <a:latin typeface="Calibri"/>
              <a:cs typeface="Calibri"/>
            </a:endParaRPr>
          </a:p>
          <a:p>
            <a:pPr marL="241300" algn="just">
              <a:lnSpc>
                <a:spcPts val="2245"/>
              </a:lnSpc>
            </a:pP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back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33333"/>
                </a:solidFill>
                <a:latin typeface="Calibri"/>
                <a:cs typeface="Calibri"/>
              </a:rPr>
              <a:t>pointer</a:t>
            </a:r>
            <a:r>
              <a:rPr sz="22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which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33333"/>
                </a:solidFill>
                <a:latin typeface="Calibri"/>
                <a:cs typeface="Calibri"/>
              </a:rPr>
              <a:t>reflects</a:t>
            </a:r>
            <a:r>
              <a:rPr sz="22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sz="22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33333"/>
                </a:solidFill>
                <a:latin typeface="Calibri"/>
                <a:cs typeface="Calibri"/>
              </a:rPr>
              <a:t>lowest</a:t>
            </a:r>
            <a:r>
              <a:rPr sz="22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g(n')</a:t>
            </a:r>
            <a:r>
              <a:rPr sz="22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33333"/>
                </a:solidFill>
                <a:latin typeface="Calibri"/>
                <a:cs typeface="Calibri"/>
              </a:rPr>
              <a:t>value.</a:t>
            </a:r>
            <a:endParaRPr sz="2200" dirty="0">
              <a:latin typeface="Calibri"/>
              <a:cs typeface="Calibri"/>
            </a:endParaRPr>
          </a:p>
          <a:p>
            <a:pPr marL="241300" indent="-229235" algn="just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241935" algn="l"/>
              </a:tabLst>
            </a:pPr>
            <a:r>
              <a:rPr sz="2200" b="1" spc="-10" dirty="0">
                <a:solidFill>
                  <a:srgbClr val="333333"/>
                </a:solidFill>
                <a:latin typeface="Calibri"/>
                <a:cs typeface="Calibri"/>
              </a:rPr>
              <a:t>Step </a:t>
            </a:r>
            <a:r>
              <a:rPr sz="2200" b="1" spc="-5" dirty="0">
                <a:solidFill>
                  <a:srgbClr val="333333"/>
                </a:solidFill>
                <a:latin typeface="Calibri"/>
                <a:cs typeface="Calibri"/>
              </a:rPr>
              <a:t>6:</a:t>
            </a:r>
            <a:r>
              <a:rPr sz="2200" b="1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333333"/>
                </a:solidFill>
                <a:latin typeface="Calibri"/>
                <a:cs typeface="Calibri"/>
              </a:rPr>
              <a:t>Return</a:t>
            </a:r>
            <a:r>
              <a:rPr sz="2200" spc="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22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33333"/>
                </a:solidFill>
                <a:latin typeface="Calibri"/>
                <a:cs typeface="Calibri"/>
              </a:rPr>
              <a:t>Step</a:t>
            </a:r>
            <a:r>
              <a:rPr sz="2200" b="1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33333"/>
                </a:solidFill>
                <a:latin typeface="Calibri"/>
                <a:cs typeface="Calibri"/>
              </a:rPr>
              <a:t>2</a:t>
            </a:r>
            <a:r>
              <a:rPr sz="2200" spc="-5" dirty="0">
                <a:solidFill>
                  <a:srgbClr val="333333"/>
                </a:solidFill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7A0410-1685-F366-64A9-0B56D968E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698877"/>
            <a:ext cx="391223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Advantages</a:t>
            </a:r>
            <a:r>
              <a:rPr spc="-6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5" dirty="0"/>
              <a:t>A*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8593" y="2667000"/>
            <a:ext cx="10229215" cy="390876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18745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Optimality: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A*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guarantees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finding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shortest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path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given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start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goal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node,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provided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certain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conditions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Efficiency: </a:t>
            </a:r>
            <a:r>
              <a:rPr sz="2800" spc="-5" dirty="0">
                <a:latin typeface="Calibri"/>
                <a:cs typeface="Calibri"/>
              </a:rPr>
              <a:t>A*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typically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more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efficient</a:t>
            </a:r>
            <a:r>
              <a:rPr sz="2800" spc="-5" dirty="0">
                <a:latin typeface="Calibri"/>
                <a:cs typeface="Calibri"/>
              </a:rPr>
              <a:t> than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brute-force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search </a:t>
            </a:r>
            <a:r>
              <a:rPr sz="2800" spc="-10" dirty="0">
                <a:latin typeface="Calibri"/>
                <a:cs typeface="Calibri"/>
              </a:rPr>
              <a:t> algorithms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like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breadth-first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search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5" dirty="0">
                <a:latin typeface="Calibri"/>
                <a:cs typeface="Calibri"/>
              </a:rPr>
              <a:t>depth-first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especially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large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graphs.</a:t>
            </a:r>
            <a:endParaRPr sz="2800" dirty="0">
              <a:latin typeface="Calibri"/>
              <a:cs typeface="Calibri"/>
            </a:endParaRPr>
          </a:p>
          <a:p>
            <a:pPr marL="241300" marR="278130" indent="-229235">
              <a:lnSpc>
                <a:spcPts val="3030"/>
              </a:lnSpc>
              <a:spcBef>
                <a:spcPts val="100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Flexibility: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A*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applied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range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problems,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including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pathfinding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grids,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maps,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5" dirty="0">
                <a:latin typeface="Calibri"/>
                <a:cs typeface="Calibri"/>
              </a:rPr>
              <a:t>networks</a:t>
            </a:r>
            <a:endParaRPr sz="2800" dirty="0">
              <a:latin typeface="Calibri"/>
              <a:cs typeface="Calibri"/>
            </a:endParaRPr>
          </a:p>
          <a:p>
            <a:pPr marL="241300" marR="434975" indent="-229235">
              <a:lnSpc>
                <a:spcPts val="3020"/>
              </a:lnSpc>
              <a:spcBef>
                <a:spcPts val="99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Speed: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A*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often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faster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uninformed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search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because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intelligently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prioritizes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exploration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nodes.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7ACF43-1A7F-FC53-1C36-8B1444D05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5287" y="1786137"/>
            <a:ext cx="454152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Disadvantages</a:t>
            </a:r>
            <a:r>
              <a:rPr spc="-5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5" dirty="0"/>
              <a:t>A*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287" y="2667000"/>
            <a:ext cx="10306051" cy="4000711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9235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5" dirty="0">
                <a:latin typeface="Calibri"/>
                <a:cs typeface="Calibri"/>
              </a:rPr>
              <a:t>Heuristic Accuracy: The </a:t>
            </a:r>
            <a:r>
              <a:rPr sz="2600" spc="-10" dirty="0">
                <a:latin typeface="Calibri"/>
                <a:cs typeface="Calibri"/>
              </a:rPr>
              <a:t>performance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A* </a:t>
            </a:r>
            <a:r>
              <a:rPr sz="2600" spc="-10" dirty="0">
                <a:latin typeface="Calibri"/>
                <a:cs typeface="Calibri"/>
              </a:rPr>
              <a:t>heavily </a:t>
            </a:r>
            <a:r>
              <a:rPr sz="2600" spc="-5" dirty="0">
                <a:latin typeface="Calibri"/>
                <a:cs typeface="Calibri"/>
              </a:rPr>
              <a:t>relies on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accuracy of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heuristic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function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used</a:t>
            </a:r>
            <a:endParaRPr sz="2600" dirty="0">
              <a:latin typeface="Calibri"/>
              <a:cs typeface="Calibri"/>
            </a:endParaRPr>
          </a:p>
          <a:p>
            <a:pPr marL="241300" marR="380365" indent="-229235">
              <a:lnSpc>
                <a:spcPts val="2500"/>
              </a:lnSpc>
              <a:spcBef>
                <a:spcPts val="97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Memory </a:t>
            </a:r>
            <a:r>
              <a:rPr sz="2600" spc="-10" dirty="0">
                <a:latin typeface="Calibri"/>
                <a:cs typeface="Calibri"/>
              </a:rPr>
              <a:t>Requirements: </a:t>
            </a:r>
            <a:r>
              <a:rPr sz="2600" dirty="0">
                <a:latin typeface="Calibri"/>
                <a:cs typeface="Calibri"/>
              </a:rPr>
              <a:t>A* </a:t>
            </a:r>
            <a:r>
              <a:rPr sz="2600" spc="-5" dirty="0">
                <a:latin typeface="Calibri"/>
                <a:cs typeface="Calibri"/>
              </a:rPr>
              <a:t>needs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20" dirty="0">
                <a:latin typeface="Calibri"/>
                <a:cs typeface="Calibri"/>
              </a:rPr>
              <a:t>keep </a:t>
            </a:r>
            <a:r>
              <a:rPr sz="2600" spc="-10" dirty="0">
                <a:latin typeface="Calibri"/>
                <a:cs typeface="Calibri"/>
              </a:rPr>
              <a:t>track </a:t>
            </a:r>
            <a:r>
              <a:rPr sz="2600" dirty="0">
                <a:latin typeface="Calibri"/>
                <a:cs typeface="Calibri"/>
              </a:rPr>
              <a:t>of the </a:t>
            </a:r>
            <a:r>
              <a:rPr sz="2600" spc="-5" dirty="0">
                <a:latin typeface="Calibri"/>
                <a:cs typeface="Calibri"/>
              </a:rPr>
              <a:t>nodes </a:t>
            </a:r>
            <a:r>
              <a:rPr sz="2600" dirty="0">
                <a:latin typeface="Calibri"/>
                <a:cs typeface="Calibri"/>
              </a:rPr>
              <a:t>in the </a:t>
            </a:r>
            <a:r>
              <a:rPr sz="2600" spc="-5" dirty="0">
                <a:latin typeface="Calibri"/>
                <a:cs typeface="Calibri"/>
              </a:rPr>
              <a:t>open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closed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sets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during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0" dirty="0">
                <a:latin typeface="Calibri"/>
                <a:cs typeface="Calibri"/>
              </a:rPr>
              <a:t> search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process.</a:t>
            </a:r>
            <a:endParaRPr sz="2600" dirty="0">
              <a:latin typeface="Calibri"/>
              <a:cs typeface="Calibri"/>
            </a:endParaRPr>
          </a:p>
          <a:p>
            <a:pPr marL="241300" marR="17145" indent="-229235">
              <a:lnSpc>
                <a:spcPct val="80000"/>
              </a:lnSpc>
              <a:spcBef>
                <a:spcPts val="102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10" dirty="0">
                <a:latin typeface="Calibri"/>
                <a:cs typeface="Calibri"/>
              </a:rPr>
              <a:t>Computational Complexity: </a:t>
            </a:r>
            <a:r>
              <a:rPr sz="2600" dirty="0">
                <a:latin typeface="Calibri"/>
                <a:cs typeface="Calibri"/>
              </a:rPr>
              <a:t>Although A* is </a:t>
            </a:r>
            <a:r>
              <a:rPr sz="2600" spc="-10" dirty="0">
                <a:latin typeface="Calibri"/>
                <a:cs typeface="Calibri"/>
              </a:rPr>
              <a:t>generally efficient, </a:t>
            </a:r>
            <a:r>
              <a:rPr sz="2600" dirty="0">
                <a:latin typeface="Calibri"/>
                <a:cs typeface="Calibri"/>
              </a:rPr>
              <a:t>its </a:t>
            </a:r>
            <a:r>
              <a:rPr sz="2600" spc="-15" dirty="0">
                <a:latin typeface="Calibri"/>
                <a:cs typeface="Calibri"/>
              </a:rPr>
              <a:t>worst- 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case </a:t>
            </a:r>
            <a:r>
              <a:rPr sz="2600" dirty="0">
                <a:latin typeface="Calibri"/>
                <a:cs typeface="Calibri"/>
              </a:rPr>
              <a:t>time </a:t>
            </a:r>
            <a:r>
              <a:rPr sz="2600" spc="-10" dirty="0">
                <a:latin typeface="Calibri"/>
                <a:cs typeface="Calibri"/>
              </a:rPr>
              <a:t>complexity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10" dirty="0">
                <a:latin typeface="Calibri"/>
                <a:cs typeface="Calibri"/>
              </a:rPr>
              <a:t>exponential. </a:t>
            </a:r>
            <a:r>
              <a:rPr sz="2600" dirty="0">
                <a:latin typeface="Calibri"/>
                <a:cs typeface="Calibri"/>
              </a:rPr>
              <a:t>In </a:t>
            </a:r>
            <a:r>
              <a:rPr sz="2600" spc="-10" dirty="0">
                <a:latin typeface="Calibri"/>
                <a:cs typeface="Calibri"/>
              </a:rPr>
              <a:t>graphs </a:t>
            </a:r>
            <a:r>
              <a:rPr sz="2600" dirty="0">
                <a:latin typeface="Calibri"/>
                <a:cs typeface="Calibri"/>
              </a:rPr>
              <a:t>with </a:t>
            </a:r>
            <a:r>
              <a:rPr sz="2600" spc="-15" dirty="0">
                <a:latin typeface="Calibri"/>
                <a:cs typeface="Calibri"/>
              </a:rPr>
              <a:t>many </a:t>
            </a:r>
            <a:r>
              <a:rPr sz="2600" spc="-5" dirty="0">
                <a:latin typeface="Calibri"/>
                <a:cs typeface="Calibri"/>
              </a:rPr>
              <a:t>possible paths or </a:t>
            </a:r>
            <a:r>
              <a:rPr sz="2600" dirty="0">
                <a:latin typeface="Calibri"/>
                <a:cs typeface="Calibri"/>
              </a:rPr>
              <a:t> when </a:t>
            </a:r>
            <a:r>
              <a:rPr sz="2600" spc="-5" dirty="0">
                <a:latin typeface="Calibri"/>
                <a:cs typeface="Calibri"/>
              </a:rPr>
              <a:t>using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poor heuristic, </a:t>
            </a:r>
            <a:r>
              <a:rPr sz="2600" dirty="0">
                <a:latin typeface="Calibri"/>
                <a:cs typeface="Calibri"/>
              </a:rPr>
              <a:t>A* </a:t>
            </a:r>
            <a:r>
              <a:rPr sz="2600" spc="-10" dirty="0">
                <a:latin typeface="Calibri"/>
                <a:cs typeface="Calibri"/>
              </a:rPr>
              <a:t>can degrade </a:t>
            </a:r>
            <a:r>
              <a:rPr sz="2600" dirty="0">
                <a:latin typeface="Calibri"/>
                <a:cs typeface="Calibri"/>
              </a:rPr>
              <a:t>in </a:t>
            </a:r>
            <a:r>
              <a:rPr sz="2600" spc="-10" dirty="0">
                <a:latin typeface="Calibri"/>
                <a:cs typeface="Calibri"/>
              </a:rPr>
              <a:t>performance. </a:t>
            </a:r>
            <a:r>
              <a:rPr sz="2600" dirty="0">
                <a:latin typeface="Calibri"/>
                <a:cs typeface="Calibri"/>
              </a:rPr>
              <a:t>In </a:t>
            </a:r>
            <a:r>
              <a:rPr sz="2600" spc="-5" dirty="0">
                <a:latin typeface="Calibri"/>
                <a:cs typeface="Calibri"/>
              </a:rPr>
              <a:t>such cases,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alternative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algorithms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like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Dijkstra's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algorithm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(which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guarantees 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optimality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but lacks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heuristic-guided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search)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might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be</a:t>
            </a:r>
            <a:r>
              <a:rPr sz="2600" spc="-10" dirty="0">
                <a:latin typeface="Calibri"/>
                <a:cs typeface="Calibri"/>
              </a:rPr>
              <a:t> more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suitable.</a:t>
            </a:r>
            <a:endParaRPr sz="2600" dirty="0">
              <a:latin typeface="Calibri"/>
              <a:cs typeface="Calibri"/>
            </a:endParaRPr>
          </a:p>
          <a:p>
            <a:pPr marL="241300" marR="312420" indent="-229235">
              <a:lnSpc>
                <a:spcPts val="2500"/>
              </a:lnSpc>
              <a:spcBef>
                <a:spcPts val="97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25" dirty="0">
                <a:latin typeface="Calibri"/>
                <a:cs typeface="Calibri"/>
              </a:rPr>
              <a:t>Path </a:t>
            </a:r>
            <a:r>
              <a:rPr sz="2600" spc="-10" dirty="0">
                <a:latin typeface="Calibri"/>
                <a:cs typeface="Calibri"/>
              </a:rPr>
              <a:t>Reoptimization: </a:t>
            </a:r>
            <a:r>
              <a:rPr sz="2600" dirty="0">
                <a:latin typeface="Calibri"/>
                <a:cs typeface="Calibri"/>
              </a:rPr>
              <a:t>A* assumes </a:t>
            </a:r>
            <a:r>
              <a:rPr sz="2600" spc="-5" dirty="0">
                <a:latin typeface="Calibri"/>
                <a:cs typeface="Calibri"/>
              </a:rPr>
              <a:t>that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environment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15" dirty="0">
                <a:latin typeface="Calibri"/>
                <a:cs typeface="Calibri"/>
              </a:rPr>
              <a:t>costs </a:t>
            </a:r>
            <a:r>
              <a:rPr sz="2600" spc="-5" dirty="0">
                <a:latin typeface="Calibri"/>
                <a:cs typeface="Calibri"/>
              </a:rPr>
              <a:t>remain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static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throughout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search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2D14B2-4634-A107-8422-D2B13953E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1383" y="1747826"/>
            <a:ext cx="33267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5" dirty="0"/>
              <a:t>AO*</a:t>
            </a:r>
            <a:r>
              <a:rPr b="1" spc="-105" dirty="0"/>
              <a:t> </a:t>
            </a:r>
            <a:r>
              <a:rPr b="1" spc="-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6623" y="2438400"/>
            <a:ext cx="10318751" cy="41638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AND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OR</a:t>
            </a:r>
            <a:endParaRPr sz="26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10" dirty="0">
                <a:latin typeface="Calibri"/>
                <a:cs typeface="Calibri"/>
              </a:rPr>
              <a:t>AO*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(Anytime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Repairing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A*)</a:t>
            </a:r>
          </a:p>
          <a:p>
            <a:pPr marL="241300" indent="-229235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extension</a:t>
            </a:r>
            <a:r>
              <a:rPr sz="2600" b="1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A*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algorithm</a:t>
            </a:r>
            <a:endParaRPr sz="2600" dirty="0">
              <a:latin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10" dirty="0">
                <a:latin typeface="Calibri"/>
                <a:cs typeface="Calibri"/>
              </a:rPr>
              <a:t>AO*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useful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scenarios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where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entire</a:t>
            </a:r>
            <a:r>
              <a:rPr sz="2600" b="1" spc="15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graph</a:t>
            </a:r>
            <a:r>
              <a:rPr sz="2600" b="1" spc="2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is</a:t>
            </a:r>
            <a:r>
              <a:rPr sz="2600" b="1" spc="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not</a:t>
            </a:r>
            <a:r>
              <a:rPr sz="2600" b="1" spc="10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known</a:t>
            </a:r>
            <a:r>
              <a:rPr sz="2600" b="1" spc="5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in</a:t>
            </a:r>
            <a:r>
              <a:rPr sz="2600" b="1" spc="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advance</a:t>
            </a:r>
            <a:r>
              <a:rPr sz="2600" spc="-10" dirty="0">
                <a:latin typeface="Calibri"/>
                <a:cs typeface="Calibri"/>
              </a:rPr>
              <a:t>,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spc="-15" dirty="0">
                <a:latin typeface="Calibri"/>
                <a:cs typeface="Calibri"/>
              </a:rPr>
              <a:t>graph</a:t>
            </a:r>
            <a:r>
              <a:rPr sz="2600" b="1" spc="15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can </a:t>
            </a:r>
            <a:r>
              <a:rPr sz="2600" b="1" spc="-10" dirty="0">
                <a:latin typeface="Calibri"/>
                <a:cs typeface="Calibri"/>
              </a:rPr>
              <a:t>change</a:t>
            </a:r>
            <a:r>
              <a:rPr sz="2600" b="1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dynamically</a:t>
            </a:r>
            <a:r>
              <a:rPr sz="2600" b="1" spc="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over</a:t>
            </a:r>
            <a:r>
              <a:rPr sz="2600" dirty="0">
                <a:latin typeface="Calibri"/>
                <a:cs typeface="Calibri"/>
              </a:rPr>
              <a:t> time.</a:t>
            </a:r>
          </a:p>
          <a:p>
            <a:pPr marL="241300" marR="194945" indent="-229235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5" dirty="0">
                <a:latin typeface="Calibri"/>
                <a:cs typeface="Calibri"/>
              </a:rPr>
              <a:t>begins </a:t>
            </a:r>
            <a:r>
              <a:rPr sz="2600" dirty="0">
                <a:latin typeface="Calibri"/>
                <a:cs typeface="Calibri"/>
              </a:rPr>
              <a:t>with a </a:t>
            </a:r>
            <a:r>
              <a:rPr sz="2600" spc="-5" dirty="0">
                <a:latin typeface="Calibri"/>
                <a:cs typeface="Calibri"/>
              </a:rPr>
              <a:t>limited knowledge 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graph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b="1" spc="-5" dirty="0">
                <a:latin typeface="Calibri"/>
                <a:cs typeface="Calibri"/>
              </a:rPr>
              <a:t>continuously </a:t>
            </a:r>
            <a:r>
              <a:rPr sz="2600" b="1" spc="-10" dirty="0">
                <a:latin typeface="Calibri"/>
                <a:cs typeface="Calibri"/>
              </a:rPr>
              <a:t>refines </a:t>
            </a:r>
            <a:r>
              <a:rPr sz="2600" b="1" spc="-5" dirty="0">
                <a:latin typeface="Calibri"/>
                <a:cs typeface="Calibri"/>
              </a:rPr>
              <a:t>its </a:t>
            </a:r>
            <a:r>
              <a:rPr sz="2600" b="1" spc="-575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solution</a:t>
            </a:r>
            <a:r>
              <a:rPr sz="2600" b="1" dirty="0">
                <a:latin typeface="Calibri"/>
                <a:cs typeface="Calibri"/>
              </a:rPr>
              <a:t> as</a:t>
            </a:r>
            <a:r>
              <a:rPr sz="2600" b="1" spc="-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it</a:t>
            </a:r>
            <a:r>
              <a:rPr sz="2600" b="1" spc="-10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acquires</a:t>
            </a:r>
            <a:r>
              <a:rPr sz="2600" b="1" spc="10" dirty="0">
                <a:latin typeface="Calibri"/>
                <a:cs typeface="Calibri"/>
              </a:rPr>
              <a:t> </a:t>
            </a:r>
            <a:r>
              <a:rPr sz="2600" b="1" spc="-5" dirty="0">
                <a:latin typeface="Calibri"/>
                <a:cs typeface="Calibri"/>
              </a:rPr>
              <a:t>more</a:t>
            </a:r>
            <a:r>
              <a:rPr sz="2600" b="1" spc="-1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information.</a:t>
            </a:r>
            <a:endParaRPr sz="2600" dirty="0">
              <a:latin typeface="Calibri"/>
              <a:cs typeface="Calibri"/>
            </a:endParaRPr>
          </a:p>
          <a:p>
            <a:pPr marL="241300" indent="-229235">
              <a:lnSpc>
                <a:spcPts val="2650"/>
              </a:lnSpc>
              <a:spcBef>
                <a:spcPts val="7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spc="-5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key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idea</a:t>
            </a:r>
            <a:r>
              <a:rPr sz="2600" spc="-5" dirty="0">
                <a:latin typeface="Calibri"/>
                <a:cs typeface="Calibri"/>
              </a:rPr>
              <a:t> behind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AO*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concept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"</a:t>
            </a:r>
            <a:r>
              <a:rPr sz="2600" b="1" spc="-10" dirty="0">
                <a:latin typeface="Calibri"/>
                <a:cs typeface="Calibri"/>
              </a:rPr>
              <a:t>consistent</a:t>
            </a:r>
            <a:r>
              <a:rPr sz="2600" b="1" spc="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subgraphs</a:t>
            </a:r>
            <a:r>
              <a:rPr sz="2600" spc="-10" dirty="0">
                <a:latin typeface="Calibri"/>
                <a:cs typeface="Calibri"/>
              </a:rPr>
              <a:t>."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Instead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spc="-10" dirty="0">
                <a:latin typeface="Calibri"/>
                <a:cs typeface="Calibri"/>
              </a:rPr>
              <a:t>having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single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graph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representing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entire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problem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space,</a:t>
            </a:r>
            <a:r>
              <a:rPr sz="2600" spc="-10" dirty="0">
                <a:latin typeface="Calibri"/>
                <a:cs typeface="Calibri"/>
              </a:rPr>
              <a:t> AO*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spc="-5" dirty="0">
                <a:latin typeface="Calibri"/>
                <a:cs typeface="Calibri"/>
              </a:rPr>
              <a:t>maintains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multiple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subgraphs,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representing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consistent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subset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</a:p>
          <a:p>
            <a:pPr marL="241300" marR="513715">
              <a:lnSpc>
                <a:spcPct val="70000"/>
              </a:lnSpc>
              <a:spcBef>
                <a:spcPts val="470"/>
              </a:spcBef>
            </a:pPr>
            <a:r>
              <a:rPr sz="2600" spc="-10" dirty="0">
                <a:latin typeface="Calibri"/>
                <a:cs typeface="Calibri"/>
              </a:rPr>
              <a:t>problem </a:t>
            </a:r>
            <a:r>
              <a:rPr sz="2600" spc="-5" dirty="0">
                <a:latin typeface="Calibri"/>
                <a:cs typeface="Calibri"/>
              </a:rPr>
              <a:t>space. </a:t>
            </a:r>
            <a:r>
              <a:rPr sz="2600" dirty="0">
                <a:latin typeface="Calibri"/>
                <a:cs typeface="Calibri"/>
              </a:rPr>
              <a:t>As the </a:t>
            </a:r>
            <a:r>
              <a:rPr sz="2600" spc="-5" dirty="0">
                <a:latin typeface="Calibri"/>
                <a:cs typeface="Calibri"/>
              </a:rPr>
              <a:t>algorithm </a:t>
            </a:r>
            <a:r>
              <a:rPr sz="2600" spc="-15" dirty="0">
                <a:latin typeface="Calibri"/>
                <a:cs typeface="Calibri"/>
              </a:rPr>
              <a:t>explores </a:t>
            </a:r>
            <a:r>
              <a:rPr sz="2600" spc="-5" dirty="0">
                <a:latin typeface="Calibri"/>
                <a:cs typeface="Calibri"/>
              </a:rPr>
              <a:t>new </a:t>
            </a:r>
            <a:r>
              <a:rPr sz="2600" spc="-10" dirty="0">
                <a:latin typeface="Calibri"/>
                <a:cs typeface="Calibri"/>
              </a:rPr>
              <a:t>areas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graph, </a:t>
            </a:r>
            <a:r>
              <a:rPr sz="2600" dirty="0">
                <a:latin typeface="Calibri"/>
                <a:cs typeface="Calibri"/>
              </a:rPr>
              <a:t>it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expands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repairs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subgraphs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incorporate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new</a:t>
            </a:r>
            <a:r>
              <a:rPr sz="2600" spc="-10" dirty="0">
                <a:latin typeface="Calibri"/>
                <a:cs typeface="Calibri"/>
              </a:rPr>
              <a:t> information.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DE213D-9A46-4ECD-035F-8B1A0028D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8228" y="1600200"/>
            <a:ext cx="501777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A*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20" dirty="0"/>
              <a:t>AO*</a:t>
            </a:r>
            <a:r>
              <a:rPr spc="-3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41" y="2819400"/>
            <a:ext cx="10197465" cy="328577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923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0" dirty="0">
                <a:latin typeface="Calibri"/>
                <a:cs typeface="Calibri"/>
              </a:rPr>
              <a:t>AO* </a:t>
            </a:r>
            <a:r>
              <a:rPr sz="2800" spc="-10" dirty="0">
                <a:latin typeface="Calibri"/>
                <a:cs typeface="Calibri"/>
              </a:rPr>
              <a:t>uses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same </a:t>
            </a:r>
            <a:r>
              <a:rPr sz="2800" spc="-20" dirty="0">
                <a:latin typeface="Calibri"/>
                <a:cs typeface="Calibri"/>
              </a:rPr>
              <a:t>cost </a:t>
            </a:r>
            <a:r>
              <a:rPr sz="2800" spc="-5" dirty="0">
                <a:latin typeface="Calibri"/>
                <a:cs typeface="Calibri"/>
              </a:rPr>
              <a:t>function as A*, </a:t>
            </a:r>
            <a:r>
              <a:rPr sz="2800" spc="-15" dirty="0">
                <a:latin typeface="Calibri"/>
                <a:cs typeface="Calibri"/>
              </a:rPr>
              <a:t>combining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g-score </a:t>
            </a:r>
            <a:r>
              <a:rPr sz="2800" spc="-5" dirty="0">
                <a:latin typeface="Calibri"/>
                <a:cs typeface="Calibri"/>
              </a:rPr>
              <a:t>and h-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score to </a:t>
            </a:r>
            <a:r>
              <a:rPr sz="2800" spc="-15" dirty="0">
                <a:latin typeface="Calibri"/>
                <a:cs typeface="Calibri"/>
              </a:rPr>
              <a:t>determine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priority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nodes. </a:t>
            </a:r>
            <a:r>
              <a:rPr sz="2800" b="1" spc="-5" dirty="0">
                <a:latin typeface="Calibri"/>
                <a:cs typeface="Calibri"/>
              </a:rPr>
              <a:t>The main </a:t>
            </a:r>
            <a:r>
              <a:rPr sz="2800" b="1" spc="-15" dirty="0">
                <a:latin typeface="Calibri"/>
                <a:cs typeface="Calibri"/>
              </a:rPr>
              <a:t>difference </a:t>
            </a:r>
            <a:r>
              <a:rPr sz="2800" b="1" spc="-5" dirty="0">
                <a:latin typeface="Calibri"/>
                <a:cs typeface="Calibri"/>
              </a:rPr>
              <a:t>lies in 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the </a:t>
            </a:r>
            <a:r>
              <a:rPr sz="2800" b="1" i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handling </a:t>
            </a:r>
            <a:r>
              <a:rPr sz="2800" b="1" i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 </a:t>
            </a:r>
            <a:r>
              <a:rPr sz="2800" b="1" i="1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incomplete </a:t>
            </a:r>
            <a:r>
              <a:rPr sz="2800" b="1" i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information </a:t>
            </a:r>
            <a:r>
              <a:rPr sz="2800" b="1" spc="-5" dirty="0">
                <a:latin typeface="Calibri"/>
                <a:cs typeface="Calibri"/>
              </a:rPr>
              <a:t>and </a:t>
            </a:r>
            <a:r>
              <a:rPr sz="2800" b="1" dirty="0">
                <a:latin typeface="Calibri"/>
                <a:cs typeface="Calibri"/>
              </a:rPr>
              <a:t>the </a:t>
            </a:r>
            <a:r>
              <a:rPr sz="2800" b="1" i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ability </a:t>
            </a:r>
            <a:r>
              <a:rPr sz="2800" b="1" i="1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 </a:t>
            </a:r>
            <a:r>
              <a:rPr sz="2800" b="1" i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refine </a:t>
            </a:r>
            <a:r>
              <a:rPr sz="2800" b="1" i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 </a:t>
            </a:r>
            <a:r>
              <a:rPr sz="2800" b="1" i="1" spc="-620" dirty="0">
                <a:latin typeface="Calibri"/>
                <a:cs typeface="Calibri"/>
              </a:rPr>
              <a:t> </a:t>
            </a:r>
            <a:r>
              <a:rPr sz="2800" b="1" i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</a:t>
            </a:r>
            <a:r>
              <a:rPr sz="2800" b="1" i="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as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more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information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is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gathered.</a:t>
            </a:r>
            <a:endParaRPr sz="2800" dirty="0">
              <a:latin typeface="Calibri"/>
              <a:cs typeface="Calibri"/>
            </a:endParaRPr>
          </a:p>
          <a:p>
            <a:pPr marL="241300" marR="182245" indent="-229235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summary,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A*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is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widely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used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algorithm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for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finding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shortest </a:t>
            </a:r>
            <a:r>
              <a:rPr sz="2800" b="1" spc="-10" dirty="0">
                <a:latin typeface="Calibri"/>
                <a:cs typeface="Calibri"/>
              </a:rPr>
              <a:t> path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in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graph</a:t>
            </a:r>
            <a:r>
              <a:rPr sz="2800" spc="-15" dirty="0">
                <a:latin typeface="Calibri"/>
                <a:cs typeface="Calibri"/>
              </a:rPr>
              <a:t>,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while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AO*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extends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A*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handle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dynamic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incomplete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graphs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by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incrementally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refining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solution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based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on </a:t>
            </a:r>
            <a:r>
              <a:rPr sz="2800" b="1" spc="-6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new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information.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F88EE6-B174-49DB-87A1-A80FCBE65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0527" y="1665589"/>
            <a:ext cx="10358120" cy="132087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3600" b="1" spc="-15" dirty="0"/>
              <a:t>Knowledge</a:t>
            </a:r>
            <a:r>
              <a:rPr sz="3600" b="1" dirty="0"/>
              <a:t> </a:t>
            </a:r>
            <a:r>
              <a:rPr sz="3600" b="1" spc="-20" dirty="0"/>
              <a:t>Representation:</a:t>
            </a:r>
            <a:r>
              <a:rPr sz="3600" b="1" spc="-15" dirty="0"/>
              <a:t> </a:t>
            </a:r>
            <a:r>
              <a:rPr sz="3600" b="1" spc="-5" dirty="0"/>
              <a:t>Basic</a:t>
            </a:r>
            <a:r>
              <a:rPr sz="3600" b="1" spc="-15" dirty="0"/>
              <a:t> </a:t>
            </a:r>
            <a:r>
              <a:rPr sz="3600" b="1" spc="-10" dirty="0"/>
              <a:t>concepts, </a:t>
            </a:r>
            <a:r>
              <a:rPr sz="3600" b="1" spc="-980" dirty="0"/>
              <a:t> </a:t>
            </a:r>
            <a:r>
              <a:rPr sz="3600" b="1" spc="-15" dirty="0"/>
              <a:t>Knowledge</a:t>
            </a:r>
            <a:r>
              <a:rPr sz="3600" b="1" spc="10" dirty="0"/>
              <a:t> </a:t>
            </a:r>
            <a:r>
              <a:rPr sz="3600" b="1" spc="-20" dirty="0"/>
              <a:t>representation</a:t>
            </a:r>
            <a:r>
              <a:rPr sz="3600" b="1" spc="-25" dirty="0"/>
              <a:t> </a:t>
            </a:r>
            <a:r>
              <a:rPr sz="3600" b="1" spc="-20" dirty="0"/>
              <a:t>Paradigms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3429000"/>
            <a:ext cx="10256520" cy="301108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25146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20" dirty="0">
                <a:latin typeface="Calibri"/>
                <a:cs typeface="Calibri"/>
              </a:rPr>
              <a:t>involves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process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capturing,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organizing,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and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storing 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information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effectively</a:t>
            </a:r>
            <a:r>
              <a:rPr sz="2800" spc="-15" dirty="0">
                <a:latin typeface="Calibri"/>
                <a:cs typeface="Calibri"/>
              </a:rPr>
              <a:t> utilized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intelligent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ts val="3190"/>
              </a:lnSpc>
              <a:spcBef>
                <a:spcPts val="64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10" dirty="0">
                <a:latin typeface="Calibri"/>
                <a:cs typeface="Calibri"/>
              </a:rPr>
              <a:t>facts,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concepts,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rules,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and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relationships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structured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sz="2800" b="1" spc="-10" dirty="0">
                <a:latin typeface="Calibri"/>
                <a:cs typeface="Calibri"/>
              </a:rPr>
              <a:t>machine-readable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form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20" dirty="0">
                <a:latin typeface="Calibri"/>
                <a:cs typeface="Calibri"/>
              </a:rPr>
              <a:t>Effective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knowledge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representation</a:t>
            </a:r>
            <a:r>
              <a:rPr sz="2800" b="1" spc="5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is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crucial</a:t>
            </a:r>
            <a:r>
              <a:rPr sz="2800" b="1" spc="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enabling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AI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reason,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learn,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solve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problems,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make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intelligent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decisions</a:t>
            </a:r>
            <a:r>
              <a:rPr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E67272-F665-814D-4F55-0906F928C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6459" y="1461053"/>
            <a:ext cx="10358120" cy="132087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4000" spc="-55" dirty="0">
                <a:latin typeface="Calibri"/>
                <a:cs typeface="Calibri"/>
              </a:rPr>
              <a:t>key</a:t>
            </a:r>
            <a:r>
              <a:rPr sz="4000" spc="-1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aspects</a:t>
            </a:r>
            <a:r>
              <a:rPr sz="4000" spc="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and</a:t>
            </a:r>
            <a:r>
              <a:rPr sz="4000" spc="-5" dirty="0">
                <a:latin typeface="Calibri"/>
                <a:cs typeface="Calibri"/>
              </a:rPr>
              <a:t> approaches</a:t>
            </a:r>
            <a:r>
              <a:rPr sz="4000" spc="-15" dirty="0">
                <a:latin typeface="Calibri"/>
                <a:cs typeface="Calibri"/>
              </a:rPr>
              <a:t> </a:t>
            </a:r>
            <a:r>
              <a:rPr sz="4000" spc="-25" dirty="0">
                <a:latin typeface="Calibri"/>
                <a:cs typeface="Calibri"/>
              </a:rPr>
              <a:t>to</a:t>
            </a:r>
            <a:r>
              <a:rPr sz="4000" spc="10" dirty="0">
                <a:latin typeface="Calibri"/>
                <a:cs typeface="Calibri"/>
              </a:rPr>
              <a:t> </a:t>
            </a:r>
            <a:r>
              <a:rPr sz="4000" spc="-5" dirty="0">
                <a:latin typeface="Calibri"/>
                <a:cs typeface="Calibri"/>
              </a:rPr>
              <a:t>knowledge </a:t>
            </a:r>
            <a:r>
              <a:rPr sz="4000" spc="-980" dirty="0">
                <a:latin typeface="Calibri"/>
                <a:cs typeface="Calibri"/>
              </a:rPr>
              <a:t> </a:t>
            </a:r>
            <a:r>
              <a:rPr sz="4000" spc="-15" dirty="0">
                <a:latin typeface="Calibri"/>
                <a:cs typeface="Calibri"/>
              </a:rPr>
              <a:t>representation</a:t>
            </a:r>
            <a:r>
              <a:rPr sz="4000" spc="-3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in</a:t>
            </a:r>
            <a:r>
              <a:rPr sz="4000" spc="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AI: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459" y="2781927"/>
            <a:ext cx="10018395" cy="3751027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10" dirty="0">
                <a:latin typeface="Calibri"/>
                <a:cs typeface="Calibri"/>
              </a:rPr>
              <a:t>Symbolic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Representation</a:t>
            </a:r>
            <a:r>
              <a:rPr sz="2800" spc="-15" dirty="0">
                <a:latin typeface="Calibri"/>
                <a:cs typeface="Calibri"/>
              </a:rPr>
              <a:t>: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knowledge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symbols,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Eg: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=,-,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+</a:t>
            </a:r>
            <a:endParaRPr sz="2800" dirty="0">
              <a:latin typeface="Calibri"/>
              <a:cs typeface="Calibri"/>
            </a:endParaRPr>
          </a:p>
          <a:p>
            <a:pPr marL="241300" marR="298450" indent="-22923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5" dirty="0">
                <a:latin typeface="Calibri"/>
                <a:cs typeface="Calibri"/>
              </a:rPr>
              <a:t>Logic-Based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Representation</a:t>
            </a:r>
            <a:r>
              <a:rPr sz="2800" spc="-15" dirty="0">
                <a:latin typeface="Calibri"/>
                <a:cs typeface="Calibri"/>
              </a:rPr>
              <a:t>: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Logic-based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employs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formal</a:t>
            </a:r>
            <a:r>
              <a:rPr sz="2800" spc="-10" dirty="0">
                <a:latin typeface="Calibri"/>
                <a:cs typeface="Calibri"/>
              </a:rPr>
              <a:t> logic,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Eg: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 </a:t>
            </a:r>
            <a:r>
              <a:rPr sz="2800" spc="-15" dirty="0">
                <a:latin typeface="Calibri"/>
                <a:cs typeface="Calibri"/>
              </a:rPr>
              <a:t>temperature_in_living_room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&gt;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25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air_conditioner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=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spc="-5" dirty="0">
                <a:latin typeface="Calibri"/>
                <a:cs typeface="Calibri"/>
              </a:rPr>
              <a:t>Semantic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Networks</a:t>
            </a:r>
            <a:r>
              <a:rPr sz="2800" spc="-15" dirty="0">
                <a:latin typeface="Calibri"/>
                <a:cs typeface="Calibri"/>
              </a:rPr>
              <a:t>: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Semantic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networks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knowledge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using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nodes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(representing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concepts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entities)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directed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edges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(representing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relationships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connections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concepts).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F82B2B-CFB5-8EBF-CFE9-D56282F23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65516" y="1905000"/>
            <a:ext cx="10260965" cy="4220707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marR="961390" indent="-229235">
              <a:lnSpc>
                <a:spcPct val="70000"/>
              </a:lnSpc>
              <a:spcBef>
                <a:spcPts val="96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10" dirty="0">
                <a:latin typeface="Calibri"/>
                <a:cs typeface="Calibri"/>
              </a:rPr>
              <a:t>Object-Oriented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Representation</a:t>
            </a:r>
            <a:r>
              <a:rPr sz="2400" spc="-15" dirty="0">
                <a:latin typeface="Calibri"/>
                <a:cs typeface="Calibri"/>
              </a:rPr>
              <a:t>: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using </a:t>
            </a:r>
            <a:r>
              <a:rPr sz="2400" spc="-10" dirty="0">
                <a:latin typeface="Calibri"/>
                <a:cs typeface="Calibri"/>
              </a:rPr>
              <a:t>hierarchical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structures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latin typeface="Calibri"/>
                <a:cs typeface="Calibri"/>
              </a:rPr>
              <a:t>Eg:</a:t>
            </a:r>
            <a:endParaRPr sz="2400" dirty="0">
              <a:latin typeface="Calibri"/>
              <a:cs typeface="Calibri"/>
            </a:endParaRPr>
          </a:p>
          <a:p>
            <a:pPr marL="243840" indent="-231775">
              <a:lnSpc>
                <a:spcPts val="2770"/>
              </a:lnSpc>
              <a:spcBef>
                <a:spcPts val="145"/>
              </a:spcBef>
              <a:buSzPct val="95833"/>
              <a:buAutoNum type="arabicPeriod"/>
              <a:tabLst>
                <a:tab pos="244475" algn="l"/>
              </a:tabLst>
            </a:pPr>
            <a:r>
              <a:rPr sz="2400" spc="-5" dirty="0">
                <a:latin typeface="Calibri"/>
                <a:cs typeface="Calibri"/>
              </a:rPr>
              <a:t>Class: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Pet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180"/>
              </a:lnSpc>
              <a:buAutoNum type="arabicPeriod"/>
              <a:tabLst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Attributes:</a:t>
            </a:r>
            <a:r>
              <a:rPr sz="2000" spc="-5" dirty="0">
                <a:latin typeface="Calibri"/>
                <a:cs typeface="Calibri"/>
              </a:rPr>
              <a:t> name,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age,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species,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health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ts val="2290"/>
              </a:lnSpc>
              <a:buAutoNum type="arabicPeriod"/>
              <a:tabLst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Behaviors: </a:t>
            </a:r>
            <a:r>
              <a:rPr sz="2000" spc="-5" dirty="0">
                <a:latin typeface="Calibri"/>
                <a:cs typeface="Calibri"/>
              </a:rPr>
              <a:t>eat(),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sleep(),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play()</a:t>
            </a:r>
            <a:endParaRPr sz="2000" dirty="0">
              <a:latin typeface="Calibri"/>
              <a:cs typeface="Calibri"/>
            </a:endParaRPr>
          </a:p>
          <a:p>
            <a:pPr marL="243840" indent="-231775">
              <a:lnSpc>
                <a:spcPts val="2775"/>
              </a:lnSpc>
              <a:spcBef>
                <a:spcPts val="130"/>
              </a:spcBef>
              <a:buSzPct val="95833"/>
              <a:buAutoNum type="arabicPeriod"/>
              <a:tabLst>
                <a:tab pos="244475" algn="l"/>
              </a:tabLst>
            </a:pPr>
            <a:r>
              <a:rPr sz="2400" spc="-5" dirty="0">
                <a:latin typeface="Calibri"/>
                <a:cs typeface="Calibri"/>
              </a:rPr>
              <a:t>Class: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Dog (subclass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Pet)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190"/>
              </a:lnSpc>
              <a:buAutoNum type="arabicPeriod"/>
              <a:tabLst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Additional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attributes: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breed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ts val="2290"/>
              </a:lnSpc>
              <a:buAutoNum type="arabicPeriod"/>
              <a:tabLst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Additional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behaviors: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bark(), </a:t>
            </a:r>
            <a:r>
              <a:rPr sz="2000" spc="-15" dirty="0">
                <a:latin typeface="Calibri"/>
                <a:cs typeface="Calibri"/>
              </a:rPr>
              <a:t>fetch()</a:t>
            </a:r>
            <a:endParaRPr sz="2000" dirty="0">
              <a:latin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99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5" dirty="0">
                <a:latin typeface="Calibri"/>
                <a:cs typeface="Calibri"/>
              </a:rPr>
              <a:t>base </a:t>
            </a:r>
            <a:r>
              <a:rPr sz="2400" dirty="0">
                <a:latin typeface="Calibri"/>
                <a:cs typeface="Calibri"/>
              </a:rPr>
              <a:t>class </a:t>
            </a:r>
            <a:r>
              <a:rPr sz="2400" spc="-15" dirty="0">
                <a:latin typeface="Calibri"/>
                <a:cs typeface="Calibri"/>
              </a:rPr>
              <a:t>"Pet" </a:t>
            </a:r>
            <a:r>
              <a:rPr sz="2400" spc="-10" dirty="0">
                <a:latin typeface="Calibri"/>
                <a:cs typeface="Calibri"/>
              </a:rPr>
              <a:t>that represents common attributes, </a:t>
            </a:r>
            <a:r>
              <a:rPr sz="2400" spc="-5" dirty="0">
                <a:latin typeface="Calibri"/>
                <a:cs typeface="Calibri"/>
              </a:rPr>
              <a:t>The subclasses "Dog" </a:t>
            </a:r>
            <a:r>
              <a:rPr sz="2400" dirty="0">
                <a:latin typeface="Calibri"/>
                <a:cs typeface="Calibri"/>
              </a:rPr>
              <a:t>inherit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"Pet"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-5" dirty="0">
                <a:latin typeface="Calibri"/>
                <a:cs typeface="Calibri"/>
              </a:rPr>
              <a:t> specific</a:t>
            </a:r>
            <a:r>
              <a:rPr sz="2400" spc="-10" dirty="0">
                <a:latin typeface="Calibri"/>
                <a:cs typeface="Calibri"/>
              </a:rPr>
              <a:t> attributes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ts val="2450"/>
              </a:lnSpc>
              <a:spcBef>
                <a:spcPts val="13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10" dirty="0">
                <a:latin typeface="Calibri"/>
                <a:cs typeface="Calibri"/>
              </a:rPr>
              <a:t>Statistical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Probabilistic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Representation: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These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approaches </a:t>
            </a:r>
            <a:r>
              <a:rPr sz="2400" spc="-15" dirty="0">
                <a:latin typeface="Calibri"/>
                <a:cs typeface="Calibri"/>
              </a:rPr>
              <a:t>leverage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spc="-15" dirty="0">
                <a:latin typeface="Calibri"/>
                <a:cs typeface="Calibri"/>
              </a:rPr>
              <a:t>statistical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machine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techniques,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probability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F82B2B-CFB5-8EBF-CFE9-D56282F23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825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685800" y="2057400"/>
            <a:ext cx="10260965" cy="1553823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marR="273685" indent="-229235">
              <a:lnSpc>
                <a:spcPct val="70000"/>
              </a:lnSpc>
              <a:spcBef>
                <a:spcPts val="100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b="1" spc="-10" dirty="0">
                <a:latin typeface="Calibri"/>
                <a:cs typeface="Calibri"/>
              </a:rPr>
              <a:t>Knowledge </a:t>
            </a:r>
            <a:r>
              <a:rPr sz="2400" b="1" dirty="0">
                <a:latin typeface="Calibri"/>
                <a:cs typeface="Calibri"/>
              </a:rPr>
              <a:t>Base: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knowledge </a:t>
            </a:r>
            <a:r>
              <a:rPr sz="2400" dirty="0">
                <a:latin typeface="Calibri"/>
                <a:cs typeface="Calibri"/>
              </a:rPr>
              <a:t>base is a </a:t>
            </a:r>
            <a:r>
              <a:rPr sz="2400" spc="-10" dirty="0">
                <a:latin typeface="Calibri"/>
                <a:cs typeface="Calibri"/>
              </a:rPr>
              <a:t>repository </a:t>
            </a:r>
            <a:r>
              <a:rPr sz="2400" spc="-5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stores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represented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knowledge.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structured database,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collection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rules,</a:t>
            </a:r>
            <a:r>
              <a:rPr sz="2400" dirty="0">
                <a:latin typeface="Calibri"/>
                <a:cs typeface="Calibri"/>
              </a:rPr>
              <a:t> 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ontology,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combination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various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representations.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ts val="2450"/>
              </a:lnSpc>
              <a:spcBef>
                <a:spcPts val="13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25" dirty="0">
                <a:latin typeface="Calibri"/>
                <a:cs typeface="Calibri"/>
              </a:rPr>
              <a:t>Effective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knowledge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</a:t>
            </a:r>
            <a:r>
              <a:rPr sz="2400" dirty="0">
                <a:latin typeface="Calibri"/>
                <a:cs typeface="Calibri"/>
              </a:rPr>
              <a:t> 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essential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building</a:t>
            </a:r>
            <a:r>
              <a:rPr sz="2400" spc="-10" dirty="0">
                <a:latin typeface="Calibri"/>
                <a:cs typeface="Calibri"/>
              </a:rPr>
              <a:t> intelligent</a:t>
            </a:r>
            <a:r>
              <a:rPr sz="2400" spc="-20" dirty="0">
                <a:latin typeface="Calibri"/>
                <a:cs typeface="Calibri"/>
              </a:rPr>
              <a:t> systems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reason,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communicate.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17572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62FB9D-FAD6-1FBE-6584-166F051B1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620412"/>
            <a:ext cx="11122661" cy="67332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3600" b="1" spc="-15" dirty="0"/>
              <a:t>Propositional</a:t>
            </a:r>
            <a:r>
              <a:rPr sz="3600" b="1" spc="15" dirty="0"/>
              <a:t> </a:t>
            </a:r>
            <a:r>
              <a:rPr sz="3600" b="1" dirty="0"/>
              <a:t>Logic,</a:t>
            </a:r>
            <a:r>
              <a:rPr sz="3600" b="1" spc="-5" dirty="0"/>
              <a:t> </a:t>
            </a:r>
            <a:r>
              <a:rPr sz="3600" b="1" spc="-25" dirty="0"/>
              <a:t>Inference</a:t>
            </a:r>
            <a:r>
              <a:rPr sz="3600" b="1" spc="-30" dirty="0"/>
              <a:t> </a:t>
            </a:r>
            <a:r>
              <a:rPr sz="3600" b="1" spc="-5" dirty="0"/>
              <a:t>Rules</a:t>
            </a:r>
            <a:r>
              <a:rPr sz="3600" b="1" spc="-10" dirty="0"/>
              <a:t> </a:t>
            </a:r>
            <a:r>
              <a:rPr sz="3600" b="1" dirty="0"/>
              <a:t>in </a:t>
            </a:r>
            <a:r>
              <a:rPr sz="3600" b="1" spc="-980" dirty="0"/>
              <a:t> </a:t>
            </a:r>
            <a:r>
              <a:rPr sz="3600" b="1" spc="-15" dirty="0"/>
              <a:t>Propositional</a:t>
            </a:r>
            <a:r>
              <a:rPr sz="3600" b="1" spc="10" dirty="0"/>
              <a:t> </a:t>
            </a:r>
            <a:r>
              <a:rPr sz="3600" b="1" dirty="0"/>
              <a:t>Logic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310150"/>
            <a:ext cx="9685655" cy="4239622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propositions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statements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either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true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false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Logical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Operators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Propositional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Logic: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Negation </a:t>
            </a:r>
            <a:r>
              <a:rPr sz="2800" spc="-5" dirty="0">
                <a:latin typeface="Calibri"/>
                <a:cs typeface="Calibri"/>
              </a:rPr>
              <a:t>(¬):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eg: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2040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Conjunction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10" dirty="0">
                <a:latin typeface="Calibri"/>
                <a:cs typeface="Calibri"/>
              </a:rPr>
              <a:t>(</a:t>
            </a:r>
            <a:r>
              <a:rPr sz="2800" spc="10" dirty="0">
                <a:latin typeface="Cambria Math"/>
                <a:cs typeface="Cambria Math"/>
              </a:rPr>
              <a:t>𝖠</a:t>
            </a:r>
            <a:r>
              <a:rPr sz="2800" spc="10" dirty="0">
                <a:latin typeface="Calibri"/>
                <a:cs typeface="Calibri"/>
              </a:rPr>
              <a:t>):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AND: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Pay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fees</a:t>
            </a:r>
            <a:r>
              <a:rPr sz="2800" spc="-5" dirty="0">
                <a:latin typeface="Calibri"/>
                <a:cs typeface="Calibri"/>
              </a:rPr>
              <a:t> 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Gym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Disjunction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2800" spc="-5" dirty="0">
                <a:latin typeface="Cambria Math"/>
                <a:cs typeface="Cambria Math"/>
              </a:rPr>
              <a:t>∨</a:t>
            </a:r>
            <a:r>
              <a:rPr sz="2800" spc="-5" dirty="0">
                <a:latin typeface="Calibri"/>
                <a:cs typeface="Calibri"/>
              </a:rPr>
              <a:t>):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(OR):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Either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lecture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 Phone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Implication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(→)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conditional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statement,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"if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95" dirty="0">
                <a:latin typeface="Calibri"/>
                <a:cs typeface="Calibri"/>
              </a:rPr>
              <a:t>q.“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1935" algn="l"/>
                <a:tab pos="838835" algn="l"/>
                <a:tab pos="7303770" algn="l"/>
              </a:tabLst>
            </a:pPr>
            <a:r>
              <a:rPr sz="2800" spc="-5" dirty="0">
                <a:latin typeface="Calibri"/>
                <a:cs typeface="Calibri"/>
              </a:rPr>
              <a:t>Eg:	A: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"It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raining."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B: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"I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will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take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umbrella.“	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→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Biconditional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(↔):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"p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95" dirty="0">
                <a:latin typeface="Calibri"/>
                <a:cs typeface="Calibri"/>
              </a:rPr>
              <a:t>q.“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Eg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A: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"I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valid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ticket."</a:t>
            </a:r>
            <a:r>
              <a:rPr sz="2800" spc="-5" dirty="0">
                <a:latin typeface="Calibri"/>
                <a:cs typeface="Calibri"/>
              </a:rPr>
              <a:t> B: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"I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enter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concert."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C14801B-0E3E-1F15-558D-0CCE6F276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440921"/>
            <a:ext cx="11155999" cy="70532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4000" b="1" spc="-15" dirty="0"/>
              <a:t>Knowledge </a:t>
            </a:r>
            <a:r>
              <a:rPr sz="4000" b="1" spc="-20" dirty="0"/>
              <a:t>representation </a:t>
            </a:r>
            <a:r>
              <a:rPr sz="4000" b="1" dirty="0"/>
              <a:t>using </a:t>
            </a:r>
            <a:r>
              <a:rPr sz="4000" b="1" spc="-30" dirty="0"/>
              <a:t>Predicate </a:t>
            </a:r>
            <a:r>
              <a:rPr sz="4000" b="1" spc="-980" dirty="0"/>
              <a:t> </a:t>
            </a:r>
            <a:r>
              <a:rPr sz="4000" b="1" dirty="0"/>
              <a:t>logic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07561" y="2049044"/>
            <a:ext cx="10022840" cy="1570943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pc="-20" dirty="0"/>
              <a:t>Predicate</a:t>
            </a:r>
            <a:r>
              <a:rPr spc="5" dirty="0"/>
              <a:t> </a:t>
            </a:r>
            <a:r>
              <a:rPr spc="-5" dirty="0"/>
              <a:t>logic,</a:t>
            </a:r>
            <a:r>
              <a:rPr spc="5" dirty="0"/>
              <a:t> </a:t>
            </a:r>
            <a:r>
              <a:rPr spc="-15" dirty="0"/>
              <a:t>extends</a:t>
            </a:r>
            <a:r>
              <a:rPr spc="25" dirty="0"/>
              <a:t> </a:t>
            </a:r>
            <a:r>
              <a:rPr spc="-15" dirty="0"/>
              <a:t>propositional</a:t>
            </a:r>
            <a:r>
              <a:rPr spc="45" dirty="0"/>
              <a:t> </a:t>
            </a:r>
            <a:r>
              <a:rPr spc="-5" dirty="0"/>
              <a:t>logic</a:t>
            </a: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spc="-10" dirty="0"/>
              <a:t>variables,</a:t>
            </a:r>
            <a:r>
              <a:rPr spc="-5" dirty="0"/>
              <a:t> </a:t>
            </a:r>
            <a:r>
              <a:rPr spc="-15" dirty="0"/>
              <a:t>quantifiers,</a:t>
            </a:r>
            <a:r>
              <a:rPr spc="20" dirty="0"/>
              <a:t> </a:t>
            </a:r>
            <a:r>
              <a:rPr spc="-5" dirty="0"/>
              <a:t>and</a:t>
            </a:r>
            <a:r>
              <a:rPr spc="15" dirty="0"/>
              <a:t> </a:t>
            </a:r>
            <a:r>
              <a:rPr spc="-15" dirty="0"/>
              <a:t>predicates</a:t>
            </a:r>
          </a:p>
          <a:p>
            <a:pPr marL="241300" indent="-22923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1935" algn="l"/>
                <a:tab pos="5727065" algn="l"/>
              </a:tabLst>
            </a:pPr>
            <a:r>
              <a:rPr spc="-10" dirty="0"/>
              <a:t>Simple</a:t>
            </a:r>
            <a:r>
              <a:rPr spc="30" dirty="0"/>
              <a:t> </a:t>
            </a:r>
            <a:r>
              <a:rPr spc="-15" dirty="0"/>
              <a:t>Predicate:</a:t>
            </a:r>
            <a:r>
              <a:rPr spc="30" dirty="0"/>
              <a:t> </a:t>
            </a:r>
            <a:r>
              <a:rPr spc="-15" dirty="0"/>
              <a:t>Ashoka</a:t>
            </a:r>
            <a:r>
              <a:rPr spc="20" dirty="0"/>
              <a:t> </a:t>
            </a:r>
            <a:r>
              <a:rPr spc="-15" dirty="0"/>
              <a:t>was</a:t>
            </a:r>
            <a:r>
              <a:rPr spc="25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5" dirty="0"/>
              <a:t>man	</a:t>
            </a:r>
            <a:r>
              <a:rPr spc="-10" dirty="0"/>
              <a:t>man(Ashoka)</a:t>
            </a:r>
            <a:r>
              <a:rPr spc="25" dirty="0"/>
              <a:t> </a:t>
            </a:r>
            <a:r>
              <a:rPr spc="-5" dirty="0"/>
              <a:t>(class,</a:t>
            </a:r>
            <a:r>
              <a:rPr spc="-20" dirty="0"/>
              <a:t> </a:t>
            </a:r>
            <a:r>
              <a:rPr spc="-5" dirty="0"/>
              <a:t>member)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10200" y="3800481"/>
            <a:ext cx="340423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Maharashtrian(Ashoka)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3619987"/>
            <a:ext cx="10139045" cy="287129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Ashoka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was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Maharashtrian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Quantified</a:t>
            </a:r>
            <a:r>
              <a:rPr sz="2800" spc="-15" dirty="0">
                <a:latin typeface="Calibri"/>
                <a:cs typeface="Calibri"/>
              </a:rPr>
              <a:t> Statement: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ts val="3180"/>
              </a:lnSpc>
              <a:spcBef>
                <a:spcPts val="68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Universal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Quantifier: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∀</a:t>
            </a:r>
            <a:r>
              <a:rPr sz="2800" spc="-10" dirty="0">
                <a:latin typeface="Calibri"/>
                <a:cs typeface="Calibri"/>
              </a:rPr>
              <a:t>x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Animal(x)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"For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x,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x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an</a:t>
            </a:r>
          </a:p>
          <a:p>
            <a:pPr marL="241300">
              <a:lnSpc>
                <a:spcPts val="3180"/>
              </a:lnSpc>
            </a:pPr>
            <a:r>
              <a:rPr sz="2800" spc="-40" dirty="0">
                <a:latin typeface="Calibri"/>
                <a:cs typeface="Calibri"/>
              </a:rPr>
              <a:t>animal.“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means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every</a:t>
            </a:r>
            <a:r>
              <a:rPr sz="2800" spc="-5" dirty="0">
                <a:latin typeface="Calibri"/>
                <a:cs typeface="Calibri"/>
              </a:rPr>
              <a:t> x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Animal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ts val="3180"/>
              </a:lnSpc>
              <a:spcBef>
                <a:spcPts val="68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Existential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Quantifier: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∃</a:t>
            </a:r>
            <a:r>
              <a:rPr sz="2800" spc="-5" dirty="0">
                <a:latin typeface="Calibri"/>
                <a:cs typeface="Calibri"/>
              </a:rPr>
              <a:t>x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Carnivore(x)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-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"There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exists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80"/>
              </a:lnSpc>
            </a:pP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x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carnivore.“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means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out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all x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atleast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x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carnivore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B70D97-D140-6325-9297-FF52AE52F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38200" y="1676400"/>
            <a:ext cx="10323831" cy="4082528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Rules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-10" dirty="0">
                <a:latin typeface="Calibri"/>
                <a:cs typeface="Calibri"/>
              </a:rPr>
              <a:t> Implications: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735"/>
              </a:lnSpc>
              <a:spcBef>
                <a:spcPts val="24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Rule: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Carnivore(x)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Eats(x,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y)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"If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carnivore,</a:t>
            </a:r>
            <a:r>
              <a:rPr sz="2400" dirty="0">
                <a:latin typeface="Calibri"/>
                <a:cs typeface="Calibri"/>
              </a:rPr>
              <a:t> then x</a:t>
            </a:r>
          </a:p>
          <a:p>
            <a:pPr marL="698500">
              <a:lnSpc>
                <a:spcPts val="2735"/>
              </a:lnSpc>
            </a:pPr>
            <a:r>
              <a:rPr sz="2400" spc="-5" dirty="0">
                <a:latin typeface="Calibri"/>
                <a:cs typeface="Calibri"/>
              </a:rPr>
              <a:t>eats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y."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Negation: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Negation: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¬Carnivore(x)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0" dirty="0">
                <a:latin typeface="Calibri"/>
                <a:cs typeface="Calibri"/>
              </a:rPr>
              <a:t> Represents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"It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not </a:t>
            </a:r>
            <a:r>
              <a:rPr sz="2400" dirty="0">
                <a:latin typeface="Calibri"/>
                <a:cs typeface="Calibri"/>
              </a:rPr>
              <a:t>true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a </a:t>
            </a:r>
            <a:r>
              <a:rPr sz="2400" spc="-10" dirty="0">
                <a:latin typeface="Calibri"/>
                <a:cs typeface="Calibri"/>
              </a:rPr>
              <a:t>carnivore."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Complex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Statements:</a:t>
            </a:r>
            <a:endParaRPr sz="2800" dirty="0">
              <a:latin typeface="Calibri"/>
              <a:cs typeface="Calibri"/>
            </a:endParaRPr>
          </a:p>
          <a:p>
            <a:pPr marL="698500" marR="600710" lvl="1" indent="-228600">
              <a:lnSpc>
                <a:spcPts val="2580"/>
              </a:lnSpc>
              <a:spcBef>
                <a:spcPts val="59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Compound</a:t>
            </a:r>
            <a:r>
              <a:rPr sz="2400" spc="-10" dirty="0">
                <a:latin typeface="Calibri"/>
                <a:cs typeface="Calibri"/>
              </a:rPr>
              <a:t> Statement: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Animal(x)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𝖠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Calibri"/>
                <a:cs typeface="Calibri"/>
              </a:rPr>
              <a:t>Carnivore(x)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0" dirty="0">
                <a:latin typeface="Calibri"/>
                <a:cs typeface="Calibri"/>
              </a:rPr>
              <a:t> Represents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"x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animal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carnivore."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80"/>
              </a:lnSpc>
              <a:spcBef>
                <a:spcPts val="52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5" dirty="0">
                <a:latin typeface="Calibri"/>
                <a:cs typeface="Calibri"/>
              </a:rPr>
              <a:t>Implication: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Animal(x)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∃</a:t>
            </a:r>
            <a:r>
              <a:rPr sz="2400" spc="-5" dirty="0">
                <a:latin typeface="Calibri"/>
                <a:cs typeface="Calibri"/>
              </a:rPr>
              <a:t>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Eats(x,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0" dirty="0">
                <a:latin typeface="Calibri"/>
                <a:cs typeface="Calibri"/>
              </a:rPr>
              <a:t> Represents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"If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animal,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exists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5" dirty="0">
                <a:latin typeface="Calibri"/>
                <a:cs typeface="Calibri"/>
              </a:rPr>
              <a:t>that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eats."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BC4DE8-01DD-F7F5-D0EC-40526E4E5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1425107"/>
            <a:ext cx="996696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spc="-30" dirty="0"/>
              <a:t>Predicate</a:t>
            </a:r>
            <a:r>
              <a:rPr sz="4000" b="1" spc="10" dirty="0"/>
              <a:t> </a:t>
            </a:r>
            <a:r>
              <a:rPr sz="4000" b="1" spc="-5" dirty="0"/>
              <a:t>Calculus,</a:t>
            </a:r>
            <a:r>
              <a:rPr sz="4000" b="1" spc="-10" dirty="0"/>
              <a:t> </a:t>
            </a:r>
            <a:r>
              <a:rPr sz="4000" b="1" spc="-30" dirty="0"/>
              <a:t>Predicate</a:t>
            </a:r>
            <a:r>
              <a:rPr sz="4000" b="1" spc="-5" dirty="0"/>
              <a:t> </a:t>
            </a:r>
            <a:r>
              <a:rPr sz="4000" b="1" spc="5" dirty="0"/>
              <a:t>and</a:t>
            </a:r>
            <a:r>
              <a:rPr sz="4000" b="1" dirty="0"/>
              <a:t> </a:t>
            </a:r>
            <a:r>
              <a:rPr sz="4000" b="1" spc="-10" dirty="0"/>
              <a:t>arguments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133600"/>
            <a:ext cx="10241915" cy="4361194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52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10" dirty="0">
                <a:latin typeface="Calibri"/>
                <a:cs typeface="Calibri"/>
              </a:rPr>
              <a:t>Predicates: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Predicates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properties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between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objects.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10" dirty="0">
                <a:latin typeface="Calibri"/>
                <a:cs typeface="Calibri"/>
              </a:rPr>
              <a:t>Statements: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699135" algn="l"/>
              </a:tabLst>
            </a:pPr>
            <a:r>
              <a:rPr sz="2000" spc="-5" dirty="0">
                <a:latin typeface="Calibri"/>
                <a:cs typeface="Calibri"/>
              </a:rPr>
              <a:t>Animal(Dog):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statement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asserts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" dirty="0">
                <a:latin typeface="Calibri"/>
                <a:cs typeface="Calibri"/>
              </a:rPr>
              <a:t> animal.</a:t>
            </a:r>
            <a:endParaRPr sz="20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10" dirty="0">
                <a:latin typeface="Calibri"/>
                <a:cs typeface="Calibri"/>
              </a:rPr>
              <a:t>Loves(John,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Mary):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spc="-15" dirty="0">
                <a:latin typeface="Calibri"/>
                <a:cs typeface="Calibri"/>
              </a:rPr>
              <a:t>statement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asserts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dirty="0">
                <a:latin typeface="Calibri"/>
                <a:cs typeface="Calibri"/>
              </a:rPr>
              <a:t> John</a:t>
            </a:r>
            <a:r>
              <a:rPr sz="2400" spc="-10" dirty="0">
                <a:latin typeface="Calibri"/>
                <a:cs typeface="Calibri"/>
              </a:rPr>
              <a:t> loves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Mary</a:t>
            </a:r>
            <a:endParaRPr sz="24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spc="-10" dirty="0">
                <a:latin typeface="Calibri"/>
                <a:cs typeface="Calibri"/>
              </a:rPr>
              <a:t>Universal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Quantifier:</a:t>
            </a:r>
            <a:endParaRPr sz="2400" dirty="0">
              <a:latin typeface="Calibri"/>
              <a:cs typeface="Calibri"/>
            </a:endParaRPr>
          </a:p>
          <a:p>
            <a:pPr marL="241300" marR="5080" indent="-229235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935" algn="l"/>
              </a:tabLst>
            </a:pPr>
            <a:r>
              <a:rPr sz="2400" dirty="0">
                <a:latin typeface="Cambria Math"/>
                <a:cs typeface="Cambria Math"/>
              </a:rPr>
              <a:t>∀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Animal(x):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spc="-15" dirty="0">
                <a:latin typeface="Calibri"/>
                <a:cs typeface="Calibri"/>
              </a:rPr>
              <a:t>statement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asserts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"For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x,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animal."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implies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every entity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domain</a:t>
            </a:r>
            <a:r>
              <a:rPr sz="2400" dirty="0">
                <a:latin typeface="Calibri"/>
                <a:cs typeface="Calibri"/>
              </a:rPr>
              <a:t> 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animal.</a:t>
            </a:r>
          </a:p>
          <a:p>
            <a:pPr marL="241300" indent="-229235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Existential</a:t>
            </a:r>
            <a:r>
              <a:rPr sz="2800" spc="-10" dirty="0">
                <a:latin typeface="Calibri"/>
                <a:cs typeface="Calibri"/>
              </a:rPr>
              <a:t> Quantifier:</a:t>
            </a:r>
            <a:endParaRPr sz="2800" dirty="0">
              <a:latin typeface="Calibri"/>
              <a:cs typeface="Calibri"/>
            </a:endParaRPr>
          </a:p>
          <a:p>
            <a:pPr marL="241300" marR="47625" indent="-229235">
              <a:lnSpc>
                <a:spcPts val="2690"/>
              </a:lnSpc>
              <a:spcBef>
                <a:spcPts val="9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mbria Math"/>
                <a:cs typeface="Cambria Math"/>
              </a:rPr>
              <a:t>∃</a:t>
            </a:r>
            <a:r>
              <a:rPr sz="2800" spc="-5" dirty="0">
                <a:latin typeface="Calibri"/>
                <a:cs typeface="Calibri"/>
              </a:rPr>
              <a:t>x </a:t>
            </a:r>
            <a:r>
              <a:rPr sz="2800" spc="-10" dirty="0">
                <a:latin typeface="Calibri"/>
                <a:cs typeface="Calibri"/>
              </a:rPr>
              <a:t>Loves(x,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Dog):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statement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asserts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"There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exists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x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such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x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loves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Dog."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implies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there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least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entity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loves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Dog.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6B175A-A2F4-ABA3-DCD7-9BE403970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1447715"/>
            <a:ext cx="665099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spc="-10" dirty="0"/>
              <a:t>ISA</a:t>
            </a:r>
            <a:r>
              <a:rPr sz="4000" b="1" spc="-40" dirty="0"/>
              <a:t> </a:t>
            </a:r>
            <a:r>
              <a:rPr sz="4000" b="1" spc="-15" dirty="0"/>
              <a:t>hierarchy(</a:t>
            </a:r>
            <a:r>
              <a:rPr sz="4000" b="1" spc="-15" dirty="0">
                <a:latin typeface="Calibri"/>
                <a:cs typeface="Calibri"/>
              </a:rPr>
              <a:t>(Is-a)</a:t>
            </a:r>
            <a:r>
              <a:rPr sz="4000" b="1" spc="-45" dirty="0">
                <a:latin typeface="Calibri"/>
                <a:cs typeface="Calibri"/>
              </a:rPr>
              <a:t> </a:t>
            </a:r>
            <a:r>
              <a:rPr sz="4000" b="1" spc="-25" dirty="0">
                <a:latin typeface="Calibri"/>
                <a:cs typeface="Calibri"/>
              </a:rPr>
              <a:t>hierarchy</a:t>
            </a:r>
            <a:r>
              <a:rPr sz="4000" b="1" spc="-2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42" y="2133600"/>
            <a:ext cx="9944735" cy="4305281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5" dirty="0">
                <a:latin typeface="Calibri"/>
                <a:cs typeface="Calibri"/>
              </a:rPr>
              <a:t>represents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hierarchical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relationships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concepts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2690"/>
              </a:lnSpc>
              <a:spcBef>
                <a:spcPts val="97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commonly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object-oriented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programming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knowledge-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based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systems.</a:t>
            </a:r>
            <a:endParaRPr sz="2800" dirty="0">
              <a:latin typeface="Calibri"/>
              <a:cs typeface="Calibri"/>
            </a:endParaRPr>
          </a:p>
          <a:p>
            <a:pPr marL="12700" marR="2496820">
              <a:lnSpc>
                <a:spcPct val="109600"/>
              </a:lnSpc>
              <a:spcBef>
                <a:spcPts val="3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latin typeface="Calibri"/>
                <a:cs typeface="Calibri"/>
              </a:rPr>
              <a:t>Here's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example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hierarchy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animals: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1.Animal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(top-level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class)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ts val="2825"/>
              </a:lnSpc>
              <a:buAutoNum type="arabicPeriod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Mammal</a:t>
            </a:r>
          </a:p>
          <a:p>
            <a:pPr marL="1155700" lvl="2" indent="-229235">
              <a:lnSpc>
                <a:spcPct val="100000"/>
              </a:lnSpc>
              <a:spcBef>
                <a:spcPts val="30"/>
              </a:spcBef>
              <a:buAutoNum type="arabicPeriod"/>
              <a:tabLst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Carnivore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ts val="2355"/>
              </a:lnSpc>
              <a:spcBef>
                <a:spcPts val="25"/>
              </a:spcBef>
              <a:buAutoNum type="arabicPeriod"/>
              <a:tabLst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Herbivore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ts val="2795"/>
              </a:lnSpc>
              <a:buAutoNum type="arabicPeriod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Reptile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800"/>
              </a:lnSpc>
              <a:buAutoNum type="arabicPeriod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Bird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845"/>
              </a:lnSpc>
              <a:buAutoNum type="arabicPeriod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Fish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8A4851-BBA0-B89B-8E4A-B47CDAD8F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6010" y="500926"/>
            <a:ext cx="348361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5" dirty="0"/>
              <a:t>Frame</a:t>
            </a:r>
            <a:r>
              <a:rPr b="1" spc="-60" dirty="0"/>
              <a:t> </a:t>
            </a:r>
            <a:r>
              <a:rPr b="1" spc="-15" dirty="0"/>
              <a:t>notation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42" y="1707922"/>
            <a:ext cx="8601711" cy="1050288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21945" indent="-30988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21945" algn="l"/>
                <a:tab pos="322580" algn="l"/>
              </a:tabLst>
            </a:pP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frame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is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record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33333"/>
                </a:solidFill>
                <a:latin typeface="Calibri"/>
                <a:cs typeface="Calibri"/>
              </a:rPr>
              <a:t>like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structure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collection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28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33333"/>
                </a:solidFill>
                <a:latin typeface="Calibri"/>
                <a:cs typeface="Calibri"/>
              </a:rPr>
              <a:t>attributes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sz="2800" spc="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its</a:t>
            </a:r>
            <a:r>
              <a:rPr sz="2800" spc="1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values</a:t>
            </a:r>
            <a:r>
              <a:rPr sz="2800" spc="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 describe</a:t>
            </a:r>
            <a:r>
              <a:rPr sz="2800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libri"/>
                <a:cs typeface="Calibri"/>
              </a:rPr>
              <a:t>an </a:t>
            </a:r>
            <a:r>
              <a:rPr sz="2800" spc="-10" dirty="0">
                <a:solidFill>
                  <a:srgbClr val="333333"/>
                </a:solidFill>
                <a:latin typeface="Calibri"/>
                <a:cs typeface="Calibri"/>
              </a:rPr>
              <a:t>entity</a:t>
            </a:r>
            <a:endParaRPr sz="28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96441" y="2984245"/>
          <a:ext cx="4399280" cy="2682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9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89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Slots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2069" marB="0">
                    <a:lnL w="6350">
                      <a:solidFill>
                        <a:srgbClr val="AF3EF9"/>
                      </a:solidFill>
                      <a:prstDash val="solid"/>
                    </a:lnL>
                    <a:lnR w="6350">
                      <a:solidFill>
                        <a:srgbClr val="AF3EF9"/>
                      </a:solidFill>
                      <a:prstDash val="solid"/>
                    </a:lnR>
                    <a:lnT w="6350">
                      <a:solidFill>
                        <a:srgbClr val="AF3EF9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Filters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2069" marB="0">
                    <a:lnL w="6350">
                      <a:solidFill>
                        <a:srgbClr val="AF3EF9"/>
                      </a:solidFill>
                      <a:prstDash val="solid"/>
                    </a:lnL>
                    <a:lnR w="6350">
                      <a:solidFill>
                        <a:srgbClr val="AF3EF9"/>
                      </a:solidFill>
                      <a:prstDash val="solid"/>
                    </a:lnR>
                    <a:lnT w="6350">
                      <a:solidFill>
                        <a:srgbClr val="AF3EF9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745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Artificial</a:t>
                      </a:r>
                      <a:r>
                        <a:rPr sz="1800" spc="-1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Intelligence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1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Genre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Computer </a:t>
                      </a:r>
                      <a:r>
                        <a:rPr sz="1800" spc="-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Science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1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Peter</a:t>
                      </a:r>
                      <a:r>
                        <a:rPr sz="1800" spc="-2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Norvig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19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Edition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Third</a:t>
                      </a:r>
                      <a:r>
                        <a:rPr sz="1800" spc="-2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Edition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4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1996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32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1152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092825" y="2984251"/>
          <a:ext cx="4596130" cy="2682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8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8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949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Slots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2069" marB="0">
                    <a:lnL w="6350">
                      <a:solidFill>
                        <a:srgbClr val="801A09"/>
                      </a:solidFill>
                      <a:prstDash val="solid"/>
                    </a:lnL>
                    <a:lnR w="6350">
                      <a:solidFill>
                        <a:srgbClr val="801A09"/>
                      </a:solidFill>
                      <a:prstDash val="solid"/>
                    </a:lnR>
                    <a:lnT w="6350">
                      <a:solidFill>
                        <a:srgbClr val="801A09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Filter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2069" marB="0">
                    <a:lnL w="6350">
                      <a:solidFill>
                        <a:srgbClr val="801A09"/>
                      </a:solidFill>
                      <a:prstDash val="solid"/>
                    </a:lnL>
                    <a:lnR w="6350">
                      <a:solidFill>
                        <a:srgbClr val="801A09"/>
                      </a:solidFill>
                      <a:prstDash val="solid"/>
                    </a:lnR>
                    <a:lnT w="6350">
                      <a:solidFill>
                        <a:srgbClr val="801A09"/>
                      </a:solidFill>
                      <a:prstDash val="solid"/>
                    </a:lnT>
                    <a:solidFill>
                      <a:srgbClr val="C6CC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58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2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Peter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26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Profession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Doctor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134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26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Marital</a:t>
                      </a:r>
                      <a:r>
                        <a:rPr sz="1800" b="1" spc="-4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Single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6350">
                      <a:solidFill>
                        <a:srgbClr val="C6CCBD"/>
                      </a:solidFill>
                      <a:prstDash val="solid"/>
                    </a:lnT>
                    <a:lnB w="9525">
                      <a:solidFill>
                        <a:srgbClr val="C6CCBD"/>
                      </a:solidFill>
                      <a:prstDash val="solid"/>
                    </a:lnB>
                    <a:solidFill>
                      <a:srgbClr val="EE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146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1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Weight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solidFill>
                            <a:srgbClr val="333333"/>
                          </a:solidFill>
                          <a:latin typeface="Calibri"/>
                          <a:cs typeface="Calibri"/>
                        </a:rPr>
                        <a:t>78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6350">
                      <a:solidFill>
                        <a:srgbClr val="C6CCBD"/>
                      </a:solidFill>
                      <a:prstDash val="solid"/>
                    </a:lnL>
                    <a:lnR w="6350">
                      <a:solidFill>
                        <a:srgbClr val="C6CCBD"/>
                      </a:solidFill>
                      <a:prstDash val="solid"/>
                    </a:lnR>
                    <a:lnT w="9525">
                      <a:solidFill>
                        <a:srgbClr val="C6CCBD"/>
                      </a:solidFill>
                      <a:prstDash val="solid"/>
                    </a:lnT>
                    <a:lnB w="6350">
                      <a:solidFill>
                        <a:srgbClr val="C6CC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C68E4C6-BA7B-ABF0-FEED-37A577D3C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5670" y="1371600"/>
            <a:ext cx="10360660" cy="354635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20"/>
              </a:spcBef>
              <a:buClr>
                <a:srgbClr val="600A4A"/>
              </a:buClr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solidFill>
                  <a:srgbClr val="600A4A"/>
                </a:solidFill>
                <a:latin typeface="Calibri"/>
                <a:cs typeface="Calibri"/>
              </a:rPr>
              <a:t>Advantages</a:t>
            </a:r>
            <a:r>
              <a:rPr sz="2800" spc="-2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600A4A"/>
                </a:solidFill>
                <a:latin typeface="Calibri"/>
                <a:cs typeface="Calibri"/>
              </a:rPr>
              <a:t>of</a:t>
            </a:r>
            <a:r>
              <a:rPr sz="2800" spc="-20" dirty="0">
                <a:solidFill>
                  <a:srgbClr val="600A4A"/>
                </a:solidFill>
                <a:latin typeface="Calibri"/>
                <a:cs typeface="Calibri"/>
              </a:rPr>
              <a:t> frame</a:t>
            </a:r>
            <a:r>
              <a:rPr sz="2800" spc="-1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600A4A"/>
                </a:solidFill>
                <a:latin typeface="Calibri"/>
                <a:cs typeface="Calibri"/>
              </a:rPr>
              <a:t>representation:</a:t>
            </a:r>
            <a:endParaRPr sz="2800" dirty="0">
              <a:latin typeface="Calibri"/>
              <a:cs typeface="Calibri"/>
            </a:endParaRPr>
          </a:p>
          <a:p>
            <a:pPr marL="241300" marR="8255" indent="-229235">
              <a:lnSpc>
                <a:spcPts val="2690"/>
              </a:lnSpc>
              <a:spcBef>
                <a:spcPts val="975"/>
              </a:spcBef>
              <a:buSzPct val="96428"/>
              <a:buAutoNum type="arabicPeriod"/>
              <a:tabLst>
                <a:tab pos="284480" algn="l"/>
              </a:tabLst>
            </a:pP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frame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knowledge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makes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programming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easier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grouping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the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related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data.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2690"/>
              </a:lnSpc>
              <a:spcBef>
                <a:spcPts val="1005"/>
              </a:spcBef>
              <a:buSzPct val="96428"/>
              <a:buAutoNum type="arabicPeriod"/>
              <a:tabLst>
                <a:tab pos="284480" algn="l"/>
              </a:tabLst>
            </a:pP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frame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comparably</a:t>
            </a:r>
            <a:r>
              <a:rPr sz="2800" spc="36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flexible</a:t>
            </a:r>
            <a:r>
              <a:rPr sz="2800" b="1" spc="36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and</a:t>
            </a:r>
            <a:r>
              <a:rPr sz="2800" b="1" spc="34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used</a:t>
            </a:r>
            <a:r>
              <a:rPr sz="2800" b="1" spc="34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by</a:t>
            </a:r>
            <a:r>
              <a:rPr sz="2800" b="1" spc="34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many </a:t>
            </a:r>
            <a:r>
              <a:rPr sz="2800" b="1" spc="-6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applications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in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AI.</a:t>
            </a:r>
            <a:endParaRPr sz="2800" dirty="0">
              <a:latin typeface="Calibri"/>
              <a:cs typeface="Calibri"/>
            </a:endParaRPr>
          </a:p>
          <a:p>
            <a:pPr marL="283845" indent="-271780">
              <a:lnSpc>
                <a:spcPct val="100000"/>
              </a:lnSpc>
              <a:spcBef>
                <a:spcPts val="345"/>
              </a:spcBef>
              <a:buSzPct val="96428"/>
              <a:buAutoNum type="arabicPeriod"/>
              <a:tabLst>
                <a:tab pos="284480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very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easy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to</a:t>
            </a:r>
            <a:r>
              <a:rPr sz="2800" b="1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add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slots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new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attribute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and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relations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12700" marR="609600">
              <a:lnSpc>
                <a:spcPts val="3700"/>
              </a:lnSpc>
              <a:spcBef>
                <a:spcPts val="165"/>
              </a:spcBef>
              <a:buSzPct val="96428"/>
              <a:buAutoNum type="arabicPeriod"/>
              <a:tabLst>
                <a:tab pos="284480" algn="l"/>
              </a:tabLst>
            </a:pP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easy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include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default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data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search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missing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values</a:t>
            </a:r>
            <a:r>
              <a:rPr sz="2800" spc="-10" dirty="0">
                <a:latin typeface="Calibri"/>
                <a:cs typeface="Calibri"/>
              </a:rPr>
              <a:t>.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5.Frame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representation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easy</a:t>
            </a:r>
            <a:r>
              <a:rPr sz="2800" b="1" spc="30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to</a:t>
            </a:r>
            <a:r>
              <a:rPr sz="2800" b="1" spc="-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understand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visualize.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055D22-E949-BCF0-E507-B3B851487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9600" y="1752600"/>
            <a:ext cx="10817861" cy="23647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241935" algn="l"/>
              </a:tabLst>
            </a:pPr>
            <a:r>
              <a:rPr lang="en-IN" sz="2800" b="1" spc="-15" dirty="0">
                <a:solidFill>
                  <a:srgbClr val="600A4A"/>
                </a:solidFill>
                <a:latin typeface="Calibri"/>
                <a:cs typeface="Calibri"/>
              </a:rPr>
              <a:t>Disadvantages</a:t>
            </a:r>
            <a:r>
              <a:rPr lang="en-IN" sz="2800" b="1" spc="10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lang="en-IN" sz="2800" b="1" spc="-5" dirty="0">
                <a:solidFill>
                  <a:srgbClr val="600A4A"/>
                </a:solidFill>
                <a:latin typeface="Calibri"/>
                <a:cs typeface="Calibri"/>
              </a:rPr>
              <a:t>of </a:t>
            </a:r>
            <a:r>
              <a:rPr lang="en-IN" sz="2800" b="1" spc="-15" dirty="0">
                <a:solidFill>
                  <a:srgbClr val="600A4A"/>
                </a:solidFill>
                <a:latin typeface="Calibri"/>
                <a:cs typeface="Calibri"/>
              </a:rPr>
              <a:t>frame</a:t>
            </a:r>
            <a:r>
              <a:rPr lang="en-IN" sz="2800" b="1" spc="-5" dirty="0">
                <a:solidFill>
                  <a:srgbClr val="600A4A"/>
                </a:solidFill>
                <a:latin typeface="Calibri"/>
                <a:cs typeface="Calibri"/>
              </a:rPr>
              <a:t> </a:t>
            </a:r>
            <a:r>
              <a:rPr lang="en-IN" sz="2800" b="1" spc="-15" dirty="0">
                <a:solidFill>
                  <a:srgbClr val="600A4A"/>
                </a:solidFill>
                <a:latin typeface="Calibri"/>
                <a:cs typeface="Calibri"/>
              </a:rPr>
              <a:t>representation</a:t>
            </a:r>
            <a:r>
              <a:rPr lang="en-IN" sz="2800" spc="-15" dirty="0">
                <a:solidFill>
                  <a:srgbClr val="600A4A"/>
                </a:solidFill>
                <a:latin typeface="Calibri"/>
                <a:cs typeface="Calibri"/>
              </a:rPr>
              <a:t>:</a:t>
            </a:r>
            <a:endParaRPr lang="en-IN"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lang="en-IN" sz="2800" dirty="0">
                <a:latin typeface="Calibri"/>
                <a:cs typeface="Calibri"/>
              </a:rPr>
              <a:t>1.In </a:t>
            </a:r>
            <a:r>
              <a:rPr lang="en-IN" sz="2800" spc="-20" dirty="0">
                <a:latin typeface="Calibri"/>
                <a:cs typeface="Calibri"/>
              </a:rPr>
              <a:t>frame</a:t>
            </a:r>
            <a:r>
              <a:rPr lang="en-IN" sz="2800" spc="10" dirty="0">
                <a:latin typeface="Calibri"/>
                <a:cs typeface="Calibri"/>
              </a:rPr>
              <a:t> </a:t>
            </a:r>
            <a:r>
              <a:rPr lang="en-IN" sz="2800" spc="-30" dirty="0">
                <a:latin typeface="Calibri"/>
                <a:cs typeface="Calibri"/>
              </a:rPr>
              <a:t>system</a:t>
            </a:r>
            <a:r>
              <a:rPr lang="en-IN" sz="2800" spc="30" dirty="0">
                <a:latin typeface="Calibri"/>
                <a:cs typeface="Calibri"/>
              </a:rPr>
              <a:t> </a:t>
            </a:r>
            <a:r>
              <a:rPr lang="en-IN" sz="2800" spc="-20" dirty="0">
                <a:latin typeface="Calibri"/>
                <a:cs typeface="Calibri"/>
              </a:rPr>
              <a:t>inference</a:t>
            </a:r>
            <a:r>
              <a:rPr lang="en-IN" sz="2800" dirty="0">
                <a:latin typeface="Calibri"/>
                <a:cs typeface="Calibri"/>
              </a:rPr>
              <a:t> </a:t>
            </a:r>
            <a:r>
              <a:rPr lang="en-IN" sz="2800" spc="-5" dirty="0">
                <a:latin typeface="Calibri"/>
                <a:cs typeface="Calibri"/>
              </a:rPr>
              <a:t>mechanism</a:t>
            </a:r>
            <a:r>
              <a:rPr lang="en-IN" sz="2800" spc="40" dirty="0">
                <a:latin typeface="Calibri"/>
                <a:cs typeface="Calibri"/>
              </a:rPr>
              <a:t> </a:t>
            </a:r>
            <a:r>
              <a:rPr lang="en-IN" sz="2800" spc="-10" dirty="0">
                <a:latin typeface="Calibri"/>
                <a:cs typeface="Calibri"/>
              </a:rPr>
              <a:t>is</a:t>
            </a:r>
            <a:r>
              <a:rPr lang="en-IN" sz="2800" spc="15" dirty="0">
                <a:latin typeface="Calibri"/>
                <a:cs typeface="Calibri"/>
              </a:rPr>
              <a:t> </a:t>
            </a:r>
            <a:r>
              <a:rPr lang="en-IN" sz="2800" b="1" spc="-5" dirty="0">
                <a:latin typeface="Calibri"/>
                <a:cs typeface="Calibri"/>
              </a:rPr>
              <a:t>not</a:t>
            </a:r>
            <a:r>
              <a:rPr lang="en-IN" sz="2800" b="1" spc="5" dirty="0">
                <a:latin typeface="Calibri"/>
                <a:cs typeface="Calibri"/>
              </a:rPr>
              <a:t> </a:t>
            </a:r>
            <a:r>
              <a:rPr lang="en-IN" sz="2800" b="1" spc="-5" dirty="0">
                <a:latin typeface="Calibri"/>
                <a:cs typeface="Calibri"/>
              </a:rPr>
              <a:t>be</a:t>
            </a:r>
            <a:r>
              <a:rPr lang="en-IN" sz="2800" b="1" spc="15" dirty="0">
                <a:latin typeface="Calibri"/>
                <a:cs typeface="Calibri"/>
              </a:rPr>
              <a:t> </a:t>
            </a:r>
            <a:r>
              <a:rPr lang="en-IN" sz="2800" b="1" spc="-10" dirty="0">
                <a:latin typeface="Calibri"/>
                <a:cs typeface="Calibri"/>
              </a:rPr>
              <a:t>easily</a:t>
            </a:r>
            <a:r>
              <a:rPr lang="en-IN" sz="2800" b="1" spc="25" dirty="0">
                <a:latin typeface="Calibri"/>
                <a:cs typeface="Calibri"/>
              </a:rPr>
              <a:t> </a:t>
            </a:r>
            <a:r>
              <a:rPr lang="en-IN" sz="2800" b="1" spc="-10" dirty="0">
                <a:latin typeface="Calibri"/>
                <a:cs typeface="Calibri"/>
              </a:rPr>
              <a:t>processed</a:t>
            </a:r>
            <a:r>
              <a:rPr lang="en-IN" sz="2800" spc="-10" dirty="0">
                <a:latin typeface="Calibri"/>
                <a:cs typeface="Calibri"/>
              </a:rPr>
              <a:t>.</a:t>
            </a:r>
            <a:endParaRPr lang="en-IN"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lang="en-IN" sz="2800" spc="-5" dirty="0">
                <a:latin typeface="Calibri"/>
                <a:cs typeface="Calibri"/>
              </a:rPr>
              <a:t>2.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20" dirty="0">
                <a:latin typeface="Calibri"/>
                <a:cs typeface="Calibri"/>
              </a:rPr>
              <a:t>n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ence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mech</a:t>
            </a:r>
            <a:r>
              <a:rPr sz="2800" spc="5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nis</a:t>
            </a:r>
            <a:r>
              <a:rPr sz="2800" spc="-5" dirty="0">
                <a:latin typeface="Calibri"/>
                <a:cs typeface="Calibri"/>
              </a:rPr>
              <a:t>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n</a:t>
            </a:r>
            <a:r>
              <a:rPr sz="2800" spc="-10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b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s</a:t>
            </a:r>
            <a:r>
              <a:rPr sz="2800" spc="-5" dirty="0">
                <a:latin typeface="Calibri"/>
                <a:cs typeface="Calibri"/>
              </a:rPr>
              <a:t>m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0" dirty="0">
                <a:latin typeface="Calibri"/>
                <a:cs typeface="Calibri"/>
              </a:rPr>
              <a:t>oth</a:t>
            </a:r>
            <a:r>
              <a:rPr sz="2800" spc="-15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</a:t>
            </a:r>
            <a:r>
              <a:rPr sz="2800" spc="-65" dirty="0">
                <a:latin typeface="Calibri"/>
                <a:cs typeface="Calibri"/>
              </a:rPr>
              <a:t>r</a:t>
            </a:r>
            <a:r>
              <a:rPr sz="2800" spc="5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ceeded  </a:t>
            </a:r>
            <a:r>
              <a:rPr sz="2800" spc="-15" dirty="0">
                <a:latin typeface="Calibri"/>
                <a:cs typeface="Calibri"/>
              </a:rPr>
              <a:t>representation.</a:t>
            </a:r>
            <a:endParaRPr lang="en-IN"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lang="en-IN" sz="2800" spc="-20" dirty="0">
                <a:latin typeface="Calibri"/>
                <a:cs typeface="Calibri"/>
              </a:rPr>
              <a:t>3.</a:t>
            </a:r>
            <a:r>
              <a:rPr sz="2800" spc="-20" dirty="0">
                <a:latin typeface="Calibri"/>
                <a:cs typeface="Calibri"/>
              </a:rPr>
              <a:t>Frame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representation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has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much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generalized</a:t>
            </a:r>
            <a:r>
              <a:rPr sz="2800" b="1" spc="4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approach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73275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42" y="609676"/>
            <a:ext cx="352171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Resolution</a:t>
            </a:r>
            <a:r>
              <a:rPr spc="-5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5" dirty="0"/>
              <a:t>AI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9A2751-6D4A-63BC-E891-707EA8B8F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6943" y="1707923"/>
            <a:ext cx="10356215" cy="34873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5" dirty="0">
                <a:solidFill>
                  <a:srgbClr val="600A38"/>
                </a:solidFill>
                <a:latin typeface="Calibri"/>
                <a:cs typeface="Calibri"/>
              </a:rPr>
              <a:t>Steps</a:t>
            </a:r>
            <a:r>
              <a:rPr sz="2800" spc="-1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600A38"/>
                </a:solidFill>
                <a:latin typeface="Calibri"/>
                <a:cs typeface="Calibri"/>
              </a:rPr>
              <a:t>for</a:t>
            </a:r>
            <a:r>
              <a:rPr sz="2800" spc="-20" dirty="0">
                <a:solidFill>
                  <a:srgbClr val="600A38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00A38"/>
                </a:solidFill>
                <a:latin typeface="Calibri"/>
                <a:cs typeface="Calibri"/>
              </a:rPr>
              <a:t>Resolution:</a:t>
            </a:r>
            <a:endParaRPr sz="2800" dirty="0">
              <a:latin typeface="Calibri"/>
              <a:cs typeface="Calibri"/>
            </a:endParaRPr>
          </a:p>
          <a:p>
            <a:pPr marL="12700" marR="4288790">
              <a:lnSpc>
                <a:spcPct val="119700"/>
              </a:lnSpc>
              <a:spcBef>
                <a:spcPts val="10"/>
              </a:spcBef>
            </a:pPr>
            <a:r>
              <a:rPr sz="2800" spc="-15" dirty="0">
                <a:latin typeface="Calibri"/>
                <a:cs typeface="Calibri"/>
              </a:rPr>
              <a:t>1.Conversion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5" dirty="0">
                <a:latin typeface="Calibri"/>
                <a:cs typeface="Calibri"/>
              </a:rPr>
              <a:t>facts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first-order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logic.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2.Convert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FOL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statements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CNF</a:t>
            </a:r>
            <a:endParaRPr sz="2800" dirty="0">
              <a:latin typeface="Calibri"/>
              <a:cs typeface="Calibri"/>
            </a:endParaRPr>
          </a:p>
          <a:p>
            <a:pPr marL="12700" marR="236854">
              <a:lnSpc>
                <a:spcPts val="4029"/>
              </a:lnSpc>
              <a:spcBef>
                <a:spcPts val="235"/>
              </a:spcBef>
            </a:pPr>
            <a:r>
              <a:rPr sz="2800" spc="-15" dirty="0">
                <a:latin typeface="Calibri"/>
                <a:cs typeface="Calibri"/>
              </a:rPr>
              <a:t>3.Negate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statement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needs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prove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(proof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contradiction)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4.Draw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resolution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graph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(unification).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800"/>
              </a:spcBef>
              <a:tabLst>
                <a:tab pos="2030095" algn="l"/>
                <a:tab pos="2626360" algn="l"/>
                <a:tab pos="3249930" algn="l"/>
                <a:tab pos="3774440" algn="l"/>
                <a:tab pos="4868545" algn="l"/>
                <a:tab pos="6029960" algn="l"/>
                <a:tab pos="6822440" algn="l"/>
                <a:tab pos="7534275" algn="l"/>
                <a:tab pos="8615045" algn="l"/>
                <a:tab pos="9265920" algn="l"/>
              </a:tabLst>
            </a:pPr>
            <a:r>
              <a:rPr sz="2800" spc="-10" dirty="0">
                <a:latin typeface="Calibri"/>
                <a:cs typeface="Calibri"/>
              </a:rPr>
              <a:t>5</a:t>
            </a:r>
            <a:r>
              <a:rPr sz="2800" spc="-5" dirty="0">
                <a:latin typeface="Calibri"/>
                <a:cs typeface="Calibri"/>
              </a:rPr>
              <a:t>.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spc="-20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w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40" dirty="0">
                <a:latin typeface="Calibri"/>
                <a:cs typeface="Calibri"/>
              </a:rPr>
              <a:t>g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em</a:t>
            </a:r>
            <a:r>
              <a:rPr sz="2800" spc="-25" dirty="0">
                <a:latin typeface="Calibri"/>
                <a:cs typeface="Calibri"/>
              </a:rPr>
              <a:t>p</a:t>
            </a:r>
            <a:r>
              <a:rPr sz="280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cl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use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st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p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eport</a:t>
            </a:r>
            <a:r>
              <a:rPr sz="2800" dirty="0">
                <a:latin typeface="Calibri"/>
                <a:cs typeface="Calibri"/>
              </a:rPr>
              <a:t>	t</a:t>
            </a:r>
            <a:r>
              <a:rPr sz="2800" spc="-10" dirty="0">
                <a:latin typeface="Calibri"/>
                <a:cs typeface="Calibri"/>
              </a:rPr>
              <a:t>h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orig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10" dirty="0">
                <a:latin typeface="Calibri"/>
                <a:cs typeface="Calibri"/>
              </a:rPr>
              <a:t>nal  theorem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true.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0" y="3427757"/>
            <a:ext cx="12192000" cy="950877"/>
          </a:xfrm>
          <a:custGeom>
            <a:avLst/>
            <a:gdLst/>
            <a:ahLst/>
            <a:cxnLst/>
            <a:rect l="l" t="t" r="r" b="b"/>
            <a:pathLst>
              <a:path w="9144000" h="713739">
                <a:moveTo>
                  <a:pt x="9144000" y="0"/>
                </a:moveTo>
                <a:lnTo>
                  <a:pt x="0" y="0"/>
                </a:lnTo>
                <a:lnTo>
                  <a:pt x="0" y="713232"/>
                </a:lnTo>
                <a:lnTo>
                  <a:pt x="9144000" y="713232"/>
                </a:lnTo>
                <a:lnTo>
                  <a:pt x="914400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B0D9B0-F64C-ABD5-6EEB-81A5F53EF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3844" y="1600200"/>
            <a:ext cx="10084309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184D13-03D3-C68F-CFEB-B7A93B123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0347" y="1600199"/>
            <a:ext cx="8944356" cy="446684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10B1B1-C6D9-E02D-5DFF-2C0389A4B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8550" y="1752599"/>
            <a:ext cx="8188449" cy="438759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CA0ACF-CE30-BEBF-F76B-1C68BCF04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1151" y="1752599"/>
            <a:ext cx="8732256" cy="468020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7DB5A5-6FA1-6427-0455-E6D1331D4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1905000"/>
            <a:ext cx="8706612" cy="38481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B7FD8A-2250-4214-19CA-A99DDFF97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2247" y="1752599"/>
            <a:ext cx="9093708" cy="464820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34B1DD-C83A-014F-E555-7945CB9B6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5983" y="1752599"/>
            <a:ext cx="8919972" cy="442264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DE49F2-74FA-1A72-F126-6BE291C2F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5003" y="1752599"/>
            <a:ext cx="9176004" cy="442569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26287D-F2EF-305B-3FA5-F284C0B41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1981200"/>
            <a:ext cx="834999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E6BBC8-B3C8-0FA4-205F-9949C7EFD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00" y="1905000"/>
            <a:ext cx="8025383" cy="412546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325765-0EAB-1050-0D81-E67786D38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9800" y="1676400"/>
            <a:ext cx="8001000" cy="450037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60955" y="1671271"/>
            <a:ext cx="607314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935" indent="-356870">
              <a:lnSpc>
                <a:spcPct val="100000"/>
              </a:lnSpc>
              <a:spcBef>
                <a:spcPts val="105"/>
              </a:spcBef>
              <a:buSzPct val="98750"/>
              <a:buFont typeface="Arial MT"/>
              <a:buChar char="•"/>
              <a:tabLst>
                <a:tab pos="369570" algn="l"/>
              </a:tabLst>
            </a:pPr>
            <a:r>
              <a:rPr sz="8000" b="1" dirty="0">
                <a:latin typeface="Calibri"/>
                <a:cs typeface="Calibri"/>
              </a:rPr>
              <a:t>END</a:t>
            </a:r>
            <a:r>
              <a:rPr sz="8000" b="1" spc="-30" dirty="0">
                <a:latin typeface="Calibri"/>
                <a:cs typeface="Calibri"/>
              </a:rPr>
              <a:t> </a:t>
            </a:r>
            <a:r>
              <a:rPr sz="8000" b="1" spc="5" dirty="0">
                <a:latin typeface="Calibri"/>
                <a:cs typeface="Calibri"/>
              </a:rPr>
              <a:t>of</a:t>
            </a:r>
            <a:r>
              <a:rPr sz="8000" b="1" spc="-20" dirty="0">
                <a:latin typeface="Calibri"/>
                <a:cs typeface="Calibri"/>
              </a:rPr>
              <a:t> </a:t>
            </a:r>
            <a:r>
              <a:rPr sz="8000" b="1" spc="-5" dirty="0">
                <a:latin typeface="Calibri"/>
                <a:cs typeface="Calibri"/>
              </a:rPr>
              <a:t>Unit</a:t>
            </a:r>
            <a:r>
              <a:rPr sz="8000" b="1" spc="-20" dirty="0">
                <a:latin typeface="Calibri"/>
                <a:cs typeface="Calibri"/>
              </a:rPr>
              <a:t> </a:t>
            </a:r>
            <a:r>
              <a:rPr sz="8000" b="1" dirty="0">
                <a:latin typeface="Calibri"/>
                <a:cs typeface="Calibri"/>
              </a:rPr>
              <a:t>2</a:t>
            </a:r>
            <a:endParaRPr sz="8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427757"/>
            <a:ext cx="12192000" cy="950877"/>
          </a:xfrm>
          <a:custGeom>
            <a:avLst/>
            <a:gdLst/>
            <a:ahLst/>
            <a:cxnLst/>
            <a:rect l="l" t="t" r="r" b="b"/>
            <a:pathLst>
              <a:path w="9144000" h="713739">
                <a:moveTo>
                  <a:pt x="9144000" y="0"/>
                </a:moveTo>
                <a:lnTo>
                  <a:pt x="0" y="0"/>
                </a:lnTo>
                <a:lnTo>
                  <a:pt x="0" y="713232"/>
                </a:lnTo>
                <a:lnTo>
                  <a:pt x="9144000" y="713232"/>
                </a:lnTo>
                <a:lnTo>
                  <a:pt x="914400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1513</TotalTime>
  <Words>3270</Words>
  <Application>Microsoft Office PowerPoint</Application>
  <PresentationFormat>Widescreen</PresentationFormat>
  <Paragraphs>267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Arial</vt:lpstr>
      <vt:lpstr>Arial MT</vt:lpstr>
      <vt:lpstr>Calibri</vt:lpstr>
      <vt:lpstr>Calibri Light</vt:lpstr>
      <vt:lpstr>Cambria Math</vt:lpstr>
      <vt:lpstr>Microsoft Sans Serif</vt:lpstr>
      <vt:lpstr>Tahoma</vt:lpstr>
      <vt:lpstr>Times New Roman</vt:lpstr>
      <vt:lpstr>Office Theme</vt:lpstr>
      <vt:lpstr>PowerPoint Presentation</vt:lpstr>
      <vt:lpstr>PowerPoint Presentation</vt:lpstr>
      <vt:lpstr>Unit 2</vt:lpstr>
      <vt:lpstr>Generate and Test Search</vt:lpstr>
      <vt:lpstr>Properties of Good  Generators:</vt:lpstr>
      <vt:lpstr>Hill Climbing</vt:lpstr>
      <vt:lpstr>Algorithm(Hill Climbing)</vt:lpstr>
      <vt:lpstr>Different regions in the state space landscape:</vt:lpstr>
      <vt:lpstr>PowerPoint Presentation</vt:lpstr>
      <vt:lpstr>PowerPoint Presentation</vt:lpstr>
      <vt:lpstr>Advantage of Hill Climbing algorithm:</vt:lpstr>
      <vt:lpstr>Disadvantages of Hill Climbing algorithm</vt:lpstr>
      <vt:lpstr>Best-First Search</vt:lpstr>
      <vt:lpstr>Best first search algorithm:</vt:lpstr>
      <vt:lpstr>PowerPoint Presentation</vt:lpstr>
      <vt:lpstr>PowerPoint Presentation</vt:lpstr>
      <vt:lpstr>Problem Reduction</vt:lpstr>
      <vt:lpstr>PowerPoint Presentation</vt:lpstr>
      <vt:lpstr>Constraint Satisfaction</vt:lpstr>
      <vt:lpstr>PowerPoint Presentation</vt:lpstr>
      <vt:lpstr>Means-Ends Analysis Algorithm</vt:lpstr>
      <vt:lpstr>Algorithm for Means-Ends Analysis:</vt:lpstr>
      <vt:lpstr>Example of Mean-Ends Analysis:</vt:lpstr>
      <vt:lpstr>A* Algorithm</vt:lpstr>
      <vt:lpstr>Algorithm of A* search:</vt:lpstr>
      <vt:lpstr>Advantages of A*</vt:lpstr>
      <vt:lpstr>Disadvantages of A*</vt:lpstr>
      <vt:lpstr>AO* Algorithm</vt:lpstr>
      <vt:lpstr>A* and AO* Algorithm</vt:lpstr>
      <vt:lpstr>Knowledge Representation: Basic concepts,  Knowledge representation Paradigms</vt:lpstr>
      <vt:lpstr>key aspects and approaches to knowledge  representation in AI:</vt:lpstr>
      <vt:lpstr>PowerPoint Presentation</vt:lpstr>
      <vt:lpstr>PowerPoint Presentation</vt:lpstr>
      <vt:lpstr>Propositional Logic, Inference Rules in  Propositional Logic</vt:lpstr>
      <vt:lpstr>Knowledge representation using Predicate  logic</vt:lpstr>
      <vt:lpstr>PowerPoint Presentation</vt:lpstr>
      <vt:lpstr>Predicate Calculus, Predicate and arguments</vt:lpstr>
      <vt:lpstr>ISA hierarchy((Is-a) hierarchy)</vt:lpstr>
      <vt:lpstr>Frame notation</vt:lpstr>
      <vt:lpstr>PowerPoint Presentation</vt:lpstr>
      <vt:lpstr>PowerPoint Presentation</vt:lpstr>
      <vt:lpstr>Resolution in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                              Search Techniques</dc:title>
  <dc:creator>Parmi Ghogare</dc:creator>
  <cp:lastModifiedBy>ASHWANI CHAUDHARY</cp:lastModifiedBy>
  <cp:revision>12</cp:revision>
  <dcterms:created xsi:type="dcterms:W3CDTF">2024-05-24T06:05:36Z</dcterms:created>
  <dcterms:modified xsi:type="dcterms:W3CDTF">2024-07-19T17:33:13Z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2023-07-14T00:00:00Z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2024-05-24T00:00:00Z</vt:filetime>
  </property>
</Properties>
</file>