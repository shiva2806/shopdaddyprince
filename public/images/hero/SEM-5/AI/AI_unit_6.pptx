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84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e065e17c9d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e065e17c9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e063155b10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e063155b1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e063155b10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e063155b10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e063155b10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e063155b10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e063155b10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e063155b10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063155b1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e063155b1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e063155b10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e063155b10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e063155b10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e063155b10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e063155b10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e063155b10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e063155b10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e063155b10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e063155b10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e063155b10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e063155b10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2e063155b10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e063155b10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e063155b10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e063155b10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e063155b10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e063155b10_0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e063155b10_0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e063155b10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2e063155b10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e063155b10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e063155b10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e063155b10_0_3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e063155b10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72757264e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72757264e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72757264e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272757264e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72757264ec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72757264e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72757264ec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272757264ec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72757264e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272757264e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72757264ec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72757264ec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72757264ec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72757264ec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72757264ec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72757264ec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72757264ec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72757264ec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72757264ec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72757264ec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72757264ec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72757264ec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72757264ec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72757264ec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72757264ec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272757264ec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272757264ec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272757264ec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72757264ec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272757264ec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72757264ec_0_21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g272757264ec_0_2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2"/>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Google Shape;14;p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 name="Google Shape;19;p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Google Shape;20;p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623888" y="1282304"/>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4"/>
          <p:cNvSpPr txBox="1">
            <a:spLocks noGrp="1"/>
          </p:cNvSpPr>
          <p:nvPr>
            <p:ph type="body" idx="1"/>
          </p:nvPr>
        </p:nvSpPr>
        <p:spPr>
          <a:xfrm>
            <a:off x="623888" y="3442097"/>
            <a:ext cx="7886700" cy="11250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Google Shape;26;p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 name="Google Shape;27;p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 name="Google Shape;31;p5"/>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Google Shape;32;p5"/>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Google Shape;33;p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 name="Google Shape;34;p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8" name="Google Shape;38;p6"/>
          <p:cNvSpPr txBox="1">
            <a:spLocks noGrp="1"/>
          </p:cNvSpPr>
          <p:nvPr>
            <p:ph type="body" idx="1"/>
          </p:nvPr>
        </p:nvSpPr>
        <p:spPr>
          <a:xfrm>
            <a:off x="629841" y="1260872"/>
            <a:ext cx="38682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Google Shape;39;p6"/>
          <p:cNvSpPr txBox="1">
            <a:spLocks noGrp="1"/>
          </p:cNvSpPr>
          <p:nvPr>
            <p:ph type="body" idx="2"/>
          </p:nvPr>
        </p:nvSpPr>
        <p:spPr>
          <a:xfrm>
            <a:off x="629841" y="1878806"/>
            <a:ext cx="3868200" cy="276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Google Shape;40;p6"/>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Google Shape;41;p6"/>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Google Shape;42;p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4" name="Google Shape;44;p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 name="Google Shape;47;p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 name="Google Shape;48;p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 name="Google Shape;49;p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3" name="Google Shape;53;p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629841" y="342900"/>
            <a:ext cx="29493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9"/>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629841" y="1543050"/>
            <a:ext cx="29493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Google Shape;58;p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629841" y="342900"/>
            <a:ext cx="29493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10"/>
          <p:cNvSpPr>
            <a:spLocks noGrp="1"/>
          </p:cNvSpPr>
          <p:nvPr>
            <p:ph type="pic" idx="2"/>
          </p:nvPr>
        </p:nvSpPr>
        <p:spPr>
          <a:xfrm>
            <a:off x="3887391" y="740569"/>
            <a:ext cx="4629300" cy="3655200"/>
          </a:xfrm>
          <a:prstGeom prst="rect">
            <a:avLst/>
          </a:prstGeom>
          <a:noFill/>
          <a:ln>
            <a:noFill/>
          </a:ln>
        </p:spPr>
      </p:sp>
      <p:sp>
        <p:nvSpPr>
          <p:cNvPr id="64" name="Google Shape;64;p10"/>
          <p:cNvSpPr txBox="1">
            <a:spLocks noGrp="1"/>
          </p:cNvSpPr>
          <p:nvPr>
            <p:ph type="body" idx="1"/>
          </p:nvPr>
        </p:nvSpPr>
        <p:spPr>
          <a:xfrm>
            <a:off x="629841" y="1543050"/>
            <a:ext cx="29493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Google Shape;65;p1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1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1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1"/>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Google Shape;71;p1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 name="Google Shape;73;p1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5350050" y="1467543"/>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2"/>
          <p:cNvSpPr txBox="1">
            <a:spLocks noGrp="1"/>
          </p:cNvSpPr>
          <p:nvPr>
            <p:ph type="body" idx="1"/>
          </p:nvPr>
        </p:nvSpPr>
        <p:spPr>
          <a:xfrm rot="5400000">
            <a:off x="1349475" y="-447057"/>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1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143000" y="841772"/>
            <a:ext cx="6858000" cy="1790700"/>
          </a:xfrm>
          <a:prstGeom prst="rect">
            <a:avLst/>
          </a:prstGeom>
        </p:spPr>
        <p:txBody>
          <a:bodyPr spcFirstLastPara="1" wrap="square" lIns="68575" tIns="34275" rIns="68575" bIns="34275" anchor="b" anchorCtr="0">
            <a:normAutofit/>
          </a:bodyPr>
          <a:lstStyle/>
          <a:p>
            <a:pPr marL="0" lvl="0" indent="0" algn="ctr" rtl="0">
              <a:spcBef>
                <a:spcPts val="0"/>
              </a:spcBef>
              <a:spcAft>
                <a:spcPts val="0"/>
              </a:spcAft>
              <a:buNone/>
            </a:pPr>
            <a:endParaRPr/>
          </a:p>
        </p:txBody>
      </p:sp>
      <p:sp>
        <p:nvSpPr>
          <p:cNvPr id="85" name="Google Shape;85;p13"/>
          <p:cNvSpPr txBox="1">
            <a:spLocks noGrp="1"/>
          </p:cNvSpPr>
          <p:nvPr>
            <p:ph type="subTitle" idx="1"/>
          </p:nvPr>
        </p:nvSpPr>
        <p:spPr>
          <a:xfrm>
            <a:off x="1143000" y="2701528"/>
            <a:ext cx="6858000" cy="1241700"/>
          </a:xfrm>
          <a:prstGeom prst="rect">
            <a:avLst/>
          </a:prstGeom>
        </p:spPr>
        <p:txBody>
          <a:bodyPr spcFirstLastPara="1" wrap="square" lIns="68575" tIns="34275" rIns="68575" bIns="34275" anchor="t" anchorCtr="0">
            <a:normAutofit/>
          </a:bodyPr>
          <a:lstStyle/>
          <a:p>
            <a:pPr marL="0" lvl="0" indent="0" algn="ctr" rtl="0">
              <a:spcBef>
                <a:spcPts val="800"/>
              </a:spcBef>
              <a:spcAft>
                <a:spcPts val="0"/>
              </a:spcAft>
              <a:buNone/>
            </a:pPr>
            <a:endParaRPr/>
          </a:p>
        </p:txBody>
      </p:sp>
      <p:pic>
        <p:nvPicPr>
          <p:cNvPr id="86" name="Google Shape;86;p13" descr="C:\Users\parul\Desktop\temp.png"/>
          <p:cNvPicPr preferRelativeResize="0"/>
          <p:nvPr/>
        </p:nvPicPr>
        <p:blipFill rotWithShape="1">
          <a:blip r:embed="rId3">
            <a:alphaModFix/>
          </a:blip>
          <a:srcRect/>
          <a:stretch/>
        </p:blipFill>
        <p:spPr>
          <a:xfrm>
            <a:off x="0" y="0"/>
            <a:ext cx="9143999" cy="6900862"/>
          </a:xfrm>
          <a:prstGeom prst="rect">
            <a:avLst/>
          </a:prstGeom>
          <a:noFill/>
          <a:ln>
            <a:noFill/>
          </a:ln>
        </p:spPr>
      </p:pic>
      <p:pic>
        <p:nvPicPr>
          <p:cNvPr id="87" name="Google Shape;87;p13" descr="C:\Users\parul\Desktop\temp.png"/>
          <p:cNvPicPr preferRelativeResize="0"/>
          <p:nvPr/>
        </p:nvPicPr>
        <p:blipFill rotWithShape="1">
          <a:blip r:embed="rId3">
            <a:alphaModFix/>
          </a:blip>
          <a:srcRect/>
          <a:stretch/>
        </p:blipFill>
        <p:spPr>
          <a:xfrm>
            <a:off x="0" y="0"/>
            <a:ext cx="9143999" cy="6900862"/>
          </a:xfrm>
          <a:prstGeom prst="rect">
            <a:avLst/>
          </a:prstGeom>
          <a:noFill/>
          <a:ln>
            <a:noFill/>
          </a:ln>
        </p:spPr>
      </p:pic>
      <p:sp>
        <p:nvSpPr>
          <p:cNvPr id="88" name="Google Shape;88;p13"/>
          <p:cNvSpPr txBox="1"/>
          <p:nvPr/>
        </p:nvSpPr>
        <p:spPr>
          <a:xfrm>
            <a:off x="1143000" y="1473200"/>
            <a:ext cx="6858000" cy="1170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0"/>
              <a:buFont typeface="Calibri"/>
              <a:buNone/>
            </a:pPr>
            <a:r>
              <a:rPr lang="en" sz="3500" b="1">
                <a:latin typeface="Calibri"/>
                <a:ea typeface="Calibri"/>
                <a:cs typeface="Calibri"/>
                <a:sym typeface="Calibri"/>
              </a:rPr>
              <a:t>Artificial Intelligence</a:t>
            </a:r>
            <a:endParaRPr sz="3500" b="1">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500"/>
              <a:buFont typeface="Calibri"/>
              <a:buNone/>
            </a:pPr>
            <a:r>
              <a:rPr lang="en" sz="3500" b="1">
                <a:latin typeface="Calibri"/>
                <a:ea typeface="Calibri"/>
                <a:cs typeface="Calibri"/>
                <a:sym typeface="Calibri"/>
              </a:rPr>
              <a:t>303105308</a:t>
            </a:r>
            <a:endParaRPr sz="3500" b="1">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200"/>
              <a:buFont typeface="Calibri"/>
              <a:buNone/>
            </a:pPr>
            <a:endParaRPr/>
          </a:p>
        </p:txBody>
      </p:sp>
      <p:sp>
        <p:nvSpPr>
          <p:cNvPr id="89" name="Google Shape;89;p13"/>
          <p:cNvSpPr txBox="1"/>
          <p:nvPr/>
        </p:nvSpPr>
        <p:spPr>
          <a:xfrm>
            <a:off x="1527175" y="2781300"/>
            <a:ext cx="6089700" cy="769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200"/>
              <a:buFont typeface="Calibri"/>
              <a:buNone/>
            </a:pPr>
            <a:r>
              <a:rPr lang="en" sz="2200" b="1" dirty="0">
                <a:latin typeface="Calibri"/>
                <a:ea typeface="Calibri"/>
                <a:cs typeface="Calibri"/>
                <a:sym typeface="Calibri"/>
              </a:rPr>
              <a:t>ASHWANI CHAUDHARY</a:t>
            </a:r>
            <a:r>
              <a:rPr lang="en" sz="2200" b="1" i="0" u="none" strike="noStrike" cap="none" dirty="0">
                <a:solidFill>
                  <a:srgbClr val="000000"/>
                </a:solidFill>
                <a:latin typeface="Calibri"/>
                <a:ea typeface="Calibri"/>
                <a:cs typeface="Calibri"/>
                <a:sym typeface="Calibri"/>
              </a:rPr>
              <a:t>, </a:t>
            </a:r>
            <a:endParaRPr sz="2200" b="1"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200"/>
              <a:buFont typeface="Calibri"/>
              <a:buNone/>
            </a:pPr>
            <a:endParaRPr dirty="0"/>
          </a:p>
          <a:p>
            <a:pPr marL="0" marR="0" lvl="0" indent="0" algn="ctr" rtl="0">
              <a:lnSpc>
                <a:spcPct val="100000"/>
              </a:lnSpc>
              <a:spcBef>
                <a:spcPts val="0"/>
              </a:spcBef>
              <a:spcAft>
                <a:spcPts val="0"/>
              </a:spcAft>
              <a:buClr>
                <a:srgbClr val="000000"/>
              </a:buClr>
              <a:buSzPts val="2200"/>
              <a:buFont typeface="Calibri"/>
              <a:buNone/>
            </a:pPr>
            <a:r>
              <a:rPr lang="en" sz="2200" b="0" i="0" u="none" strike="noStrike" cap="none" dirty="0">
                <a:solidFill>
                  <a:srgbClr val="000000"/>
                </a:solidFill>
                <a:latin typeface="Calibri"/>
                <a:ea typeface="Calibri"/>
                <a:cs typeface="Calibri"/>
                <a:sym typeface="Calibri"/>
              </a:rPr>
              <a:t>Computer Science &amp; Engineering Department</a:t>
            </a:r>
            <a:endParaRPr dirty="0"/>
          </a:p>
        </p:txBody>
      </p:sp>
      <p:pic>
        <p:nvPicPr>
          <p:cNvPr id="90" name="Google Shape;90;p13" descr="C:\Users\parul\Desktop\Registered Logosd.png"/>
          <p:cNvPicPr preferRelativeResize="0"/>
          <p:nvPr/>
        </p:nvPicPr>
        <p:blipFill rotWithShape="1">
          <a:blip r:embed="rId4">
            <a:alphaModFix/>
          </a:blip>
          <a:srcRect/>
          <a:stretch/>
        </p:blipFill>
        <p:spPr>
          <a:xfrm>
            <a:off x="3381375" y="500062"/>
            <a:ext cx="2381250" cy="628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14" descr="C:\Users\parul\Desktop\Untitled-1.png"/>
          <p:cNvPicPr preferRelativeResize="0"/>
          <p:nvPr/>
        </p:nvPicPr>
        <p:blipFill rotWithShape="1">
          <a:blip r:embed="rId3">
            <a:alphaModFix/>
          </a:blip>
          <a:srcRect/>
          <a:stretch/>
        </p:blipFill>
        <p:spPr>
          <a:xfrm>
            <a:off x="1857375" y="1833875"/>
            <a:ext cx="5430837" cy="2803525"/>
          </a:xfrm>
          <a:prstGeom prst="rect">
            <a:avLst/>
          </a:prstGeom>
          <a:noFill/>
          <a:ln>
            <a:noFill/>
          </a:ln>
        </p:spPr>
      </p:pic>
      <p:sp>
        <p:nvSpPr>
          <p:cNvPr id="96" name="Google Shape;96;p14"/>
          <p:cNvSpPr txBox="1"/>
          <p:nvPr/>
        </p:nvSpPr>
        <p:spPr>
          <a:xfrm>
            <a:off x="0" y="2976875"/>
            <a:ext cx="9144000" cy="7143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97" name="Google Shape;97;p14"/>
          <p:cNvSpPr txBox="1"/>
          <p:nvPr/>
        </p:nvSpPr>
        <p:spPr>
          <a:xfrm>
            <a:off x="611187" y="3018150"/>
            <a:ext cx="8035800" cy="631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500"/>
              <a:buFont typeface="Calibri"/>
              <a:buNone/>
            </a:pPr>
            <a:r>
              <a:rPr lang="en" sz="3500" b="1">
                <a:solidFill>
                  <a:srgbClr val="FFFFFF"/>
                </a:solidFill>
                <a:latin typeface="Calibri"/>
                <a:ea typeface="Calibri"/>
                <a:cs typeface="Calibri"/>
                <a:sym typeface="Calibri"/>
              </a:rPr>
              <a:t>Natural Language Processing</a:t>
            </a:r>
            <a:endParaRPr/>
          </a:p>
        </p:txBody>
      </p:sp>
      <p:sp>
        <p:nvSpPr>
          <p:cNvPr id="98" name="Google Shape;98;p14"/>
          <p:cNvSpPr txBox="1"/>
          <p:nvPr/>
        </p:nvSpPr>
        <p:spPr>
          <a:xfrm>
            <a:off x="1714500" y="2333937"/>
            <a:ext cx="5715000" cy="630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0"/>
              <a:buFont typeface="Calibri"/>
              <a:buNone/>
            </a:pPr>
            <a:r>
              <a:rPr lang="en" sz="3500" b="1" i="0" u="none">
                <a:solidFill>
                  <a:srgbClr val="000000"/>
                </a:solidFill>
                <a:latin typeface="Calibri"/>
                <a:ea typeface="Calibri"/>
                <a:cs typeface="Calibri"/>
                <a:sym typeface="Calibri"/>
              </a:rPr>
              <a:t>CHAPTER-</a:t>
            </a:r>
            <a:r>
              <a:rPr lang="en" sz="3500" b="1">
                <a:latin typeface="Calibri"/>
                <a:ea typeface="Calibri"/>
                <a:cs typeface="Calibri"/>
                <a:sym typeface="Calibri"/>
              </a:rPr>
              <a:t>6</a:t>
            </a:r>
            <a:endParaRPr/>
          </a:p>
        </p:txBody>
      </p:sp>
      <p:sp>
        <p:nvSpPr>
          <p:cNvPr id="99" name="Google Shape;99;p14"/>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15" descr="C:\Users\parul\Desktop\Untitled-1.png"/>
          <p:cNvPicPr preferRelativeResize="0"/>
          <p:nvPr/>
        </p:nvPicPr>
        <p:blipFill rotWithShape="1">
          <a:blip r:embed="rId3">
            <a:alphaModFix/>
          </a:blip>
          <a:srcRect/>
          <a:stretch/>
        </p:blipFill>
        <p:spPr>
          <a:xfrm>
            <a:off x="1857375" y="1833875"/>
            <a:ext cx="5430837" cy="2803525"/>
          </a:xfrm>
          <a:prstGeom prst="rect">
            <a:avLst/>
          </a:prstGeom>
          <a:noFill/>
          <a:ln>
            <a:noFill/>
          </a:ln>
        </p:spPr>
      </p:pic>
      <p:sp>
        <p:nvSpPr>
          <p:cNvPr id="105" name="Google Shape;105;p15"/>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06" name="Google Shape;106;p15"/>
          <p:cNvSpPr txBox="1"/>
          <p:nvPr/>
        </p:nvSpPr>
        <p:spPr>
          <a:xfrm>
            <a:off x="191288" y="1993000"/>
            <a:ext cx="8629800" cy="2185800"/>
          </a:xfrm>
          <a:prstGeom prst="rect">
            <a:avLst/>
          </a:prstGeom>
          <a:noFill/>
          <a:ln>
            <a:noFill/>
          </a:ln>
        </p:spPr>
        <p:txBody>
          <a:bodyPr spcFirstLastPara="1" wrap="square" lIns="91425" tIns="45700" rIns="91425" bIns="45700" anchor="t" anchorCtr="0">
            <a:spAutoFit/>
          </a:bodyPr>
          <a:lstStyle/>
          <a:p>
            <a:pPr marL="403225" marR="0" lvl="0" indent="-403225" algn="l" rtl="0">
              <a:lnSpc>
                <a:spcPct val="100000"/>
              </a:lnSpc>
              <a:spcBef>
                <a:spcPts val="480"/>
              </a:spcBef>
              <a:spcAft>
                <a:spcPts val="0"/>
              </a:spcAft>
              <a:buClr>
                <a:srgbClr val="000000"/>
              </a:buClr>
              <a:buSzPts val="2400"/>
              <a:buFont typeface="Arial"/>
              <a:buChar char="•"/>
            </a:pPr>
            <a:r>
              <a:rPr lang="en" sz="2400">
                <a:latin typeface="Calibri"/>
                <a:ea typeface="Calibri"/>
                <a:cs typeface="Calibri"/>
                <a:sym typeface="Calibri"/>
              </a:rPr>
              <a:t>Introduction</a:t>
            </a:r>
            <a:endParaRPr sz="2400">
              <a:latin typeface="Calibri"/>
              <a:ea typeface="Calibri"/>
              <a:cs typeface="Calibri"/>
              <a:sym typeface="Calibri"/>
            </a:endParaRPr>
          </a:p>
          <a:p>
            <a:pPr marL="403225" marR="0" lvl="0" indent="-403225" algn="l" rtl="0">
              <a:lnSpc>
                <a:spcPct val="100000"/>
              </a:lnSpc>
              <a:spcBef>
                <a:spcPts val="480"/>
              </a:spcBef>
              <a:spcAft>
                <a:spcPts val="0"/>
              </a:spcAft>
              <a:buSzPts val="2400"/>
              <a:buFont typeface="Calibri"/>
              <a:buChar char="•"/>
            </a:pPr>
            <a:r>
              <a:rPr lang="en" sz="2400">
                <a:latin typeface="Calibri"/>
                <a:ea typeface="Calibri"/>
                <a:cs typeface="Calibri"/>
                <a:sym typeface="Calibri"/>
              </a:rPr>
              <a:t>Syntactic Processing</a:t>
            </a:r>
            <a:endParaRPr sz="2400">
              <a:latin typeface="Calibri"/>
              <a:ea typeface="Calibri"/>
              <a:cs typeface="Calibri"/>
              <a:sym typeface="Calibri"/>
            </a:endParaRPr>
          </a:p>
          <a:p>
            <a:pPr marL="403225" marR="0" lvl="0" indent="-403225" algn="l" rtl="0">
              <a:lnSpc>
                <a:spcPct val="100000"/>
              </a:lnSpc>
              <a:spcBef>
                <a:spcPts val="480"/>
              </a:spcBef>
              <a:spcAft>
                <a:spcPts val="0"/>
              </a:spcAft>
              <a:buSzPts val="2400"/>
              <a:buFont typeface="Calibri"/>
              <a:buChar char="•"/>
            </a:pPr>
            <a:r>
              <a:rPr lang="en" sz="2400">
                <a:latin typeface="Calibri"/>
                <a:ea typeface="Calibri"/>
                <a:cs typeface="Calibri"/>
                <a:sym typeface="Calibri"/>
              </a:rPr>
              <a:t>Semantic Analysis</a:t>
            </a:r>
            <a:endParaRPr sz="2400">
              <a:latin typeface="Calibri"/>
              <a:ea typeface="Calibri"/>
              <a:cs typeface="Calibri"/>
              <a:sym typeface="Calibri"/>
            </a:endParaRPr>
          </a:p>
          <a:p>
            <a:pPr marL="403225" marR="0" lvl="0" indent="-403225" algn="l" rtl="0">
              <a:lnSpc>
                <a:spcPct val="100000"/>
              </a:lnSpc>
              <a:spcBef>
                <a:spcPts val="480"/>
              </a:spcBef>
              <a:spcAft>
                <a:spcPts val="0"/>
              </a:spcAft>
              <a:buSzPts val="2400"/>
              <a:buFont typeface="Calibri"/>
              <a:buChar char="•"/>
            </a:pPr>
            <a:r>
              <a:rPr lang="en" sz="2400">
                <a:latin typeface="Calibri"/>
                <a:ea typeface="Calibri"/>
                <a:cs typeface="Calibri"/>
                <a:sym typeface="Calibri"/>
              </a:rPr>
              <a:t>Discourse and Pragmatic Processing</a:t>
            </a:r>
            <a:endParaRPr sz="2400">
              <a:latin typeface="Calibri"/>
              <a:ea typeface="Calibri"/>
              <a:cs typeface="Calibri"/>
              <a:sym typeface="Calibri"/>
            </a:endParaRPr>
          </a:p>
          <a:p>
            <a:pPr marL="403225" marR="0" lvl="0" indent="-403225" algn="l" rtl="0">
              <a:lnSpc>
                <a:spcPct val="100000"/>
              </a:lnSpc>
              <a:spcBef>
                <a:spcPts val="480"/>
              </a:spcBef>
              <a:spcAft>
                <a:spcPts val="0"/>
              </a:spcAft>
              <a:buSzPts val="2400"/>
              <a:buFont typeface="Calibri"/>
              <a:buChar char="•"/>
            </a:pPr>
            <a:r>
              <a:rPr lang="en" sz="2400">
                <a:latin typeface="Calibri"/>
                <a:ea typeface="Calibri"/>
                <a:cs typeface="Calibri"/>
                <a:sym typeface="Calibri"/>
              </a:rPr>
              <a:t>Spell Checking</a:t>
            </a:r>
            <a:endParaRPr sz="2400">
              <a:latin typeface="Calibri"/>
              <a:ea typeface="Calibri"/>
              <a:cs typeface="Calibri"/>
              <a:sym typeface="Calibri"/>
            </a:endParaRPr>
          </a:p>
        </p:txBody>
      </p:sp>
      <p:sp>
        <p:nvSpPr>
          <p:cNvPr id="107" name="Google Shape;107;p15"/>
          <p:cNvSpPr txBox="1"/>
          <p:nvPr/>
        </p:nvSpPr>
        <p:spPr>
          <a:xfrm>
            <a:off x="788" y="13500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08" name="Google Shape;108;p15"/>
          <p:cNvSpPr txBox="1"/>
          <p:nvPr/>
        </p:nvSpPr>
        <p:spPr>
          <a:xfrm>
            <a:off x="191288" y="13945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i="0" u="none">
                <a:solidFill>
                  <a:srgbClr val="FFFFFF"/>
                </a:solidFill>
                <a:latin typeface="Calibri"/>
                <a:ea typeface="Calibri"/>
                <a:cs typeface="Calibri"/>
                <a:sym typeface="Calibri"/>
              </a:rPr>
              <a:t>Topics to be Covered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16"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14" name="Google Shape;114;p16"/>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15" name="Google Shape;115;p16"/>
          <p:cNvSpPr txBox="1"/>
          <p:nvPr/>
        </p:nvSpPr>
        <p:spPr>
          <a:xfrm>
            <a:off x="191300" y="1916800"/>
            <a:ext cx="8706600" cy="1877700"/>
          </a:xfrm>
          <a:prstGeom prst="rect">
            <a:avLst/>
          </a:prstGeom>
          <a:noFill/>
          <a:ln>
            <a:noFill/>
          </a:ln>
        </p:spPr>
        <p:txBody>
          <a:bodyPr spcFirstLastPara="1" wrap="square" lIns="91425" tIns="45700" rIns="91425" bIns="45700" anchor="t" anchorCtr="0">
            <a:spAutoFit/>
          </a:bodyPr>
          <a:lstStyle/>
          <a:p>
            <a:pPr marL="403225" marR="0" lvl="0" indent="-390525" algn="just" rtl="0">
              <a:lnSpc>
                <a:spcPct val="100000"/>
              </a:lnSpc>
              <a:spcBef>
                <a:spcPts val="480"/>
              </a:spcBef>
              <a:spcAft>
                <a:spcPts val="0"/>
              </a:spcAft>
              <a:buClr>
                <a:srgbClr val="000000"/>
              </a:buClr>
              <a:buSzPts val="2200"/>
              <a:buFont typeface="Arial"/>
              <a:buChar char="•"/>
            </a:pPr>
            <a:r>
              <a:rPr lang="en" sz="2200">
                <a:latin typeface="Calibri"/>
                <a:ea typeface="Calibri"/>
                <a:cs typeface="Calibri"/>
                <a:sym typeface="Calibri"/>
              </a:rPr>
              <a:t>Natural Language Processing (NLP) is an interdisciplinary field that combines computer science, linguistics, and artificial intelligence to enable machines to understand, interpret, and generate human language.</a:t>
            </a:r>
            <a:endParaRPr sz="2200">
              <a:latin typeface="Calibri"/>
              <a:ea typeface="Calibri"/>
              <a:cs typeface="Calibri"/>
              <a:sym typeface="Calibri"/>
            </a:endParaRPr>
          </a:p>
          <a:p>
            <a:pPr marL="0" marR="0" lvl="0" indent="0" algn="just" rtl="0">
              <a:lnSpc>
                <a:spcPct val="100000"/>
              </a:lnSpc>
              <a:spcBef>
                <a:spcPts val="480"/>
              </a:spcBef>
              <a:spcAft>
                <a:spcPts val="0"/>
              </a:spcAft>
              <a:buNone/>
            </a:pPr>
            <a:endParaRPr sz="2400">
              <a:latin typeface="Calibri"/>
              <a:ea typeface="Calibri"/>
              <a:cs typeface="Calibri"/>
              <a:sym typeface="Calibri"/>
            </a:endParaRPr>
          </a:p>
        </p:txBody>
      </p:sp>
      <p:sp>
        <p:nvSpPr>
          <p:cNvPr id="116" name="Google Shape;116;p16"/>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17" name="Google Shape;117;p16"/>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17"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23" name="Google Shape;123;p17"/>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24" name="Google Shape;124;p17"/>
          <p:cNvSpPr txBox="1"/>
          <p:nvPr/>
        </p:nvSpPr>
        <p:spPr>
          <a:xfrm>
            <a:off x="191300" y="1916800"/>
            <a:ext cx="8717700" cy="2616600"/>
          </a:xfrm>
          <a:prstGeom prst="rect">
            <a:avLst/>
          </a:prstGeom>
          <a:noFill/>
          <a:ln>
            <a:noFill/>
          </a:ln>
        </p:spPr>
        <p:txBody>
          <a:bodyPr spcFirstLastPara="1" wrap="square" lIns="91425" tIns="45700" rIns="91425" bIns="45700" anchor="t" anchorCtr="0">
            <a:spAutoFit/>
          </a:bodyPr>
          <a:lstStyle/>
          <a:p>
            <a:pPr marL="403225" marR="0" lvl="0" indent="-390525" algn="just" rtl="0">
              <a:lnSpc>
                <a:spcPct val="100000"/>
              </a:lnSpc>
              <a:spcBef>
                <a:spcPts val="480"/>
              </a:spcBef>
              <a:spcAft>
                <a:spcPts val="0"/>
              </a:spcAft>
              <a:buClr>
                <a:srgbClr val="000000"/>
              </a:buClr>
              <a:buSzPts val="2200"/>
              <a:buFont typeface="Arial"/>
              <a:buChar char="•"/>
            </a:pPr>
            <a:r>
              <a:rPr lang="en" sz="2200">
                <a:latin typeface="Calibri"/>
                <a:ea typeface="Calibri"/>
                <a:cs typeface="Calibri"/>
                <a:sym typeface="Calibri"/>
              </a:rPr>
              <a:t>Human language is incredibly complex and diverse. It encompasses syntax (structure), semantics (meaning), pragmatics (context), and even the socio-linguistic elements that influence communication. </a:t>
            </a:r>
            <a:endParaRPr sz="2200">
              <a:latin typeface="Calibri"/>
              <a:ea typeface="Calibri"/>
              <a:cs typeface="Calibri"/>
              <a:sym typeface="Calibri"/>
            </a:endParaRPr>
          </a:p>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NLP aims to bridge the gap between human communication and computer understanding, facilitating smoother and more intuitive interactions.</a:t>
            </a:r>
            <a:endParaRPr sz="2200">
              <a:latin typeface="Calibri"/>
              <a:ea typeface="Calibri"/>
              <a:cs typeface="Calibri"/>
              <a:sym typeface="Calibri"/>
            </a:endParaRPr>
          </a:p>
          <a:p>
            <a:pPr marL="0" marR="0" lvl="0" indent="0" algn="just" rtl="0">
              <a:lnSpc>
                <a:spcPct val="100000"/>
              </a:lnSpc>
              <a:spcBef>
                <a:spcPts val="480"/>
              </a:spcBef>
              <a:spcAft>
                <a:spcPts val="0"/>
              </a:spcAft>
              <a:buNone/>
            </a:pPr>
            <a:endParaRPr sz="2400">
              <a:latin typeface="Calibri"/>
              <a:ea typeface="Calibri"/>
              <a:cs typeface="Calibri"/>
              <a:sym typeface="Calibri"/>
            </a:endParaRPr>
          </a:p>
        </p:txBody>
      </p:sp>
      <p:sp>
        <p:nvSpPr>
          <p:cNvPr id="125" name="Google Shape;125;p17"/>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26" name="Google Shape;126;p17"/>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Introduction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18"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32" name="Google Shape;132;p18"/>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33" name="Google Shape;133;p18"/>
          <p:cNvSpPr txBox="1"/>
          <p:nvPr/>
        </p:nvSpPr>
        <p:spPr>
          <a:xfrm>
            <a:off x="191300" y="1916750"/>
            <a:ext cx="8763000" cy="3078300"/>
          </a:xfrm>
          <a:prstGeom prst="rect">
            <a:avLst/>
          </a:prstGeom>
          <a:noFill/>
          <a:ln>
            <a:noFill/>
          </a:ln>
        </p:spPr>
        <p:txBody>
          <a:bodyPr spcFirstLastPara="1" wrap="square" lIns="91425" tIns="45700" rIns="91425" bIns="45700" anchor="t" anchorCtr="0">
            <a:spAutoFit/>
          </a:bodyPr>
          <a:lstStyle/>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The ultimate goal of NLP is to help computers understand human language (as good as we humans understand).</a:t>
            </a:r>
            <a:endParaRPr sz="2200">
              <a:latin typeface="Calibri"/>
              <a:ea typeface="Calibri"/>
              <a:cs typeface="Calibri"/>
              <a:sym typeface="Calibri"/>
            </a:endParaRPr>
          </a:p>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Speech recognition —the translation of spoken language into text.</a:t>
            </a:r>
            <a:endParaRPr sz="2200">
              <a:latin typeface="Calibri"/>
              <a:ea typeface="Calibri"/>
              <a:cs typeface="Calibri"/>
              <a:sym typeface="Calibri"/>
            </a:endParaRPr>
          </a:p>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Natural language understanding —a computer’s ability to understand language.</a:t>
            </a:r>
            <a:endParaRPr sz="2200">
              <a:latin typeface="Calibri"/>
              <a:ea typeface="Calibri"/>
              <a:cs typeface="Calibri"/>
              <a:sym typeface="Calibri"/>
            </a:endParaRPr>
          </a:p>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Natural language generation —the generation of natural language by a computer.</a:t>
            </a:r>
            <a:endParaRPr sz="2200">
              <a:latin typeface="Calibri"/>
              <a:ea typeface="Calibri"/>
              <a:cs typeface="Calibri"/>
              <a:sym typeface="Calibri"/>
            </a:endParaRPr>
          </a:p>
          <a:p>
            <a:pPr marL="0" marR="0" lvl="0" indent="0" algn="just" rtl="0">
              <a:lnSpc>
                <a:spcPct val="100000"/>
              </a:lnSpc>
              <a:spcBef>
                <a:spcPts val="480"/>
              </a:spcBef>
              <a:spcAft>
                <a:spcPts val="0"/>
              </a:spcAft>
              <a:buNone/>
            </a:pPr>
            <a:endParaRPr sz="2400">
              <a:latin typeface="Calibri"/>
              <a:ea typeface="Calibri"/>
              <a:cs typeface="Calibri"/>
              <a:sym typeface="Calibri"/>
            </a:endParaRPr>
          </a:p>
        </p:txBody>
      </p:sp>
      <p:sp>
        <p:nvSpPr>
          <p:cNvPr id="134" name="Google Shape;134;p18"/>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35" name="Google Shape;135;p18"/>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Introduction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19"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41" name="Google Shape;141;p19"/>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42" name="Google Shape;142;p19"/>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43" name="Google Shape;143;p19"/>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Components of Natural Language Processing (NLP)</a:t>
            </a:r>
            <a:endParaRPr/>
          </a:p>
        </p:txBody>
      </p:sp>
      <p:sp>
        <p:nvSpPr>
          <p:cNvPr id="144" name="Google Shape;144;p19"/>
          <p:cNvSpPr/>
          <p:nvPr/>
        </p:nvSpPr>
        <p:spPr>
          <a:xfrm>
            <a:off x="3335750" y="2018325"/>
            <a:ext cx="2474100" cy="39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Lexical Analysis</a:t>
            </a:r>
            <a:endParaRPr sz="1800">
              <a:latin typeface="Calibri"/>
              <a:ea typeface="Calibri"/>
              <a:cs typeface="Calibri"/>
              <a:sym typeface="Calibri"/>
            </a:endParaRPr>
          </a:p>
        </p:txBody>
      </p:sp>
      <p:sp>
        <p:nvSpPr>
          <p:cNvPr id="145" name="Google Shape;145;p19"/>
          <p:cNvSpPr/>
          <p:nvPr/>
        </p:nvSpPr>
        <p:spPr>
          <a:xfrm>
            <a:off x="3334950" y="2619838"/>
            <a:ext cx="2474100" cy="39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Syntactic Analysis</a:t>
            </a:r>
            <a:endParaRPr sz="1800">
              <a:latin typeface="Calibri"/>
              <a:ea typeface="Calibri"/>
              <a:cs typeface="Calibri"/>
              <a:sym typeface="Calibri"/>
            </a:endParaRPr>
          </a:p>
        </p:txBody>
      </p:sp>
      <p:sp>
        <p:nvSpPr>
          <p:cNvPr id="146" name="Google Shape;146;p19"/>
          <p:cNvSpPr/>
          <p:nvPr/>
        </p:nvSpPr>
        <p:spPr>
          <a:xfrm>
            <a:off x="3335750" y="3221350"/>
            <a:ext cx="2474100" cy="39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Semantic Analysis</a:t>
            </a:r>
            <a:endParaRPr sz="1800">
              <a:latin typeface="Calibri"/>
              <a:ea typeface="Calibri"/>
              <a:cs typeface="Calibri"/>
              <a:sym typeface="Calibri"/>
            </a:endParaRPr>
          </a:p>
        </p:txBody>
      </p:sp>
      <p:sp>
        <p:nvSpPr>
          <p:cNvPr id="147" name="Google Shape;147;p19"/>
          <p:cNvSpPr/>
          <p:nvPr/>
        </p:nvSpPr>
        <p:spPr>
          <a:xfrm>
            <a:off x="3335750" y="3822863"/>
            <a:ext cx="2474100" cy="39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Semantic Analysis</a:t>
            </a:r>
            <a:endParaRPr sz="1800">
              <a:latin typeface="Calibri"/>
              <a:ea typeface="Calibri"/>
              <a:cs typeface="Calibri"/>
              <a:sym typeface="Calibri"/>
            </a:endParaRPr>
          </a:p>
        </p:txBody>
      </p:sp>
      <p:sp>
        <p:nvSpPr>
          <p:cNvPr id="148" name="Google Shape;148;p19"/>
          <p:cNvSpPr/>
          <p:nvPr/>
        </p:nvSpPr>
        <p:spPr>
          <a:xfrm>
            <a:off x="3335750" y="4424388"/>
            <a:ext cx="2474100" cy="3906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alibri"/>
                <a:ea typeface="Calibri"/>
                <a:cs typeface="Calibri"/>
                <a:sym typeface="Calibri"/>
              </a:rPr>
              <a:t>Semantic Analysis</a:t>
            </a:r>
            <a:endParaRPr sz="1800">
              <a:latin typeface="Calibri"/>
              <a:ea typeface="Calibri"/>
              <a:cs typeface="Calibri"/>
              <a:sym typeface="Calibri"/>
            </a:endParaRPr>
          </a:p>
        </p:txBody>
      </p:sp>
      <p:cxnSp>
        <p:nvCxnSpPr>
          <p:cNvPr id="149" name="Google Shape;149;p19"/>
          <p:cNvCxnSpPr>
            <a:stCxn id="144" idx="2"/>
            <a:endCxn id="145" idx="0"/>
          </p:cNvCxnSpPr>
          <p:nvPr/>
        </p:nvCxnSpPr>
        <p:spPr>
          <a:xfrm flipH="1">
            <a:off x="4571900" y="2408925"/>
            <a:ext cx="900" cy="210900"/>
          </a:xfrm>
          <a:prstGeom prst="straightConnector1">
            <a:avLst/>
          </a:prstGeom>
          <a:noFill/>
          <a:ln w="9525" cap="flat" cmpd="sng">
            <a:solidFill>
              <a:schemeClr val="dk2"/>
            </a:solidFill>
            <a:prstDash val="solid"/>
            <a:round/>
            <a:headEnd type="none" w="med" len="med"/>
            <a:tailEnd type="triangle" w="med" len="med"/>
          </a:ln>
        </p:spPr>
      </p:cxnSp>
      <p:cxnSp>
        <p:nvCxnSpPr>
          <p:cNvPr id="150" name="Google Shape;150;p19"/>
          <p:cNvCxnSpPr>
            <a:endCxn id="146" idx="0"/>
          </p:cNvCxnSpPr>
          <p:nvPr/>
        </p:nvCxnSpPr>
        <p:spPr>
          <a:xfrm>
            <a:off x="4571900" y="3010450"/>
            <a:ext cx="900" cy="210900"/>
          </a:xfrm>
          <a:prstGeom prst="straightConnector1">
            <a:avLst/>
          </a:prstGeom>
          <a:noFill/>
          <a:ln w="9525" cap="flat" cmpd="sng">
            <a:solidFill>
              <a:schemeClr val="dk2"/>
            </a:solidFill>
            <a:prstDash val="solid"/>
            <a:round/>
            <a:headEnd type="none" w="med" len="med"/>
            <a:tailEnd type="triangle" w="med" len="med"/>
          </a:ln>
        </p:spPr>
      </p:cxnSp>
      <p:cxnSp>
        <p:nvCxnSpPr>
          <p:cNvPr id="151" name="Google Shape;151;p19"/>
          <p:cNvCxnSpPr>
            <a:stCxn id="146" idx="2"/>
            <a:endCxn id="147" idx="0"/>
          </p:cNvCxnSpPr>
          <p:nvPr/>
        </p:nvCxnSpPr>
        <p:spPr>
          <a:xfrm>
            <a:off x="4572800" y="3611950"/>
            <a:ext cx="0" cy="210900"/>
          </a:xfrm>
          <a:prstGeom prst="straightConnector1">
            <a:avLst/>
          </a:prstGeom>
          <a:noFill/>
          <a:ln w="9525" cap="flat" cmpd="sng">
            <a:solidFill>
              <a:schemeClr val="dk2"/>
            </a:solidFill>
            <a:prstDash val="solid"/>
            <a:round/>
            <a:headEnd type="none" w="med" len="med"/>
            <a:tailEnd type="triangle" w="med" len="med"/>
          </a:ln>
        </p:spPr>
      </p:cxnSp>
      <p:cxnSp>
        <p:nvCxnSpPr>
          <p:cNvPr id="152" name="Google Shape;152;p19"/>
          <p:cNvCxnSpPr>
            <a:stCxn id="147" idx="2"/>
            <a:endCxn id="148" idx="0"/>
          </p:cNvCxnSpPr>
          <p:nvPr/>
        </p:nvCxnSpPr>
        <p:spPr>
          <a:xfrm>
            <a:off x="4572800" y="4213463"/>
            <a:ext cx="0" cy="2109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20"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58" name="Google Shape;158;p20"/>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59" name="Google Shape;159;p20"/>
          <p:cNvSpPr txBox="1"/>
          <p:nvPr/>
        </p:nvSpPr>
        <p:spPr>
          <a:xfrm>
            <a:off x="191300" y="1916750"/>
            <a:ext cx="8826000" cy="25242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Lexical Analysis: With lexical analysis, we divide a whole chunk of text into paragraphs, sentences, and words. It involves identifying and analyzing words’ structure.</a:t>
            </a:r>
            <a:endParaRPr sz="2200">
              <a:latin typeface="Calibri"/>
              <a:ea typeface="Calibri"/>
              <a:cs typeface="Calibri"/>
              <a:sym typeface="Calibri"/>
            </a:endParaRPr>
          </a:p>
          <a:p>
            <a:pPr marL="457200" lvl="0" indent="-368300" algn="just" rtl="0">
              <a:spcBef>
                <a:spcPts val="480"/>
              </a:spcBef>
              <a:spcAft>
                <a:spcPts val="480"/>
              </a:spcAft>
              <a:buSzPts val="2200"/>
              <a:buFont typeface="Calibri"/>
              <a:buChar char="•"/>
            </a:pPr>
            <a:r>
              <a:rPr lang="en" sz="2200">
                <a:latin typeface="Calibri"/>
                <a:ea typeface="Calibri"/>
                <a:cs typeface="Calibri"/>
                <a:sym typeface="Calibri"/>
              </a:rPr>
              <a:t>Syntactic Analysis: It involves the analysis of words in a sentence for grammar and arranging words in a manner that shows the relationship among the words. For instance, the sentence “The shop goes to the house” does not pass.</a:t>
            </a:r>
            <a:endParaRPr sz="2200">
              <a:latin typeface="Calibri"/>
              <a:ea typeface="Calibri"/>
              <a:cs typeface="Calibri"/>
              <a:sym typeface="Calibri"/>
            </a:endParaRPr>
          </a:p>
        </p:txBody>
      </p:sp>
      <p:sp>
        <p:nvSpPr>
          <p:cNvPr id="160" name="Google Shape;160;p20"/>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61" name="Google Shape;161;p20"/>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1"/>
              </a:buClr>
              <a:buSzPts val="3000"/>
              <a:buFont typeface="Calibri"/>
              <a:buNone/>
            </a:pPr>
            <a:r>
              <a:rPr lang="en" sz="3000" b="1">
                <a:solidFill>
                  <a:schemeClr val="lt1"/>
                </a:solidFill>
                <a:latin typeface="Calibri"/>
                <a:ea typeface="Calibri"/>
                <a:cs typeface="Calibri"/>
                <a:sym typeface="Calibri"/>
              </a:rPr>
              <a:t>Components of Natural Language Processing (NLP)</a:t>
            </a:r>
            <a:endParaRPr>
              <a:solidFill>
                <a:schemeClr val="dk1"/>
              </a:solidFill>
            </a:endParaRPr>
          </a:p>
          <a:p>
            <a:pPr marL="0" marR="0" lvl="0" indent="0" algn="ctr" rtl="0">
              <a:lnSpc>
                <a:spcPct val="100000"/>
              </a:lnSpc>
              <a:spcBef>
                <a:spcPts val="0"/>
              </a:spcBef>
              <a:spcAft>
                <a:spcPts val="0"/>
              </a:spcAft>
              <a:buClr>
                <a:srgbClr val="FFFFFF"/>
              </a:buClr>
              <a:buSzPts val="3000"/>
              <a:buFont typeface="Calibri"/>
              <a:buNone/>
            </a:pPr>
            <a:endParaRPr sz="3000" b="1">
              <a:solidFill>
                <a:srgbClr val="FFFFF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21"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67" name="Google Shape;167;p21"/>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68" name="Google Shape;168;p21"/>
          <p:cNvSpPr txBox="1"/>
          <p:nvPr/>
        </p:nvSpPr>
        <p:spPr>
          <a:xfrm>
            <a:off x="191300" y="1916750"/>
            <a:ext cx="8826000" cy="29553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Semantic Analysis: It draws the exact meaning for the words, and it analyzes the text meaningfulness. Sentences such as “hot ice-cream” do not pass.</a:t>
            </a:r>
            <a:endParaRPr sz="2200">
              <a:latin typeface="Calibri"/>
              <a:ea typeface="Calibri"/>
              <a:cs typeface="Calibri"/>
              <a:sym typeface="Calibri"/>
            </a:endParaRPr>
          </a:p>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Disclosure Integration: It takes into account the context of the text. It considers the meaning of the sentence before it ends. For example: “He works at Google.” In this sentence, “he” must be referenced in the sentence before it.</a:t>
            </a:r>
            <a:endParaRPr sz="2200">
              <a:latin typeface="Calibri"/>
              <a:ea typeface="Calibri"/>
              <a:cs typeface="Calibri"/>
              <a:sym typeface="Calibri"/>
            </a:endParaRPr>
          </a:p>
          <a:p>
            <a:pPr marL="457200" lvl="0" indent="0" algn="just" rtl="0">
              <a:spcBef>
                <a:spcPts val="480"/>
              </a:spcBef>
              <a:spcAft>
                <a:spcPts val="0"/>
              </a:spcAft>
              <a:buNone/>
            </a:pPr>
            <a:endParaRPr sz="2400">
              <a:latin typeface="Calibri"/>
              <a:ea typeface="Calibri"/>
              <a:cs typeface="Calibri"/>
              <a:sym typeface="Calibri"/>
            </a:endParaRPr>
          </a:p>
        </p:txBody>
      </p:sp>
      <p:sp>
        <p:nvSpPr>
          <p:cNvPr id="169" name="Google Shape;169;p21"/>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70" name="Google Shape;170;p21"/>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1"/>
              </a:buClr>
              <a:buSzPts val="3000"/>
              <a:buFont typeface="Calibri"/>
              <a:buNone/>
            </a:pPr>
            <a:r>
              <a:rPr lang="en" sz="3000" b="1">
                <a:solidFill>
                  <a:schemeClr val="lt1"/>
                </a:solidFill>
                <a:latin typeface="Calibri"/>
                <a:ea typeface="Calibri"/>
                <a:cs typeface="Calibri"/>
                <a:sym typeface="Calibri"/>
              </a:rPr>
              <a:t>Components of Natural Language Processing (NLP)</a:t>
            </a:r>
            <a:endParaRPr>
              <a:solidFill>
                <a:schemeClr val="dk1"/>
              </a:solidFill>
            </a:endParaRPr>
          </a:p>
          <a:p>
            <a:pPr marL="0" marR="0" lvl="0" indent="0" algn="ctr" rtl="0">
              <a:lnSpc>
                <a:spcPct val="100000"/>
              </a:lnSpc>
              <a:spcBef>
                <a:spcPts val="0"/>
              </a:spcBef>
              <a:spcAft>
                <a:spcPts val="0"/>
              </a:spcAft>
              <a:buClr>
                <a:srgbClr val="FFFFFF"/>
              </a:buClr>
              <a:buSzPts val="3000"/>
              <a:buFont typeface="Calibri"/>
              <a:buNone/>
            </a:pPr>
            <a:endParaRPr sz="3000" b="1">
              <a:solidFill>
                <a:srgbClr val="FFFFF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22"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76" name="Google Shape;176;p22"/>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77" name="Google Shape;177;p22"/>
          <p:cNvSpPr txBox="1"/>
          <p:nvPr/>
        </p:nvSpPr>
        <p:spPr>
          <a:xfrm>
            <a:off x="191300" y="1916750"/>
            <a:ext cx="8826000" cy="11082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1000"/>
              </a:spcAft>
              <a:buSzPts val="2200"/>
              <a:buFont typeface="Calibri"/>
              <a:buChar char="•"/>
            </a:pPr>
            <a:r>
              <a:rPr lang="en" sz="2200">
                <a:latin typeface="Calibri"/>
                <a:ea typeface="Calibri"/>
                <a:cs typeface="Calibri"/>
                <a:sym typeface="Calibri"/>
              </a:rPr>
              <a:t>Pragmatic Analysis: It deals with overall communication and interpretation of language. It deals with deriving meaningful use of language in various situations.</a:t>
            </a:r>
            <a:endParaRPr sz="2200">
              <a:latin typeface="Calibri"/>
              <a:ea typeface="Calibri"/>
              <a:cs typeface="Calibri"/>
              <a:sym typeface="Calibri"/>
            </a:endParaRPr>
          </a:p>
        </p:txBody>
      </p:sp>
      <p:sp>
        <p:nvSpPr>
          <p:cNvPr id="178" name="Google Shape;178;p22"/>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79" name="Google Shape;179;p22"/>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1"/>
              </a:buClr>
              <a:buSzPts val="3000"/>
              <a:buFont typeface="Calibri"/>
              <a:buNone/>
            </a:pPr>
            <a:r>
              <a:rPr lang="en" sz="3000" b="1">
                <a:solidFill>
                  <a:schemeClr val="lt1"/>
                </a:solidFill>
                <a:latin typeface="Calibri"/>
                <a:ea typeface="Calibri"/>
                <a:cs typeface="Calibri"/>
                <a:sym typeface="Calibri"/>
              </a:rPr>
              <a:t>Components of Natural Language Processing (NLP)</a:t>
            </a:r>
            <a:endParaRPr>
              <a:solidFill>
                <a:schemeClr val="dk1"/>
              </a:solidFill>
            </a:endParaRPr>
          </a:p>
          <a:p>
            <a:pPr marL="0" marR="0" lvl="0" indent="0" algn="ctr" rtl="0">
              <a:lnSpc>
                <a:spcPct val="100000"/>
              </a:lnSpc>
              <a:spcBef>
                <a:spcPts val="0"/>
              </a:spcBef>
              <a:spcAft>
                <a:spcPts val="0"/>
              </a:spcAft>
              <a:buClr>
                <a:srgbClr val="FFFFFF"/>
              </a:buClr>
              <a:buSzPts val="3000"/>
              <a:buFont typeface="Calibri"/>
              <a:buNone/>
            </a:pPr>
            <a:endParaRPr sz="3000" b="1">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3"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85" name="Google Shape;185;p23"/>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86" name="Google Shape;186;p23"/>
          <p:cNvSpPr txBox="1"/>
          <p:nvPr/>
        </p:nvSpPr>
        <p:spPr>
          <a:xfrm>
            <a:off x="191300" y="1916800"/>
            <a:ext cx="8847900" cy="3078300"/>
          </a:xfrm>
          <a:prstGeom prst="rect">
            <a:avLst/>
          </a:prstGeom>
          <a:noFill/>
          <a:ln>
            <a:noFill/>
          </a:ln>
        </p:spPr>
        <p:txBody>
          <a:bodyPr spcFirstLastPara="1" wrap="square" lIns="91425" tIns="45700" rIns="91425" bIns="45700" anchor="t" anchorCtr="0">
            <a:spAutoFit/>
          </a:bodyPr>
          <a:lstStyle/>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Syntactic analysis or parsing is the third phase of NLP. </a:t>
            </a:r>
            <a:endParaRPr sz="2200">
              <a:latin typeface="Calibri"/>
              <a:ea typeface="Calibri"/>
              <a:cs typeface="Calibri"/>
              <a:sym typeface="Calibri"/>
            </a:endParaRPr>
          </a:p>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The purpose of this phase is to draw exact meaning, or you can say dictionary meaning from the text. </a:t>
            </a:r>
            <a:endParaRPr sz="2200">
              <a:latin typeface="Calibri"/>
              <a:ea typeface="Calibri"/>
              <a:cs typeface="Calibri"/>
              <a:sym typeface="Calibri"/>
            </a:endParaRPr>
          </a:p>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Syntax analysis checks the text for meaningfulness comparing to the rules of formal grammar. </a:t>
            </a:r>
            <a:endParaRPr sz="2200">
              <a:latin typeface="Calibri"/>
              <a:ea typeface="Calibri"/>
              <a:cs typeface="Calibri"/>
              <a:sym typeface="Calibri"/>
            </a:endParaRPr>
          </a:p>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For example, the sentence like “hot ice-cream” would be rejected by semantic analyzer.</a:t>
            </a:r>
            <a:endParaRPr sz="2200">
              <a:latin typeface="Calibri"/>
              <a:ea typeface="Calibri"/>
              <a:cs typeface="Calibri"/>
              <a:sym typeface="Calibri"/>
            </a:endParaRPr>
          </a:p>
          <a:p>
            <a:pPr marL="0" marR="0" lvl="0" indent="0" algn="just" rtl="0">
              <a:lnSpc>
                <a:spcPct val="100000"/>
              </a:lnSpc>
              <a:spcBef>
                <a:spcPts val="480"/>
              </a:spcBef>
              <a:spcAft>
                <a:spcPts val="0"/>
              </a:spcAft>
              <a:buNone/>
            </a:pPr>
            <a:endParaRPr sz="2400">
              <a:latin typeface="Calibri"/>
              <a:ea typeface="Calibri"/>
              <a:cs typeface="Calibri"/>
              <a:sym typeface="Calibri"/>
            </a:endParaRPr>
          </a:p>
        </p:txBody>
      </p:sp>
      <p:sp>
        <p:nvSpPr>
          <p:cNvPr id="187" name="Google Shape;187;p23"/>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88" name="Google Shape;188;p23"/>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Syntactic Processing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4"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194" name="Google Shape;194;p24"/>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195" name="Google Shape;195;p24"/>
          <p:cNvSpPr txBox="1"/>
          <p:nvPr/>
        </p:nvSpPr>
        <p:spPr>
          <a:xfrm>
            <a:off x="191300" y="1916800"/>
            <a:ext cx="8847900" cy="2247300"/>
          </a:xfrm>
          <a:prstGeom prst="rect">
            <a:avLst/>
          </a:prstGeom>
          <a:noFill/>
          <a:ln>
            <a:noFill/>
          </a:ln>
        </p:spPr>
        <p:txBody>
          <a:bodyPr spcFirstLastPara="1" wrap="square" lIns="91425" tIns="45700" rIns="91425" bIns="45700" anchor="t" anchorCtr="0">
            <a:spAutoFit/>
          </a:bodyPr>
          <a:lstStyle/>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In this sense, syntactic analysis or parsing may be defined as the process of analyzing the strings of symbols in natural language conforming to the rules of formal grammar. </a:t>
            </a:r>
            <a:endParaRPr sz="2200">
              <a:latin typeface="Calibri"/>
              <a:ea typeface="Calibri"/>
              <a:cs typeface="Calibri"/>
              <a:sym typeface="Calibri"/>
            </a:endParaRPr>
          </a:p>
          <a:p>
            <a:pPr marL="403225" marR="0" lvl="0" indent="-390525" algn="just" rtl="0">
              <a:lnSpc>
                <a:spcPct val="100000"/>
              </a:lnSpc>
              <a:spcBef>
                <a:spcPts val="480"/>
              </a:spcBef>
              <a:spcAft>
                <a:spcPts val="0"/>
              </a:spcAft>
              <a:buSzPts val="2200"/>
              <a:buFont typeface="Calibri"/>
              <a:buChar char="•"/>
            </a:pPr>
            <a:r>
              <a:rPr lang="en" sz="2200">
                <a:latin typeface="Calibri"/>
                <a:ea typeface="Calibri"/>
                <a:cs typeface="Calibri"/>
                <a:sym typeface="Calibri"/>
              </a:rPr>
              <a:t>The origin of the word ‘parsing’ is from Latin word ‘pars’ which means ‘part’.</a:t>
            </a:r>
            <a:endParaRPr sz="2200">
              <a:latin typeface="Calibri"/>
              <a:ea typeface="Calibri"/>
              <a:cs typeface="Calibri"/>
              <a:sym typeface="Calibri"/>
            </a:endParaRPr>
          </a:p>
          <a:p>
            <a:pPr marL="0" marR="0" lvl="0" indent="0" algn="just" rtl="0">
              <a:lnSpc>
                <a:spcPct val="100000"/>
              </a:lnSpc>
              <a:spcBef>
                <a:spcPts val="480"/>
              </a:spcBef>
              <a:spcAft>
                <a:spcPts val="480"/>
              </a:spcAft>
              <a:buNone/>
            </a:pPr>
            <a:endParaRPr sz="2200">
              <a:latin typeface="Calibri"/>
              <a:ea typeface="Calibri"/>
              <a:cs typeface="Calibri"/>
              <a:sym typeface="Calibri"/>
            </a:endParaRPr>
          </a:p>
        </p:txBody>
      </p:sp>
      <p:sp>
        <p:nvSpPr>
          <p:cNvPr id="196" name="Google Shape;196;p24"/>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197" name="Google Shape;197;p24"/>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Syntactic Processing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25"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03" name="Google Shape;203;p25"/>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04" name="Google Shape;204;p25"/>
          <p:cNvSpPr txBox="1"/>
          <p:nvPr/>
        </p:nvSpPr>
        <p:spPr>
          <a:xfrm>
            <a:off x="61075" y="3823375"/>
            <a:ext cx="8956200" cy="1108200"/>
          </a:xfrm>
          <a:prstGeom prst="rect">
            <a:avLst/>
          </a:prstGeom>
          <a:noFill/>
          <a:ln>
            <a:noFill/>
          </a:ln>
        </p:spPr>
        <p:txBody>
          <a:bodyPr spcFirstLastPara="1" wrap="square" lIns="91425" tIns="45700" rIns="91425" bIns="45700" anchor="t" anchorCtr="0">
            <a:spAutoFit/>
          </a:bodyPr>
          <a:lstStyle/>
          <a:p>
            <a:pPr marL="457200" marR="0" lvl="0"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It may be defined as the software component designed for taking input data (text) and giving structural representation of the input after checking for correct syntax as per formal grammar.</a:t>
            </a:r>
            <a:endParaRPr sz="2200">
              <a:latin typeface="Calibri"/>
              <a:ea typeface="Calibri"/>
              <a:cs typeface="Calibri"/>
              <a:sym typeface="Calibri"/>
            </a:endParaRPr>
          </a:p>
        </p:txBody>
      </p:sp>
      <p:sp>
        <p:nvSpPr>
          <p:cNvPr id="205" name="Google Shape;205;p25"/>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06" name="Google Shape;206;p25"/>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Syntactic Processing</a:t>
            </a:r>
            <a:endParaRPr/>
          </a:p>
        </p:txBody>
      </p:sp>
      <p:pic>
        <p:nvPicPr>
          <p:cNvPr id="207" name="Google Shape;207;p25"/>
          <p:cNvPicPr preferRelativeResize="0"/>
          <p:nvPr/>
        </p:nvPicPr>
        <p:blipFill>
          <a:blip r:embed="rId4">
            <a:alphaModFix/>
          </a:blip>
          <a:stretch>
            <a:fillRect/>
          </a:stretch>
        </p:blipFill>
        <p:spPr>
          <a:xfrm>
            <a:off x="1915325" y="2055413"/>
            <a:ext cx="5314950" cy="1857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6"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13" name="Google Shape;213;p26"/>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14" name="Google Shape;214;p26"/>
          <p:cNvSpPr txBox="1"/>
          <p:nvPr/>
        </p:nvSpPr>
        <p:spPr>
          <a:xfrm>
            <a:off x="94700" y="1819050"/>
            <a:ext cx="8956200" cy="3370800"/>
          </a:xfrm>
          <a:prstGeom prst="rect">
            <a:avLst/>
          </a:prstGeom>
          <a:noFill/>
          <a:ln>
            <a:noFill/>
          </a:ln>
        </p:spPr>
        <p:txBody>
          <a:bodyPr spcFirstLastPara="1" wrap="square" lIns="91425" tIns="45700" rIns="91425" bIns="45700" anchor="t" anchorCtr="0">
            <a:spAutoFit/>
          </a:bodyPr>
          <a:lstStyle/>
          <a:p>
            <a:pPr marL="457200" marR="0" lvl="0"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It also builds a data structure generally in the form of parse tree or abstract syntax tree or other hierarchical structure.</a:t>
            </a:r>
            <a:endParaRPr sz="2100">
              <a:latin typeface="Calibri"/>
              <a:ea typeface="Calibri"/>
              <a:cs typeface="Calibri"/>
              <a:sym typeface="Calibri"/>
            </a:endParaRPr>
          </a:p>
          <a:p>
            <a:pPr marL="457200" marR="0" lvl="0"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The main roles of the parse includes:</a:t>
            </a:r>
            <a:endParaRPr sz="2100">
              <a:latin typeface="Calibri"/>
              <a:ea typeface="Calibri"/>
              <a:cs typeface="Calibri"/>
              <a:sym typeface="Calibri"/>
            </a:endParaRPr>
          </a:p>
          <a:p>
            <a:pPr marL="914400" lvl="1" indent="-361950" algn="just" rtl="0">
              <a:spcBef>
                <a:spcPts val="480"/>
              </a:spcBef>
              <a:spcAft>
                <a:spcPts val="0"/>
              </a:spcAft>
              <a:buSzPts val="2100"/>
              <a:buFont typeface="Calibri"/>
              <a:buChar char="○"/>
            </a:pPr>
            <a:r>
              <a:rPr lang="en" sz="2100">
                <a:latin typeface="Calibri"/>
                <a:ea typeface="Calibri"/>
                <a:cs typeface="Calibri"/>
                <a:sym typeface="Calibri"/>
              </a:rPr>
              <a:t>To report any syntax error.</a:t>
            </a:r>
            <a:endParaRPr sz="2100">
              <a:latin typeface="Calibri"/>
              <a:ea typeface="Calibri"/>
              <a:cs typeface="Calibri"/>
              <a:sym typeface="Calibri"/>
            </a:endParaRPr>
          </a:p>
          <a:p>
            <a:pPr marL="914400" lvl="1" indent="-361950" algn="just" rtl="0">
              <a:spcBef>
                <a:spcPts val="480"/>
              </a:spcBef>
              <a:spcAft>
                <a:spcPts val="0"/>
              </a:spcAft>
              <a:buSzPts val="2100"/>
              <a:buFont typeface="Calibri"/>
              <a:buChar char="○"/>
            </a:pPr>
            <a:r>
              <a:rPr lang="en" sz="2100">
                <a:latin typeface="Calibri"/>
                <a:ea typeface="Calibri"/>
                <a:cs typeface="Calibri"/>
                <a:sym typeface="Calibri"/>
              </a:rPr>
              <a:t>To recover from commonly occurring error so that the processing of the remainder of program can be continued.</a:t>
            </a:r>
            <a:endParaRPr sz="2100">
              <a:latin typeface="Calibri"/>
              <a:ea typeface="Calibri"/>
              <a:cs typeface="Calibri"/>
              <a:sym typeface="Calibri"/>
            </a:endParaRPr>
          </a:p>
          <a:p>
            <a:pPr marL="914400" lvl="1" indent="-361950" algn="just" rtl="0">
              <a:spcBef>
                <a:spcPts val="480"/>
              </a:spcBef>
              <a:spcAft>
                <a:spcPts val="0"/>
              </a:spcAft>
              <a:buSzPts val="2100"/>
              <a:buFont typeface="Calibri"/>
              <a:buChar char="○"/>
            </a:pPr>
            <a:r>
              <a:rPr lang="en" sz="2100">
                <a:latin typeface="Calibri"/>
                <a:ea typeface="Calibri"/>
                <a:cs typeface="Calibri"/>
                <a:sym typeface="Calibri"/>
              </a:rPr>
              <a:t>To create parse tree.</a:t>
            </a:r>
            <a:endParaRPr sz="2100">
              <a:latin typeface="Calibri"/>
              <a:ea typeface="Calibri"/>
              <a:cs typeface="Calibri"/>
              <a:sym typeface="Calibri"/>
            </a:endParaRPr>
          </a:p>
          <a:p>
            <a:pPr marL="914400" lvl="1" indent="-361950" algn="just" rtl="0">
              <a:spcBef>
                <a:spcPts val="480"/>
              </a:spcBef>
              <a:spcAft>
                <a:spcPts val="0"/>
              </a:spcAft>
              <a:buSzPts val="2100"/>
              <a:buFont typeface="Calibri"/>
              <a:buChar char="○"/>
            </a:pPr>
            <a:r>
              <a:rPr lang="en" sz="2100">
                <a:latin typeface="Calibri"/>
                <a:ea typeface="Calibri"/>
                <a:cs typeface="Calibri"/>
                <a:sym typeface="Calibri"/>
              </a:rPr>
              <a:t>To create symbol table.</a:t>
            </a:r>
            <a:endParaRPr sz="2100">
              <a:latin typeface="Calibri"/>
              <a:ea typeface="Calibri"/>
              <a:cs typeface="Calibri"/>
              <a:sym typeface="Calibri"/>
            </a:endParaRPr>
          </a:p>
          <a:p>
            <a:pPr marL="914400" lvl="1" indent="-361950" algn="just" rtl="0">
              <a:spcBef>
                <a:spcPts val="480"/>
              </a:spcBef>
              <a:spcAft>
                <a:spcPts val="480"/>
              </a:spcAft>
              <a:buSzPts val="2100"/>
              <a:buFont typeface="Calibri"/>
              <a:buChar char="○"/>
            </a:pPr>
            <a:r>
              <a:rPr lang="en" sz="2100">
                <a:latin typeface="Calibri"/>
                <a:ea typeface="Calibri"/>
                <a:cs typeface="Calibri"/>
                <a:sym typeface="Calibri"/>
              </a:rPr>
              <a:t>To produce intermediate representations (IR).</a:t>
            </a:r>
            <a:endParaRPr sz="2100">
              <a:latin typeface="Calibri"/>
              <a:ea typeface="Calibri"/>
              <a:cs typeface="Calibri"/>
              <a:sym typeface="Calibri"/>
            </a:endParaRPr>
          </a:p>
        </p:txBody>
      </p:sp>
      <p:sp>
        <p:nvSpPr>
          <p:cNvPr id="215" name="Google Shape;215;p26"/>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16" name="Google Shape;216;p26"/>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Syntactic Processing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27"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22" name="Google Shape;222;p27"/>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23" name="Google Shape;223;p27"/>
          <p:cNvSpPr txBox="1"/>
          <p:nvPr/>
        </p:nvSpPr>
        <p:spPr>
          <a:xfrm>
            <a:off x="94700" y="1895250"/>
            <a:ext cx="8956200" cy="2616600"/>
          </a:xfrm>
          <a:prstGeom prst="rect">
            <a:avLst/>
          </a:prstGeom>
          <a:noFill/>
          <a:ln>
            <a:noFill/>
          </a:ln>
        </p:spPr>
        <p:txBody>
          <a:bodyPr spcFirstLastPara="1" wrap="square" lIns="91425" tIns="45700" rIns="91425" bIns="45700" anchor="t" anchorCtr="0">
            <a:spAutoFit/>
          </a:bodyPr>
          <a:lstStyle/>
          <a:p>
            <a:pPr marL="457200" marR="0" lvl="0" indent="-381000" algn="just" rtl="0">
              <a:lnSpc>
                <a:spcPct val="100000"/>
              </a:lnSpc>
              <a:spcBef>
                <a:spcPts val="480"/>
              </a:spcBef>
              <a:spcAft>
                <a:spcPts val="0"/>
              </a:spcAft>
              <a:buSzPts val="2400"/>
              <a:buFont typeface="Calibri"/>
              <a:buChar char="●"/>
            </a:pPr>
            <a:r>
              <a:rPr lang="en" sz="2200">
                <a:latin typeface="Calibri"/>
                <a:ea typeface="Calibri"/>
                <a:cs typeface="Calibri"/>
                <a:sym typeface="Calibri"/>
              </a:rPr>
              <a:t>Types of Parsing:</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Top-down parsing:</a:t>
            </a:r>
            <a:endParaRPr sz="2200">
              <a:latin typeface="Calibri"/>
              <a:ea typeface="Calibri"/>
              <a:cs typeface="Calibri"/>
              <a:sym typeface="Calibri"/>
            </a:endParaRPr>
          </a:p>
          <a:p>
            <a:pPr marL="1371600" marR="0" lvl="2" indent="-368300" algn="just" rtl="0">
              <a:lnSpc>
                <a:spcPct val="100000"/>
              </a:lnSpc>
              <a:spcBef>
                <a:spcPts val="480"/>
              </a:spcBef>
              <a:spcAft>
                <a:spcPts val="480"/>
              </a:spcAft>
              <a:buSzPts val="2200"/>
              <a:buFont typeface="Calibri"/>
              <a:buChar char="■"/>
            </a:pPr>
            <a:r>
              <a:rPr lang="en" sz="2200">
                <a:latin typeface="Calibri"/>
                <a:ea typeface="Calibri"/>
                <a:cs typeface="Calibri"/>
                <a:sym typeface="Calibri"/>
              </a:rPr>
              <a:t>In this kind of parsing, the parser starts constructing the parse tree from the start symbol and then tries to transform the start symbol to the input. The most common form of top-down parsing uses recursive procedure to process the input. The main disadvantage of recursive descent parsing is backtracking.</a:t>
            </a:r>
            <a:endParaRPr sz="2200">
              <a:latin typeface="Calibri"/>
              <a:ea typeface="Calibri"/>
              <a:cs typeface="Calibri"/>
              <a:sym typeface="Calibri"/>
            </a:endParaRPr>
          </a:p>
        </p:txBody>
      </p:sp>
      <p:sp>
        <p:nvSpPr>
          <p:cNvPr id="224" name="Google Shape;224;p27"/>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25" name="Google Shape;225;p27"/>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Syntactic Processing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p28"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31" name="Google Shape;231;p28"/>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32" name="Google Shape;232;p28"/>
          <p:cNvSpPr txBox="1"/>
          <p:nvPr/>
        </p:nvSpPr>
        <p:spPr>
          <a:xfrm>
            <a:off x="94700" y="1895250"/>
            <a:ext cx="8956200" cy="3632700"/>
          </a:xfrm>
          <a:prstGeom prst="rect">
            <a:avLst/>
          </a:prstGeom>
          <a:noFill/>
          <a:ln>
            <a:noFill/>
          </a:ln>
        </p:spPr>
        <p:txBody>
          <a:bodyPr spcFirstLastPara="1" wrap="square" lIns="91425" tIns="45700" rIns="91425" bIns="45700" anchor="t" anchorCtr="0">
            <a:spAutoFit/>
          </a:bodyPr>
          <a:lstStyle/>
          <a:p>
            <a:pPr marL="914400" marR="0" lvl="1" indent="-361950" algn="just" rtl="0">
              <a:lnSpc>
                <a:spcPct val="100000"/>
              </a:lnSpc>
              <a:spcBef>
                <a:spcPts val="480"/>
              </a:spcBef>
              <a:spcAft>
                <a:spcPts val="0"/>
              </a:spcAft>
              <a:buSzPts val="2100"/>
              <a:buFont typeface="Calibri"/>
              <a:buChar char="○"/>
            </a:pPr>
            <a:r>
              <a:rPr lang="en" sz="2100">
                <a:solidFill>
                  <a:schemeClr val="dk1"/>
                </a:solidFill>
                <a:latin typeface="Calibri"/>
                <a:ea typeface="Calibri"/>
                <a:cs typeface="Calibri"/>
                <a:sym typeface="Calibri"/>
              </a:rPr>
              <a:t>Bottom-up parsing</a:t>
            </a:r>
            <a:r>
              <a:rPr lang="en" sz="2100">
                <a:latin typeface="Calibri"/>
                <a:ea typeface="Calibri"/>
                <a:cs typeface="Calibri"/>
                <a:sym typeface="Calibri"/>
              </a:rPr>
              <a:t>:</a:t>
            </a:r>
            <a:endParaRPr sz="2100">
              <a:latin typeface="Calibri"/>
              <a:ea typeface="Calibri"/>
              <a:cs typeface="Calibri"/>
              <a:sym typeface="Calibri"/>
            </a:endParaRPr>
          </a:p>
          <a:p>
            <a:pPr marL="1371600" marR="0" lvl="2"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In this kind of parsing, the parser starts with the input symbol and tries to construct the parser tree up to the start symbol.</a:t>
            </a:r>
            <a:endParaRPr sz="2100">
              <a:latin typeface="Calibri"/>
              <a:ea typeface="Calibri"/>
              <a:cs typeface="Calibri"/>
              <a:sym typeface="Calibri"/>
            </a:endParaRPr>
          </a:p>
          <a:p>
            <a:pPr marL="457200" marR="0" lvl="0"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Derivation:</a:t>
            </a:r>
            <a:endParaRPr sz="2100">
              <a:latin typeface="Calibri"/>
              <a:ea typeface="Calibri"/>
              <a:cs typeface="Calibri"/>
              <a:sym typeface="Calibri"/>
            </a:endParaRPr>
          </a:p>
          <a:p>
            <a:pPr marL="914400" marR="0" lvl="1"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In order to get the input string, we need a sequence of production rules. Derivation is a set of production rules.</a:t>
            </a:r>
            <a:endParaRPr sz="2100">
              <a:latin typeface="Calibri"/>
              <a:ea typeface="Calibri"/>
              <a:cs typeface="Calibri"/>
              <a:sym typeface="Calibri"/>
            </a:endParaRPr>
          </a:p>
          <a:p>
            <a:pPr marL="914400" marR="0" lvl="1"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During parsing, we need to decide the non-terminal, which is to be replaced along with deciding the production rule with the help of which the non-terminal will be replaced.</a:t>
            </a:r>
            <a:endParaRPr sz="2100">
              <a:latin typeface="Calibri"/>
              <a:ea typeface="Calibri"/>
              <a:cs typeface="Calibri"/>
              <a:sym typeface="Calibri"/>
            </a:endParaRPr>
          </a:p>
          <a:p>
            <a:pPr marL="914400" marR="0" lvl="0" indent="0" algn="just" rtl="0">
              <a:lnSpc>
                <a:spcPct val="100000"/>
              </a:lnSpc>
              <a:spcBef>
                <a:spcPts val="480"/>
              </a:spcBef>
              <a:spcAft>
                <a:spcPts val="480"/>
              </a:spcAft>
              <a:buNone/>
            </a:pPr>
            <a:endParaRPr sz="2100">
              <a:latin typeface="Calibri"/>
              <a:ea typeface="Calibri"/>
              <a:cs typeface="Calibri"/>
              <a:sym typeface="Calibri"/>
            </a:endParaRPr>
          </a:p>
        </p:txBody>
      </p:sp>
      <p:sp>
        <p:nvSpPr>
          <p:cNvPr id="233" name="Google Shape;233;p28"/>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34" name="Google Shape;234;p28"/>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Syntactic Processing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29"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40" name="Google Shape;240;p29"/>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41" name="Google Shape;241;p29"/>
          <p:cNvSpPr txBox="1"/>
          <p:nvPr/>
        </p:nvSpPr>
        <p:spPr>
          <a:xfrm>
            <a:off x="94700" y="1895250"/>
            <a:ext cx="8956200" cy="3632700"/>
          </a:xfrm>
          <a:prstGeom prst="rect">
            <a:avLst/>
          </a:prstGeom>
          <a:noFill/>
          <a:ln>
            <a:noFill/>
          </a:ln>
        </p:spPr>
        <p:txBody>
          <a:bodyPr spcFirstLastPara="1" wrap="square" lIns="91425" tIns="45700" rIns="91425" bIns="45700" anchor="t" anchorCtr="0">
            <a:spAutoFit/>
          </a:bodyPr>
          <a:lstStyle/>
          <a:p>
            <a:pPr marL="457200" marR="0" lvl="0"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Types of Derivation:</a:t>
            </a:r>
            <a:endParaRPr sz="2100">
              <a:latin typeface="Calibri"/>
              <a:ea typeface="Calibri"/>
              <a:cs typeface="Calibri"/>
              <a:sym typeface="Calibri"/>
            </a:endParaRPr>
          </a:p>
          <a:p>
            <a:pPr marL="914400" marR="0" lvl="1"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Left-most Derivation:</a:t>
            </a:r>
            <a:endParaRPr sz="2100">
              <a:latin typeface="Calibri"/>
              <a:ea typeface="Calibri"/>
              <a:cs typeface="Calibri"/>
              <a:sym typeface="Calibri"/>
            </a:endParaRPr>
          </a:p>
          <a:p>
            <a:pPr marL="1371600" marR="0" lvl="2"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In the left-most derivation, the sentential form of an input is scanned and replaced from the left to the right. The sentential form in this case is called the left-sentential form.</a:t>
            </a:r>
            <a:endParaRPr sz="2100">
              <a:latin typeface="Calibri"/>
              <a:ea typeface="Calibri"/>
              <a:cs typeface="Calibri"/>
              <a:sym typeface="Calibri"/>
            </a:endParaRPr>
          </a:p>
          <a:p>
            <a:pPr marL="914400" marR="0" lvl="1"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Right-most Derivation:</a:t>
            </a:r>
            <a:endParaRPr sz="2100">
              <a:latin typeface="Calibri"/>
              <a:ea typeface="Calibri"/>
              <a:cs typeface="Calibri"/>
              <a:sym typeface="Calibri"/>
            </a:endParaRPr>
          </a:p>
          <a:p>
            <a:pPr marL="1371600" marR="0" lvl="2" indent="-361950" algn="just" rtl="0">
              <a:lnSpc>
                <a:spcPct val="100000"/>
              </a:lnSpc>
              <a:spcBef>
                <a:spcPts val="480"/>
              </a:spcBef>
              <a:spcAft>
                <a:spcPts val="0"/>
              </a:spcAft>
              <a:buSzPts val="2100"/>
              <a:buFont typeface="Calibri"/>
              <a:buChar char="■"/>
            </a:pPr>
            <a:r>
              <a:rPr lang="en" sz="2100">
                <a:latin typeface="Calibri"/>
                <a:ea typeface="Calibri"/>
                <a:cs typeface="Calibri"/>
                <a:sym typeface="Calibri"/>
              </a:rPr>
              <a:t>In the left-most derivation, the sentential form of an input is scanned and replaced from right to left. The sentential form in this case is called the right-sentential form.</a:t>
            </a:r>
            <a:endParaRPr sz="2100">
              <a:latin typeface="Calibri"/>
              <a:ea typeface="Calibri"/>
              <a:cs typeface="Calibri"/>
              <a:sym typeface="Calibri"/>
            </a:endParaRPr>
          </a:p>
          <a:p>
            <a:pPr marL="914400" marR="0" lvl="0" indent="0" algn="just" rtl="0">
              <a:lnSpc>
                <a:spcPct val="100000"/>
              </a:lnSpc>
              <a:spcBef>
                <a:spcPts val="480"/>
              </a:spcBef>
              <a:spcAft>
                <a:spcPts val="0"/>
              </a:spcAft>
              <a:buNone/>
            </a:pPr>
            <a:endParaRPr sz="2100">
              <a:latin typeface="Calibri"/>
              <a:ea typeface="Calibri"/>
              <a:cs typeface="Calibri"/>
              <a:sym typeface="Calibri"/>
            </a:endParaRPr>
          </a:p>
        </p:txBody>
      </p:sp>
      <p:sp>
        <p:nvSpPr>
          <p:cNvPr id="242" name="Google Shape;242;p29"/>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43" name="Google Shape;243;p29"/>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Syntactic Processing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30"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49" name="Google Shape;249;p30"/>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50" name="Google Shape;250;p30"/>
          <p:cNvSpPr txBox="1"/>
          <p:nvPr/>
        </p:nvSpPr>
        <p:spPr>
          <a:xfrm>
            <a:off x="94700" y="1895250"/>
            <a:ext cx="8956200" cy="3109200"/>
          </a:xfrm>
          <a:prstGeom prst="rect">
            <a:avLst/>
          </a:prstGeom>
          <a:noFill/>
          <a:ln>
            <a:noFill/>
          </a:ln>
        </p:spPr>
        <p:txBody>
          <a:bodyPr spcFirstLastPara="1" wrap="square" lIns="91425" tIns="45700" rIns="91425" bIns="45700" anchor="t" anchorCtr="0">
            <a:spAutoFit/>
          </a:bodyPr>
          <a:lstStyle/>
          <a:p>
            <a:pPr marL="457200" marR="0" lvl="0"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Parse Tree:</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It may be defined as the graphical depiction of a derivation. </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The start symbol of derivation serves as the root of the parse tree. </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In every parse tree, the leaf nodes are terminals and interior nodes are non-terminals. </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A property of parse tree is that in-order traversal will produce the original input string.</a:t>
            </a:r>
            <a:endParaRPr sz="2200">
              <a:latin typeface="Calibri"/>
              <a:ea typeface="Calibri"/>
              <a:cs typeface="Calibri"/>
              <a:sym typeface="Calibri"/>
            </a:endParaRPr>
          </a:p>
          <a:p>
            <a:pPr marL="914400" marR="0" lvl="0" indent="0" algn="just" rtl="0">
              <a:lnSpc>
                <a:spcPct val="100000"/>
              </a:lnSpc>
              <a:spcBef>
                <a:spcPts val="480"/>
              </a:spcBef>
              <a:spcAft>
                <a:spcPts val="480"/>
              </a:spcAft>
              <a:buNone/>
            </a:pPr>
            <a:endParaRPr sz="2200">
              <a:latin typeface="Calibri"/>
              <a:ea typeface="Calibri"/>
              <a:cs typeface="Calibri"/>
              <a:sym typeface="Calibri"/>
            </a:endParaRPr>
          </a:p>
        </p:txBody>
      </p:sp>
      <p:sp>
        <p:nvSpPr>
          <p:cNvPr id="251" name="Google Shape;251;p30"/>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52" name="Google Shape;252;p30"/>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Syntactic Processing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33"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76" name="Google Shape;276;p33"/>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77" name="Google Shape;277;p33"/>
          <p:cNvSpPr txBox="1"/>
          <p:nvPr/>
        </p:nvSpPr>
        <p:spPr>
          <a:xfrm>
            <a:off x="94700" y="1895250"/>
            <a:ext cx="8956200" cy="2986200"/>
          </a:xfrm>
          <a:prstGeom prst="rect">
            <a:avLst/>
          </a:prstGeom>
          <a:noFill/>
          <a:ln>
            <a:noFill/>
          </a:ln>
        </p:spPr>
        <p:txBody>
          <a:bodyPr spcFirstLastPara="1" wrap="square" lIns="91425" tIns="45700" rIns="91425" bIns="45700" anchor="t" anchorCtr="0">
            <a:spAutoFit/>
          </a:bodyPr>
          <a:lstStyle/>
          <a:p>
            <a:pPr marL="457200" marR="0" lvl="0"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Discourse in Natural Language Processing (NLP) refers to the study and analysis of how sequences of sentences relate to each other to form coherent and meaningful communication. </a:t>
            </a:r>
            <a:endParaRPr sz="2200">
              <a:latin typeface="Calibri"/>
              <a:ea typeface="Calibri"/>
              <a:cs typeface="Calibri"/>
              <a:sym typeface="Calibri"/>
            </a:endParaRPr>
          </a:p>
          <a:p>
            <a:pPr marL="457200" marR="0" lvl="0"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Unlike the analysis of isolated sentences, discourse analysis looks at the flow and structure of larger pieces of text or conversation. </a:t>
            </a:r>
            <a:endParaRPr sz="2200">
              <a:latin typeface="Calibri"/>
              <a:ea typeface="Calibri"/>
              <a:cs typeface="Calibri"/>
              <a:sym typeface="Calibri"/>
            </a:endParaRPr>
          </a:p>
          <a:p>
            <a:pPr marL="457200" marR="0" lvl="0"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It is essential for understanding context, maintaining coherence, and enabling more natural and effective human-computer interactions.</a:t>
            </a:r>
            <a:endParaRPr sz="2200">
              <a:latin typeface="Calibri"/>
              <a:ea typeface="Calibri"/>
              <a:cs typeface="Calibri"/>
              <a:sym typeface="Calibri"/>
            </a:endParaRPr>
          </a:p>
          <a:p>
            <a:pPr marL="914400" marR="0" lvl="0" indent="0" algn="just" rtl="0">
              <a:lnSpc>
                <a:spcPct val="100000"/>
              </a:lnSpc>
              <a:spcBef>
                <a:spcPts val="480"/>
              </a:spcBef>
              <a:spcAft>
                <a:spcPts val="480"/>
              </a:spcAft>
              <a:buNone/>
            </a:pPr>
            <a:endParaRPr sz="2200">
              <a:latin typeface="Calibri"/>
              <a:ea typeface="Calibri"/>
              <a:cs typeface="Calibri"/>
              <a:sym typeface="Calibri"/>
            </a:endParaRPr>
          </a:p>
        </p:txBody>
      </p:sp>
      <p:sp>
        <p:nvSpPr>
          <p:cNvPr id="278" name="Google Shape;278;p33"/>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79" name="Google Shape;279;p33"/>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Discourse Processing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pic>
        <p:nvPicPr>
          <p:cNvPr id="284" name="Google Shape;284;p34"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85" name="Google Shape;285;p34"/>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86" name="Google Shape;286;p34"/>
          <p:cNvSpPr txBox="1"/>
          <p:nvPr/>
        </p:nvSpPr>
        <p:spPr>
          <a:xfrm>
            <a:off x="94700" y="1895250"/>
            <a:ext cx="8956200" cy="3724800"/>
          </a:xfrm>
          <a:prstGeom prst="rect">
            <a:avLst/>
          </a:prstGeom>
          <a:noFill/>
          <a:ln>
            <a:noFill/>
          </a:ln>
        </p:spPr>
        <p:txBody>
          <a:bodyPr spcFirstLastPara="1" wrap="square" lIns="91425" tIns="45700" rIns="91425" bIns="45700" anchor="t" anchorCtr="0">
            <a:spAutoFit/>
          </a:bodyPr>
          <a:lstStyle/>
          <a:p>
            <a:pPr marL="457200" marR="0" lvl="0"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Discourse encompasses written or spoken communication longer than a single sentence. It involves:</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b="1">
                <a:latin typeface="Calibri"/>
                <a:ea typeface="Calibri"/>
                <a:cs typeface="Calibri"/>
                <a:sym typeface="Calibri"/>
              </a:rPr>
              <a:t>Coherence:</a:t>
            </a:r>
            <a:r>
              <a:rPr lang="en" sz="2200">
                <a:latin typeface="Calibri"/>
                <a:ea typeface="Calibri"/>
                <a:cs typeface="Calibri"/>
                <a:sym typeface="Calibri"/>
              </a:rPr>
              <a:t> Ensuring that the text or speech logically flows from one sentence to the next.</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b="1">
                <a:latin typeface="Calibri"/>
                <a:ea typeface="Calibri"/>
                <a:cs typeface="Calibri"/>
                <a:sym typeface="Calibri"/>
              </a:rPr>
              <a:t>Context: </a:t>
            </a:r>
            <a:r>
              <a:rPr lang="en" sz="2200">
                <a:latin typeface="Calibri"/>
                <a:ea typeface="Calibri"/>
                <a:cs typeface="Calibri"/>
                <a:sym typeface="Calibri"/>
              </a:rPr>
              <a:t>Understanding the broader situation or background information that influences the meaning of the text.</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b="1">
                <a:latin typeface="Calibri"/>
                <a:ea typeface="Calibri"/>
                <a:cs typeface="Calibri"/>
                <a:sym typeface="Calibri"/>
              </a:rPr>
              <a:t>Structure:</a:t>
            </a:r>
            <a:r>
              <a:rPr lang="en" sz="2200">
                <a:latin typeface="Calibri"/>
                <a:ea typeface="Calibri"/>
                <a:cs typeface="Calibri"/>
                <a:sym typeface="Calibri"/>
              </a:rPr>
              <a:t> Recognizing the organization and patterns in communication, such as narrative structure, argumentation, and dialogue.</a:t>
            </a:r>
            <a:endParaRPr sz="2200">
              <a:latin typeface="Calibri"/>
              <a:ea typeface="Calibri"/>
              <a:cs typeface="Calibri"/>
              <a:sym typeface="Calibri"/>
            </a:endParaRPr>
          </a:p>
          <a:p>
            <a:pPr marL="914400" marR="0" lvl="0" indent="0" algn="just" rtl="0">
              <a:lnSpc>
                <a:spcPct val="100000"/>
              </a:lnSpc>
              <a:spcBef>
                <a:spcPts val="480"/>
              </a:spcBef>
              <a:spcAft>
                <a:spcPts val="480"/>
              </a:spcAft>
              <a:buNone/>
            </a:pPr>
            <a:endParaRPr sz="2200">
              <a:latin typeface="Calibri"/>
              <a:ea typeface="Calibri"/>
              <a:cs typeface="Calibri"/>
              <a:sym typeface="Calibri"/>
            </a:endParaRPr>
          </a:p>
        </p:txBody>
      </p:sp>
      <p:sp>
        <p:nvSpPr>
          <p:cNvPr id="287" name="Google Shape;287;p34"/>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88" name="Google Shape;288;p34"/>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Discourse Processing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35"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294" name="Google Shape;294;p35"/>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295" name="Google Shape;295;p35"/>
          <p:cNvSpPr txBox="1"/>
          <p:nvPr/>
        </p:nvSpPr>
        <p:spPr>
          <a:xfrm>
            <a:off x="94700" y="1895250"/>
            <a:ext cx="8956200" cy="3386400"/>
          </a:xfrm>
          <a:prstGeom prst="rect">
            <a:avLst/>
          </a:prstGeom>
          <a:noFill/>
          <a:ln>
            <a:noFill/>
          </a:ln>
        </p:spPr>
        <p:txBody>
          <a:bodyPr spcFirstLastPara="1" wrap="square" lIns="91425" tIns="45700" rIns="91425" bIns="45700" anchor="t" anchorCtr="0">
            <a:spAutoFit/>
          </a:bodyPr>
          <a:lstStyle/>
          <a:p>
            <a:pPr marL="457200" marR="0" lvl="0" indent="-368300" algn="just" rtl="0">
              <a:lnSpc>
                <a:spcPct val="100000"/>
              </a:lnSpc>
              <a:spcBef>
                <a:spcPts val="480"/>
              </a:spcBef>
              <a:spcAft>
                <a:spcPts val="0"/>
              </a:spcAft>
              <a:buSzPts val="2200"/>
              <a:buFont typeface="Calibri"/>
              <a:buChar char="●"/>
            </a:pPr>
            <a:r>
              <a:rPr lang="en" sz="2200" b="1">
                <a:latin typeface="Calibri"/>
                <a:ea typeface="Calibri"/>
                <a:cs typeface="Calibri"/>
                <a:sym typeface="Calibri"/>
              </a:rPr>
              <a:t>Discourse segmentation:</a:t>
            </a:r>
            <a:endParaRPr sz="2200" b="1">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Discourse segmentation can be defined as the process of determining the types of structures that will be used in large amounts of discourse. </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Implementing discourse segmentation is difficult, but it is critical for applications such as information retrieval, text summarization, and information extraction. </a:t>
            </a:r>
            <a:endParaRPr sz="2200">
              <a:latin typeface="Calibri"/>
              <a:ea typeface="Calibri"/>
              <a:cs typeface="Calibri"/>
              <a:sym typeface="Calibri"/>
            </a:endParaRPr>
          </a:p>
          <a:p>
            <a:pPr marL="0" marR="0" lvl="0" indent="0" algn="just" rtl="0">
              <a:lnSpc>
                <a:spcPct val="100000"/>
              </a:lnSpc>
              <a:spcBef>
                <a:spcPts val="480"/>
              </a:spcBef>
              <a:spcAft>
                <a:spcPts val="0"/>
              </a:spcAft>
              <a:buNone/>
            </a:pPr>
            <a:endParaRPr sz="2200">
              <a:latin typeface="Calibri"/>
              <a:ea typeface="Calibri"/>
              <a:cs typeface="Calibri"/>
              <a:sym typeface="Calibri"/>
            </a:endParaRPr>
          </a:p>
          <a:p>
            <a:pPr marL="914400" marR="0" lvl="0" indent="0" algn="just" rtl="0">
              <a:lnSpc>
                <a:spcPct val="100000"/>
              </a:lnSpc>
              <a:spcBef>
                <a:spcPts val="480"/>
              </a:spcBef>
              <a:spcAft>
                <a:spcPts val="0"/>
              </a:spcAft>
              <a:buNone/>
            </a:pPr>
            <a:endParaRPr sz="2200">
              <a:latin typeface="Calibri"/>
              <a:ea typeface="Calibri"/>
              <a:cs typeface="Calibri"/>
              <a:sym typeface="Calibri"/>
            </a:endParaRPr>
          </a:p>
        </p:txBody>
      </p:sp>
      <p:sp>
        <p:nvSpPr>
          <p:cNvPr id="296" name="Google Shape;296;p35"/>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297" name="Google Shape;297;p35"/>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Discourse Processing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36"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03" name="Google Shape;303;p36"/>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04" name="Google Shape;304;p36"/>
          <p:cNvSpPr txBox="1"/>
          <p:nvPr/>
        </p:nvSpPr>
        <p:spPr>
          <a:xfrm>
            <a:off x="94700" y="1895250"/>
            <a:ext cx="8956200" cy="2586000"/>
          </a:xfrm>
          <a:prstGeom prst="rect">
            <a:avLst/>
          </a:prstGeom>
          <a:noFill/>
          <a:ln>
            <a:noFill/>
          </a:ln>
        </p:spPr>
        <p:txBody>
          <a:bodyPr spcFirstLastPara="1" wrap="square" lIns="91425" tIns="45700" rIns="91425" bIns="45700" anchor="t" anchorCtr="0">
            <a:spAutoFit/>
          </a:bodyPr>
          <a:lstStyle/>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Discourse Integration is dependent on the sentences that come before it and also invokes the meaning of the sentences that come after it.</a:t>
            </a:r>
            <a:endParaRPr sz="2200">
              <a:latin typeface="Calibri"/>
              <a:ea typeface="Calibri"/>
              <a:cs typeface="Calibri"/>
              <a:sym typeface="Calibri"/>
            </a:endParaRPr>
          </a:p>
          <a:p>
            <a:pPr marL="914400" marR="0" lvl="1" indent="-368300" algn="just" rtl="0">
              <a:lnSpc>
                <a:spcPct val="100000"/>
              </a:lnSpc>
              <a:spcBef>
                <a:spcPts val="480"/>
              </a:spcBef>
              <a:spcAft>
                <a:spcPts val="0"/>
              </a:spcAft>
              <a:buSzPts val="2200"/>
              <a:buFont typeface="Calibri"/>
              <a:buChar char="○"/>
            </a:pPr>
            <a:r>
              <a:rPr lang="en" sz="2200">
                <a:latin typeface="Calibri"/>
                <a:ea typeface="Calibri"/>
                <a:cs typeface="Calibri"/>
                <a:sym typeface="Calibri"/>
              </a:rPr>
              <a:t>Unsupervised Discourse Segmentation and Supervised Discourse Segmentation are popularly used algorithms for discourse segmentation.</a:t>
            </a:r>
            <a:endParaRPr sz="2200">
              <a:latin typeface="Calibri"/>
              <a:ea typeface="Calibri"/>
              <a:cs typeface="Calibri"/>
              <a:sym typeface="Calibri"/>
            </a:endParaRPr>
          </a:p>
          <a:p>
            <a:pPr marL="914400" marR="0" lvl="0" indent="0" algn="just" rtl="0">
              <a:lnSpc>
                <a:spcPct val="100000"/>
              </a:lnSpc>
              <a:spcBef>
                <a:spcPts val="480"/>
              </a:spcBef>
              <a:spcAft>
                <a:spcPts val="0"/>
              </a:spcAft>
              <a:buNone/>
            </a:pPr>
            <a:endParaRPr sz="2200">
              <a:latin typeface="Calibri"/>
              <a:ea typeface="Calibri"/>
              <a:cs typeface="Calibri"/>
              <a:sym typeface="Calibri"/>
            </a:endParaRPr>
          </a:p>
        </p:txBody>
      </p:sp>
      <p:sp>
        <p:nvSpPr>
          <p:cNvPr id="305" name="Google Shape;305;p36"/>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06" name="Google Shape;306;p36"/>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Discourse Processing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pic>
        <p:nvPicPr>
          <p:cNvPr id="311" name="Google Shape;311;p37"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12" name="Google Shape;312;p37"/>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13" name="Google Shape;313;p37"/>
          <p:cNvSpPr txBox="1"/>
          <p:nvPr/>
        </p:nvSpPr>
        <p:spPr>
          <a:xfrm>
            <a:off x="94700" y="1895250"/>
            <a:ext cx="8956200" cy="19086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Pragmatics is a branch of linguistics dealing with language use in context.</a:t>
            </a:r>
            <a:endParaRPr sz="2200">
              <a:latin typeface="Calibri"/>
              <a:ea typeface="Calibri"/>
              <a:cs typeface="Calibri"/>
              <a:sym typeface="Calibri"/>
            </a:endParaRPr>
          </a:p>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Pragmatics is the study of how linguistic properties and contextual factors interact in the interpretation of utterances, enabling hearers to bridge the gap between sentence meaning and speaker's meaning.</a:t>
            </a:r>
            <a:endParaRPr sz="2200">
              <a:latin typeface="Calibri"/>
              <a:ea typeface="Calibri"/>
              <a:cs typeface="Calibri"/>
              <a:sym typeface="Calibri"/>
            </a:endParaRPr>
          </a:p>
          <a:p>
            <a:pPr marL="0" marR="0" lvl="0" indent="0" algn="just" rtl="0">
              <a:lnSpc>
                <a:spcPct val="100000"/>
              </a:lnSpc>
              <a:spcBef>
                <a:spcPts val="480"/>
              </a:spcBef>
              <a:spcAft>
                <a:spcPts val="1000"/>
              </a:spcAft>
              <a:buNone/>
            </a:pPr>
            <a:endParaRPr sz="2200">
              <a:latin typeface="Calibri"/>
              <a:ea typeface="Calibri"/>
              <a:cs typeface="Calibri"/>
              <a:sym typeface="Calibri"/>
            </a:endParaRPr>
          </a:p>
        </p:txBody>
      </p:sp>
      <p:sp>
        <p:nvSpPr>
          <p:cNvPr id="314" name="Google Shape;314;p37"/>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15" name="Google Shape;315;p37"/>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Pragmatics Processing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pic>
        <p:nvPicPr>
          <p:cNvPr id="320" name="Google Shape;320;p38"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21" name="Google Shape;321;p38"/>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22" name="Google Shape;322;p38"/>
          <p:cNvSpPr txBox="1"/>
          <p:nvPr/>
        </p:nvSpPr>
        <p:spPr>
          <a:xfrm>
            <a:off x="94700" y="1895250"/>
            <a:ext cx="8956200" cy="40122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Pragmatics is the study of how context influences the interpretation of meaning in communication. </a:t>
            </a:r>
            <a:endParaRPr sz="2200">
              <a:latin typeface="Calibri"/>
              <a:ea typeface="Calibri"/>
              <a:cs typeface="Calibri"/>
              <a:sym typeface="Calibri"/>
            </a:endParaRPr>
          </a:p>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It goes beyond the literal meanings of words and sentences to consider factors such as:</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Speaker Intentions:</a:t>
            </a:r>
            <a:r>
              <a:rPr lang="en" sz="2200">
                <a:latin typeface="Calibri"/>
                <a:ea typeface="Calibri"/>
                <a:cs typeface="Calibri"/>
                <a:sym typeface="Calibri"/>
              </a:rPr>
              <a:t> What the speaker intends to convey.</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Contextual Information:</a:t>
            </a:r>
            <a:r>
              <a:rPr lang="en" sz="2200">
                <a:latin typeface="Calibri"/>
                <a:ea typeface="Calibri"/>
                <a:cs typeface="Calibri"/>
                <a:sym typeface="Calibri"/>
              </a:rPr>
              <a:t> The situational context in which communication occurs.</a:t>
            </a:r>
            <a:endParaRPr sz="2200">
              <a:latin typeface="Calibri"/>
              <a:ea typeface="Calibri"/>
              <a:cs typeface="Calibri"/>
              <a:sym typeface="Calibri"/>
            </a:endParaRPr>
          </a:p>
          <a:p>
            <a:pPr marL="0" lvl="0" indent="0" algn="just" rtl="0">
              <a:spcBef>
                <a:spcPts val="480"/>
              </a:spcBef>
              <a:spcAft>
                <a:spcPts val="0"/>
              </a:spcAft>
              <a:buNone/>
            </a:pPr>
            <a:endParaRPr sz="2200">
              <a:latin typeface="Calibri"/>
              <a:ea typeface="Calibri"/>
              <a:cs typeface="Calibri"/>
              <a:sym typeface="Calibri"/>
            </a:endParaRPr>
          </a:p>
          <a:p>
            <a:pPr marL="457200" lvl="0" indent="0" algn="just" rtl="0">
              <a:spcBef>
                <a:spcPts val="1000"/>
              </a:spcBef>
              <a:spcAft>
                <a:spcPts val="0"/>
              </a:spcAft>
              <a:buNone/>
            </a:pPr>
            <a:endParaRPr sz="2400">
              <a:latin typeface="Calibri"/>
              <a:ea typeface="Calibri"/>
              <a:cs typeface="Calibri"/>
              <a:sym typeface="Calibri"/>
            </a:endParaRPr>
          </a:p>
          <a:p>
            <a:pPr marL="0" marR="0" lvl="0" indent="0" algn="just" rtl="0">
              <a:lnSpc>
                <a:spcPct val="100000"/>
              </a:lnSpc>
              <a:spcBef>
                <a:spcPts val="1000"/>
              </a:spcBef>
              <a:spcAft>
                <a:spcPts val="1000"/>
              </a:spcAft>
              <a:buNone/>
            </a:pPr>
            <a:endParaRPr sz="2200">
              <a:latin typeface="Calibri"/>
              <a:ea typeface="Calibri"/>
              <a:cs typeface="Calibri"/>
              <a:sym typeface="Calibri"/>
            </a:endParaRPr>
          </a:p>
        </p:txBody>
      </p:sp>
      <p:sp>
        <p:nvSpPr>
          <p:cNvPr id="323" name="Google Shape;323;p38"/>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24" name="Google Shape;324;p38"/>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Pragmatics Processing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p39"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30" name="Google Shape;330;p39"/>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31" name="Google Shape;331;p39"/>
          <p:cNvSpPr txBox="1"/>
          <p:nvPr/>
        </p:nvSpPr>
        <p:spPr>
          <a:xfrm>
            <a:off x="94700" y="1895250"/>
            <a:ext cx="8956200" cy="1169700"/>
          </a:xfrm>
          <a:prstGeom prst="rect">
            <a:avLst/>
          </a:prstGeom>
          <a:noFill/>
          <a:ln>
            <a:noFill/>
          </a:ln>
        </p:spPr>
        <p:txBody>
          <a:bodyPr spcFirstLastPara="1" wrap="square" lIns="91425" tIns="45700" rIns="91425" bIns="45700" anchor="t" anchorCtr="0">
            <a:spAutoFit/>
          </a:bodyPr>
          <a:lstStyle/>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Social and Cultural Norms:</a:t>
            </a:r>
            <a:r>
              <a:rPr lang="en" sz="2200">
                <a:latin typeface="Calibri"/>
                <a:ea typeface="Calibri"/>
                <a:cs typeface="Calibri"/>
                <a:sym typeface="Calibri"/>
              </a:rPr>
              <a:t> The norms and conventions that influence how language is used and understood.</a:t>
            </a:r>
            <a:endParaRPr sz="2200">
              <a:latin typeface="Calibri"/>
              <a:ea typeface="Calibri"/>
              <a:cs typeface="Calibri"/>
              <a:sym typeface="Calibri"/>
            </a:endParaRPr>
          </a:p>
          <a:p>
            <a:pPr marL="914400" lvl="1" indent="-368300" algn="just" rtl="0">
              <a:spcBef>
                <a:spcPts val="480"/>
              </a:spcBef>
              <a:spcAft>
                <a:spcPts val="480"/>
              </a:spcAft>
              <a:buSzPts val="2200"/>
              <a:buFont typeface="Calibri"/>
              <a:buChar char="○"/>
            </a:pPr>
            <a:r>
              <a:rPr lang="en" sz="2200" b="1">
                <a:latin typeface="Calibri"/>
                <a:ea typeface="Calibri"/>
                <a:cs typeface="Calibri"/>
                <a:sym typeface="Calibri"/>
              </a:rPr>
              <a:t>Implicature:</a:t>
            </a:r>
            <a:r>
              <a:rPr lang="en" sz="2200">
                <a:latin typeface="Calibri"/>
                <a:ea typeface="Calibri"/>
                <a:cs typeface="Calibri"/>
                <a:sym typeface="Calibri"/>
              </a:rPr>
              <a:t> The implied meaning that is not explicitly stated.</a:t>
            </a:r>
            <a:endParaRPr sz="2200">
              <a:latin typeface="Calibri"/>
              <a:ea typeface="Calibri"/>
              <a:cs typeface="Calibri"/>
              <a:sym typeface="Calibri"/>
            </a:endParaRPr>
          </a:p>
        </p:txBody>
      </p:sp>
      <p:sp>
        <p:nvSpPr>
          <p:cNvPr id="332" name="Google Shape;332;p39"/>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33" name="Google Shape;333;p39"/>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Pragmatics Processing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40"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39" name="Google Shape;339;p40"/>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40" name="Google Shape;340;p40"/>
          <p:cNvSpPr txBox="1"/>
          <p:nvPr/>
        </p:nvSpPr>
        <p:spPr>
          <a:xfrm>
            <a:off x="94700" y="1895250"/>
            <a:ext cx="8956200" cy="29862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Applications of Pragmatic Processing:</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Dialogue Systems:</a:t>
            </a:r>
            <a:r>
              <a:rPr lang="en" sz="2200">
                <a:latin typeface="Calibri"/>
                <a:ea typeface="Calibri"/>
                <a:cs typeface="Calibri"/>
                <a:sym typeface="Calibri"/>
              </a:rPr>
              <a:t> Enhancing virtual assistants and chatbots to understand and respond appropriately to user intentions and context.</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Machine Translation:</a:t>
            </a:r>
            <a:r>
              <a:rPr lang="en" sz="2200">
                <a:latin typeface="Calibri"/>
                <a:ea typeface="Calibri"/>
                <a:cs typeface="Calibri"/>
                <a:sym typeface="Calibri"/>
              </a:rPr>
              <a:t> Improving the quality of translations by considering the pragmatic context to ensure the intended meaning is preserved.</a:t>
            </a:r>
            <a:endParaRPr sz="2200">
              <a:latin typeface="Calibri"/>
              <a:ea typeface="Calibri"/>
              <a:cs typeface="Calibri"/>
              <a:sym typeface="Calibri"/>
            </a:endParaRPr>
          </a:p>
          <a:p>
            <a:pPr marL="0" lvl="0" indent="0" algn="just" rtl="0">
              <a:spcBef>
                <a:spcPts val="480"/>
              </a:spcBef>
              <a:spcAft>
                <a:spcPts val="1000"/>
              </a:spcAft>
              <a:buNone/>
            </a:pPr>
            <a:endParaRPr sz="2200">
              <a:latin typeface="Calibri"/>
              <a:ea typeface="Calibri"/>
              <a:cs typeface="Calibri"/>
              <a:sym typeface="Calibri"/>
            </a:endParaRPr>
          </a:p>
        </p:txBody>
      </p:sp>
      <p:sp>
        <p:nvSpPr>
          <p:cNvPr id="341" name="Google Shape;341;p40"/>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42" name="Google Shape;342;p40"/>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Pragmatics Processing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41"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48" name="Google Shape;348;p41"/>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49" name="Google Shape;349;p41"/>
          <p:cNvSpPr txBox="1"/>
          <p:nvPr/>
        </p:nvSpPr>
        <p:spPr>
          <a:xfrm>
            <a:off x="94700" y="1895250"/>
            <a:ext cx="8956200" cy="1908600"/>
          </a:xfrm>
          <a:prstGeom prst="rect">
            <a:avLst/>
          </a:prstGeom>
          <a:noFill/>
          <a:ln>
            <a:noFill/>
          </a:ln>
        </p:spPr>
        <p:txBody>
          <a:bodyPr spcFirstLastPara="1" wrap="square" lIns="91425" tIns="45700" rIns="91425" bIns="45700" anchor="t" anchorCtr="0">
            <a:spAutoFit/>
          </a:bodyPr>
          <a:lstStyle/>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Sentiment Analysis:</a:t>
            </a:r>
            <a:r>
              <a:rPr lang="en" sz="2200">
                <a:latin typeface="Calibri"/>
                <a:ea typeface="Calibri"/>
                <a:cs typeface="Calibri"/>
                <a:sym typeface="Calibri"/>
              </a:rPr>
              <a:t> Better understanding the sentiment behind text by considering context and implied meanings.</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Human-Robot Interaction:</a:t>
            </a:r>
            <a:r>
              <a:rPr lang="en" sz="2200">
                <a:latin typeface="Calibri"/>
                <a:ea typeface="Calibri"/>
                <a:cs typeface="Calibri"/>
                <a:sym typeface="Calibri"/>
              </a:rPr>
              <a:t> Enabling robots to interpret and respond to human actions and speech in contextually appropriate ways.</a:t>
            </a:r>
            <a:endParaRPr sz="2200">
              <a:latin typeface="Calibri"/>
              <a:ea typeface="Calibri"/>
              <a:cs typeface="Calibri"/>
              <a:sym typeface="Calibri"/>
            </a:endParaRPr>
          </a:p>
          <a:p>
            <a:pPr marL="0" lvl="0" indent="0" algn="just" rtl="0">
              <a:spcBef>
                <a:spcPts val="480"/>
              </a:spcBef>
              <a:spcAft>
                <a:spcPts val="1000"/>
              </a:spcAft>
              <a:buNone/>
            </a:pPr>
            <a:endParaRPr sz="2200">
              <a:latin typeface="Calibri"/>
              <a:ea typeface="Calibri"/>
              <a:cs typeface="Calibri"/>
              <a:sym typeface="Calibri"/>
            </a:endParaRPr>
          </a:p>
        </p:txBody>
      </p:sp>
      <p:sp>
        <p:nvSpPr>
          <p:cNvPr id="350" name="Google Shape;350;p41"/>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51" name="Google Shape;351;p41"/>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Pragmatics Processing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356" name="Google Shape;356;p42"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57" name="Google Shape;357;p42"/>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58" name="Google Shape;358;p42"/>
          <p:cNvSpPr txBox="1"/>
          <p:nvPr/>
        </p:nvSpPr>
        <p:spPr>
          <a:xfrm>
            <a:off x="94700" y="1895250"/>
            <a:ext cx="8956200" cy="20319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Challenges in Pragmatic Processing:</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a:latin typeface="Calibri"/>
                <a:ea typeface="Calibri"/>
                <a:cs typeface="Calibri"/>
                <a:sym typeface="Calibri"/>
              </a:rPr>
              <a:t>Context Dependency</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a:latin typeface="Calibri"/>
                <a:ea typeface="Calibri"/>
                <a:cs typeface="Calibri"/>
                <a:sym typeface="Calibri"/>
              </a:rPr>
              <a:t>Ambiguity</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a:latin typeface="Calibri"/>
                <a:ea typeface="Calibri"/>
                <a:cs typeface="Calibri"/>
                <a:sym typeface="Calibri"/>
              </a:rPr>
              <a:t>Cultural and Social Norms</a:t>
            </a:r>
            <a:endParaRPr sz="2200">
              <a:latin typeface="Calibri"/>
              <a:ea typeface="Calibri"/>
              <a:cs typeface="Calibri"/>
              <a:sym typeface="Calibri"/>
            </a:endParaRPr>
          </a:p>
          <a:p>
            <a:pPr marL="914400" lvl="1" indent="-368300" algn="just" rtl="0">
              <a:spcBef>
                <a:spcPts val="480"/>
              </a:spcBef>
              <a:spcAft>
                <a:spcPts val="480"/>
              </a:spcAft>
              <a:buSzPts val="2200"/>
              <a:buFont typeface="Calibri"/>
              <a:buChar char="○"/>
            </a:pPr>
            <a:r>
              <a:rPr lang="en" sz="2200">
                <a:latin typeface="Calibri"/>
                <a:ea typeface="Calibri"/>
                <a:cs typeface="Calibri"/>
                <a:sym typeface="Calibri"/>
              </a:rPr>
              <a:t>Computational Complexity</a:t>
            </a:r>
            <a:endParaRPr sz="2200">
              <a:latin typeface="Calibri"/>
              <a:ea typeface="Calibri"/>
              <a:cs typeface="Calibri"/>
              <a:sym typeface="Calibri"/>
            </a:endParaRPr>
          </a:p>
        </p:txBody>
      </p:sp>
      <p:sp>
        <p:nvSpPr>
          <p:cNvPr id="359" name="Google Shape;359;p42"/>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60" name="Google Shape;360;p42"/>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Pragmatics Processing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pic>
        <p:nvPicPr>
          <p:cNvPr id="365" name="Google Shape;365;p43"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66" name="Google Shape;366;p43"/>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67" name="Google Shape;367;p43"/>
          <p:cNvSpPr txBox="1"/>
          <p:nvPr/>
        </p:nvSpPr>
        <p:spPr>
          <a:xfrm>
            <a:off x="94700" y="1895250"/>
            <a:ext cx="8956200" cy="25860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Spell checking is an essential component of Natural Language Processing (NLP) that focuses on identifying and correcting spelling errors in text. </a:t>
            </a:r>
            <a:endParaRPr sz="2200">
              <a:latin typeface="Calibri"/>
              <a:ea typeface="Calibri"/>
              <a:cs typeface="Calibri"/>
              <a:sym typeface="Calibri"/>
            </a:endParaRPr>
          </a:p>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It enhances the accuracy and readability of written communication, making it a fundamental feature in word processors, search engines, and various other applications. </a:t>
            </a:r>
            <a:endParaRPr sz="2200">
              <a:latin typeface="Calibri"/>
              <a:ea typeface="Calibri"/>
              <a:cs typeface="Calibri"/>
              <a:sym typeface="Calibri"/>
            </a:endParaRPr>
          </a:p>
          <a:p>
            <a:pPr marL="457200" lvl="0" indent="-368300" algn="just" rtl="0">
              <a:spcBef>
                <a:spcPts val="480"/>
              </a:spcBef>
              <a:spcAft>
                <a:spcPts val="480"/>
              </a:spcAft>
              <a:buSzPts val="2200"/>
              <a:buFont typeface="Calibri"/>
              <a:buChar char="●"/>
            </a:pPr>
            <a:r>
              <a:rPr lang="en" sz="2200">
                <a:latin typeface="Calibri"/>
                <a:ea typeface="Calibri"/>
                <a:cs typeface="Calibri"/>
                <a:sym typeface="Calibri"/>
              </a:rPr>
              <a:t>Spell checking involves detecting misspelled words and suggesting possible corrections.</a:t>
            </a:r>
            <a:endParaRPr sz="2200">
              <a:latin typeface="Calibri"/>
              <a:ea typeface="Calibri"/>
              <a:cs typeface="Calibri"/>
              <a:sym typeface="Calibri"/>
            </a:endParaRPr>
          </a:p>
        </p:txBody>
      </p:sp>
      <p:sp>
        <p:nvSpPr>
          <p:cNvPr id="368" name="Google Shape;368;p43"/>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69" name="Google Shape;369;p43"/>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Spell Checking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p44"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75" name="Google Shape;375;p44"/>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76" name="Google Shape;376;p44"/>
          <p:cNvSpPr txBox="1"/>
          <p:nvPr/>
        </p:nvSpPr>
        <p:spPr>
          <a:xfrm>
            <a:off x="94700" y="1895250"/>
            <a:ext cx="8956200" cy="29862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Types of Spelling Errors:</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Typographical Errors (Typos):</a:t>
            </a:r>
            <a:r>
              <a:rPr lang="en" sz="2200">
                <a:latin typeface="Calibri"/>
                <a:ea typeface="Calibri"/>
                <a:cs typeface="Calibri"/>
                <a:sym typeface="Calibri"/>
              </a:rPr>
              <a:t> Mistakes made while typing, such as "teh" instead of "the."</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Orthographic Errors:</a:t>
            </a:r>
            <a:r>
              <a:rPr lang="en" sz="2200">
                <a:latin typeface="Calibri"/>
                <a:ea typeface="Calibri"/>
                <a:cs typeface="Calibri"/>
                <a:sym typeface="Calibri"/>
              </a:rPr>
              <a:t> Errors related to the correct spelling of words, such as "recieve" instead of "receive."</a:t>
            </a:r>
            <a:endParaRPr sz="2200">
              <a:latin typeface="Calibri"/>
              <a:ea typeface="Calibri"/>
              <a:cs typeface="Calibri"/>
              <a:sym typeface="Calibri"/>
            </a:endParaRPr>
          </a:p>
          <a:p>
            <a:pPr marL="914400" lvl="1" indent="-368300" algn="just" rtl="0">
              <a:spcBef>
                <a:spcPts val="480"/>
              </a:spcBef>
              <a:spcAft>
                <a:spcPts val="480"/>
              </a:spcAft>
              <a:buSzPts val="2200"/>
              <a:buFont typeface="Calibri"/>
              <a:buChar char="○"/>
            </a:pPr>
            <a:r>
              <a:rPr lang="en" sz="2200" b="1">
                <a:latin typeface="Calibri"/>
                <a:ea typeface="Calibri"/>
                <a:cs typeface="Calibri"/>
                <a:sym typeface="Calibri"/>
              </a:rPr>
              <a:t>Contextual Errors:</a:t>
            </a:r>
            <a:r>
              <a:rPr lang="en" sz="2200">
                <a:latin typeface="Calibri"/>
                <a:ea typeface="Calibri"/>
                <a:cs typeface="Calibri"/>
                <a:sym typeface="Calibri"/>
              </a:rPr>
              <a:t> Errors that are context-dependent, where a word is spelled correctly but used incorrectly, such as "their" instead of "there."</a:t>
            </a:r>
            <a:endParaRPr sz="2200">
              <a:latin typeface="Calibri"/>
              <a:ea typeface="Calibri"/>
              <a:cs typeface="Calibri"/>
              <a:sym typeface="Calibri"/>
            </a:endParaRPr>
          </a:p>
        </p:txBody>
      </p:sp>
      <p:sp>
        <p:nvSpPr>
          <p:cNvPr id="377" name="Google Shape;377;p44"/>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78" name="Google Shape;378;p44"/>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Spell Checking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pic>
        <p:nvPicPr>
          <p:cNvPr id="383" name="Google Shape;383;p45"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84" name="Google Shape;384;p45"/>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85" name="Google Shape;385;p45"/>
          <p:cNvSpPr txBox="1"/>
          <p:nvPr/>
        </p:nvSpPr>
        <p:spPr>
          <a:xfrm>
            <a:off x="94700" y="1895250"/>
            <a:ext cx="8956200" cy="25860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Components of Spell Checking:</a:t>
            </a:r>
            <a:endParaRPr sz="2200">
              <a:latin typeface="Calibri"/>
              <a:ea typeface="Calibri"/>
              <a:cs typeface="Calibri"/>
              <a:sym typeface="Calibri"/>
            </a:endParaRPr>
          </a:p>
          <a:p>
            <a:pPr marL="914400" lvl="1" indent="-368300" algn="just" rtl="0">
              <a:spcBef>
                <a:spcPts val="480"/>
              </a:spcBef>
              <a:spcAft>
                <a:spcPts val="0"/>
              </a:spcAft>
              <a:buSzPts val="2200"/>
              <a:buFont typeface="Calibri"/>
              <a:buChar char="○"/>
            </a:pPr>
            <a:r>
              <a:rPr lang="en" sz="2200" b="1">
                <a:latin typeface="Calibri"/>
                <a:ea typeface="Calibri"/>
                <a:cs typeface="Calibri"/>
                <a:sym typeface="Calibri"/>
              </a:rPr>
              <a:t>Error Detection: </a:t>
            </a:r>
            <a:r>
              <a:rPr lang="en" sz="2200">
                <a:latin typeface="Calibri"/>
                <a:ea typeface="Calibri"/>
                <a:cs typeface="Calibri"/>
                <a:sym typeface="Calibri"/>
              </a:rPr>
              <a:t>Error detection is the process of identifying words that are likely misspelled.</a:t>
            </a:r>
            <a:endParaRPr sz="2200" b="1">
              <a:latin typeface="Calibri"/>
              <a:ea typeface="Calibri"/>
              <a:cs typeface="Calibri"/>
              <a:sym typeface="Calibri"/>
            </a:endParaRPr>
          </a:p>
          <a:p>
            <a:pPr marL="914400" lvl="1" indent="-368300" algn="just" rtl="0">
              <a:spcBef>
                <a:spcPts val="480"/>
              </a:spcBef>
              <a:spcAft>
                <a:spcPts val="480"/>
              </a:spcAft>
              <a:buSzPts val="2200"/>
              <a:buFont typeface="Calibri"/>
              <a:buChar char="○"/>
            </a:pPr>
            <a:r>
              <a:rPr lang="en" sz="2200" b="1">
                <a:latin typeface="Calibri"/>
                <a:ea typeface="Calibri"/>
                <a:cs typeface="Calibri"/>
                <a:sym typeface="Calibri"/>
              </a:rPr>
              <a:t>Error Correction:</a:t>
            </a:r>
            <a:r>
              <a:rPr lang="en" sz="2200">
                <a:latin typeface="Calibri"/>
                <a:ea typeface="Calibri"/>
                <a:cs typeface="Calibri"/>
                <a:sym typeface="Calibri"/>
              </a:rPr>
              <a:t> Once an error is detected, the next step is to suggest possible corrections. This involves generating a list of candidate words that are similar to the misspelled word and selecting the most likely correction.</a:t>
            </a:r>
            <a:endParaRPr sz="2200">
              <a:latin typeface="Calibri"/>
              <a:ea typeface="Calibri"/>
              <a:cs typeface="Calibri"/>
              <a:sym typeface="Calibri"/>
            </a:endParaRPr>
          </a:p>
        </p:txBody>
      </p:sp>
      <p:sp>
        <p:nvSpPr>
          <p:cNvPr id="386" name="Google Shape;386;p45"/>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87" name="Google Shape;387;p45"/>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Spell Checking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pic>
        <p:nvPicPr>
          <p:cNvPr id="392" name="Google Shape;392;p46"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393" name="Google Shape;393;p46"/>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394" name="Google Shape;394;p46"/>
          <p:cNvSpPr txBox="1"/>
          <p:nvPr/>
        </p:nvSpPr>
        <p:spPr>
          <a:xfrm>
            <a:off x="94700" y="1895250"/>
            <a:ext cx="8956200" cy="1108200"/>
          </a:xfrm>
          <a:prstGeom prst="rect">
            <a:avLst/>
          </a:prstGeom>
          <a:noFill/>
          <a:ln>
            <a:noFill/>
          </a:ln>
        </p:spPr>
        <p:txBody>
          <a:bodyPr spcFirstLastPara="1" wrap="square" lIns="91425" tIns="45700" rIns="91425" bIns="45700" anchor="t" anchorCtr="0">
            <a:spAutoFit/>
          </a:bodyPr>
          <a:lstStyle/>
          <a:p>
            <a:pPr marL="914400" lvl="1" indent="-368300" algn="just" rtl="0">
              <a:spcBef>
                <a:spcPts val="480"/>
              </a:spcBef>
              <a:spcAft>
                <a:spcPts val="480"/>
              </a:spcAft>
              <a:buSzPts val="2200"/>
              <a:buFont typeface="Calibri"/>
              <a:buChar char="○"/>
            </a:pPr>
            <a:r>
              <a:rPr lang="en" sz="2200" b="1">
                <a:latin typeface="Calibri"/>
                <a:ea typeface="Calibri"/>
                <a:cs typeface="Calibri"/>
                <a:sym typeface="Calibri"/>
              </a:rPr>
              <a:t>Contextual Analysis: </a:t>
            </a:r>
            <a:r>
              <a:rPr lang="en" sz="2200">
                <a:latin typeface="Calibri"/>
                <a:ea typeface="Calibri"/>
                <a:cs typeface="Calibri"/>
                <a:sym typeface="Calibri"/>
              </a:rPr>
              <a:t>For contextual errors, spell checkers must consider the surrounding text to make accurate corrections. This involves understanding the context in which a word is used.</a:t>
            </a:r>
            <a:endParaRPr sz="2200">
              <a:latin typeface="Calibri"/>
              <a:ea typeface="Calibri"/>
              <a:cs typeface="Calibri"/>
              <a:sym typeface="Calibri"/>
            </a:endParaRPr>
          </a:p>
        </p:txBody>
      </p:sp>
      <p:sp>
        <p:nvSpPr>
          <p:cNvPr id="395" name="Google Shape;395;p46"/>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396" name="Google Shape;396;p46"/>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Spell Checking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pic>
        <p:nvPicPr>
          <p:cNvPr id="401" name="Google Shape;401;p47"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402" name="Google Shape;402;p47"/>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403" name="Google Shape;403;p47"/>
          <p:cNvSpPr txBox="1"/>
          <p:nvPr/>
        </p:nvSpPr>
        <p:spPr>
          <a:xfrm>
            <a:off x="94700" y="1895250"/>
            <a:ext cx="8956200" cy="17856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Applications of Spell Checking:</a:t>
            </a:r>
            <a:endParaRPr sz="2200">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 sz="2200">
                <a:latin typeface="Calibri"/>
                <a:ea typeface="Calibri"/>
                <a:cs typeface="Calibri"/>
                <a:sym typeface="Calibri"/>
              </a:rPr>
              <a:t>Word Processors</a:t>
            </a:r>
            <a:endParaRPr sz="2200">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 sz="2200">
                <a:latin typeface="Calibri"/>
                <a:ea typeface="Calibri"/>
                <a:cs typeface="Calibri"/>
                <a:sym typeface="Calibri"/>
              </a:rPr>
              <a:t>Search Engines</a:t>
            </a:r>
            <a:endParaRPr sz="2200">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 sz="2200">
                <a:latin typeface="Calibri"/>
                <a:ea typeface="Calibri"/>
                <a:cs typeface="Calibri"/>
                <a:sym typeface="Calibri"/>
              </a:rPr>
              <a:t>Text Input Interfaces</a:t>
            </a:r>
            <a:endParaRPr sz="2200">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 sz="2200">
                <a:latin typeface="Calibri"/>
                <a:ea typeface="Calibri"/>
                <a:cs typeface="Calibri"/>
                <a:sym typeface="Calibri"/>
              </a:rPr>
              <a:t>Language Learning Tools</a:t>
            </a:r>
            <a:endParaRPr sz="2200">
              <a:latin typeface="Calibri"/>
              <a:ea typeface="Calibri"/>
              <a:cs typeface="Calibri"/>
              <a:sym typeface="Calibri"/>
            </a:endParaRPr>
          </a:p>
        </p:txBody>
      </p:sp>
      <p:sp>
        <p:nvSpPr>
          <p:cNvPr id="404" name="Google Shape;404;p47"/>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405" name="Google Shape;405;p47"/>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Spell Checking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pic>
        <p:nvPicPr>
          <p:cNvPr id="410" name="Google Shape;410;p48" descr="C:\Users\parul\Desktop\Untitled-1.png"/>
          <p:cNvPicPr preferRelativeResize="0"/>
          <p:nvPr/>
        </p:nvPicPr>
        <p:blipFill rotWithShape="1">
          <a:blip r:embed="rId3">
            <a:alphaModFix/>
          </a:blip>
          <a:srcRect/>
          <a:stretch/>
        </p:blipFill>
        <p:spPr>
          <a:xfrm>
            <a:off x="1857375" y="1757675"/>
            <a:ext cx="5430837" cy="2803525"/>
          </a:xfrm>
          <a:prstGeom prst="rect">
            <a:avLst/>
          </a:prstGeom>
          <a:noFill/>
          <a:ln>
            <a:noFill/>
          </a:ln>
        </p:spPr>
      </p:pic>
      <p:sp>
        <p:nvSpPr>
          <p:cNvPr id="411" name="Google Shape;411;p48"/>
          <p:cNvSpPr txBox="1"/>
          <p:nvPr/>
        </p:nvSpPr>
        <p:spPr>
          <a:xfrm>
            <a:off x="3810000" y="2851462"/>
            <a:ext cx="9144000" cy="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a:buNone/>
            </a:pPr>
            <a:br>
              <a:rPr lang="en" sz="1800" b="0" i="0" u="none">
                <a:solidFill>
                  <a:srgbClr val="000000"/>
                </a:solidFill>
                <a:latin typeface="Arial"/>
                <a:ea typeface="Arial"/>
                <a:cs typeface="Arial"/>
                <a:sym typeface="Arial"/>
              </a:rPr>
            </a:br>
            <a:endParaRPr/>
          </a:p>
        </p:txBody>
      </p:sp>
      <p:sp>
        <p:nvSpPr>
          <p:cNvPr id="412" name="Google Shape;412;p48"/>
          <p:cNvSpPr txBox="1"/>
          <p:nvPr/>
        </p:nvSpPr>
        <p:spPr>
          <a:xfrm>
            <a:off x="94700" y="1895250"/>
            <a:ext cx="8956200" cy="1785600"/>
          </a:xfrm>
          <a:prstGeom prst="rect">
            <a:avLst/>
          </a:prstGeom>
          <a:noFill/>
          <a:ln>
            <a:noFill/>
          </a:ln>
        </p:spPr>
        <p:txBody>
          <a:bodyPr spcFirstLastPara="1" wrap="square" lIns="91425" tIns="45700" rIns="91425" bIns="45700" anchor="t" anchorCtr="0">
            <a:spAutoFit/>
          </a:bodyPr>
          <a:lstStyle/>
          <a:p>
            <a:pPr marL="457200" lvl="0" indent="-368300" algn="just" rtl="0">
              <a:spcBef>
                <a:spcPts val="480"/>
              </a:spcBef>
              <a:spcAft>
                <a:spcPts val="0"/>
              </a:spcAft>
              <a:buSzPts val="2200"/>
              <a:buFont typeface="Calibri"/>
              <a:buChar char="●"/>
            </a:pPr>
            <a:r>
              <a:rPr lang="en" sz="2200">
                <a:latin typeface="Calibri"/>
                <a:ea typeface="Calibri"/>
                <a:cs typeface="Calibri"/>
                <a:sym typeface="Calibri"/>
              </a:rPr>
              <a:t>Challenges in Spell Checking:</a:t>
            </a:r>
            <a:endParaRPr sz="2200">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 sz="2200">
                <a:latin typeface="Calibri"/>
                <a:ea typeface="Calibri"/>
                <a:cs typeface="Calibri"/>
                <a:sym typeface="Calibri"/>
              </a:rPr>
              <a:t>Homophones</a:t>
            </a:r>
            <a:endParaRPr sz="2200">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 sz="2200">
                <a:latin typeface="Calibri"/>
                <a:ea typeface="Calibri"/>
                <a:cs typeface="Calibri"/>
                <a:sym typeface="Calibri"/>
              </a:rPr>
              <a:t>Proper Names and Technical Terms</a:t>
            </a:r>
            <a:endParaRPr sz="2200">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 sz="2200">
                <a:latin typeface="Calibri"/>
                <a:ea typeface="Calibri"/>
                <a:cs typeface="Calibri"/>
                <a:sym typeface="Calibri"/>
              </a:rPr>
              <a:t>Multilingual Support</a:t>
            </a:r>
            <a:endParaRPr sz="2200">
              <a:latin typeface="Calibri"/>
              <a:ea typeface="Calibri"/>
              <a:cs typeface="Calibri"/>
              <a:sym typeface="Calibri"/>
            </a:endParaRPr>
          </a:p>
          <a:p>
            <a:pPr marL="914400" lvl="1" indent="-368300" algn="just" rtl="0">
              <a:spcBef>
                <a:spcPts val="0"/>
              </a:spcBef>
              <a:spcAft>
                <a:spcPts val="0"/>
              </a:spcAft>
              <a:buSzPts val="2200"/>
              <a:buFont typeface="Calibri"/>
              <a:buChar char="○"/>
            </a:pPr>
            <a:r>
              <a:rPr lang="en" sz="2200">
                <a:latin typeface="Calibri"/>
                <a:ea typeface="Calibri"/>
                <a:cs typeface="Calibri"/>
                <a:sym typeface="Calibri"/>
              </a:rPr>
              <a:t>Typographical Variations</a:t>
            </a:r>
            <a:endParaRPr sz="2200">
              <a:latin typeface="Calibri"/>
              <a:ea typeface="Calibri"/>
              <a:cs typeface="Calibri"/>
              <a:sym typeface="Calibri"/>
            </a:endParaRPr>
          </a:p>
        </p:txBody>
      </p:sp>
      <p:sp>
        <p:nvSpPr>
          <p:cNvPr id="413" name="Google Shape;413;p48"/>
          <p:cNvSpPr txBox="1"/>
          <p:nvPr/>
        </p:nvSpPr>
        <p:spPr>
          <a:xfrm>
            <a:off x="788" y="1273862"/>
            <a:ext cx="9144000" cy="6429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Arial"/>
              <a:ea typeface="Arial"/>
              <a:cs typeface="Arial"/>
              <a:sym typeface="Arial"/>
            </a:endParaRPr>
          </a:p>
        </p:txBody>
      </p:sp>
      <p:sp>
        <p:nvSpPr>
          <p:cNvPr id="414" name="Google Shape;414;p48"/>
          <p:cNvSpPr txBox="1"/>
          <p:nvPr/>
        </p:nvSpPr>
        <p:spPr>
          <a:xfrm>
            <a:off x="191288" y="1318312"/>
            <a:ext cx="8763000" cy="55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3000"/>
              <a:buFont typeface="Calibri"/>
              <a:buNone/>
            </a:pPr>
            <a:r>
              <a:rPr lang="en" sz="3000" b="1">
                <a:solidFill>
                  <a:srgbClr val="FFFFFF"/>
                </a:solidFill>
                <a:latin typeface="Calibri"/>
                <a:ea typeface="Calibri"/>
                <a:cs typeface="Calibri"/>
                <a:sym typeface="Calibri"/>
              </a:rPr>
              <a:t>Spell Checking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49"/>
          <p:cNvSpPr txBox="1"/>
          <p:nvPr/>
        </p:nvSpPr>
        <p:spPr>
          <a:xfrm>
            <a:off x="0" y="2411015"/>
            <a:ext cx="9144000" cy="2732400"/>
          </a:xfrm>
          <a:prstGeom prst="rect">
            <a:avLst/>
          </a:prstGeom>
          <a:solidFill>
            <a:srgbClr val="1F497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420" name="Google Shape;420;p49" descr="C:\Users\parul\Desktop\1.png"/>
          <p:cNvPicPr preferRelativeResize="0"/>
          <p:nvPr/>
        </p:nvPicPr>
        <p:blipFill rotWithShape="1">
          <a:blip r:embed="rId3">
            <a:alphaModFix/>
          </a:blip>
          <a:srcRect/>
          <a:stretch/>
        </p:blipFill>
        <p:spPr>
          <a:xfrm>
            <a:off x="1219200" y="271463"/>
            <a:ext cx="5029198" cy="2143126"/>
          </a:xfrm>
          <a:prstGeom prst="rect">
            <a:avLst/>
          </a:prstGeom>
          <a:noFill/>
          <a:ln>
            <a:noFill/>
          </a:ln>
        </p:spPr>
      </p:pic>
      <p:pic>
        <p:nvPicPr>
          <p:cNvPr id="421" name="Google Shape;421;p49" descr="C:\Users\parul\Desktop\2.png"/>
          <p:cNvPicPr preferRelativeResize="0"/>
          <p:nvPr/>
        </p:nvPicPr>
        <p:blipFill rotWithShape="1">
          <a:blip r:embed="rId4">
            <a:alphaModFix/>
          </a:blip>
          <a:srcRect/>
          <a:stretch/>
        </p:blipFill>
        <p:spPr>
          <a:xfrm>
            <a:off x="2433637" y="3000375"/>
            <a:ext cx="3207545" cy="428625"/>
          </a:xfrm>
          <a:prstGeom prst="rect">
            <a:avLst/>
          </a:prstGeom>
          <a:noFill/>
          <a:ln>
            <a:noFill/>
          </a:ln>
        </p:spPr>
      </p:pic>
      <p:pic>
        <p:nvPicPr>
          <p:cNvPr id="422" name="Google Shape;422;p49" descr="C:\Users\parul\Desktop\Cover Page with yellow patch - Version 18.png"/>
          <p:cNvPicPr preferRelativeResize="0"/>
          <p:nvPr/>
        </p:nvPicPr>
        <p:blipFill rotWithShape="1">
          <a:blip r:embed="rId5">
            <a:alphaModFix/>
          </a:blip>
          <a:srcRect/>
          <a:stretch/>
        </p:blipFill>
        <p:spPr>
          <a:xfrm>
            <a:off x="3038475" y="3709988"/>
            <a:ext cx="2300289" cy="195263"/>
          </a:xfrm>
          <a:prstGeom prst="rect">
            <a:avLst/>
          </a:prstGeom>
          <a:noFill/>
          <a:ln>
            <a:noFill/>
          </a:ln>
        </p:spPr>
      </p:pic>
      <p:sp>
        <p:nvSpPr>
          <p:cNvPr id="423" name="Google Shape;423;p49"/>
          <p:cNvSpPr txBox="1"/>
          <p:nvPr/>
        </p:nvSpPr>
        <p:spPr>
          <a:xfrm>
            <a:off x="0" y="4502944"/>
            <a:ext cx="9144000" cy="2679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24" name="Google Shape;424;p49"/>
          <p:cNvSpPr txBox="1"/>
          <p:nvPr/>
        </p:nvSpPr>
        <p:spPr>
          <a:xfrm>
            <a:off x="3249612" y="4498181"/>
            <a:ext cx="2644800" cy="2775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2"/>
              </a:buClr>
              <a:buSzPts val="1800"/>
              <a:buFont typeface="Calibri"/>
              <a:buNone/>
            </a:pPr>
            <a:r>
              <a:rPr lang="en" sz="1800" b="0" i="0" u="none">
                <a:solidFill>
                  <a:schemeClr val="dk2"/>
                </a:solidFill>
                <a:latin typeface="Calibri"/>
                <a:ea typeface="Calibri"/>
                <a:cs typeface="Calibri"/>
                <a:sym typeface="Calibri"/>
              </a:rPr>
              <a:t>www.paruluniversity.ac.in</a:t>
            </a: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1696</Words>
  <Application>Microsoft Office PowerPoint</Application>
  <PresentationFormat>On-screen Show (16:9)</PresentationFormat>
  <Paragraphs>179</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Siddharth Mallik</cp:lastModifiedBy>
  <cp:revision>2</cp:revision>
  <dcterms:modified xsi:type="dcterms:W3CDTF">2024-09-25T02:13:48Z</dcterms:modified>
</cp:coreProperties>
</file>