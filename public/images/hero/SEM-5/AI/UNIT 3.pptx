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1"/>
  </p:notesMasterIdLst>
  <p:sldIdLst>
    <p:sldId id="256" r:id="rId2"/>
    <p:sldId id="257" r:id="rId3"/>
    <p:sldId id="258" r:id="rId4"/>
    <p:sldId id="259" r:id="rId5"/>
    <p:sldId id="260" r:id="rId6"/>
    <p:sldId id="284" r:id="rId7"/>
    <p:sldId id="264" r:id="rId8"/>
    <p:sldId id="261" r:id="rId9"/>
    <p:sldId id="286" r:id="rId10"/>
    <p:sldId id="263" r:id="rId11"/>
    <p:sldId id="287" r:id="rId12"/>
    <p:sldId id="288" r:id="rId13"/>
    <p:sldId id="289" r:id="rId14"/>
    <p:sldId id="290" r:id="rId15"/>
    <p:sldId id="291" r:id="rId16"/>
    <p:sldId id="292" r:id="rId17"/>
    <p:sldId id="293" r:id="rId18"/>
    <p:sldId id="294" r:id="rId19"/>
    <p:sldId id="318" r:id="rId20"/>
    <p:sldId id="319" r:id="rId21"/>
    <p:sldId id="320" r:id="rId22"/>
    <p:sldId id="321" r:id="rId23"/>
    <p:sldId id="322" r:id="rId24"/>
    <p:sldId id="323" r:id="rId25"/>
    <p:sldId id="324" r:id="rId26"/>
    <p:sldId id="265" r:id="rId27"/>
    <p:sldId id="295" r:id="rId28"/>
    <p:sldId id="296" r:id="rId29"/>
    <p:sldId id="297" r:id="rId30"/>
    <p:sldId id="298" r:id="rId31"/>
    <p:sldId id="299" r:id="rId32"/>
    <p:sldId id="300" r:id="rId33"/>
    <p:sldId id="301" r:id="rId34"/>
    <p:sldId id="310" r:id="rId35"/>
    <p:sldId id="311" r:id="rId36"/>
    <p:sldId id="312" r:id="rId37"/>
    <p:sldId id="313" r:id="rId38"/>
    <p:sldId id="314" r:id="rId39"/>
    <p:sldId id="315" r:id="rId40"/>
    <p:sldId id="316" r:id="rId41"/>
    <p:sldId id="317" r:id="rId42"/>
    <p:sldId id="325" r:id="rId43"/>
    <p:sldId id="326" r:id="rId44"/>
    <p:sldId id="327" r:id="rId45"/>
    <p:sldId id="328" r:id="rId46"/>
    <p:sldId id="329" r:id="rId47"/>
    <p:sldId id="330" r:id="rId48"/>
    <p:sldId id="334" r:id="rId49"/>
    <p:sldId id="336" r:id="rId50"/>
    <p:sldId id="335" r:id="rId51"/>
    <p:sldId id="337" r:id="rId52"/>
    <p:sldId id="338" r:id="rId53"/>
    <p:sldId id="339" r:id="rId54"/>
    <p:sldId id="340" r:id="rId55"/>
    <p:sldId id="341" r:id="rId56"/>
    <p:sldId id="342" r:id="rId57"/>
    <p:sldId id="343" r:id="rId58"/>
    <p:sldId id="331" r:id="rId59"/>
    <p:sldId id="332" r:id="rId60"/>
    <p:sldId id="344" r:id="rId61"/>
    <p:sldId id="345" r:id="rId62"/>
    <p:sldId id="346" r:id="rId63"/>
    <p:sldId id="347" r:id="rId64"/>
    <p:sldId id="348" r:id="rId65"/>
    <p:sldId id="349" r:id="rId66"/>
    <p:sldId id="350" r:id="rId67"/>
    <p:sldId id="351" r:id="rId68"/>
    <p:sldId id="352" r:id="rId69"/>
    <p:sldId id="353" r:id="rId70"/>
    <p:sldId id="354" r:id="rId71"/>
    <p:sldId id="355" r:id="rId72"/>
    <p:sldId id="356" r:id="rId73"/>
    <p:sldId id="357" r:id="rId74"/>
    <p:sldId id="358" r:id="rId75"/>
    <p:sldId id="333" r:id="rId76"/>
    <p:sldId id="359" r:id="rId77"/>
    <p:sldId id="360" r:id="rId78"/>
    <p:sldId id="361" r:id="rId79"/>
    <p:sldId id="283" r:id="rId8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503" autoAdjust="0"/>
  </p:normalViewPr>
  <p:slideViewPr>
    <p:cSldViewPr>
      <p:cViewPr varScale="1">
        <p:scale>
          <a:sx n="61" d="100"/>
          <a:sy n="61" d="100"/>
        </p:scale>
        <p:origin x="99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519CECF-F4F6-45BC-B2FA-7822371293F7}" type="datetimeFigureOut">
              <a:rPr lang="en-US" smtClean="0"/>
              <a:t>7/2/2024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B8E5D2B-157B-4E96-B66F-490EF3BEF551}" type="slidenum">
              <a:rPr lang="en-US" smtClean="0"/>
              <a:t>‹#›</a:t>
            </a:fld>
            <a:endParaRPr lang="en-US"/>
          </a:p>
        </p:txBody>
      </p:sp>
    </p:spTree>
    <p:extLst>
      <p:ext uri="{BB962C8B-B14F-4D97-AF65-F5344CB8AC3E}">
        <p14:creationId xmlns:p14="http://schemas.microsoft.com/office/powerpoint/2010/main" val="61435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E15520-4EE2-4EF3-9A95-6230A0EFFF7F}" type="slidenum">
              <a:rPr lang="en-US" smtClean="0"/>
              <a:t>63</a:t>
            </a:fld>
            <a:endParaRPr lang="en-US"/>
          </a:p>
        </p:txBody>
      </p:sp>
    </p:spTree>
    <p:extLst>
      <p:ext uri="{BB962C8B-B14F-4D97-AF65-F5344CB8AC3E}">
        <p14:creationId xmlns:p14="http://schemas.microsoft.com/office/powerpoint/2010/main" val="2802044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E15520-4EE2-4EF3-9A95-6230A0EFFF7F}" type="slidenum">
              <a:rPr lang="en-US" smtClean="0"/>
              <a:t>65</a:t>
            </a:fld>
            <a:endParaRPr lang="en-US"/>
          </a:p>
        </p:txBody>
      </p:sp>
    </p:spTree>
    <p:extLst>
      <p:ext uri="{BB962C8B-B14F-4D97-AF65-F5344CB8AC3E}">
        <p14:creationId xmlns:p14="http://schemas.microsoft.com/office/powerpoint/2010/main" val="3930192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BD2E56-2DFE-4970-B75D-C0743BE176F2}" type="slidenum">
              <a:rPr lang="en-US" smtClean="0"/>
              <a:t>72</a:t>
            </a:fld>
            <a:endParaRPr lang="en-US"/>
          </a:p>
        </p:txBody>
      </p:sp>
    </p:spTree>
    <p:extLst>
      <p:ext uri="{BB962C8B-B14F-4D97-AF65-F5344CB8AC3E}">
        <p14:creationId xmlns:p14="http://schemas.microsoft.com/office/powerpoint/2010/main" val="3247748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BD2E56-2DFE-4970-B75D-C0743BE176F2}" type="slidenum">
              <a:rPr lang="en-US" smtClean="0"/>
              <a:t>75</a:t>
            </a:fld>
            <a:endParaRPr lang="en-US"/>
          </a:p>
        </p:txBody>
      </p:sp>
    </p:spTree>
    <p:extLst>
      <p:ext uri="{BB962C8B-B14F-4D97-AF65-F5344CB8AC3E}">
        <p14:creationId xmlns:p14="http://schemas.microsoft.com/office/powerpoint/2010/main" val="1244743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09728"/>
            <a:ext cx="12192000" cy="6748268"/>
          </a:xfrm>
          <a:prstGeom prst="rect">
            <a:avLst/>
          </a:prstGeom>
        </p:spPr>
      </p:pic>
      <p:sp>
        <p:nvSpPr>
          <p:cNvPr id="17" name="bg object 17"/>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2" name="Holder 2"/>
          <p:cNvSpPr>
            <a:spLocks noGrp="1"/>
          </p:cNvSpPr>
          <p:nvPr>
            <p:ph type="ctrTitle"/>
          </p:nvPr>
        </p:nvSpPr>
        <p:spPr>
          <a:xfrm>
            <a:off x="5047106" y="3078556"/>
            <a:ext cx="2097786" cy="560070"/>
          </a:xfrm>
          <a:prstGeom prst="rect">
            <a:avLst/>
          </a:prstGeom>
        </p:spPr>
        <p:txBody>
          <a:bodyPr wrap="square" lIns="0" tIns="0" rIns="0" bIns="0">
            <a:spAutoFit/>
          </a:bodyPr>
          <a:lstStyle>
            <a:lvl1pPr>
              <a:defRPr sz="35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4000" y="6361176"/>
            <a:ext cx="9144000" cy="497205"/>
          </a:xfrm>
          <a:custGeom>
            <a:avLst/>
            <a:gdLst/>
            <a:ahLst/>
            <a:cxnLst/>
            <a:rect l="l" t="t" r="r" b="b"/>
            <a:pathLst>
              <a:path w="9144000" h="497204">
                <a:moveTo>
                  <a:pt x="0" y="496824"/>
                </a:moveTo>
                <a:lnTo>
                  <a:pt x="9144000" y="496824"/>
                </a:lnTo>
                <a:lnTo>
                  <a:pt x="9144000" y="0"/>
                </a:lnTo>
                <a:lnTo>
                  <a:pt x="0" y="0"/>
                </a:lnTo>
                <a:lnTo>
                  <a:pt x="0" y="496824"/>
                </a:lnTo>
                <a:close/>
              </a:path>
            </a:pathLst>
          </a:custGeom>
          <a:solidFill>
            <a:srgbClr val="1F487C"/>
          </a:solidFill>
        </p:spPr>
        <p:txBody>
          <a:bodyPr wrap="square" lIns="0" tIns="0" rIns="0" bIns="0" rtlCol="0"/>
          <a:lstStyle/>
          <a:p>
            <a:endParaRPr/>
          </a:p>
        </p:txBody>
      </p:sp>
      <p:sp>
        <p:nvSpPr>
          <p:cNvPr id="17" name="bg object 17"/>
          <p:cNvSpPr/>
          <p:nvPr/>
        </p:nvSpPr>
        <p:spPr>
          <a:xfrm>
            <a:off x="1524000" y="3215639"/>
            <a:ext cx="9144000" cy="2788920"/>
          </a:xfrm>
          <a:custGeom>
            <a:avLst/>
            <a:gdLst/>
            <a:ahLst/>
            <a:cxnLst/>
            <a:rect l="l" t="t" r="r" b="b"/>
            <a:pathLst>
              <a:path w="9144000" h="2788920">
                <a:moveTo>
                  <a:pt x="0" y="2788920"/>
                </a:moveTo>
                <a:lnTo>
                  <a:pt x="9144000" y="2788920"/>
                </a:lnTo>
                <a:lnTo>
                  <a:pt x="9144000" y="0"/>
                </a:lnTo>
                <a:lnTo>
                  <a:pt x="0" y="0"/>
                </a:lnTo>
                <a:lnTo>
                  <a:pt x="0" y="2788920"/>
                </a:lnTo>
                <a:close/>
              </a:path>
            </a:pathLst>
          </a:custGeom>
          <a:solidFill>
            <a:srgbClr val="1F487C"/>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2743200" y="362711"/>
            <a:ext cx="6705600" cy="2855976"/>
          </a:xfrm>
          <a:prstGeom prst="rect">
            <a:avLst/>
          </a:prstGeom>
        </p:spPr>
      </p:pic>
      <p:pic>
        <p:nvPicPr>
          <p:cNvPr id="19" name="bg object 19"/>
          <p:cNvPicPr/>
          <p:nvPr/>
        </p:nvPicPr>
        <p:blipFill>
          <a:blip r:embed="rId3" cstate="print"/>
          <a:stretch>
            <a:fillRect/>
          </a:stretch>
        </p:blipFill>
        <p:spPr>
          <a:xfrm>
            <a:off x="3956304" y="4002023"/>
            <a:ext cx="4279392" cy="569976"/>
          </a:xfrm>
          <a:prstGeom prst="rect">
            <a:avLst/>
          </a:prstGeom>
        </p:spPr>
      </p:pic>
      <p:pic>
        <p:nvPicPr>
          <p:cNvPr id="20" name="bg object 20"/>
          <p:cNvPicPr/>
          <p:nvPr/>
        </p:nvPicPr>
        <p:blipFill>
          <a:blip r:embed="rId4" cstate="print"/>
          <a:stretch>
            <a:fillRect/>
          </a:stretch>
        </p:blipFill>
        <p:spPr>
          <a:xfrm>
            <a:off x="4562855" y="4946903"/>
            <a:ext cx="3066288" cy="25908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7"/>
          </a:xfrm>
          <a:prstGeom prst="rect">
            <a:avLst/>
          </a:prstGeom>
        </p:spPr>
      </p:pic>
      <p:sp>
        <p:nvSpPr>
          <p:cNvPr id="2" name="Holder 2"/>
          <p:cNvSpPr>
            <a:spLocks noGrp="1"/>
          </p:cNvSpPr>
          <p:nvPr>
            <p:ph type="title"/>
          </p:nvPr>
        </p:nvSpPr>
        <p:spPr>
          <a:xfrm>
            <a:off x="3810889" y="1479245"/>
            <a:ext cx="4570221" cy="560069"/>
          </a:xfrm>
          <a:prstGeom prst="rect">
            <a:avLst/>
          </a:prstGeom>
        </p:spPr>
        <p:txBody>
          <a:bodyPr wrap="square" lIns="0" tIns="0" rIns="0" bIns="0">
            <a:spAutoFit/>
          </a:bodyPr>
          <a:lstStyle>
            <a:lvl1pPr>
              <a:defRPr sz="3500" b="1" i="0">
                <a:solidFill>
                  <a:schemeClr val="tx1"/>
                </a:solidFill>
                <a:latin typeface="Calibri"/>
                <a:cs typeface="Calibri"/>
              </a:defRPr>
            </a:lvl1pPr>
          </a:lstStyle>
          <a:p>
            <a:endParaRPr/>
          </a:p>
        </p:txBody>
      </p:sp>
      <p:sp>
        <p:nvSpPr>
          <p:cNvPr id="3" name="Holder 3"/>
          <p:cNvSpPr>
            <a:spLocks noGrp="1"/>
          </p:cNvSpPr>
          <p:nvPr>
            <p:ph type="body" idx="1"/>
          </p:nvPr>
        </p:nvSpPr>
        <p:spPr>
          <a:xfrm>
            <a:off x="932688" y="3358896"/>
            <a:ext cx="10326623" cy="21399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7/2/2024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www.paruluniversity.ac.in/"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7"/>
          </a:xfrm>
          <a:prstGeom prst="rect">
            <a:avLst/>
          </a:prstGeom>
        </p:spPr>
      </p:pic>
      <p:sp>
        <p:nvSpPr>
          <p:cNvPr id="3" name="object 3"/>
          <p:cNvSpPr txBox="1">
            <a:spLocks noGrp="1"/>
          </p:cNvSpPr>
          <p:nvPr>
            <p:ph type="title"/>
          </p:nvPr>
        </p:nvSpPr>
        <p:spPr>
          <a:xfrm>
            <a:off x="3733800" y="1662468"/>
            <a:ext cx="5790311" cy="1090683"/>
          </a:xfrm>
          <a:prstGeom prst="rect">
            <a:avLst/>
          </a:prstGeom>
        </p:spPr>
        <p:txBody>
          <a:bodyPr vert="horz" wrap="square" lIns="0" tIns="13335" rIns="0" bIns="0" rtlCol="0">
            <a:spAutoFit/>
          </a:bodyPr>
          <a:lstStyle/>
          <a:p>
            <a:pPr marL="12700" algn="ctr">
              <a:lnSpc>
                <a:spcPct val="100000"/>
              </a:lnSpc>
              <a:spcBef>
                <a:spcPts val="105"/>
              </a:spcBef>
            </a:pPr>
            <a:r>
              <a:rPr lang="en-IN" spc="-5" dirty="0"/>
              <a:t>Artificial Intelligence</a:t>
            </a:r>
            <a:br>
              <a:rPr lang="en-IN" spc="-5" dirty="0"/>
            </a:br>
            <a:r>
              <a:rPr lang="en-IN" spc="-5" dirty="0"/>
              <a:t>303105307</a:t>
            </a:r>
            <a:endParaRPr lang="en-IN" spc="-10" dirty="0"/>
          </a:p>
        </p:txBody>
      </p:sp>
      <p:sp>
        <p:nvSpPr>
          <p:cNvPr id="4" name="object 4"/>
          <p:cNvSpPr txBox="1"/>
          <p:nvPr/>
        </p:nvSpPr>
        <p:spPr>
          <a:xfrm>
            <a:off x="3896359" y="2870149"/>
            <a:ext cx="4403090" cy="352661"/>
          </a:xfrm>
          <a:prstGeom prst="rect">
            <a:avLst/>
          </a:prstGeom>
        </p:spPr>
        <p:txBody>
          <a:bodyPr vert="horz" wrap="square" lIns="0" tIns="13970" rIns="0" bIns="0" rtlCol="0">
            <a:spAutoFit/>
          </a:bodyPr>
          <a:lstStyle/>
          <a:p>
            <a:pPr algn="ctr">
              <a:lnSpc>
                <a:spcPct val="100000"/>
              </a:lnSpc>
            </a:pPr>
            <a:r>
              <a:rPr sz="2200" b="1" dirty="0">
                <a:latin typeface="Calibri"/>
                <a:cs typeface="Calibri"/>
              </a:rPr>
              <a:t>Computer</a:t>
            </a:r>
            <a:r>
              <a:rPr sz="2200" b="1" spc="-50" dirty="0">
                <a:latin typeface="Calibri"/>
                <a:cs typeface="Calibri"/>
              </a:rPr>
              <a:t> </a:t>
            </a:r>
            <a:r>
              <a:rPr sz="2200" b="1" dirty="0">
                <a:latin typeface="Calibri"/>
                <a:cs typeface="Calibri"/>
              </a:rPr>
              <a:t>Science</a:t>
            </a:r>
            <a:r>
              <a:rPr sz="2200" b="1" spc="-50" dirty="0">
                <a:latin typeface="Calibri"/>
                <a:cs typeface="Calibri"/>
              </a:rPr>
              <a:t> </a:t>
            </a:r>
            <a:r>
              <a:rPr sz="2200" b="1" spc="5" dirty="0">
                <a:latin typeface="Calibri"/>
                <a:cs typeface="Calibri"/>
              </a:rPr>
              <a:t>&amp;</a:t>
            </a:r>
            <a:r>
              <a:rPr sz="2200" b="1" spc="-5" dirty="0">
                <a:latin typeface="Calibri"/>
                <a:cs typeface="Calibri"/>
              </a:rPr>
              <a:t> Engineering</a:t>
            </a:r>
            <a:endParaRPr sz="2200" b="1" dirty="0">
              <a:latin typeface="Calibri"/>
              <a:cs typeface="Calibri"/>
            </a:endParaRPr>
          </a:p>
        </p:txBody>
      </p:sp>
      <p:grpSp>
        <p:nvGrpSpPr>
          <p:cNvPr id="5" name="object 5"/>
          <p:cNvGrpSpPr/>
          <p:nvPr/>
        </p:nvGrpSpPr>
        <p:grpSpPr>
          <a:xfrm>
            <a:off x="1886711" y="499872"/>
            <a:ext cx="8415655" cy="2286000"/>
            <a:chOff x="1886711" y="499872"/>
            <a:chExt cx="8415655" cy="2286000"/>
          </a:xfrm>
        </p:grpSpPr>
        <p:pic>
          <p:nvPicPr>
            <p:cNvPr id="6" name="object 6"/>
            <p:cNvPicPr/>
            <p:nvPr/>
          </p:nvPicPr>
          <p:blipFill>
            <a:blip r:embed="rId3" cstate="print"/>
            <a:stretch>
              <a:fillRect/>
            </a:stretch>
          </p:blipFill>
          <p:spPr>
            <a:xfrm>
              <a:off x="4507991" y="499872"/>
              <a:ext cx="3176016" cy="627888"/>
            </a:xfrm>
            <a:prstGeom prst="rect">
              <a:avLst/>
            </a:prstGeom>
          </p:spPr>
        </p:pic>
        <p:sp>
          <p:nvSpPr>
            <p:cNvPr id="7" name="object 7"/>
            <p:cNvSpPr/>
            <p:nvPr/>
          </p:nvSpPr>
          <p:spPr>
            <a:xfrm>
              <a:off x="1891283" y="2738627"/>
              <a:ext cx="8382000" cy="3175"/>
            </a:xfrm>
            <a:custGeom>
              <a:avLst/>
              <a:gdLst/>
              <a:ahLst/>
              <a:cxnLst/>
              <a:rect l="l" t="t" r="r" b="b"/>
              <a:pathLst>
                <a:path w="8382000" h="3175">
                  <a:moveTo>
                    <a:pt x="0" y="0"/>
                  </a:moveTo>
                  <a:lnTo>
                    <a:pt x="8382000" y="3048"/>
                  </a:lnTo>
                </a:path>
              </a:pathLst>
            </a:custGeom>
            <a:ln w="9144">
              <a:solidFill>
                <a:srgbClr val="000000"/>
              </a:solidFill>
            </a:ln>
          </p:spPr>
          <p:txBody>
            <a:bodyPr wrap="square" lIns="0" tIns="0" rIns="0" bIns="0" rtlCol="0"/>
            <a:lstStyle/>
            <a:p>
              <a:endParaRPr/>
            </a:p>
          </p:txBody>
        </p:sp>
        <p:pic>
          <p:nvPicPr>
            <p:cNvPr id="8" name="object 8"/>
            <p:cNvPicPr/>
            <p:nvPr/>
          </p:nvPicPr>
          <p:blipFill>
            <a:blip r:embed="rId4" cstate="print"/>
            <a:stretch>
              <a:fillRect/>
            </a:stretch>
          </p:blipFill>
          <p:spPr>
            <a:xfrm>
              <a:off x="1889759" y="2691383"/>
              <a:ext cx="124967" cy="94487"/>
            </a:xfrm>
            <a:prstGeom prst="rect">
              <a:avLst/>
            </a:prstGeom>
          </p:spPr>
        </p:pic>
        <p:pic>
          <p:nvPicPr>
            <p:cNvPr id="9" name="object 9"/>
            <p:cNvPicPr/>
            <p:nvPr/>
          </p:nvPicPr>
          <p:blipFill>
            <a:blip r:embed="rId4" cstate="print"/>
            <a:stretch>
              <a:fillRect/>
            </a:stretch>
          </p:blipFill>
          <p:spPr>
            <a:xfrm>
              <a:off x="10177271" y="2691383"/>
              <a:ext cx="124968" cy="94487"/>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7997"/>
            <a:chOff x="0" y="0"/>
            <a:chExt cx="12192000" cy="6857997"/>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2478023" y="2572511"/>
              <a:ext cx="7239000" cy="2804160"/>
            </a:xfrm>
            <a:prstGeom prst="rect">
              <a:avLst/>
            </a:prstGeom>
          </p:spPr>
        </p:pic>
        <p:sp>
          <p:nvSpPr>
            <p:cNvPr id="5" name="object 5"/>
            <p:cNvSpPr/>
            <p:nvPr/>
          </p:nvSpPr>
          <p:spPr>
            <a:xfrm>
              <a:off x="0" y="3715510"/>
              <a:ext cx="12192000" cy="1999490"/>
            </a:xfrm>
            <a:custGeom>
              <a:avLst/>
              <a:gdLst/>
              <a:ahLst/>
              <a:cxnLst/>
              <a:rect l="l" t="t" r="r" b="b"/>
              <a:pathLst>
                <a:path w="12192000" h="713739">
                  <a:moveTo>
                    <a:pt x="12192000" y="0"/>
                  </a:moveTo>
                  <a:lnTo>
                    <a:pt x="0" y="0"/>
                  </a:lnTo>
                  <a:lnTo>
                    <a:pt x="0" y="713232"/>
                  </a:lnTo>
                  <a:lnTo>
                    <a:pt x="12192000" y="713232"/>
                  </a:lnTo>
                  <a:lnTo>
                    <a:pt x="12192000" y="0"/>
                  </a:lnTo>
                  <a:close/>
                </a:path>
              </a:pathLst>
            </a:custGeom>
            <a:solidFill>
              <a:srgbClr val="1F487C"/>
            </a:solidFill>
          </p:spPr>
          <p:txBody>
            <a:bodyPr wrap="square" lIns="0" tIns="0" rIns="0" bIns="0" rtlCol="0"/>
            <a:lstStyle/>
            <a:p>
              <a:endParaRPr/>
            </a:p>
          </p:txBody>
        </p:sp>
      </p:grpSp>
      <p:sp>
        <p:nvSpPr>
          <p:cNvPr id="6" name="object 6"/>
          <p:cNvSpPr txBox="1"/>
          <p:nvPr/>
        </p:nvSpPr>
        <p:spPr>
          <a:xfrm>
            <a:off x="1049422" y="3715510"/>
            <a:ext cx="7789778" cy="1654940"/>
          </a:xfrm>
          <a:prstGeom prst="rect">
            <a:avLst/>
          </a:prstGeom>
        </p:spPr>
        <p:txBody>
          <a:bodyPr vert="horz" wrap="square" lIns="0" tIns="13335" rIns="0" bIns="0" rtlCol="0">
            <a:spAutoFit/>
          </a:bodyPr>
          <a:lstStyle/>
          <a:p>
            <a:pPr marL="12700" algn="ctr">
              <a:lnSpc>
                <a:spcPct val="100000"/>
              </a:lnSpc>
              <a:spcBef>
                <a:spcPts val="105"/>
              </a:spcBef>
            </a:pPr>
            <a:r>
              <a:rPr lang="en-IN" sz="3500" b="1" spc="-5" dirty="0">
                <a:solidFill>
                  <a:srgbClr val="FFFFFF"/>
                </a:solidFill>
                <a:cs typeface="Calibri"/>
              </a:rPr>
              <a:t>Topic-3.1</a:t>
            </a:r>
          </a:p>
          <a:p>
            <a:pPr marL="469900" indent="-457200">
              <a:lnSpc>
                <a:spcPct val="100000"/>
              </a:lnSpc>
              <a:spcBef>
                <a:spcPts val="105"/>
              </a:spcBef>
              <a:buFont typeface="Wingdings" panose="05000000000000000000" pitchFamily="2" charset="2"/>
              <a:buChar char="§"/>
            </a:pPr>
            <a:r>
              <a:rPr lang="en-IN" sz="3500" b="1" spc="-5" dirty="0">
                <a:solidFill>
                  <a:srgbClr val="FFFFFF"/>
                </a:solidFill>
                <a:cs typeface="Calibri"/>
              </a:rPr>
              <a:t>Knowledge Representation</a:t>
            </a:r>
          </a:p>
          <a:p>
            <a:pPr marL="469900" indent="-457200">
              <a:lnSpc>
                <a:spcPct val="100000"/>
              </a:lnSpc>
              <a:spcBef>
                <a:spcPts val="105"/>
              </a:spcBef>
              <a:buFont typeface="Wingdings" panose="05000000000000000000" pitchFamily="2" charset="2"/>
              <a:buChar char="§"/>
            </a:pPr>
            <a:r>
              <a:rPr lang="en-IN" sz="3500" b="1" spc="-5" dirty="0">
                <a:solidFill>
                  <a:srgbClr val="FFFFFF"/>
                </a:solidFill>
                <a:cs typeface="Calibri"/>
              </a:rPr>
              <a:t>Representation and Mappings</a:t>
            </a:r>
            <a:endParaRPr lang="en-IN" sz="3500" dirty="0">
              <a:latin typeface="Calibri"/>
              <a:cs typeface="Calibri"/>
            </a:endParaRPr>
          </a:p>
        </p:txBody>
      </p:sp>
      <p:sp>
        <p:nvSpPr>
          <p:cNvPr id="10" name="object 7">
            <a:extLst>
              <a:ext uri="{FF2B5EF4-FFF2-40B4-BE49-F238E27FC236}">
                <a16:creationId xmlns:a16="http://schemas.microsoft.com/office/drawing/2014/main" id="{D1623527-2710-40EF-8319-8A2C601DFEF9}"/>
              </a:ext>
            </a:extLst>
          </p:cNvPr>
          <p:cNvSpPr txBox="1">
            <a:spLocks/>
          </p:cNvSpPr>
          <p:nvPr/>
        </p:nvSpPr>
        <p:spPr>
          <a:xfrm>
            <a:off x="3247697" y="2234182"/>
            <a:ext cx="5562600" cy="995785"/>
          </a:xfrm>
          <a:prstGeom prst="rect">
            <a:avLst/>
          </a:prstGeom>
        </p:spPr>
        <p:txBody>
          <a:bodyPr vert="horz" wrap="square" lIns="0" tIns="13335" rIns="0" bIns="0" rtlCol="0">
            <a:spAutoFit/>
          </a:bodyPr>
          <a:lstStyle>
            <a:lvl1pPr>
              <a:defRPr sz="3500" b="1" i="0">
                <a:solidFill>
                  <a:schemeClr val="tx1"/>
                </a:solidFill>
                <a:latin typeface="Calibri"/>
                <a:ea typeface="+mj-ea"/>
                <a:cs typeface="Calibri"/>
              </a:defRPr>
            </a:lvl1pPr>
          </a:lstStyle>
          <a:p>
            <a:pPr marL="13970" algn="ctr">
              <a:spcBef>
                <a:spcPts val="105"/>
              </a:spcBef>
            </a:pPr>
            <a:r>
              <a:rPr lang="en-US" sz="2800" kern="0" spc="-5" dirty="0"/>
              <a:t>CHAPTER-3</a:t>
            </a:r>
          </a:p>
          <a:p>
            <a:pPr marL="13970" algn="ctr">
              <a:spcBef>
                <a:spcPts val="105"/>
              </a:spcBef>
            </a:pPr>
            <a:r>
              <a:rPr lang="en-US" kern="0" spc="-5" dirty="0"/>
              <a:t> Knowledge Representation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2943" y="2243250"/>
            <a:ext cx="7096125" cy="2305118"/>
          </a:xfrm>
          <a:prstGeom prst="rect">
            <a:avLst/>
          </a:prstGeom>
        </p:spPr>
        <p:txBody>
          <a:bodyPr vert="horz" wrap="square" lIns="0" tIns="73025" rIns="0" bIns="0" rtlCol="0">
            <a:spAutoFit/>
          </a:bodyPr>
          <a:lstStyle/>
          <a:p>
            <a:pPr marL="101600" indent="-89535">
              <a:lnSpc>
                <a:spcPct val="100000"/>
              </a:lnSpc>
              <a:spcBef>
                <a:spcPts val="575"/>
              </a:spcBef>
              <a:buSzPct val="95000"/>
              <a:buFont typeface="Arial MT"/>
              <a:buChar char="•"/>
              <a:tabLst>
                <a:tab pos="102235" algn="l"/>
              </a:tabLst>
            </a:pPr>
            <a:r>
              <a:rPr lang="en-IN" sz="2000" b="1" spc="-10" dirty="0">
                <a:latin typeface="Calibri"/>
                <a:cs typeface="Calibri"/>
              </a:rPr>
              <a:t>Basic concepts of knowledge representation</a:t>
            </a:r>
          </a:p>
          <a:p>
            <a:pPr marL="101600" indent="-89535">
              <a:lnSpc>
                <a:spcPct val="100000"/>
              </a:lnSpc>
              <a:spcBef>
                <a:spcPts val="575"/>
              </a:spcBef>
              <a:buSzPct val="95000"/>
              <a:buFont typeface="Arial MT"/>
              <a:buChar char="•"/>
              <a:tabLst>
                <a:tab pos="102235" algn="l"/>
              </a:tabLst>
            </a:pPr>
            <a:r>
              <a:rPr lang="en-IN" sz="2000" b="1" spc="-10" dirty="0">
                <a:cs typeface="Calibri"/>
              </a:rPr>
              <a:t>Different Types of Knowledge</a:t>
            </a:r>
          </a:p>
          <a:p>
            <a:pPr marL="101600" indent="-89535">
              <a:spcBef>
                <a:spcPts val="575"/>
              </a:spcBef>
              <a:buSzPct val="95000"/>
              <a:buFont typeface="Arial MT"/>
              <a:buChar char="•"/>
              <a:tabLst>
                <a:tab pos="102235" algn="l"/>
              </a:tabLst>
            </a:pPr>
            <a:r>
              <a:rPr lang="en-IN" sz="2000" b="1" spc="-10" dirty="0">
                <a:cs typeface="Calibri"/>
              </a:rPr>
              <a:t>Representation Requirements</a:t>
            </a:r>
          </a:p>
          <a:p>
            <a:pPr marL="101600" indent="-89535">
              <a:lnSpc>
                <a:spcPct val="100000"/>
              </a:lnSpc>
              <a:spcBef>
                <a:spcPts val="575"/>
              </a:spcBef>
              <a:buSzPct val="95000"/>
              <a:buFont typeface="Arial MT"/>
              <a:buChar char="•"/>
              <a:tabLst>
                <a:tab pos="102235" algn="l"/>
              </a:tabLst>
            </a:pPr>
            <a:r>
              <a:rPr lang="en-US" sz="2000" b="1" spc="-10" dirty="0">
                <a:cs typeface="Calibri"/>
              </a:rPr>
              <a:t>Cycle of Knowledge Representation in AI</a:t>
            </a:r>
          </a:p>
          <a:p>
            <a:pPr marL="101600" indent="-89535">
              <a:lnSpc>
                <a:spcPct val="100000"/>
              </a:lnSpc>
              <a:spcBef>
                <a:spcPts val="575"/>
              </a:spcBef>
              <a:buSzPct val="95000"/>
              <a:buFont typeface="Arial MT"/>
              <a:buChar char="•"/>
              <a:tabLst>
                <a:tab pos="102235" algn="l"/>
              </a:tabLst>
            </a:pPr>
            <a:r>
              <a:rPr lang="en-US" sz="2000" b="1" spc="-10" dirty="0">
                <a:cs typeface="Calibri"/>
              </a:rPr>
              <a:t>Techniques of Knowledge Representation in AI</a:t>
            </a:r>
          </a:p>
          <a:p>
            <a:pPr marL="101600" indent="-89535">
              <a:lnSpc>
                <a:spcPct val="100000"/>
              </a:lnSpc>
              <a:spcBef>
                <a:spcPts val="575"/>
              </a:spcBef>
              <a:buSzPct val="95000"/>
              <a:buFont typeface="Arial MT"/>
              <a:buChar char="•"/>
              <a:tabLst>
                <a:tab pos="102235" algn="l"/>
              </a:tabLst>
            </a:pPr>
            <a:r>
              <a:rPr lang="en-IN" sz="2000" b="1" spc="-10" dirty="0">
                <a:cs typeface="Calibri"/>
              </a:rPr>
              <a:t>Representations and Mappings	</a:t>
            </a:r>
            <a:endParaRPr lang="en-IN" sz="2000" b="1" spc="-10" dirty="0">
              <a:latin typeface="Calibri"/>
              <a:cs typeface="Calibri"/>
            </a:endParaRPr>
          </a:p>
        </p:txBody>
      </p:sp>
      <p:sp>
        <p:nvSpPr>
          <p:cNvPr id="3" name="object 3"/>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4" name="object 4"/>
          <p:cNvSpPr txBox="1">
            <a:spLocks noGrp="1"/>
          </p:cNvSpPr>
          <p:nvPr>
            <p:ph type="title"/>
          </p:nvPr>
        </p:nvSpPr>
        <p:spPr>
          <a:xfrm>
            <a:off x="332943" y="1697227"/>
            <a:ext cx="1525270" cy="512445"/>
          </a:xfrm>
          <a:prstGeom prst="rect">
            <a:avLst/>
          </a:prstGeom>
        </p:spPr>
        <p:txBody>
          <a:bodyPr vert="horz" wrap="square" lIns="0" tIns="11430" rIns="0" bIns="0" rtlCol="0">
            <a:spAutoFit/>
          </a:bodyPr>
          <a:lstStyle/>
          <a:p>
            <a:pPr marL="12700">
              <a:lnSpc>
                <a:spcPct val="100000"/>
              </a:lnSpc>
              <a:spcBef>
                <a:spcPts val="90"/>
              </a:spcBef>
            </a:pPr>
            <a:r>
              <a:rPr sz="3200" spc="-25" dirty="0">
                <a:solidFill>
                  <a:srgbClr val="FFFFFF"/>
                </a:solidFill>
              </a:rPr>
              <a:t>Contents</a:t>
            </a:r>
            <a:endParaRPr sz="3200"/>
          </a:p>
        </p:txBody>
      </p:sp>
      <p:sp>
        <p:nvSpPr>
          <p:cNvPr id="5" name="object 5"/>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2491418"/>
            <a:ext cx="11658600" cy="4228722"/>
          </a:xfrm>
          <a:prstGeom prst="rect">
            <a:avLst/>
          </a:prstGeom>
        </p:spPr>
        <p:txBody>
          <a:bodyPr vert="horz" wrap="square" lIns="0" tIns="73025" rIns="0" bIns="0" rtlCol="0">
            <a:spAutoFit/>
          </a:bodyPr>
          <a:lstStyle/>
          <a:p>
            <a:pPr marL="101600" indent="-89535">
              <a:lnSpc>
                <a:spcPct val="100000"/>
              </a:lnSpc>
              <a:spcBef>
                <a:spcPts val="575"/>
              </a:spcBef>
              <a:buSzPct val="95000"/>
              <a:buFont typeface="Arial MT"/>
              <a:buChar char="•"/>
              <a:tabLst>
                <a:tab pos="102235" algn="l"/>
              </a:tabLst>
            </a:pPr>
            <a:r>
              <a:rPr lang="en-IN" sz="2000" dirty="0">
                <a:latin typeface="+mj-lt"/>
                <a:cs typeface="Calibri"/>
              </a:rPr>
              <a:t>Knowledge Representation in AI describes the representation of knowledge. Basically, it is a study of how the beliefs, intentions, and judgments of an intelligent agent can be expressed suitably for automated reasoning. One of the primary purposes of Knowledge Representation includes modelling intelligent behaviour for an agent.</a:t>
            </a:r>
          </a:p>
          <a:p>
            <a:pPr marL="101600" indent="-89535">
              <a:lnSpc>
                <a:spcPct val="100000"/>
              </a:lnSpc>
              <a:spcBef>
                <a:spcPts val="575"/>
              </a:spcBef>
              <a:buSzPct val="95000"/>
              <a:buFont typeface="Arial MT"/>
              <a:buChar char="•"/>
              <a:tabLst>
                <a:tab pos="102235" algn="l"/>
              </a:tabLst>
            </a:pPr>
            <a:r>
              <a:rPr lang="en-IN" sz="2000" dirty="0">
                <a:latin typeface="+mj-lt"/>
              </a:rPr>
              <a:t>The different kinds of knowledge that need to be represented in AI include:</a:t>
            </a:r>
          </a:p>
          <a:p>
            <a:endParaRPr lang="en-IN" sz="2000" dirty="0">
              <a:latin typeface="+mj-lt"/>
            </a:endParaRPr>
          </a:p>
          <a:p>
            <a:pPr marL="800100" lvl="1" indent="-342900">
              <a:buFont typeface="Wingdings" panose="05000000000000000000" pitchFamily="2" charset="2"/>
              <a:buChar char="ü"/>
            </a:pPr>
            <a:r>
              <a:rPr lang="en-IN" sz="2000" dirty="0">
                <a:latin typeface="+mj-lt"/>
              </a:rPr>
              <a:t>Objects</a:t>
            </a:r>
          </a:p>
          <a:p>
            <a:pPr marL="800100" lvl="1" indent="-342900">
              <a:buFont typeface="Wingdings" panose="05000000000000000000" pitchFamily="2" charset="2"/>
              <a:buChar char="ü"/>
            </a:pPr>
            <a:r>
              <a:rPr lang="en-IN" sz="2000" dirty="0">
                <a:latin typeface="+mj-lt"/>
              </a:rPr>
              <a:t>Events</a:t>
            </a:r>
          </a:p>
          <a:p>
            <a:pPr marL="800100" lvl="1" indent="-342900">
              <a:buFont typeface="Wingdings" panose="05000000000000000000" pitchFamily="2" charset="2"/>
              <a:buChar char="ü"/>
            </a:pPr>
            <a:r>
              <a:rPr lang="en-IN" sz="2000" dirty="0">
                <a:latin typeface="+mj-lt"/>
              </a:rPr>
              <a:t>Performance</a:t>
            </a:r>
          </a:p>
          <a:p>
            <a:pPr marL="800100" lvl="1" indent="-342900">
              <a:buFont typeface="Wingdings" panose="05000000000000000000" pitchFamily="2" charset="2"/>
              <a:buChar char="ü"/>
            </a:pPr>
            <a:r>
              <a:rPr lang="en-IN" sz="2000" dirty="0">
                <a:latin typeface="+mj-lt"/>
              </a:rPr>
              <a:t>Facts</a:t>
            </a:r>
          </a:p>
          <a:p>
            <a:pPr marL="800100" lvl="1" indent="-342900">
              <a:buFont typeface="Wingdings" panose="05000000000000000000" pitchFamily="2" charset="2"/>
              <a:buChar char="ü"/>
            </a:pPr>
            <a:r>
              <a:rPr lang="en-IN" sz="2000" dirty="0">
                <a:latin typeface="+mj-lt"/>
              </a:rPr>
              <a:t>Meta-Knowledge</a:t>
            </a:r>
          </a:p>
          <a:p>
            <a:pPr marL="800100" lvl="1" indent="-342900">
              <a:buFont typeface="Wingdings" panose="05000000000000000000" pitchFamily="2" charset="2"/>
              <a:buChar char="ü"/>
            </a:pPr>
            <a:r>
              <a:rPr lang="en-IN" sz="2000" dirty="0">
                <a:latin typeface="+mj-lt"/>
              </a:rPr>
              <a:t>Knowledge-base</a:t>
            </a:r>
          </a:p>
          <a:p>
            <a:pPr marL="101600" indent="-89535">
              <a:lnSpc>
                <a:spcPct val="100000"/>
              </a:lnSpc>
              <a:spcBef>
                <a:spcPts val="575"/>
              </a:spcBef>
              <a:buSzPct val="95000"/>
              <a:buFont typeface="Arial MT"/>
              <a:buChar char="•"/>
              <a:tabLst>
                <a:tab pos="102235" algn="l"/>
              </a:tabLst>
            </a:pPr>
            <a:endParaRPr sz="2000" dirty="0">
              <a:latin typeface="Calibri"/>
              <a:cs typeface="Calibri"/>
            </a:endParaRPr>
          </a:p>
        </p:txBody>
      </p:sp>
      <p:sp>
        <p:nvSpPr>
          <p:cNvPr id="3" name="object 3"/>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4" name="object 4"/>
          <p:cNvSpPr txBox="1">
            <a:spLocks noGrp="1"/>
          </p:cNvSpPr>
          <p:nvPr>
            <p:ph type="title"/>
          </p:nvPr>
        </p:nvSpPr>
        <p:spPr>
          <a:xfrm>
            <a:off x="152400" y="1652250"/>
            <a:ext cx="12039600"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Basic concepts</a:t>
            </a:r>
            <a:endParaRPr lang="en-IN"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2360" y="2394331"/>
            <a:ext cx="4550410" cy="329565"/>
          </a:xfrm>
          <a:prstGeom prst="rect">
            <a:avLst/>
          </a:prstGeom>
        </p:spPr>
        <p:txBody>
          <a:bodyPr vert="horz" wrap="square" lIns="0" tIns="11430" rIns="0" bIns="0" rtlCol="0">
            <a:spAutoFit/>
          </a:bodyPr>
          <a:lstStyle/>
          <a:p>
            <a:pPr marL="12700">
              <a:lnSpc>
                <a:spcPct val="100000"/>
              </a:lnSpc>
              <a:spcBef>
                <a:spcPts val="90"/>
              </a:spcBef>
            </a:pPr>
            <a:r>
              <a:rPr lang="en-IN" sz="2000" spc="-20" dirty="0">
                <a:latin typeface="Calibri"/>
                <a:cs typeface="Calibri"/>
              </a:rPr>
              <a:t>There are 5 types of Knowledge such as:</a:t>
            </a:r>
            <a:endParaRPr lang="en-IN" sz="2000" dirty="0">
              <a:latin typeface="Calibri"/>
              <a:cs typeface="Calibri"/>
            </a:endParaRPr>
          </a:p>
        </p:txBody>
      </p:sp>
      <p:sp>
        <p:nvSpPr>
          <p:cNvPr id="4" name="object 4"/>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5" name="object 5"/>
          <p:cNvSpPr txBox="1">
            <a:spLocks noGrp="1"/>
          </p:cNvSpPr>
          <p:nvPr>
            <p:ph type="title"/>
          </p:nvPr>
        </p:nvSpPr>
        <p:spPr>
          <a:xfrm>
            <a:off x="332942" y="1697227"/>
            <a:ext cx="78966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Different Types of Knowledge</a:t>
            </a:r>
            <a:endParaRPr lang="en-IN" sz="3200" dirty="0"/>
          </a:p>
        </p:txBody>
      </p:sp>
      <p:pic>
        <p:nvPicPr>
          <p:cNvPr id="10" name="Picture 9">
            <a:extLst>
              <a:ext uri="{FF2B5EF4-FFF2-40B4-BE49-F238E27FC236}">
                <a16:creationId xmlns:a16="http://schemas.microsoft.com/office/drawing/2014/main" id="{A77B7BAE-9A66-83D9-83D7-E1C48A0B2028}"/>
              </a:ext>
            </a:extLst>
          </p:cNvPr>
          <p:cNvPicPr>
            <a:picLocks noChangeAspect="1"/>
          </p:cNvPicPr>
          <p:nvPr/>
        </p:nvPicPr>
        <p:blipFill>
          <a:blip r:embed="rId2"/>
          <a:stretch>
            <a:fillRect/>
          </a:stretch>
        </p:blipFill>
        <p:spPr>
          <a:xfrm>
            <a:off x="4281270" y="2832100"/>
            <a:ext cx="3943350" cy="3086100"/>
          </a:xfrm>
          <a:prstGeom prst="rect">
            <a:avLst/>
          </a:prstGeom>
        </p:spPr>
      </p:pic>
      <p:sp>
        <p:nvSpPr>
          <p:cNvPr id="11" name="object 2">
            <a:extLst>
              <a:ext uri="{FF2B5EF4-FFF2-40B4-BE49-F238E27FC236}">
                <a16:creationId xmlns:a16="http://schemas.microsoft.com/office/drawing/2014/main" id="{326A7C5A-C4E5-0B3E-F678-7AA4FF045F83}"/>
              </a:ext>
            </a:extLst>
          </p:cNvPr>
          <p:cNvSpPr txBox="1"/>
          <p:nvPr/>
        </p:nvSpPr>
        <p:spPr>
          <a:xfrm>
            <a:off x="697671" y="3814895"/>
            <a:ext cx="4550410" cy="329565"/>
          </a:xfrm>
          <a:prstGeom prst="rect">
            <a:avLst/>
          </a:prstGeom>
        </p:spPr>
        <p:txBody>
          <a:bodyPr vert="horz" wrap="square" lIns="0" tIns="11430" rIns="0" bIns="0" rtlCol="0">
            <a:spAutoFit/>
          </a:bodyPr>
          <a:lstStyle/>
          <a:p>
            <a:pPr marL="12700">
              <a:lnSpc>
                <a:spcPct val="100000"/>
              </a:lnSpc>
              <a:spcBef>
                <a:spcPts val="90"/>
              </a:spcBef>
            </a:pPr>
            <a:r>
              <a:rPr lang="en-IN" sz="2000" spc="-20" dirty="0">
                <a:latin typeface="Calibri"/>
                <a:cs typeface="Calibri"/>
              </a:rPr>
              <a:t>There are 5 types of Knowledge such as:</a:t>
            </a:r>
            <a:endParaRPr lang="en-IN" sz="20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2360" y="2394331"/>
            <a:ext cx="11337240" cy="3499676"/>
          </a:xfrm>
          <a:prstGeom prst="rect">
            <a:avLst/>
          </a:prstGeom>
        </p:spPr>
        <p:txBody>
          <a:bodyPr vert="horz" wrap="square" lIns="0" tIns="11430" rIns="0" bIns="0" rtlCol="0">
            <a:spAutoFit/>
          </a:bodyPr>
          <a:lstStyle/>
          <a:p>
            <a:pPr marL="355600" indent="-342900">
              <a:lnSpc>
                <a:spcPct val="100000"/>
              </a:lnSpc>
              <a:spcBef>
                <a:spcPts val="90"/>
              </a:spcBef>
              <a:buFont typeface="Arial" panose="020B0604020202020204" pitchFamily="34" charset="0"/>
              <a:buChar char="•"/>
            </a:pPr>
            <a:r>
              <a:rPr lang="en-IN" sz="2000" b="1" spc="-20" dirty="0">
                <a:latin typeface="Calibri"/>
                <a:cs typeface="Calibri"/>
              </a:rPr>
              <a:t>Declarative Knowledge</a:t>
            </a:r>
            <a:r>
              <a:rPr lang="en-IN" sz="2000" spc="-20" dirty="0">
                <a:latin typeface="Calibri"/>
                <a:cs typeface="Calibri"/>
              </a:rPr>
              <a:t> – It includes concepts, facts, and objects and expressed in a declarative sentence.</a:t>
            </a:r>
          </a:p>
          <a:p>
            <a:pPr marL="355600" indent="-342900">
              <a:lnSpc>
                <a:spcPct val="100000"/>
              </a:lnSpc>
              <a:spcBef>
                <a:spcPts val="90"/>
              </a:spcBef>
              <a:buFont typeface="Arial" panose="020B0604020202020204" pitchFamily="34" charset="0"/>
              <a:buChar char="•"/>
            </a:pPr>
            <a:endParaRPr lang="en-IN" sz="2000" spc="-20"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20" dirty="0">
                <a:latin typeface="Calibri"/>
                <a:cs typeface="Calibri"/>
              </a:rPr>
              <a:t>Structural Knowledge </a:t>
            </a:r>
            <a:r>
              <a:rPr lang="en-IN" sz="2000" spc="-20" dirty="0">
                <a:latin typeface="Calibri"/>
                <a:cs typeface="Calibri"/>
              </a:rPr>
              <a:t>– It is a basic problem-solving knowledge that describes the relationship between concepts and objects.</a:t>
            </a:r>
          </a:p>
          <a:p>
            <a:pPr marL="355600" indent="-342900">
              <a:lnSpc>
                <a:spcPct val="100000"/>
              </a:lnSpc>
              <a:spcBef>
                <a:spcPts val="90"/>
              </a:spcBef>
              <a:buFont typeface="Arial" panose="020B0604020202020204" pitchFamily="34" charset="0"/>
              <a:buChar char="•"/>
            </a:pPr>
            <a:endParaRPr lang="en-IN" sz="2000" spc="-20"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20" dirty="0">
                <a:latin typeface="Calibri"/>
                <a:cs typeface="Calibri"/>
              </a:rPr>
              <a:t>Procedural Knowledge </a:t>
            </a:r>
            <a:r>
              <a:rPr lang="en-IN" sz="2000" spc="-20" dirty="0">
                <a:latin typeface="Calibri"/>
                <a:cs typeface="Calibri"/>
              </a:rPr>
              <a:t>– This is responsible for knowing how to do something and includes rules, strategies, procedures, etc.</a:t>
            </a:r>
          </a:p>
          <a:p>
            <a:pPr marL="355600" indent="-342900">
              <a:lnSpc>
                <a:spcPct val="100000"/>
              </a:lnSpc>
              <a:spcBef>
                <a:spcPts val="90"/>
              </a:spcBef>
              <a:buFont typeface="Arial" panose="020B0604020202020204" pitchFamily="34" charset="0"/>
              <a:buChar char="•"/>
            </a:pPr>
            <a:endParaRPr lang="en-IN" sz="2000" spc="-20"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20" dirty="0">
                <a:latin typeface="Calibri"/>
                <a:cs typeface="Calibri"/>
              </a:rPr>
              <a:t>Meta Knowledge </a:t>
            </a:r>
            <a:r>
              <a:rPr lang="en-IN" sz="2000" spc="-20" dirty="0">
                <a:latin typeface="Calibri"/>
                <a:cs typeface="Calibri"/>
              </a:rPr>
              <a:t>– Meta Knowledge defines knowledge about other types of Knowledge.</a:t>
            </a:r>
          </a:p>
          <a:p>
            <a:pPr marL="355600" indent="-342900">
              <a:lnSpc>
                <a:spcPct val="100000"/>
              </a:lnSpc>
              <a:spcBef>
                <a:spcPts val="90"/>
              </a:spcBef>
              <a:buFont typeface="Arial" panose="020B0604020202020204" pitchFamily="34" charset="0"/>
              <a:buChar char="•"/>
            </a:pPr>
            <a:endParaRPr lang="en-IN" sz="2000" spc="-20"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20" dirty="0">
                <a:latin typeface="Calibri"/>
                <a:cs typeface="Calibri"/>
              </a:rPr>
              <a:t>Heuristic Knowledge </a:t>
            </a:r>
            <a:r>
              <a:rPr lang="en-IN" sz="2000" spc="-20" dirty="0">
                <a:latin typeface="Calibri"/>
                <a:cs typeface="Calibri"/>
              </a:rPr>
              <a:t>– This represents some expert knowledge in the field or subject.</a:t>
            </a:r>
            <a:endParaRPr lang="en-IN" sz="2000" dirty="0">
              <a:latin typeface="Calibri"/>
              <a:cs typeface="Calibri"/>
            </a:endParaRPr>
          </a:p>
        </p:txBody>
      </p:sp>
      <p:sp>
        <p:nvSpPr>
          <p:cNvPr id="4" name="object 4"/>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5" name="object 5"/>
          <p:cNvSpPr txBox="1">
            <a:spLocks noGrp="1"/>
          </p:cNvSpPr>
          <p:nvPr>
            <p:ph type="title"/>
          </p:nvPr>
        </p:nvSpPr>
        <p:spPr>
          <a:xfrm>
            <a:off x="332942" y="1697227"/>
            <a:ext cx="78966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Different Types of Knowledge</a:t>
            </a:r>
            <a:endParaRPr lang="en-IN" sz="3200" dirty="0"/>
          </a:p>
        </p:txBody>
      </p:sp>
    </p:spTree>
    <p:extLst>
      <p:ext uri="{BB962C8B-B14F-4D97-AF65-F5344CB8AC3E}">
        <p14:creationId xmlns:p14="http://schemas.microsoft.com/office/powerpoint/2010/main" val="342704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88872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Representation Requirements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244885" cy="3499676"/>
          </a:xfrm>
          <a:prstGeom prst="rect">
            <a:avLst/>
          </a:prstGeom>
        </p:spPr>
        <p:txBody>
          <a:bodyPr vert="horz" wrap="square" lIns="0" tIns="11430" rIns="0" bIns="0" rtlCol="0">
            <a:spAutoFit/>
          </a:bodyPr>
          <a:lstStyle/>
          <a:p>
            <a:pPr marL="12700">
              <a:lnSpc>
                <a:spcPct val="100000"/>
              </a:lnSpc>
              <a:spcBef>
                <a:spcPts val="90"/>
              </a:spcBef>
            </a:pPr>
            <a:r>
              <a:rPr lang="en-IN" sz="2000" b="1" spc="-5" dirty="0">
                <a:latin typeface="Calibri"/>
                <a:cs typeface="Calibri"/>
              </a:rPr>
              <a:t>A good knowledge representation system must have properties such as:</a:t>
            </a:r>
          </a:p>
          <a:p>
            <a:pPr marL="12700">
              <a:lnSpc>
                <a:spcPct val="100000"/>
              </a:lnSpc>
              <a:spcBef>
                <a:spcPts val="90"/>
              </a:spcBef>
            </a:pPr>
            <a:endParaRPr lang="en-IN" sz="2000" b="1" spc="-5"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5" dirty="0">
                <a:latin typeface="Calibri"/>
                <a:cs typeface="Calibri"/>
              </a:rPr>
              <a:t>Representational Accuracy</a:t>
            </a:r>
            <a:r>
              <a:rPr lang="en-IN" sz="2000" spc="-5" dirty="0">
                <a:latin typeface="Calibri"/>
                <a:cs typeface="Calibri"/>
              </a:rPr>
              <a:t>: It should represent all kinds of required knowledge.</a:t>
            </a:r>
          </a:p>
          <a:p>
            <a:pPr marL="355600" indent="-342900">
              <a:lnSpc>
                <a:spcPct val="100000"/>
              </a:lnSpc>
              <a:spcBef>
                <a:spcPts val="90"/>
              </a:spcBef>
              <a:buFont typeface="Arial" panose="020B0604020202020204" pitchFamily="34" charset="0"/>
              <a:buChar char="•"/>
            </a:pPr>
            <a:endParaRPr lang="en-IN" sz="2000" spc="-5"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5" dirty="0">
                <a:latin typeface="Calibri"/>
                <a:cs typeface="Calibri"/>
              </a:rPr>
              <a:t>Inferential Adequacy: </a:t>
            </a:r>
            <a:r>
              <a:rPr lang="en-IN" sz="2000" spc="-5" dirty="0">
                <a:latin typeface="Calibri"/>
                <a:cs typeface="Calibri"/>
              </a:rPr>
              <a:t>It should be able to manipulate the representational structures to produce new knowledge corresponding to the existing structure.</a:t>
            </a:r>
          </a:p>
          <a:p>
            <a:pPr marL="355600" indent="-342900">
              <a:lnSpc>
                <a:spcPct val="100000"/>
              </a:lnSpc>
              <a:spcBef>
                <a:spcPts val="90"/>
              </a:spcBef>
              <a:buFont typeface="Arial" panose="020B0604020202020204" pitchFamily="34" charset="0"/>
              <a:buChar char="•"/>
            </a:pPr>
            <a:endParaRPr lang="en-IN" sz="2000" spc="-5"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5" dirty="0">
                <a:latin typeface="Calibri"/>
                <a:cs typeface="Calibri"/>
              </a:rPr>
              <a:t>Inferential Efficiency: </a:t>
            </a:r>
            <a:r>
              <a:rPr lang="en-IN" sz="2000" spc="-5" dirty="0">
                <a:latin typeface="Calibri"/>
                <a:cs typeface="Calibri"/>
              </a:rPr>
              <a:t>The ability to direct the inferential knowledge mechanism into the most productive directions by storing appropriate guides.</a:t>
            </a:r>
          </a:p>
          <a:p>
            <a:pPr marL="355600" indent="-342900">
              <a:lnSpc>
                <a:spcPct val="100000"/>
              </a:lnSpc>
              <a:spcBef>
                <a:spcPts val="90"/>
              </a:spcBef>
              <a:buFont typeface="Arial" panose="020B0604020202020204" pitchFamily="34" charset="0"/>
              <a:buChar char="•"/>
            </a:pPr>
            <a:endParaRPr lang="en-IN" sz="2000" spc="-5" dirty="0">
              <a:latin typeface="Calibri"/>
              <a:cs typeface="Calibri"/>
            </a:endParaRPr>
          </a:p>
          <a:p>
            <a:pPr marL="355600" indent="-342900">
              <a:lnSpc>
                <a:spcPct val="100000"/>
              </a:lnSpc>
              <a:spcBef>
                <a:spcPts val="90"/>
              </a:spcBef>
              <a:buFont typeface="Arial" panose="020B0604020202020204" pitchFamily="34" charset="0"/>
              <a:buChar char="•"/>
            </a:pPr>
            <a:r>
              <a:rPr lang="en-IN" sz="2000" b="1" spc="-5" dirty="0">
                <a:latin typeface="Calibri"/>
                <a:cs typeface="Calibri"/>
              </a:rPr>
              <a:t>Acquisitional efficiency: </a:t>
            </a:r>
            <a:r>
              <a:rPr lang="en-IN" sz="2000" spc="-5" dirty="0">
                <a:latin typeface="Calibri"/>
                <a:cs typeface="Calibri"/>
              </a:rPr>
              <a:t>The ability to acquire new knowledge easily using automatic methods.</a:t>
            </a:r>
            <a:endParaRPr lang="en-IN" sz="2000" dirty="0">
              <a:latin typeface="Calibri"/>
              <a:cs typeface="Calibri"/>
            </a:endParaRPr>
          </a:p>
        </p:txBody>
      </p:sp>
    </p:spTree>
    <p:extLst>
      <p:ext uri="{BB962C8B-B14F-4D97-AF65-F5344CB8AC3E}">
        <p14:creationId xmlns:p14="http://schemas.microsoft.com/office/powerpoint/2010/main" val="2211273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6"/>
            </a:xfrm>
            <a:prstGeom prst="rect">
              <a:avLst/>
            </a:prstGeom>
          </p:spPr>
        </p:pic>
        <p:sp>
          <p:nvSpPr>
            <p:cNvPr id="4" name="object 4"/>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grpSp>
      <p:sp>
        <p:nvSpPr>
          <p:cNvPr id="5" name="object 5"/>
          <p:cNvSpPr txBox="1">
            <a:spLocks noGrp="1"/>
          </p:cNvSpPr>
          <p:nvPr>
            <p:ph type="title"/>
          </p:nvPr>
        </p:nvSpPr>
        <p:spPr>
          <a:xfrm>
            <a:off x="332942" y="1697227"/>
            <a:ext cx="103350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Cycle of Knowledge Representation in AI</a:t>
            </a:r>
            <a:endParaRPr lang="en-IN" sz="3200" dirty="0"/>
          </a:p>
        </p:txBody>
      </p:sp>
      <p:pic>
        <p:nvPicPr>
          <p:cNvPr id="10" name="Picture 9">
            <a:extLst>
              <a:ext uri="{FF2B5EF4-FFF2-40B4-BE49-F238E27FC236}">
                <a16:creationId xmlns:a16="http://schemas.microsoft.com/office/drawing/2014/main" id="{6D2B9302-B3F1-2201-23C8-99620531CE82}"/>
              </a:ext>
            </a:extLst>
          </p:cNvPr>
          <p:cNvPicPr>
            <a:picLocks noChangeAspect="1"/>
          </p:cNvPicPr>
          <p:nvPr/>
        </p:nvPicPr>
        <p:blipFill>
          <a:blip r:embed="rId3"/>
          <a:stretch>
            <a:fillRect/>
          </a:stretch>
        </p:blipFill>
        <p:spPr>
          <a:xfrm>
            <a:off x="3276600" y="2667000"/>
            <a:ext cx="7086600" cy="3581400"/>
          </a:xfrm>
          <a:prstGeom prst="rect">
            <a:avLst/>
          </a:prstGeom>
        </p:spPr>
      </p:pic>
      <p:sp>
        <p:nvSpPr>
          <p:cNvPr id="11" name="object 2">
            <a:extLst>
              <a:ext uri="{FF2B5EF4-FFF2-40B4-BE49-F238E27FC236}">
                <a16:creationId xmlns:a16="http://schemas.microsoft.com/office/drawing/2014/main" id="{57D7CE08-C208-AE8D-37A2-7338EA691960}"/>
              </a:ext>
            </a:extLst>
          </p:cNvPr>
          <p:cNvSpPr txBox="1"/>
          <p:nvPr/>
        </p:nvSpPr>
        <p:spPr>
          <a:xfrm>
            <a:off x="685800" y="2895600"/>
            <a:ext cx="4550410" cy="329565"/>
          </a:xfrm>
          <a:prstGeom prst="rect">
            <a:avLst/>
          </a:prstGeom>
        </p:spPr>
        <p:txBody>
          <a:bodyPr vert="horz" wrap="square" lIns="0" tIns="11430" rIns="0" bIns="0" rtlCol="0">
            <a:spAutoFit/>
          </a:bodyPr>
          <a:lstStyle/>
          <a:p>
            <a:pPr marL="12700">
              <a:lnSpc>
                <a:spcPct val="100000"/>
              </a:lnSpc>
              <a:spcBef>
                <a:spcPts val="90"/>
              </a:spcBef>
            </a:pPr>
            <a:r>
              <a:rPr lang="en-IN" sz="2000" spc="-20" dirty="0">
                <a:latin typeface="Calibri"/>
                <a:cs typeface="Calibri"/>
              </a:rPr>
              <a:t>There are 5 types of Knowledge such as:</a:t>
            </a:r>
            <a:endParaRPr lang="en-IN" sz="20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9540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pic>
        <p:nvPicPr>
          <p:cNvPr id="7" name="Picture 6">
            <a:extLst>
              <a:ext uri="{FF2B5EF4-FFF2-40B4-BE49-F238E27FC236}">
                <a16:creationId xmlns:a16="http://schemas.microsoft.com/office/drawing/2014/main" id="{6F0A3E73-186C-69C7-ACC8-155D3C263AF0}"/>
              </a:ext>
            </a:extLst>
          </p:cNvPr>
          <p:cNvPicPr>
            <a:picLocks noChangeAspect="1"/>
          </p:cNvPicPr>
          <p:nvPr/>
        </p:nvPicPr>
        <p:blipFill>
          <a:blip r:embed="rId2"/>
          <a:stretch>
            <a:fillRect/>
          </a:stretch>
        </p:blipFill>
        <p:spPr>
          <a:xfrm>
            <a:off x="3405187" y="2621533"/>
            <a:ext cx="5738813" cy="3666617"/>
          </a:xfrm>
          <a:prstGeom prst="rect">
            <a:avLst/>
          </a:prstGeom>
        </p:spPr>
      </p:pic>
    </p:spTree>
    <p:extLst>
      <p:ext uri="{BB962C8B-B14F-4D97-AF65-F5344CB8AC3E}">
        <p14:creationId xmlns:p14="http://schemas.microsoft.com/office/powerpoint/2010/main" val="4035427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1871025"/>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Logical Representation </a:t>
            </a:r>
          </a:p>
          <a:p>
            <a:pPr marL="12700" algn="just">
              <a:lnSpc>
                <a:spcPct val="100000"/>
              </a:lnSpc>
              <a:spcBef>
                <a:spcPts val="90"/>
              </a:spcBef>
            </a:pPr>
            <a:r>
              <a:rPr lang="en-IN" sz="2000" spc="-10" dirty="0">
                <a:latin typeface="Calibri"/>
                <a:cs typeface="Calibri"/>
              </a:rPr>
              <a:t>Logical representation is a language with some definite rules which deal with propositions and has no ambiguity in representation. It represents a conclusion based on various conditions and lays down some important communication rules. Also, it consists of precisely defined syntax and semantics which supports the sound inference. Each sentence can be translated into logics using syntax and semantics.</a:t>
            </a:r>
          </a:p>
        </p:txBody>
      </p:sp>
      <p:graphicFrame>
        <p:nvGraphicFramePr>
          <p:cNvPr id="6" name="Table 5">
            <a:extLst>
              <a:ext uri="{FF2B5EF4-FFF2-40B4-BE49-F238E27FC236}">
                <a16:creationId xmlns:a16="http://schemas.microsoft.com/office/drawing/2014/main" id="{CCA78E8E-1189-B033-217B-9CDB0DDD1696}"/>
              </a:ext>
            </a:extLst>
          </p:cNvPr>
          <p:cNvGraphicFramePr>
            <a:graphicFrameLocks noGrp="1"/>
          </p:cNvGraphicFramePr>
          <p:nvPr>
            <p:extLst>
              <p:ext uri="{D42A27DB-BD31-4B8C-83A1-F6EECF244321}">
                <p14:modId xmlns:p14="http://schemas.microsoft.com/office/powerpoint/2010/main" val="3199526539"/>
              </p:ext>
            </p:extLst>
          </p:nvPr>
        </p:nvGraphicFramePr>
        <p:xfrm>
          <a:off x="2209800" y="4310656"/>
          <a:ext cx="8128000" cy="23164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40505569"/>
                    </a:ext>
                  </a:extLst>
                </a:gridCol>
                <a:gridCol w="4064000">
                  <a:extLst>
                    <a:ext uri="{9D8B030D-6E8A-4147-A177-3AD203B41FA5}">
                      <a16:colId xmlns:a16="http://schemas.microsoft.com/office/drawing/2014/main" val="1812361760"/>
                    </a:ext>
                  </a:extLst>
                </a:gridCol>
              </a:tblGrid>
              <a:tr h="370840">
                <a:tc>
                  <a:txBody>
                    <a:bodyPr/>
                    <a:lstStyle/>
                    <a:p>
                      <a:pPr algn="ctr"/>
                      <a:r>
                        <a:rPr lang="en-IN" sz="2000" b="1" dirty="0"/>
                        <a:t>Syntax</a:t>
                      </a:r>
                    </a:p>
                  </a:txBody>
                  <a:tcPr/>
                </a:tc>
                <a:tc>
                  <a:txBody>
                    <a:bodyPr/>
                    <a:lstStyle/>
                    <a:p>
                      <a:pPr algn="ctr"/>
                      <a:r>
                        <a:rPr lang="en-IN" sz="2000" b="1" dirty="0"/>
                        <a:t>Semantics</a:t>
                      </a:r>
                    </a:p>
                  </a:txBody>
                  <a:tcPr/>
                </a:tc>
                <a:extLst>
                  <a:ext uri="{0D108BD9-81ED-4DB2-BD59-A6C34878D82A}">
                    <a16:rowId xmlns:a16="http://schemas.microsoft.com/office/drawing/2014/main" val="3392573168"/>
                  </a:ext>
                </a:extLst>
              </a:tr>
              <a:tr h="370840">
                <a:tc>
                  <a:txBody>
                    <a:bodyPr/>
                    <a:lstStyle/>
                    <a:p>
                      <a:pPr marL="285750" indent="-285750">
                        <a:buFont typeface="Arial" panose="020B0604020202020204" pitchFamily="34" charset="0"/>
                        <a:buChar char="•"/>
                      </a:pPr>
                      <a:r>
                        <a:rPr lang="en-IN" sz="2000" dirty="0"/>
                        <a:t>It decides how we can construct legal sentences in logic.</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dirty="0"/>
                        <a:t>It determines which symbol we can use in knowledge representation.</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dirty="0"/>
                        <a:t>Also, how to write those symbols.</a:t>
                      </a:r>
                    </a:p>
                  </a:txBody>
                  <a:tcPr/>
                </a:tc>
                <a:tc>
                  <a:txBody>
                    <a:bodyPr/>
                    <a:lstStyle/>
                    <a:p>
                      <a:pPr marL="285750" indent="-285750">
                        <a:buFont typeface="Arial" panose="020B0604020202020204" pitchFamily="34" charset="0"/>
                        <a:buChar char="•"/>
                      </a:pPr>
                      <a:r>
                        <a:rPr lang="en-IN" sz="2000" dirty="0"/>
                        <a:t>Semantics are the rules by which we can interpret the sentence in the logic.</a:t>
                      </a:r>
                    </a:p>
                    <a:p>
                      <a:pPr marL="285750" indent="-285750">
                        <a:buFont typeface="Arial" panose="020B0604020202020204" pitchFamily="34" charset="0"/>
                        <a:buChar char="•"/>
                      </a:pPr>
                      <a:r>
                        <a:rPr lang="en-IN" sz="2000" dirty="0"/>
                        <a:t>It assigns a meaning to each sentence.</a:t>
                      </a:r>
                    </a:p>
                  </a:txBody>
                  <a:tcPr/>
                </a:tc>
                <a:extLst>
                  <a:ext uri="{0D108BD9-81ED-4DB2-BD59-A6C34878D82A}">
                    <a16:rowId xmlns:a16="http://schemas.microsoft.com/office/drawing/2014/main" val="209484124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2884123"/>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Logical representation helps to perform logical reasoning.</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This representation is the basis for the programming languages.</a:t>
            </a:r>
          </a:p>
          <a:p>
            <a:pPr marL="12700" algn="just">
              <a:lnSpc>
                <a:spcPct val="100000"/>
              </a:lnSpc>
              <a:spcBef>
                <a:spcPts val="90"/>
              </a:spcBef>
            </a:pPr>
            <a:endParaRPr lang="en-IN" sz="2000" b="1" spc="-10" dirty="0">
              <a:latin typeface="Calibri"/>
              <a:cs typeface="Calibri"/>
            </a:endParaRPr>
          </a:p>
          <a:p>
            <a:pPr marL="12700" algn="just">
              <a:lnSpc>
                <a:spcPct val="100000"/>
              </a:lnSpc>
              <a:spcBef>
                <a:spcPts val="90"/>
              </a:spcBef>
            </a:pPr>
            <a:r>
              <a:rPr lang="en-IN" sz="2000" b="1" spc="-10" dirty="0">
                <a:latin typeface="Calibri"/>
                <a:cs typeface="Calibri"/>
              </a:rPr>
              <a:t>Disadvantages: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Logical representations have some restrictions and are challenging to work with.</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This technique may not be very natural, and inference may not be very efficient.</a:t>
            </a:r>
          </a:p>
        </p:txBody>
      </p:sp>
    </p:spTree>
    <p:extLst>
      <p:ext uri="{BB962C8B-B14F-4D97-AF65-F5344CB8AC3E}">
        <p14:creationId xmlns:p14="http://schemas.microsoft.com/office/powerpoint/2010/main" val="3134971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3474028"/>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Semantic Network Representation</a:t>
            </a:r>
          </a:p>
          <a:p>
            <a:pPr marL="12700" algn="just">
              <a:lnSpc>
                <a:spcPct val="100000"/>
              </a:lnSpc>
              <a:spcBef>
                <a:spcPts val="90"/>
              </a:spcBef>
            </a:pPr>
            <a:r>
              <a:rPr lang="en-IN" sz="2000" spc="-10" dirty="0">
                <a:latin typeface="Calibri"/>
                <a:cs typeface="Calibri"/>
              </a:rPr>
              <a:t>Semantic networks work as an alternative of predicate logic for knowledge representation. In Semantic networks, you can represent your knowledge in the form of graphical networks. This network consists of nodes representing objects and arcs which describe the relationship between those objects. Also, it categorizes the object in different forms and links those objects.</a:t>
            </a:r>
          </a:p>
          <a:p>
            <a:pPr marL="12700" algn="just">
              <a:lnSpc>
                <a:spcPct val="100000"/>
              </a:lnSpc>
              <a:spcBef>
                <a:spcPts val="90"/>
              </a:spcBef>
            </a:pPr>
            <a:endParaRPr lang="en-IN" sz="2000" spc="-10" dirty="0">
              <a:latin typeface="Calibri"/>
              <a:cs typeface="Calibri"/>
            </a:endParaRPr>
          </a:p>
          <a:p>
            <a:pPr marL="12700" algn="just">
              <a:lnSpc>
                <a:spcPct val="100000"/>
              </a:lnSpc>
              <a:spcBef>
                <a:spcPts val="90"/>
              </a:spcBef>
            </a:pPr>
            <a:r>
              <a:rPr lang="en-IN" sz="2000" spc="-10" dirty="0">
                <a:latin typeface="Calibri"/>
                <a:cs typeface="Calibri"/>
              </a:rPr>
              <a:t>This representation consist of two types of relations:</a:t>
            </a:r>
          </a:p>
          <a:p>
            <a:pPr marL="12700" algn="just">
              <a:lnSpc>
                <a:spcPct val="100000"/>
              </a:lnSpc>
              <a:spcBef>
                <a:spcPts val="90"/>
              </a:spcBef>
            </a:pPr>
            <a:endParaRPr lang="en-IN" sz="2000"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IS-A relation (Inheritance)</a:t>
            </a: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Kind-of-relation</a:t>
            </a:r>
          </a:p>
        </p:txBody>
      </p:sp>
    </p:spTree>
    <p:extLst>
      <p:ext uri="{BB962C8B-B14F-4D97-AF65-F5344CB8AC3E}">
        <p14:creationId xmlns:p14="http://schemas.microsoft.com/office/powerpoint/2010/main" val="24154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1281120"/>
          </a:xfrm>
          <a:prstGeom prst="rect">
            <a:avLst/>
          </a:prstGeom>
        </p:spPr>
        <p:txBody>
          <a:bodyPr vert="horz" wrap="square" lIns="0" tIns="11430" rIns="0" bIns="0" rtlCol="0">
            <a:spAutoFit/>
          </a:bodyPr>
          <a:lstStyle/>
          <a:p>
            <a:pPr marL="12700" algn="just">
              <a:lnSpc>
                <a:spcPct val="100000"/>
              </a:lnSpc>
              <a:spcBef>
                <a:spcPts val="90"/>
              </a:spcBef>
            </a:pPr>
            <a:r>
              <a:rPr lang="en-IN" sz="2000" spc="-10" dirty="0">
                <a:latin typeface="Calibri"/>
                <a:cs typeface="Calibri"/>
              </a:rPr>
              <a:t>This representation consist of two types of relations:</a:t>
            </a:r>
          </a:p>
          <a:p>
            <a:pPr marL="12700" algn="just">
              <a:lnSpc>
                <a:spcPct val="100000"/>
              </a:lnSpc>
              <a:spcBef>
                <a:spcPts val="90"/>
              </a:spcBef>
            </a:pPr>
            <a:endParaRPr lang="en-IN" sz="2000"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IS-A relation (Inheritance)</a:t>
            </a: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Kind-of-relation</a:t>
            </a:r>
          </a:p>
        </p:txBody>
      </p:sp>
      <p:pic>
        <p:nvPicPr>
          <p:cNvPr id="7" name="Picture 6">
            <a:extLst>
              <a:ext uri="{FF2B5EF4-FFF2-40B4-BE49-F238E27FC236}">
                <a16:creationId xmlns:a16="http://schemas.microsoft.com/office/drawing/2014/main" id="{B2A24605-813A-E7C7-6238-309154FA0819}"/>
              </a:ext>
            </a:extLst>
          </p:cNvPr>
          <p:cNvPicPr>
            <a:picLocks noChangeAspect="1"/>
          </p:cNvPicPr>
          <p:nvPr/>
        </p:nvPicPr>
        <p:blipFill>
          <a:blip r:embed="rId2"/>
          <a:stretch>
            <a:fillRect/>
          </a:stretch>
        </p:blipFill>
        <p:spPr>
          <a:xfrm>
            <a:off x="4038600" y="2922332"/>
            <a:ext cx="5295900" cy="3257550"/>
          </a:xfrm>
          <a:prstGeom prst="rect">
            <a:avLst/>
          </a:prstGeom>
        </p:spPr>
      </p:pic>
    </p:spTree>
    <p:extLst>
      <p:ext uri="{BB962C8B-B14F-4D97-AF65-F5344CB8AC3E}">
        <p14:creationId xmlns:p14="http://schemas.microsoft.com/office/powerpoint/2010/main" val="416484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3525324"/>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Semantic networks are a natural representation of knowledge.</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Also, it conveys meaning in a transparent manner.</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These networks are simple and easy to understand.</a:t>
            </a:r>
          </a:p>
          <a:p>
            <a:pPr marL="12700" algn="just">
              <a:lnSpc>
                <a:spcPct val="100000"/>
              </a:lnSpc>
              <a:spcBef>
                <a:spcPts val="90"/>
              </a:spcBef>
            </a:pPr>
            <a:endParaRPr lang="en-IN" sz="2000" b="1" spc="-10" dirty="0">
              <a:latin typeface="Calibri"/>
              <a:cs typeface="Calibri"/>
            </a:endParaRPr>
          </a:p>
          <a:p>
            <a:pPr marL="12700" algn="just">
              <a:lnSpc>
                <a:spcPct val="100000"/>
              </a:lnSpc>
              <a:spcBef>
                <a:spcPts val="90"/>
              </a:spcBef>
            </a:pPr>
            <a:r>
              <a:rPr lang="en-IN" sz="2000" b="1" spc="-10" dirty="0">
                <a:latin typeface="Calibri"/>
                <a:cs typeface="Calibri"/>
              </a:rPr>
              <a:t>Disadvantages: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Semantic networks take more computational time at runtime.</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Also, these are inadequate as they do not have any equivalent quantifiers.</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These networks are not intelligent and depend on the creator of the system.</a:t>
            </a:r>
          </a:p>
        </p:txBody>
      </p:sp>
    </p:spTree>
    <p:extLst>
      <p:ext uri="{BB962C8B-B14F-4D97-AF65-F5344CB8AC3E}">
        <p14:creationId xmlns:p14="http://schemas.microsoft.com/office/powerpoint/2010/main" val="4082202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1871025"/>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Frame Representation</a:t>
            </a:r>
          </a:p>
          <a:p>
            <a:pPr marL="12700" algn="just">
              <a:lnSpc>
                <a:spcPct val="100000"/>
              </a:lnSpc>
              <a:spcBef>
                <a:spcPts val="90"/>
              </a:spcBef>
            </a:pPr>
            <a:r>
              <a:rPr lang="en-IN" sz="2000" spc="-10" dirty="0">
                <a:latin typeface="Calibri"/>
                <a:cs typeface="Calibri"/>
              </a:rPr>
              <a:t>A frame is a record like structure that consists of a collection of attributes and values to describe an entity in the world. These are the AI data structure that divides knowledge into substructures by representing stereotypes situations. Basically, it consists of a collection of slots and slot values of any type and size. Slots have names and values which are called facets.</a:t>
            </a:r>
          </a:p>
        </p:txBody>
      </p:sp>
    </p:spTree>
    <p:extLst>
      <p:ext uri="{BB962C8B-B14F-4D97-AF65-F5344CB8AC3E}">
        <p14:creationId xmlns:p14="http://schemas.microsoft.com/office/powerpoint/2010/main" val="2102171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3845925"/>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It makes the programming easier by grouping the related data.</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Frame representation is easy to understand and visualize.</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It is very easy to add slots for new attributes and relations.</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Also, it is easy to include default data and search for missing values.</a:t>
            </a:r>
          </a:p>
          <a:p>
            <a:pPr marL="12700" algn="just">
              <a:lnSpc>
                <a:spcPct val="100000"/>
              </a:lnSpc>
              <a:spcBef>
                <a:spcPts val="90"/>
              </a:spcBef>
            </a:pPr>
            <a:endParaRPr lang="en-IN" sz="2000" b="1" spc="-10" dirty="0">
              <a:latin typeface="Calibri"/>
              <a:cs typeface="Calibri"/>
            </a:endParaRPr>
          </a:p>
          <a:p>
            <a:pPr marL="12700" algn="just">
              <a:lnSpc>
                <a:spcPct val="100000"/>
              </a:lnSpc>
              <a:spcBef>
                <a:spcPts val="90"/>
              </a:spcBef>
            </a:pPr>
            <a:r>
              <a:rPr lang="en-IN" sz="2000" b="1" spc="-10" dirty="0">
                <a:latin typeface="Calibri"/>
                <a:cs typeface="Calibri"/>
              </a:rPr>
              <a:t>Disadvantages: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In frame system inference, the mechanism cannot be easily processed.</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The inference mechanism cannot be smoothly proceeded by frame representation.</a:t>
            </a: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It has a very generalized approach.</a:t>
            </a:r>
          </a:p>
        </p:txBody>
      </p:sp>
    </p:spTree>
    <p:extLst>
      <p:ext uri="{BB962C8B-B14F-4D97-AF65-F5344CB8AC3E}">
        <p14:creationId xmlns:p14="http://schemas.microsoft.com/office/powerpoint/2010/main" val="141490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3486852"/>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Production Rules </a:t>
            </a:r>
          </a:p>
          <a:p>
            <a:pPr marL="12700" algn="just">
              <a:lnSpc>
                <a:spcPct val="100000"/>
              </a:lnSpc>
              <a:spcBef>
                <a:spcPts val="90"/>
              </a:spcBef>
            </a:pPr>
            <a:r>
              <a:rPr lang="en-IN" sz="2000" spc="-10" dirty="0">
                <a:latin typeface="Calibri"/>
                <a:cs typeface="Calibri"/>
              </a:rPr>
              <a:t>In production rules, agent checks for the condition and if the condition exists then production rule fires and corresponding action is carried out. The condition part of the rule determines which rule may be applied to a problem. Whereas, the action part carries out the associated problem-solving steps. This complete process is called a recognize-act cycle.</a:t>
            </a:r>
          </a:p>
          <a:p>
            <a:pPr marL="12700" algn="just">
              <a:lnSpc>
                <a:spcPct val="100000"/>
              </a:lnSpc>
              <a:spcBef>
                <a:spcPts val="90"/>
              </a:spcBef>
            </a:pPr>
            <a:endParaRPr lang="en-IN" sz="2000" spc="-10" dirty="0">
              <a:latin typeface="Calibri"/>
              <a:cs typeface="Calibri"/>
            </a:endParaRPr>
          </a:p>
          <a:p>
            <a:pPr marL="12700" algn="just">
              <a:lnSpc>
                <a:spcPct val="100000"/>
              </a:lnSpc>
              <a:spcBef>
                <a:spcPts val="90"/>
              </a:spcBef>
            </a:pPr>
            <a:r>
              <a:rPr lang="en-IN" sz="2000" spc="-10" dirty="0">
                <a:latin typeface="Calibri"/>
                <a:cs typeface="Calibri"/>
              </a:rPr>
              <a:t>The production rules system consists of three main parts:</a:t>
            </a:r>
          </a:p>
          <a:p>
            <a:pPr marL="12700" algn="just">
              <a:lnSpc>
                <a:spcPct val="100000"/>
              </a:lnSpc>
              <a:spcBef>
                <a:spcPts val="90"/>
              </a:spcBef>
            </a:pPr>
            <a:endParaRPr lang="en-IN" sz="2000"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The set of production rules</a:t>
            </a: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Working Memory</a:t>
            </a:r>
          </a:p>
          <a:p>
            <a:pPr marL="355600" indent="-342900" algn="just">
              <a:lnSpc>
                <a:spcPct val="100000"/>
              </a:lnSpc>
              <a:spcBef>
                <a:spcPts val="90"/>
              </a:spcBef>
              <a:buFont typeface="Arial" panose="020B0604020202020204" pitchFamily="34" charset="0"/>
              <a:buChar char="•"/>
            </a:pPr>
            <a:r>
              <a:rPr lang="en-IN" sz="2000" b="1" spc="-10" dirty="0">
                <a:latin typeface="Calibri"/>
                <a:cs typeface="Calibri"/>
              </a:rPr>
              <a:t>The recognize-act-cycle</a:t>
            </a:r>
          </a:p>
        </p:txBody>
      </p:sp>
    </p:spTree>
    <p:extLst>
      <p:ext uri="{BB962C8B-B14F-4D97-AF65-F5344CB8AC3E}">
        <p14:creationId xmlns:p14="http://schemas.microsoft.com/office/powerpoint/2010/main" val="953141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0208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Techniques of Knowledge Representation in AI</a:t>
            </a:r>
            <a:endParaRPr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09600" y="2340482"/>
            <a:ext cx="9429750" cy="4140877"/>
          </a:xfrm>
          <a:prstGeom prst="rect">
            <a:avLst/>
          </a:prstGeom>
        </p:spPr>
        <p:txBody>
          <a:bodyPr vert="horz" wrap="square" lIns="0" tIns="11430" rIns="0" bIns="0" rtlCol="0">
            <a:spAutoFit/>
          </a:bodyPr>
          <a:lstStyle/>
          <a:p>
            <a:pPr marL="12700" algn="just">
              <a:lnSpc>
                <a:spcPct val="100000"/>
              </a:lnSpc>
              <a:spcBef>
                <a:spcPts val="90"/>
              </a:spcBef>
            </a:pPr>
            <a:r>
              <a:rPr lang="en-IN" sz="2000" b="1" spc="-10" dirty="0">
                <a:latin typeface="Calibri"/>
                <a:cs typeface="Calibri"/>
              </a:rPr>
              <a:t>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The production rules are expressed in natural language.</a:t>
            </a:r>
          </a:p>
          <a:p>
            <a:pPr marL="355600" indent="-342900" algn="just">
              <a:lnSpc>
                <a:spcPct val="100000"/>
              </a:lnSpc>
              <a:spcBef>
                <a:spcPts val="90"/>
              </a:spcBef>
              <a:buFont typeface="Arial" panose="020B0604020202020204" pitchFamily="34" charset="0"/>
              <a:buChar char="•"/>
            </a:pPr>
            <a:endParaRPr lang="en-IN" sz="2000"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The production rules are highly modular and can be easily removed or modified.</a:t>
            </a:r>
          </a:p>
          <a:p>
            <a:pPr marL="12700" algn="just">
              <a:lnSpc>
                <a:spcPct val="100000"/>
              </a:lnSpc>
              <a:spcBef>
                <a:spcPts val="90"/>
              </a:spcBef>
            </a:pPr>
            <a:endParaRPr lang="en-IN" sz="2000" b="1" spc="-10" dirty="0">
              <a:latin typeface="Calibri"/>
              <a:cs typeface="Calibri"/>
            </a:endParaRPr>
          </a:p>
          <a:p>
            <a:pPr marL="12700" algn="just">
              <a:lnSpc>
                <a:spcPct val="100000"/>
              </a:lnSpc>
              <a:spcBef>
                <a:spcPts val="90"/>
              </a:spcBef>
            </a:pPr>
            <a:r>
              <a:rPr lang="en-IN" sz="2000" b="1" spc="-10" dirty="0">
                <a:latin typeface="Calibri"/>
                <a:cs typeface="Calibri"/>
              </a:rPr>
              <a:t>Disadvantages:</a:t>
            </a:r>
          </a:p>
          <a:p>
            <a:pPr marL="12700" algn="just">
              <a:lnSpc>
                <a:spcPct val="100000"/>
              </a:lnSpc>
              <a:spcBef>
                <a:spcPts val="90"/>
              </a:spcBef>
            </a:pPr>
            <a:endParaRPr lang="en-IN" sz="2000" b="1"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It does not exhibit any learning capabilities and does not store the result of the problem for future uses.</a:t>
            </a:r>
          </a:p>
          <a:p>
            <a:pPr marL="355600" indent="-342900" algn="just">
              <a:lnSpc>
                <a:spcPct val="100000"/>
              </a:lnSpc>
              <a:spcBef>
                <a:spcPts val="90"/>
              </a:spcBef>
              <a:buFont typeface="Arial" panose="020B0604020202020204" pitchFamily="34" charset="0"/>
              <a:buChar char="•"/>
            </a:pPr>
            <a:endParaRPr lang="en-IN" sz="2000" spc="-10" dirty="0">
              <a:latin typeface="Calibri"/>
              <a:cs typeface="Calibri"/>
            </a:endParaRPr>
          </a:p>
          <a:p>
            <a:pPr marL="355600" indent="-342900" algn="just">
              <a:lnSpc>
                <a:spcPct val="100000"/>
              </a:lnSpc>
              <a:spcBef>
                <a:spcPts val="90"/>
              </a:spcBef>
              <a:buFont typeface="Arial" panose="020B0604020202020204" pitchFamily="34" charset="0"/>
              <a:buChar char="•"/>
            </a:pPr>
            <a:r>
              <a:rPr lang="en-IN" sz="2000" spc="-10" dirty="0">
                <a:latin typeface="Calibri"/>
                <a:cs typeface="Calibri"/>
              </a:rPr>
              <a:t>During the execution of the program, many rules may be active. Thus, rule-based production systems are inefficient.</a:t>
            </a:r>
          </a:p>
        </p:txBody>
      </p:sp>
    </p:spTree>
    <p:extLst>
      <p:ext uri="{BB962C8B-B14F-4D97-AF65-F5344CB8AC3E}">
        <p14:creationId xmlns:p14="http://schemas.microsoft.com/office/powerpoint/2010/main" val="3459325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88872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Representations and Mappings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244885" cy="3704860"/>
          </a:xfrm>
          <a:prstGeom prst="rect">
            <a:avLst/>
          </a:prstGeom>
        </p:spPr>
        <p:txBody>
          <a:bodyPr vert="horz" wrap="square" lIns="0" tIns="11430" rIns="0" bIns="0" rtlCol="0">
            <a:spAutoFit/>
          </a:bodyPr>
          <a:lstStyle/>
          <a:p>
            <a:pPr marL="800100" lvl="1" indent="-342900">
              <a:buFont typeface="Arial" panose="020B0604020202020204" pitchFamily="34" charset="0"/>
              <a:buChar char="•"/>
            </a:pPr>
            <a:r>
              <a:rPr lang="en-US" sz="2400" dirty="0"/>
              <a:t>In order to solve complex problems encountered in artificial intelligence, one needs both a large amount of knowledge and some mechanism for manipulating that knowledge to create solutions.</a:t>
            </a:r>
          </a:p>
          <a:p>
            <a:pPr marL="800100" lvl="1" indent="-342900">
              <a:buFont typeface="Arial" panose="020B0604020202020204" pitchFamily="34" charset="0"/>
              <a:buChar char="•"/>
            </a:pPr>
            <a:r>
              <a:rPr lang="en-US" sz="2400" dirty="0"/>
              <a:t>Knowledge and Representation are two distinct entities. They play central but distinguishable roles in the intelligent system.</a:t>
            </a:r>
          </a:p>
          <a:p>
            <a:pPr marL="800100" lvl="1" indent="-342900">
              <a:buFont typeface="Arial" panose="020B0604020202020204" pitchFamily="34" charset="0"/>
              <a:buChar char="•"/>
            </a:pPr>
            <a:r>
              <a:rPr lang="en-US" sz="2400" dirty="0"/>
              <a:t>Knowledge is a description of the world. It determines a system’s competence by what it knows.</a:t>
            </a:r>
          </a:p>
          <a:p>
            <a:pPr marL="800100" lvl="1" indent="-342900">
              <a:buFont typeface="Arial" panose="020B0604020202020204" pitchFamily="34" charset="0"/>
              <a:buChar char="•"/>
            </a:pPr>
            <a:r>
              <a:rPr lang="en-US" sz="2400" dirty="0"/>
              <a:t>Moreover, Representation is the way knowledge is encoded. It defines a system’s performance in doing something.</a:t>
            </a:r>
          </a:p>
          <a:p>
            <a:pPr marL="800100" lvl="1" indent="-342900">
              <a:buFont typeface="Arial" panose="020B0604020202020204" pitchFamily="34" charset="0"/>
              <a:buChar char="•"/>
            </a:pPr>
            <a:r>
              <a:rPr lang="en-US" sz="2400" dirty="0"/>
              <a:t>Different types of knowledge require different kinds of representation.</a:t>
            </a:r>
          </a:p>
        </p:txBody>
      </p:sp>
    </p:spTree>
    <p:extLst>
      <p:ext uri="{BB962C8B-B14F-4D97-AF65-F5344CB8AC3E}">
        <p14:creationId xmlns:p14="http://schemas.microsoft.com/office/powerpoint/2010/main" val="2598973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88872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Representations and Mappings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Rectangle 7">
            <a:extLst>
              <a:ext uri="{FF2B5EF4-FFF2-40B4-BE49-F238E27FC236}">
                <a16:creationId xmlns:a16="http://schemas.microsoft.com/office/drawing/2014/main" id="{A0822410-1DD4-4D5D-BA7A-AFD7A4D80494}"/>
              </a:ext>
            </a:extLst>
          </p:cNvPr>
          <p:cNvSpPr/>
          <p:nvPr/>
        </p:nvSpPr>
        <p:spPr>
          <a:xfrm>
            <a:off x="3124199" y="5964984"/>
            <a:ext cx="6096000" cy="646331"/>
          </a:xfrm>
          <a:prstGeom prst="rect">
            <a:avLst/>
          </a:prstGeom>
        </p:spPr>
        <p:txBody>
          <a:bodyPr>
            <a:spAutoFit/>
          </a:bodyPr>
          <a:lstStyle/>
          <a:p>
            <a:r>
              <a:rPr lang="en-US" dirty="0"/>
              <a:t> </a:t>
            </a:r>
          </a:p>
          <a:p>
            <a:pPr algn="ctr"/>
            <a:r>
              <a:rPr lang="en-US" dirty="0"/>
              <a:t>Fig: Mapping between Facts and Representations</a:t>
            </a:r>
          </a:p>
        </p:txBody>
      </p:sp>
      <p:pic>
        <p:nvPicPr>
          <p:cNvPr id="10" name="image1.jpeg">
            <a:extLst>
              <a:ext uri="{FF2B5EF4-FFF2-40B4-BE49-F238E27FC236}">
                <a16:creationId xmlns:a16="http://schemas.microsoft.com/office/drawing/2014/main" id="{301808D7-3695-430A-AF74-618F8C177CF9}"/>
              </a:ext>
            </a:extLst>
          </p:cNvPr>
          <p:cNvPicPr/>
          <p:nvPr/>
        </p:nvPicPr>
        <p:blipFill>
          <a:blip r:embed="rId2" cstate="print"/>
          <a:stretch>
            <a:fillRect/>
          </a:stretch>
        </p:blipFill>
        <p:spPr>
          <a:xfrm>
            <a:off x="2690541" y="2347976"/>
            <a:ext cx="5348749" cy="3661790"/>
          </a:xfrm>
          <a:prstGeom prst="rect">
            <a:avLst/>
          </a:prstGeom>
        </p:spPr>
      </p:pic>
    </p:spTree>
    <p:extLst>
      <p:ext uri="{BB962C8B-B14F-4D97-AF65-F5344CB8AC3E}">
        <p14:creationId xmlns:p14="http://schemas.microsoft.com/office/powerpoint/2010/main" val="1277736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88872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Representations and Mappings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244885" cy="4012637"/>
          </a:xfrm>
          <a:prstGeom prst="rect">
            <a:avLst/>
          </a:prstGeom>
        </p:spPr>
        <p:txBody>
          <a:bodyPr vert="horz" wrap="square" lIns="0" tIns="11430" rIns="0" bIns="0" rtlCol="0">
            <a:spAutoFit/>
          </a:bodyPr>
          <a:lstStyle/>
          <a:p>
            <a:r>
              <a:rPr lang="en-US" sz="2000" b="1" dirty="0"/>
              <a:t>The Knowledge Representation models/mechanisms are often based on:</a:t>
            </a:r>
          </a:p>
          <a:p>
            <a:pPr marL="742950" lvl="1" indent="-285750">
              <a:buFont typeface="Arial" panose="020B0604020202020204" pitchFamily="34" charset="0"/>
              <a:buChar char="•"/>
            </a:pPr>
            <a:r>
              <a:rPr lang="en-US" sz="2000" dirty="0"/>
              <a:t>Logic</a:t>
            </a:r>
          </a:p>
          <a:p>
            <a:pPr marL="742950" lvl="1" indent="-285750">
              <a:buFont typeface="Arial" panose="020B0604020202020204" pitchFamily="34" charset="0"/>
              <a:buChar char="•"/>
            </a:pPr>
            <a:r>
              <a:rPr lang="en-US" sz="2000" dirty="0"/>
              <a:t>Rules</a:t>
            </a:r>
          </a:p>
          <a:p>
            <a:pPr marL="742950" lvl="1" indent="-285750">
              <a:buFont typeface="Arial" panose="020B0604020202020204" pitchFamily="34" charset="0"/>
              <a:buChar char="•"/>
            </a:pPr>
            <a:r>
              <a:rPr lang="en-US" sz="2000" dirty="0"/>
              <a:t>Frames</a:t>
            </a:r>
          </a:p>
          <a:p>
            <a:pPr marL="742950" lvl="1" indent="-285750">
              <a:buFont typeface="Arial" panose="020B0604020202020204" pitchFamily="34" charset="0"/>
              <a:buChar char="•"/>
            </a:pPr>
            <a:r>
              <a:rPr lang="en-US" sz="2000" dirty="0"/>
              <a:t>Semantic Net</a:t>
            </a:r>
          </a:p>
          <a:p>
            <a:r>
              <a:rPr lang="en-US" sz="2000" b="1" dirty="0"/>
              <a:t>Knowledge is categorized into two major types:</a:t>
            </a:r>
          </a:p>
          <a:p>
            <a:pPr lvl="0"/>
            <a:r>
              <a:rPr lang="en-US" sz="2000" b="1" dirty="0"/>
              <a:t> 1. Tacit corresponds to “informal” or “implicit“</a:t>
            </a:r>
          </a:p>
          <a:p>
            <a:pPr marL="742950" lvl="1" indent="-285750">
              <a:buFont typeface="Arial" panose="020B0604020202020204" pitchFamily="34" charset="0"/>
              <a:buChar char="•"/>
            </a:pPr>
            <a:r>
              <a:rPr lang="en-US" sz="2000" dirty="0"/>
              <a:t>Exists within a human being;</a:t>
            </a:r>
          </a:p>
          <a:p>
            <a:pPr marL="742950" lvl="1" indent="-285750">
              <a:buFont typeface="Arial" panose="020B0604020202020204" pitchFamily="34" charset="0"/>
              <a:buChar char="•"/>
            </a:pPr>
            <a:r>
              <a:rPr lang="en-US" sz="2000" dirty="0"/>
              <a:t>It is embodied.</a:t>
            </a:r>
          </a:p>
          <a:p>
            <a:pPr marL="742950" lvl="1" indent="-285750">
              <a:buFont typeface="Arial" panose="020B0604020202020204" pitchFamily="34" charset="0"/>
              <a:buChar char="•"/>
            </a:pPr>
            <a:r>
              <a:rPr lang="en-US" sz="2000" dirty="0"/>
              <a:t>Difficult to articulate formally.</a:t>
            </a:r>
          </a:p>
          <a:p>
            <a:pPr marL="742950" lvl="1" indent="-285750">
              <a:buFont typeface="Arial" panose="020B0604020202020204" pitchFamily="34" charset="0"/>
              <a:buChar char="•"/>
            </a:pPr>
            <a:r>
              <a:rPr lang="en-US" sz="2000" dirty="0"/>
              <a:t>Difficult to communicate or share.</a:t>
            </a:r>
          </a:p>
          <a:p>
            <a:pPr marL="742950" lvl="1" indent="-285750">
              <a:buFont typeface="Arial" panose="020B0604020202020204" pitchFamily="34" charset="0"/>
              <a:buChar char="•"/>
            </a:pPr>
            <a:r>
              <a:rPr lang="en-US" sz="2000" dirty="0"/>
              <a:t>Moreover, Hard to steal or copy.</a:t>
            </a:r>
          </a:p>
          <a:p>
            <a:pPr marL="742950" lvl="1" indent="-285750">
              <a:buFont typeface="Arial" panose="020B0604020202020204" pitchFamily="34" charset="0"/>
              <a:buChar char="•"/>
            </a:pPr>
            <a:r>
              <a:rPr lang="en-US" sz="2000" dirty="0"/>
              <a:t>Drawn from experience, action, subjective insight</a:t>
            </a:r>
          </a:p>
        </p:txBody>
      </p:sp>
    </p:spTree>
    <p:extLst>
      <p:ext uri="{BB962C8B-B14F-4D97-AF65-F5344CB8AC3E}">
        <p14:creationId xmlns:p14="http://schemas.microsoft.com/office/powerpoint/2010/main" val="2638541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88872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Representations and Mappings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244885" cy="2966197"/>
          </a:xfrm>
          <a:prstGeom prst="rect">
            <a:avLst/>
          </a:prstGeom>
        </p:spPr>
        <p:txBody>
          <a:bodyPr vert="horz" wrap="square" lIns="0" tIns="11430" rIns="0" bIns="0" rtlCol="0">
            <a:spAutoFit/>
          </a:bodyPr>
          <a:lstStyle/>
          <a:p>
            <a:pPr lvl="0"/>
            <a:r>
              <a:rPr lang="en-US" sz="2400" dirty="0"/>
              <a:t>2. </a:t>
            </a:r>
            <a:r>
              <a:rPr lang="en-US" sz="2400" b="1" dirty="0"/>
              <a:t>Explicit formal type of knowledge, Explicit</a:t>
            </a:r>
          </a:p>
          <a:p>
            <a:pPr marL="800100" lvl="1" indent="-342900">
              <a:buFont typeface="Arial" panose="020B0604020202020204" pitchFamily="34" charset="0"/>
              <a:buChar char="•"/>
            </a:pPr>
            <a:r>
              <a:rPr lang="en-US" sz="2400" dirty="0"/>
              <a:t>Explicit knowledge</a:t>
            </a:r>
          </a:p>
          <a:p>
            <a:pPr marL="800100" lvl="1" indent="-342900">
              <a:buFont typeface="Arial" panose="020B0604020202020204" pitchFamily="34" charset="0"/>
              <a:buChar char="•"/>
            </a:pPr>
            <a:r>
              <a:rPr lang="en-US" sz="2400" dirty="0"/>
              <a:t>Exists outside a human being;</a:t>
            </a:r>
          </a:p>
          <a:p>
            <a:pPr marL="800100" lvl="1" indent="-342900">
              <a:buFont typeface="Arial" panose="020B0604020202020204" pitchFamily="34" charset="0"/>
              <a:buChar char="•"/>
            </a:pPr>
            <a:r>
              <a:rPr lang="en-US" sz="2400" dirty="0"/>
              <a:t>It is embedded.</a:t>
            </a:r>
          </a:p>
          <a:p>
            <a:pPr marL="800100" lvl="1" indent="-342900">
              <a:buFont typeface="Arial" panose="020B0604020202020204" pitchFamily="34" charset="0"/>
              <a:buChar char="•"/>
            </a:pPr>
            <a:r>
              <a:rPr lang="en-US" sz="2400" dirty="0"/>
              <a:t>Can be articulated formally.</a:t>
            </a:r>
          </a:p>
          <a:p>
            <a:pPr marL="800100" lvl="1" indent="-342900">
              <a:buFont typeface="Arial" panose="020B0604020202020204" pitchFamily="34" charset="0"/>
              <a:buChar char="•"/>
            </a:pPr>
            <a:r>
              <a:rPr lang="en-US" sz="2400" dirty="0"/>
              <a:t>Also, Can be shared, copied, processed and stored.</a:t>
            </a:r>
          </a:p>
          <a:p>
            <a:pPr marL="800100" lvl="1" indent="-342900">
              <a:buFont typeface="Arial" panose="020B0604020202020204" pitchFamily="34" charset="0"/>
              <a:buChar char="•"/>
            </a:pPr>
            <a:r>
              <a:rPr lang="en-US" sz="2400" dirty="0"/>
              <a:t>So, Easy to steal or copy</a:t>
            </a:r>
          </a:p>
          <a:p>
            <a:pPr marL="800100" lvl="1" indent="-342900">
              <a:buFont typeface="Arial" panose="020B0604020202020204" pitchFamily="34" charset="0"/>
              <a:buChar char="•"/>
            </a:pPr>
            <a:r>
              <a:rPr lang="en-US" sz="2400" dirty="0"/>
              <a:t>Drawn from the artifact of some type as a principle, procedure, process, concepts. </a:t>
            </a:r>
          </a:p>
        </p:txBody>
      </p:sp>
    </p:spTree>
    <p:extLst>
      <p:ext uri="{BB962C8B-B14F-4D97-AF65-F5344CB8AC3E}">
        <p14:creationId xmlns:p14="http://schemas.microsoft.com/office/powerpoint/2010/main" val="417661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88872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Representations and Mappings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244885" cy="4743606"/>
          </a:xfrm>
          <a:prstGeom prst="rect">
            <a:avLst/>
          </a:prstGeom>
        </p:spPr>
        <p:txBody>
          <a:bodyPr vert="horz" wrap="square" lIns="0" tIns="11430" rIns="0" bIns="0" rtlCol="0">
            <a:spAutoFit/>
          </a:bodyPr>
          <a:lstStyle/>
          <a:p>
            <a:pPr marL="0" lvl="1">
              <a:lnSpc>
                <a:spcPct val="150000"/>
              </a:lnSpc>
            </a:pPr>
            <a:r>
              <a:rPr lang="en-US" sz="2100" dirty="0"/>
              <a:t>A variety of ways of representing knowledge have been exploited in AI programs. There are two different kinds of entities, we are dealing with.</a:t>
            </a:r>
          </a:p>
          <a:p>
            <a:pPr marL="342900" lvl="0" indent="-342900">
              <a:lnSpc>
                <a:spcPct val="150000"/>
              </a:lnSpc>
              <a:buFont typeface="+mj-lt"/>
              <a:buAutoNum type="arabicPeriod"/>
            </a:pPr>
            <a:r>
              <a:rPr lang="en-US" sz="2100" dirty="0"/>
              <a:t>Facts: Truth in some relevant world. Things we want to represent.</a:t>
            </a:r>
          </a:p>
          <a:p>
            <a:pPr marL="342900" lvl="0" indent="-342900">
              <a:lnSpc>
                <a:spcPct val="150000"/>
              </a:lnSpc>
              <a:buFont typeface="+mj-lt"/>
              <a:buAutoNum type="arabicPeriod"/>
            </a:pPr>
            <a:r>
              <a:rPr lang="en-US" sz="2100" dirty="0"/>
              <a:t>Also, Representation of facts in some chosen formalism. Things we will actually be able to manipulate.</a:t>
            </a:r>
          </a:p>
          <a:p>
            <a:pPr>
              <a:lnSpc>
                <a:spcPct val="150000"/>
              </a:lnSpc>
            </a:pPr>
            <a:r>
              <a:rPr lang="en-US" sz="2100" b="1" dirty="0"/>
              <a:t>These entities structured at two levels:</a:t>
            </a:r>
          </a:p>
          <a:p>
            <a:pPr marL="342900" lvl="0" indent="-342900">
              <a:lnSpc>
                <a:spcPct val="150000"/>
              </a:lnSpc>
              <a:buFont typeface="+mj-lt"/>
              <a:buAutoNum type="arabicPeriod"/>
            </a:pPr>
            <a:r>
              <a:rPr lang="en-US" sz="2100" dirty="0"/>
              <a:t>The knowledge level, at which facts described.</a:t>
            </a:r>
          </a:p>
          <a:p>
            <a:pPr marL="342900" lvl="0" indent="-342900">
              <a:lnSpc>
                <a:spcPct val="150000"/>
              </a:lnSpc>
              <a:buFont typeface="+mj-lt"/>
              <a:buAutoNum type="arabicPeriod"/>
            </a:pPr>
            <a:r>
              <a:rPr lang="en-US" sz="2100" dirty="0"/>
              <a:t>Moreover, The symbol level, at which representation of objects defined in terms of symbols that can manipulate by programs</a:t>
            </a:r>
          </a:p>
          <a:p>
            <a:pPr marL="800100" lvl="1"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72692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7"/>
            <a:chOff x="0" y="0"/>
            <a:chExt cx="12192000" cy="6857997"/>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2478023" y="2572511"/>
              <a:ext cx="7239000" cy="2804160"/>
            </a:xfrm>
            <a:prstGeom prst="rect">
              <a:avLst/>
            </a:prstGeom>
          </p:spPr>
        </p:pic>
        <p:sp>
          <p:nvSpPr>
            <p:cNvPr id="5" name="object 5"/>
            <p:cNvSpPr/>
            <p:nvPr/>
          </p:nvSpPr>
          <p:spPr>
            <a:xfrm>
              <a:off x="0" y="3715510"/>
              <a:ext cx="12192000" cy="2075690"/>
            </a:xfrm>
            <a:custGeom>
              <a:avLst/>
              <a:gdLst/>
              <a:ahLst/>
              <a:cxnLst/>
              <a:rect l="l" t="t" r="r" b="b"/>
              <a:pathLst>
                <a:path w="12192000" h="713739">
                  <a:moveTo>
                    <a:pt x="12192000" y="0"/>
                  </a:moveTo>
                  <a:lnTo>
                    <a:pt x="0" y="0"/>
                  </a:lnTo>
                  <a:lnTo>
                    <a:pt x="0" y="713232"/>
                  </a:lnTo>
                  <a:lnTo>
                    <a:pt x="12192000" y="713232"/>
                  </a:lnTo>
                  <a:lnTo>
                    <a:pt x="12192000" y="0"/>
                  </a:lnTo>
                  <a:close/>
                </a:path>
              </a:pathLst>
            </a:custGeom>
            <a:solidFill>
              <a:srgbClr val="1F487C"/>
            </a:solidFill>
          </p:spPr>
          <p:txBody>
            <a:bodyPr wrap="square" lIns="0" tIns="0" rIns="0" bIns="0" rtlCol="0"/>
            <a:lstStyle/>
            <a:p>
              <a:endParaRPr/>
            </a:p>
          </p:txBody>
        </p:sp>
      </p:grpSp>
      <p:sp>
        <p:nvSpPr>
          <p:cNvPr id="6" name="object 6"/>
          <p:cNvSpPr txBox="1"/>
          <p:nvPr/>
        </p:nvSpPr>
        <p:spPr>
          <a:xfrm>
            <a:off x="1049422" y="3715510"/>
            <a:ext cx="7789778" cy="1654940"/>
          </a:xfrm>
          <a:prstGeom prst="rect">
            <a:avLst/>
          </a:prstGeom>
        </p:spPr>
        <p:txBody>
          <a:bodyPr vert="horz" wrap="square" lIns="0" tIns="13335" rIns="0" bIns="0" rtlCol="0">
            <a:spAutoFit/>
          </a:bodyPr>
          <a:lstStyle/>
          <a:p>
            <a:pPr marL="12700" algn="ctr">
              <a:lnSpc>
                <a:spcPct val="100000"/>
              </a:lnSpc>
              <a:spcBef>
                <a:spcPts val="105"/>
              </a:spcBef>
            </a:pPr>
            <a:r>
              <a:rPr lang="en-US" sz="3500" b="1" spc="-5" dirty="0">
                <a:solidFill>
                  <a:srgbClr val="FFFFFF"/>
                </a:solidFill>
                <a:cs typeface="Calibri"/>
              </a:rPr>
              <a:t>Topic-3.2</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Different Approaches </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Issues in Knowledge representation</a:t>
            </a:r>
            <a:endParaRPr lang="en-IN" sz="3500" dirty="0">
              <a:latin typeface="Calibri"/>
              <a:cs typeface="Calibri"/>
            </a:endParaRPr>
          </a:p>
        </p:txBody>
      </p:sp>
      <p:sp>
        <p:nvSpPr>
          <p:cNvPr id="9" name="object 7">
            <a:extLst>
              <a:ext uri="{FF2B5EF4-FFF2-40B4-BE49-F238E27FC236}">
                <a16:creationId xmlns:a16="http://schemas.microsoft.com/office/drawing/2014/main" id="{A4085080-0372-4AC3-B41F-7B3F1635256A}"/>
              </a:ext>
            </a:extLst>
          </p:cNvPr>
          <p:cNvSpPr txBox="1">
            <a:spLocks/>
          </p:cNvSpPr>
          <p:nvPr/>
        </p:nvSpPr>
        <p:spPr>
          <a:xfrm>
            <a:off x="3124200" y="1857622"/>
            <a:ext cx="5562600" cy="995785"/>
          </a:xfrm>
          <a:prstGeom prst="rect">
            <a:avLst/>
          </a:prstGeom>
        </p:spPr>
        <p:txBody>
          <a:bodyPr vert="horz" wrap="square" lIns="0" tIns="13335" rIns="0" bIns="0" rtlCol="0">
            <a:spAutoFit/>
          </a:bodyPr>
          <a:lstStyle>
            <a:lvl1pPr>
              <a:defRPr sz="3500" b="1" i="0">
                <a:solidFill>
                  <a:schemeClr val="tx1"/>
                </a:solidFill>
                <a:latin typeface="Calibri"/>
                <a:ea typeface="+mj-ea"/>
                <a:cs typeface="Calibri"/>
              </a:defRPr>
            </a:lvl1pPr>
          </a:lstStyle>
          <a:p>
            <a:pPr marL="13970" algn="ctr">
              <a:spcBef>
                <a:spcPts val="105"/>
              </a:spcBef>
            </a:pPr>
            <a:r>
              <a:rPr lang="en-US" sz="2800" kern="0" spc="-5" dirty="0"/>
              <a:t>CHAPTER-3</a:t>
            </a:r>
          </a:p>
          <a:p>
            <a:pPr marL="13970" algn="ctr">
              <a:spcBef>
                <a:spcPts val="105"/>
              </a:spcBef>
            </a:pPr>
            <a:r>
              <a:rPr lang="en-US" kern="0" spc="-5" dirty="0"/>
              <a:t> Knowledge Representation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2943" y="2243250"/>
            <a:ext cx="7096125" cy="1150956"/>
          </a:xfrm>
          <a:prstGeom prst="rect">
            <a:avLst/>
          </a:prstGeom>
        </p:spPr>
        <p:txBody>
          <a:bodyPr vert="horz" wrap="square" lIns="0" tIns="73025" rIns="0" bIns="0" rtlCol="0">
            <a:spAutoFit/>
          </a:bodyPr>
          <a:lstStyle/>
          <a:p>
            <a:pPr marL="101600" indent="-89535">
              <a:lnSpc>
                <a:spcPct val="100000"/>
              </a:lnSpc>
              <a:spcBef>
                <a:spcPts val="575"/>
              </a:spcBef>
              <a:buSzPct val="95000"/>
              <a:buFont typeface="Arial MT"/>
              <a:buChar char="•"/>
              <a:tabLst>
                <a:tab pos="102235" algn="l"/>
              </a:tabLst>
            </a:pPr>
            <a:r>
              <a:rPr lang="en-US" sz="2000" b="1" spc="-10" dirty="0">
                <a:cs typeface="Calibri"/>
              </a:rPr>
              <a:t>Approaches to Knowledge Representation in AI</a:t>
            </a:r>
          </a:p>
          <a:p>
            <a:pPr marL="101600" indent="-89535">
              <a:lnSpc>
                <a:spcPct val="100000"/>
              </a:lnSpc>
              <a:spcBef>
                <a:spcPts val="575"/>
              </a:spcBef>
              <a:buSzPct val="95000"/>
              <a:buFont typeface="Arial MT"/>
              <a:buChar char="•"/>
              <a:tabLst>
                <a:tab pos="102235" algn="l"/>
              </a:tabLst>
            </a:pPr>
            <a:r>
              <a:rPr lang="en-US" sz="2000" b="1" spc="-10" dirty="0">
                <a:cs typeface="Calibri"/>
              </a:rPr>
              <a:t>Issues in Knowledge Representation</a:t>
            </a:r>
          </a:p>
          <a:p>
            <a:pPr marL="101600" indent="-89535">
              <a:lnSpc>
                <a:spcPct val="100000"/>
              </a:lnSpc>
              <a:spcBef>
                <a:spcPts val="575"/>
              </a:spcBef>
              <a:buSzPct val="95000"/>
              <a:buFont typeface="Arial MT"/>
              <a:buChar char="•"/>
              <a:tabLst>
                <a:tab pos="102235" algn="l"/>
              </a:tabLst>
            </a:pPr>
            <a:endParaRPr lang="en-IN" sz="2000" b="1" spc="-10" dirty="0">
              <a:latin typeface="Calibri"/>
              <a:cs typeface="Calibri"/>
            </a:endParaRPr>
          </a:p>
        </p:txBody>
      </p:sp>
      <p:sp>
        <p:nvSpPr>
          <p:cNvPr id="3" name="object 3"/>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4" name="object 4"/>
          <p:cNvSpPr txBox="1">
            <a:spLocks noGrp="1"/>
          </p:cNvSpPr>
          <p:nvPr>
            <p:ph type="title"/>
          </p:nvPr>
        </p:nvSpPr>
        <p:spPr>
          <a:xfrm>
            <a:off x="332943" y="1697227"/>
            <a:ext cx="1525270" cy="512445"/>
          </a:xfrm>
          <a:prstGeom prst="rect">
            <a:avLst/>
          </a:prstGeom>
        </p:spPr>
        <p:txBody>
          <a:bodyPr vert="horz" wrap="square" lIns="0" tIns="11430" rIns="0" bIns="0" rtlCol="0">
            <a:spAutoFit/>
          </a:bodyPr>
          <a:lstStyle/>
          <a:p>
            <a:pPr marL="12700">
              <a:lnSpc>
                <a:spcPct val="100000"/>
              </a:lnSpc>
              <a:spcBef>
                <a:spcPts val="90"/>
              </a:spcBef>
            </a:pPr>
            <a:r>
              <a:rPr sz="3200" spc="-25" dirty="0">
                <a:solidFill>
                  <a:srgbClr val="FFFFFF"/>
                </a:solidFill>
              </a:rPr>
              <a:t>Contents</a:t>
            </a:r>
            <a:endParaRPr sz="3200"/>
          </a:p>
        </p:txBody>
      </p:sp>
      <p:sp>
        <p:nvSpPr>
          <p:cNvPr id="5" name="object 5"/>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Approaches to Knowledge Representation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5" y="2429637"/>
            <a:ext cx="8708390" cy="2832827"/>
          </a:xfrm>
          <a:prstGeom prst="rect">
            <a:avLst/>
          </a:prstGeom>
        </p:spPr>
        <p:txBody>
          <a:bodyPr vert="horz" wrap="square" lIns="0" tIns="11430" rIns="0" bIns="0" rtlCol="0">
            <a:spAutoFit/>
          </a:bodyPr>
          <a:lstStyle/>
          <a:p>
            <a:pPr marL="12700">
              <a:lnSpc>
                <a:spcPct val="100000"/>
              </a:lnSpc>
              <a:spcBef>
                <a:spcPts val="90"/>
              </a:spcBef>
            </a:pPr>
            <a:r>
              <a:rPr lang="en-IN" sz="2000" b="1" spc="-5" dirty="0">
                <a:latin typeface="Calibri"/>
                <a:cs typeface="Calibri"/>
              </a:rPr>
              <a:t>here are different approaches to knowledge representation such as:</a:t>
            </a:r>
          </a:p>
          <a:p>
            <a:pPr marL="12700">
              <a:lnSpc>
                <a:spcPct val="100000"/>
              </a:lnSpc>
              <a:spcBef>
                <a:spcPts val="90"/>
              </a:spcBef>
            </a:pPr>
            <a:endParaRPr lang="en-IN" sz="2000" b="1" spc="-5" dirty="0">
              <a:latin typeface="Calibri"/>
              <a:cs typeface="Calibri"/>
            </a:endParaRPr>
          </a:p>
          <a:p>
            <a:pPr marL="12700">
              <a:lnSpc>
                <a:spcPct val="100000"/>
              </a:lnSpc>
              <a:spcBef>
                <a:spcPts val="90"/>
              </a:spcBef>
            </a:pPr>
            <a:r>
              <a:rPr lang="en-IN" sz="2000" b="1" dirty="0">
                <a:latin typeface="Calibri"/>
                <a:cs typeface="Calibri"/>
              </a:rPr>
              <a:t>1. Simple Relational Knowledge</a:t>
            </a:r>
          </a:p>
          <a:p>
            <a:pPr marL="12700">
              <a:lnSpc>
                <a:spcPct val="100000"/>
              </a:lnSpc>
              <a:spcBef>
                <a:spcPts val="90"/>
              </a:spcBef>
            </a:pPr>
            <a:r>
              <a:rPr lang="en-IN" sz="2000" dirty="0">
                <a:latin typeface="Calibri"/>
                <a:cs typeface="Calibri"/>
              </a:rPr>
              <a:t>It is the simplest way of storing facts which uses the relational method. Here, all the facts about a set of the object are set out systematically in columns. Also, this approach of knowledge representation is famous in database systems where the relationship between different entities is represented. Thus, there is little opportunity for inference.</a:t>
            </a:r>
          </a:p>
          <a:p>
            <a:pPr marL="12700">
              <a:lnSpc>
                <a:spcPct val="100000"/>
              </a:lnSpc>
              <a:spcBef>
                <a:spcPts val="90"/>
              </a:spcBef>
            </a:pPr>
            <a:endParaRPr lang="en-IN" sz="2000" b="1" dirty="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Approaches to Knowledge Representation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5" y="2429637"/>
            <a:ext cx="1719885" cy="319318"/>
          </a:xfrm>
          <a:prstGeom prst="rect">
            <a:avLst/>
          </a:prstGeom>
        </p:spPr>
        <p:txBody>
          <a:bodyPr vert="horz" wrap="square" lIns="0" tIns="11430" rIns="0" bIns="0" rtlCol="0">
            <a:spAutoFit/>
          </a:bodyPr>
          <a:lstStyle/>
          <a:p>
            <a:pPr marL="12700">
              <a:lnSpc>
                <a:spcPct val="100000"/>
              </a:lnSpc>
              <a:spcBef>
                <a:spcPts val="90"/>
              </a:spcBef>
            </a:pPr>
            <a:r>
              <a:rPr lang="en-IN" sz="2000" b="1" spc="-5" dirty="0">
                <a:latin typeface="Calibri"/>
                <a:cs typeface="Calibri"/>
              </a:rPr>
              <a:t>Example:</a:t>
            </a:r>
          </a:p>
        </p:txBody>
      </p:sp>
      <p:graphicFrame>
        <p:nvGraphicFramePr>
          <p:cNvPr id="7" name="Table 6">
            <a:extLst>
              <a:ext uri="{FF2B5EF4-FFF2-40B4-BE49-F238E27FC236}">
                <a16:creationId xmlns:a16="http://schemas.microsoft.com/office/drawing/2014/main" id="{49B8E14B-39E7-546E-494E-4C2D7954C97D}"/>
              </a:ext>
            </a:extLst>
          </p:cNvPr>
          <p:cNvGraphicFramePr>
            <a:graphicFrameLocks noGrp="1"/>
          </p:cNvGraphicFramePr>
          <p:nvPr>
            <p:extLst/>
          </p:nvPr>
        </p:nvGraphicFramePr>
        <p:xfrm>
          <a:off x="1828800" y="3200400"/>
          <a:ext cx="6096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34112077"/>
                    </a:ext>
                  </a:extLst>
                </a:gridCol>
                <a:gridCol w="2032000">
                  <a:extLst>
                    <a:ext uri="{9D8B030D-6E8A-4147-A177-3AD203B41FA5}">
                      <a16:colId xmlns:a16="http://schemas.microsoft.com/office/drawing/2014/main" val="1738512290"/>
                    </a:ext>
                  </a:extLst>
                </a:gridCol>
                <a:gridCol w="2032000">
                  <a:extLst>
                    <a:ext uri="{9D8B030D-6E8A-4147-A177-3AD203B41FA5}">
                      <a16:colId xmlns:a16="http://schemas.microsoft.com/office/drawing/2014/main" val="3463376653"/>
                    </a:ext>
                  </a:extLst>
                </a:gridCol>
              </a:tblGrid>
              <a:tr h="370840">
                <a:tc>
                  <a:txBody>
                    <a:bodyPr/>
                    <a:lstStyle/>
                    <a:p>
                      <a:r>
                        <a:rPr lang="en-IN" dirty="0"/>
                        <a:t>Name</a:t>
                      </a:r>
                    </a:p>
                  </a:txBody>
                  <a:tcPr/>
                </a:tc>
                <a:tc>
                  <a:txBody>
                    <a:bodyPr/>
                    <a:lstStyle/>
                    <a:p>
                      <a:r>
                        <a:rPr lang="en-IN" dirty="0"/>
                        <a:t>Age</a:t>
                      </a:r>
                    </a:p>
                  </a:txBody>
                  <a:tcPr/>
                </a:tc>
                <a:tc>
                  <a:txBody>
                    <a:bodyPr/>
                    <a:lstStyle/>
                    <a:p>
                      <a:r>
                        <a:rPr lang="en-IN" dirty="0"/>
                        <a:t>Emp ID</a:t>
                      </a:r>
                    </a:p>
                  </a:txBody>
                  <a:tcPr/>
                </a:tc>
                <a:extLst>
                  <a:ext uri="{0D108BD9-81ED-4DB2-BD59-A6C34878D82A}">
                    <a16:rowId xmlns:a16="http://schemas.microsoft.com/office/drawing/2014/main" val="434906931"/>
                  </a:ext>
                </a:extLst>
              </a:tr>
              <a:tr h="370840">
                <a:tc>
                  <a:txBody>
                    <a:bodyPr/>
                    <a:lstStyle/>
                    <a:p>
                      <a:r>
                        <a:rPr lang="en-IN">
                          <a:effectLst/>
                        </a:rPr>
                        <a:t>John</a:t>
                      </a:r>
                    </a:p>
                  </a:txBody>
                  <a:tcPr marL="47625" anchor="ctr"/>
                </a:tc>
                <a:tc>
                  <a:txBody>
                    <a:bodyPr/>
                    <a:lstStyle/>
                    <a:p>
                      <a:r>
                        <a:rPr lang="en-IN">
                          <a:effectLst/>
                        </a:rPr>
                        <a:t>25</a:t>
                      </a:r>
                    </a:p>
                  </a:txBody>
                  <a:tcPr marL="47625" anchor="ctr"/>
                </a:tc>
                <a:tc>
                  <a:txBody>
                    <a:bodyPr/>
                    <a:lstStyle/>
                    <a:p>
                      <a:r>
                        <a:rPr lang="en-IN">
                          <a:effectLst/>
                        </a:rPr>
                        <a:t>100071</a:t>
                      </a:r>
                    </a:p>
                  </a:txBody>
                  <a:tcPr marL="47625" anchor="ctr"/>
                </a:tc>
                <a:extLst>
                  <a:ext uri="{0D108BD9-81ED-4DB2-BD59-A6C34878D82A}">
                    <a16:rowId xmlns:a16="http://schemas.microsoft.com/office/drawing/2014/main" val="3636763022"/>
                  </a:ext>
                </a:extLst>
              </a:tr>
              <a:tr h="370840">
                <a:tc>
                  <a:txBody>
                    <a:bodyPr/>
                    <a:lstStyle/>
                    <a:p>
                      <a:r>
                        <a:rPr lang="en-IN">
                          <a:effectLst/>
                        </a:rPr>
                        <a:t>Amanda</a:t>
                      </a:r>
                    </a:p>
                  </a:txBody>
                  <a:tcPr marL="47625" anchor="ctr"/>
                </a:tc>
                <a:tc>
                  <a:txBody>
                    <a:bodyPr/>
                    <a:lstStyle/>
                    <a:p>
                      <a:r>
                        <a:rPr lang="en-IN">
                          <a:effectLst/>
                        </a:rPr>
                        <a:t>23</a:t>
                      </a:r>
                    </a:p>
                  </a:txBody>
                  <a:tcPr marL="47625" anchor="ctr"/>
                </a:tc>
                <a:tc>
                  <a:txBody>
                    <a:bodyPr/>
                    <a:lstStyle/>
                    <a:p>
                      <a:r>
                        <a:rPr lang="en-IN">
                          <a:effectLst/>
                        </a:rPr>
                        <a:t>100056</a:t>
                      </a:r>
                    </a:p>
                  </a:txBody>
                  <a:tcPr marL="47625" anchor="ctr"/>
                </a:tc>
                <a:extLst>
                  <a:ext uri="{0D108BD9-81ED-4DB2-BD59-A6C34878D82A}">
                    <a16:rowId xmlns:a16="http://schemas.microsoft.com/office/drawing/2014/main" val="2480265324"/>
                  </a:ext>
                </a:extLst>
              </a:tr>
              <a:tr h="370840">
                <a:tc>
                  <a:txBody>
                    <a:bodyPr/>
                    <a:lstStyle/>
                    <a:p>
                      <a:r>
                        <a:rPr lang="en-IN">
                          <a:effectLst/>
                        </a:rPr>
                        <a:t>Sam</a:t>
                      </a:r>
                    </a:p>
                  </a:txBody>
                  <a:tcPr marL="47625" anchor="ctr"/>
                </a:tc>
                <a:tc>
                  <a:txBody>
                    <a:bodyPr/>
                    <a:lstStyle/>
                    <a:p>
                      <a:r>
                        <a:rPr lang="en-IN">
                          <a:effectLst/>
                        </a:rPr>
                        <a:t>27</a:t>
                      </a:r>
                    </a:p>
                  </a:txBody>
                  <a:tcPr marL="47625" anchor="ctr"/>
                </a:tc>
                <a:tc>
                  <a:txBody>
                    <a:bodyPr/>
                    <a:lstStyle/>
                    <a:p>
                      <a:r>
                        <a:rPr lang="en-IN" dirty="0">
                          <a:effectLst/>
                        </a:rPr>
                        <a:t>100042</a:t>
                      </a:r>
                    </a:p>
                  </a:txBody>
                  <a:tcPr marL="47625" anchor="ctr"/>
                </a:tc>
                <a:extLst>
                  <a:ext uri="{0D108BD9-81ED-4DB2-BD59-A6C34878D82A}">
                    <a16:rowId xmlns:a16="http://schemas.microsoft.com/office/drawing/2014/main" val="1801425295"/>
                  </a:ext>
                </a:extLst>
              </a:tr>
            </a:tbl>
          </a:graphicData>
        </a:graphic>
      </p:graphicFrame>
      <p:sp>
        <p:nvSpPr>
          <p:cNvPr id="11" name="TextBox 10">
            <a:extLst>
              <a:ext uri="{FF2B5EF4-FFF2-40B4-BE49-F238E27FC236}">
                <a16:creationId xmlns:a16="http://schemas.microsoft.com/office/drawing/2014/main" id="{27759DEF-DCCE-ACFB-0161-6CBCDA85F871}"/>
              </a:ext>
            </a:extLst>
          </p:cNvPr>
          <p:cNvSpPr txBox="1"/>
          <p:nvPr/>
        </p:nvSpPr>
        <p:spPr>
          <a:xfrm>
            <a:off x="990600" y="5413367"/>
            <a:ext cx="8305800" cy="400110"/>
          </a:xfrm>
          <a:prstGeom prst="rect">
            <a:avLst/>
          </a:prstGeom>
          <a:noFill/>
        </p:spPr>
        <p:txBody>
          <a:bodyPr wrap="square">
            <a:spAutoFit/>
          </a:bodyPr>
          <a:lstStyle/>
          <a:p>
            <a:r>
              <a:rPr lang="en-IN" sz="2000" dirty="0"/>
              <a:t>This is an example of representing simple relational knowledge.</a:t>
            </a:r>
          </a:p>
        </p:txBody>
      </p:sp>
    </p:spTree>
    <p:extLst>
      <p:ext uri="{BB962C8B-B14F-4D97-AF65-F5344CB8AC3E}">
        <p14:creationId xmlns:p14="http://schemas.microsoft.com/office/powerpoint/2010/main" val="53641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Approaches to Knowledge Representation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092485" cy="1563248"/>
          </a:xfrm>
          <a:prstGeom prst="rect">
            <a:avLst/>
          </a:prstGeom>
        </p:spPr>
        <p:txBody>
          <a:bodyPr vert="horz" wrap="square" lIns="0" tIns="11430" rIns="0" bIns="0" rtlCol="0">
            <a:spAutoFit/>
          </a:bodyPr>
          <a:lstStyle/>
          <a:p>
            <a:pPr marL="12700">
              <a:lnSpc>
                <a:spcPct val="100000"/>
              </a:lnSpc>
              <a:spcBef>
                <a:spcPts val="90"/>
              </a:spcBef>
            </a:pPr>
            <a:r>
              <a:rPr lang="en-IN" sz="2000" b="1" dirty="0">
                <a:latin typeface="Calibri"/>
                <a:cs typeface="Calibri"/>
              </a:rPr>
              <a:t>2. Inheritable Knowledge</a:t>
            </a:r>
          </a:p>
          <a:p>
            <a:pPr marL="12700">
              <a:lnSpc>
                <a:spcPct val="100000"/>
              </a:lnSpc>
              <a:spcBef>
                <a:spcPts val="90"/>
              </a:spcBef>
            </a:pPr>
            <a:r>
              <a:rPr lang="en-IN" sz="2000" dirty="0">
                <a:latin typeface="Calibri"/>
                <a:cs typeface="Calibri"/>
              </a:rPr>
              <a:t>In the inheritable knowledge approach, all data must be stored into a hierarchy of classes and should be arranged in a generalized form or a hierarchal manner. Also, this approach contains inheritable knowledge which shows a relation between instance and class, and it is called instance relation. In this approach, objects and values are represented in Boxed nodes.</a:t>
            </a:r>
            <a:endParaRPr lang="en-IN" sz="2000" b="1" dirty="0">
              <a:latin typeface="Calibri"/>
              <a:cs typeface="Calibri"/>
            </a:endParaRPr>
          </a:p>
        </p:txBody>
      </p:sp>
    </p:spTree>
    <p:extLst>
      <p:ext uri="{BB962C8B-B14F-4D97-AF65-F5344CB8AC3E}">
        <p14:creationId xmlns:p14="http://schemas.microsoft.com/office/powerpoint/2010/main" val="4097242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Approaches to Knowledge Representation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5" y="2429637"/>
            <a:ext cx="1186486" cy="319318"/>
          </a:xfrm>
          <a:prstGeom prst="rect">
            <a:avLst/>
          </a:prstGeom>
        </p:spPr>
        <p:txBody>
          <a:bodyPr vert="horz" wrap="square" lIns="0" tIns="11430" rIns="0" bIns="0" rtlCol="0">
            <a:spAutoFit/>
          </a:bodyPr>
          <a:lstStyle/>
          <a:p>
            <a:pPr marL="12700">
              <a:lnSpc>
                <a:spcPct val="100000"/>
              </a:lnSpc>
              <a:spcBef>
                <a:spcPts val="90"/>
              </a:spcBef>
            </a:pPr>
            <a:r>
              <a:rPr lang="en-IN" sz="2000" b="1" dirty="0">
                <a:latin typeface="Calibri"/>
                <a:cs typeface="Calibri"/>
              </a:rPr>
              <a:t>Example:</a:t>
            </a:r>
          </a:p>
        </p:txBody>
      </p:sp>
      <p:pic>
        <p:nvPicPr>
          <p:cNvPr id="7" name="Picture 6">
            <a:extLst>
              <a:ext uri="{FF2B5EF4-FFF2-40B4-BE49-F238E27FC236}">
                <a16:creationId xmlns:a16="http://schemas.microsoft.com/office/drawing/2014/main" id="{0A9B6388-9E76-D3E6-B62F-36A796179ED4}"/>
              </a:ext>
            </a:extLst>
          </p:cNvPr>
          <p:cNvPicPr>
            <a:picLocks noChangeAspect="1"/>
          </p:cNvPicPr>
          <p:nvPr/>
        </p:nvPicPr>
        <p:blipFill>
          <a:blip r:embed="rId2"/>
          <a:stretch>
            <a:fillRect/>
          </a:stretch>
        </p:blipFill>
        <p:spPr>
          <a:xfrm>
            <a:off x="2895600" y="2589296"/>
            <a:ext cx="5257800" cy="3698854"/>
          </a:xfrm>
          <a:prstGeom prst="rect">
            <a:avLst/>
          </a:prstGeom>
        </p:spPr>
      </p:pic>
    </p:spTree>
    <p:extLst>
      <p:ext uri="{BB962C8B-B14F-4D97-AF65-F5344CB8AC3E}">
        <p14:creationId xmlns:p14="http://schemas.microsoft.com/office/powerpoint/2010/main" val="2134149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Approaches to Knowledge Representation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092485" cy="4128053"/>
          </a:xfrm>
          <a:prstGeom prst="rect">
            <a:avLst/>
          </a:prstGeom>
        </p:spPr>
        <p:txBody>
          <a:bodyPr vert="horz" wrap="square" lIns="0" tIns="11430" rIns="0" bIns="0" rtlCol="0">
            <a:spAutoFit/>
          </a:bodyPr>
          <a:lstStyle/>
          <a:p>
            <a:pPr marL="12700">
              <a:lnSpc>
                <a:spcPct val="100000"/>
              </a:lnSpc>
              <a:spcBef>
                <a:spcPts val="90"/>
              </a:spcBef>
            </a:pPr>
            <a:r>
              <a:rPr lang="en-IN" sz="2000" b="1" dirty="0">
                <a:latin typeface="Calibri"/>
                <a:cs typeface="Calibri"/>
              </a:rPr>
              <a:t>3. Inferential Knowledge</a:t>
            </a:r>
          </a:p>
          <a:p>
            <a:pPr marL="12700">
              <a:lnSpc>
                <a:spcPct val="100000"/>
              </a:lnSpc>
              <a:spcBef>
                <a:spcPts val="90"/>
              </a:spcBef>
            </a:pPr>
            <a:r>
              <a:rPr lang="en-IN" sz="2000" dirty="0">
                <a:latin typeface="Calibri"/>
                <a:cs typeface="Calibri"/>
              </a:rPr>
              <a:t>The inferential knowledge approach represents knowledge in the form of formal logic. Thus, it can be used to derive more facts. Also, it guarantees correctness.</a:t>
            </a:r>
          </a:p>
          <a:p>
            <a:pPr marL="12700">
              <a:lnSpc>
                <a:spcPct val="100000"/>
              </a:lnSpc>
              <a:spcBef>
                <a:spcPts val="90"/>
              </a:spcBef>
            </a:pPr>
            <a:endParaRPr lang="en-IN" sz="2000" b="1" dirty="0">
              <a:latin typeface="Calibri"/>
              <a:cs typeface="Calibri"/>
            </a:endParaRPr>
          </a:p>
          <a:p>
            <a:pPr marL="12700">
              <a:lnSpc>
                <a:spcPct val="100000"/>
              </a:lnSpc>
              <a:spcBef>
                <a:spcPts val="90"/>
              </a:spcBef>
            </a:pPr>
            <a:r>
              <a:rPr lang="en-IN" sz="2000" b="1" dirty="0">
                <a:latin typeface="Calibri"/>
                <a:cs typeface="Calibri"/>
              </a:rPr>
              <a:t>Example:</a:t>
            </a:r>
          </a:p>
          <a:p>
            <a:pPr marL="12700">
              <a:lnSpc>
                <a:spcPct val="100000"/>
              </a:lnSpc>
              <a:spcBef>
                <a:spcPts val="90"/>
              </a:spcBef>
            </a:pPr>
            <a:r>
              <a:rPr lang="en-IN" sz="2000" b="1" dirty="0">
                <a:latin typeface="Calibri"/>
                <a:cs typeface="Calibri"/>
              </a:rPr>
              <a:t>Statement 1: </a:t>
            </a:r>
            <a:r>
              <a:rPr lang="en-IN" sz="2000" dirty="0">
                <a:latin typeface="Calibri"/>
                <a:cs typeface="Calibri"/>
              </a:rPr>
              <a:t>John is a cricketer.</a:t>
            </a:r>
          </a:p>
          <a:p>
            <a:pPr marL="12700">
              <a:lnSpc>
                <a:spcPct val="100000"/>
              </a:lnSpc>
              <a:spcBef>
                <a:spcPts val="90"/>
              </a:spcBef>
            </a:pPr>
            <a:r>
              <a:rPr lang="en-IN" sz="2000" b="1" dirty="0">
                <a:latin typeface="Calibri"/>
                <a:cs typeface="Calibri"/>
              </a:rPr>
              <a:t>Statement 2: </a:t>
            </a:r>
            <a:r>
              <a:rPr lang="en-IN" sz="2000" dirty="0">
                <a:latin typeface="Calibri"/>
                <a:cs typeface="Calibri"/>
              </a:rPr>
              <a:t>All cricketers are athletes.</a:t>
            </a:r>
          </a:p>
          <a:p>
            <a:pPr marL="12700">
              <a:lnSpc>
                <a:spcPct val="100000"/>
              </a:lnSpc>
              <a:spcBef>
                <a:spcPts val="90"/>
              </a:spcBef>
            </a:pPr>
            <a:r>
              <a:rPr lang="en-IN" sz="2000" dirty="0">
                <a:latin typeface="Calibri"/>
                <a:cs typeface="Calibri"/>
              </a:rPr>
              <a:t>Then it can be represented as;</a:t>
            </a:r>
          </a:p>
          <a:p>
            <a:pPr marL="12700">
              <a:lnSpc>
                <a:spcPct val="100000"/>
              </a:lnSpc>
              <a:spcBef>
                <a:spcPts val="90"/>
              </a:spcBef>
            </a:pPr>
            <a:r>
              <a:rPr lang="en-IN" sz="2000" b="1" dirty="0">
                <a:latin typeface="Calibri"/>
                <a:cs typeface="Calibri"/>
              </a:rPr>
              <a:t>Cricketer(John)</a:t>
            </a:r>
          </a:p>
          <a:p>
            <a:pPr marL="12700">
              <a:lnSpc>
                <a:spcPct val="100000"/>
              </a:lnSpc>
              <a:spcBef>
                <a:spcPts val="90"/>
              </a:spcBef>
            </a:pPr>
            <a:r>
              <a:rPr lang="en-IN" sz="2000" b="1" dirty="0">
                <a:latin typeface="Calibri"/>
                <a:cs typeface="Calibri"/>
              </a:rPr>
              <a:t>∀x = Cricketer (x) ———-&gt; </a:t>
            </a:r>
            <a:r>
              <a:rPr lang="en-IN" sz="2000" b="1" dirty="0" err="1">
                <a:latin typeface="Calibri"/>
                <a:cs typeface="Calibri"/>
              </a:rPr>
              <a:t>Athelete</a:t>
            </a:r>
            <a:r>
              <a:rPr lang="en-IN" sz="2000" b="1" dirty="0">
                <a:latin typeface="Calibri"/>
                <a:cs typeface="Calibri"/>
              </a:rPr>
              <a:t> (x)s</a:t>
            </a:r>
          </a:p>
          <a:p>
            <a:pPr marL="12700">
              <a:lnSpc>
                <a:spcPct val="100000"/>
              </a:lnSpc>
              <a:spcBef>
                <a:spcPts val="90"/>
              </a:spcBef>
            </a:pPr>
            <a:r>
              <a:rPr lang="en-IN" sz="2000" dirty="0">
                <a:latin typeface="Calibri"/>
                <a:cs typeface="Calibri"/>
              </a:rPr>
              <a:t>These were some of the approaches to knowledge representation in AI along with examples. With this, we have come to the end of our article. I hope you understood what is Knowledge Representation in AI and its different types.</a:t>
            </a:r>
          </a:p>
        </p:txBody>
      </p:sp>
    </p:spTree>
    <p:extLst>
      <p:ext uri="{BB962C8B-B14F-4D97-AF65-F5344CB8AC3E}">
        <p14:creationId xmlns:p14="http://schemas.microsoft.com/office/powerpoint/2010/main" val="1113060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668953"/>
          </a:xfrm>
          <a:prstGeom prst="rect">
            <a:avLst/>
          </a:prstGeom>
        </p:spPr>
        <p:txBody>
          <a:bodyPr vert="horz" wrap="square" lIns="0" tIns="11430" rIns="0" bIns="0" rtlCol="0">
            <a:spAutoFit/>
          </a:bodyPr>
          <a:lstStyle/>
          <a:p>
            <a:pPr marL="354965" marR="265430" indent="-342900">
              <a:lnSpc>
                <a:spcPct val="100000"/>
              </a:lnSpc>
              <a:spcBef>
                <a:spcPts val="110"/>
              </a:spcBef>
              <a:buFont typeface="Wingdings" panose="05000000000000000000" pitchFamily="2" charset="2"/>
              <a:buChar char="Ø"/>
              <a:tabLst>
                <a:tab pos="306705" algn="l"/>
              </a:tabLst>
            </a:pPr>
            <a:r>
              <a:rPr lang="en-US" sz="2400" spc="-20" dirty="0">
                <a:latin typeface="+mj-lt"/>
                <a:cs typeface="Microsoft Sans Serif"/>
              </a:rPr>
              <a:t>The</a:t>
            </a:r>
            <a:r>
              <a:rPr lang="en-US" sz="2400" spc="20" dirty="0">
                <a:latin typeface="+mj-lt"/>
                <a:cs typeface="Microsoft Sans Serif"/>
              </a:rPr>
              <a:t> </a:t>
            </a:r>
            <a:r>
              <a:rPr lang="en-US" sz="2400" spc="60" dirty="0">
                <a:latin typeface="+mj-lt"/>
                <a:cs typeface="Microsoft Sans Serif"/>
              </a:rPr>
              <a:t>fundamental</a:t>
            </a:r>
            <a:r>
              <a:rPr lang="en-US" sz="2400" spc="25" dirty="0">
                <a:latin typeface="+mj-lt"/>
                <a:cs typeface="Microsoft Sans Serif"/>
              </a:rPr>
              <a:t> </a:t>
            </a:r>
            <a:r>
              <a:rPr lang="en-US" sz="2400" dirty="0">
                <a:latin typeface="+mj-lt"/>
                <a:cs typeface="Microsoft Sans Serif"/>
              </a:rPr>
              <a:t>goal</a:t>
            </a:r>
            <a:r>
              <a:rPr lang="en-US" sz="2400" spc="20" dirty="0">
                <a:latin typeface="+mj-lt"/>
                <a:cs typeface="Microsoft Sans Serif"/>
              </a:rPr>
              <a:t> </a:t>
            </a:r>
            <a:r>
              <a:rPr lang="en-US" sz="2400" spc="170" dirty="0">
                <a:latin typeface="+mj-lt"/>
                <a:cs typeface="Microsoft Sans Serif"/>
              </a:rPr>
              <a:t>of</a:t>
            </a:r>
            <a:r>
              <a:rPr lang="en-US" sz="2400" spc="15" dirty="0">
                <a:latin typeface="+mj-lt"/>
                <a:cs typeface="Microsoft Sans Serif"/>
              </a:rPr>
              <a:t> </a:t>
            </a:r>
            <a:r>
              <a:rPr lang="en-US" sz="2400" spc="50" dirty="0">
                <a:latin typeface="+mj-lt"/>
                <a:cs typeface="Microsoft Sans Serif"/>
              </a:rPr>
              <a:t>knowledge</a:t>
            </a:r>
            <a:r>
              <a:rPr lang="en-US" sz="2400" spc="20" dirty="0">
                <a:latin typeface="+mj-lt"/>
                <a:cs typeface="Microsoft Sans Serif"/>
              </a:rPr>
              <a:t> </a:t>
            </a:r>
            <a:r>
              <a:rPr lang="en-US" sz="2400" dirty="0">
                <a:latin typeface="+mj-lt"/>
                <a:cs typeface="Microsoft Sans Serif"/>
              </a:rPr>
              <a:t>Representation</a:t>
            </a:r>
            <a:r>
              <a:rPr lang="en-US" sz="2400" spc="15" dirty="0">
                <a:latin typeface="+mj-lt"/>
                <a:cs typeface="Microsoft Sans Serif"/>
              </a:rPr>
              <a:t> </a:t>
            </a:r>
            <a:r>
              <a:rPr lang="en-US" sz="2400" spc="-25" dirty="0">
                <a:latin typeface="+mj-lt"/>
                <a:cs typeface="Microsoft Sans Serif"/>
              </a:rPr>
              <a:t>is </a:t>
            </a:r>
            <a:r>
              <a:rPr lang="en-US" sz="2400" spc="185" dirty="0">
                <a:latin typeface="+mj-lt"/>
                <a:cs typeface="Microsoft Sans Serif"/>
              </a:rPr>
              <a:t>to</a:t>
            </a:r>
            <a:r>
              <a:rPr lang="en-US" sz="2400" spc="-75" dirty="0">
                <a:latin typeface="+mj-lt"/>
                <a:cs typeface="Microsoft Sans Serif"/>
              </a:rPr>
              <a:t> </a:t>
            </a:r>
            <a:r>
              <a:rPr lang="en-US" sz="2400" spc="75" dirty="0">
                <a:latin typeface="+mj-lt"/>
                <a:cs typeface="Microsoft Sans Serif"/>
              </a:rPr>
              <a:t>facilitate</a:t>
            </a:r>
            <a:r>
              <a:rPr lang="en-US" sz="2400" spc="-80" dirty="0">
                <a:latin typeface="+mj-lt"/>
                <a:cs typeface="Microsoft Sans Serif"/>
              </a:rPr>
              <a:t> </a:t>
            </a:r>
            <a:r>
              <a:rPr lang="en-US" sz="2400" spc="45" dirty="0">
                <a:latin typeface="+mj-lt"/>
                <a:cs typeface="Microsoft Sans Serif"/>
              </a:rPr>
              <a:t>inference</a:t>
            </a:r>
            <a:r>
              <a:rPr lang="en-US" sz="2400" spc="-80" dirty="0">
                <a:latin typeface="+mj-lt"/>
                <a:cs typeface="Microsoft Sans Serif"/>
              </a:rPr>
              <a:t> </a:t>
            </a:r>
            <a:r>
              <a:rPr lang="en-US" sz="2400" spc="-10" dirty="0">
                <a:latin typeface="+mj-lt"/>
                <a:cs typeface="Microsoft Sans Serif"/>
              </a:rPr>
              <a:t>(conclusions)</a:t>
            </a:r>
            <a:r>
              <a:rPr lang="en-US" sz="2400" spc="-70" dirty="0">
                <a:latin typeface="+mj-lt"/>
                <a:cs typeface="Microsoft Sans Serif"/>
              </a:rPr>
              <a:t> </a:t>
            </a:r>
            <a:r>
              <a:rPr lang="en-US" sz="2400" spc="125" dirty="0">
                <a:latin typeface="+mj-lt"/>
                <a:cs typeface="Microsoft Sans Serif"/>
              </a:rPr>
              <a:t>from</a:t>
            </a:r>
            <a:r>
              <a:rPr lang="en-US" sz="2400" spc="-80" dirty="0">
                <a:latin typeface="+mj-lt"/>
                <a:cs typeface="Microsoft Sans Serif"/>
              </a:rPr>
              <a:t> </a:t>
            </a:r>
            <a:r>
              <a:rPr lang="en-US" sz="2400" spc="-10" dirty="0">
                <a:latin typeface="+mj-lt"/>
                <a:cs typeface="Microsoft Sans Serif"/>
              </a:rPr>
              <a:t>knowledge.</a:t>
            </a:r>
            <a:endParaRPr lang="en-US" sz="2400" dirty="0">
              <a:latin typeface="+mj-lt"/>
              <a:cs typeface="Microsoft Sans Serif"/>
            </a:endParaRPr>
          </a:p>
          <a:p>
            <a:pPr marL="354965" marR="788670" indent="-342900">
              <a:lnSpc>
                <a:spcPct val="100000"/>
              </a:lnSpc>
              <a:spcBef>
                <a:spcPts val="685"/>
              </a:spcBef>
              <a:buFont typeface="Wingdings" panose="05000000000000000000" pitchFamily="2" charset="2"/>
              <a:buChar char="Ø"/>
              <a:tabLst>
                <a:tab pos="306705" algn="l"/>
              </a:tabLst>
            </a:pPr>
            <a:r>
              <a:rPr lang="en-US" sz="2400" spc="-20" dirty="0">
                <a:latin typeface="+mj-lt"/>
                <a:cs typeface="Microsoft Sans Serif"/>
              </a:rPr>
              <a:t>The</a:t>
            </a:r>
            <a:r>
              <a:rPr lang="en-US" sz="2400" spc="-55" dirty="0">
                <a:latin typeface="+mj-lt"/>
                <a:cs typeface="Microsoft Sans Serif"/>
              </a:rPr>
              <a:t> </a:t>
            </a:r>
            <a:r>
              <a:rPr lang="en-US" sz="2400" spc="-60" dirty="0">
                <a:latin typeface="+mj-lt"/>
                <a:cs typeface="Microsoft Sans Serif"/>
              </a:rPr>
              <a:t>issues</a:t>
            </a:r>
            <a:r>
              <a:rPr lang="en-US" sz="2400" spc="-55" dirty="0">
                <a:latin typeface="+mj-lt"/>
                <a:cs typeface="Microsoft Sans Serif"/>
              </a:rPr>
              <a:t> </a:t>
            </a:r>
            <a:r>
              <a:rPr lang="en-US" sz="2400" spc="130" dirty="0">
                <a:latin typeface="+mj-lt"/>
                <a:cs typeface="Microsoft Sans Serif"/>
              </a:rPr>
              <a:t>that</a:t>
            </a:r>
            <a:r>
              <a:rPr lang="en-US" sz="2400" spc="-65" dirty="0">
                <a:latin typeface="+mj-lt"/>
                <a:cs typeface="Microsoft Sans Serif"/>
              </a:rPr>
              <a:t> </a:t>
            </a:r>
            <a:r>
              <a:rPr lang="en-US" sz="2400" dirty="0">
                <a:latin typeface="+mj-lt"/>
                <a:cs typeface="Microsoft Sans Serif"/>
              </a:rPr>
              <a:t>arise</a:t>
            </a:r>
            <a:r>
              <a:rPr lang="en-US" sz="2400" spc="-55" dirty="0">
                <a:latin typeface="+mj-lt"/>
                <a:cs typeface="Microsoft Sans Serif"/>
              </a:rPr>
              <a:t> </a:t>
            </a:r>
            <a:r>
              <a:rPr lang="en-US" sz="2400" spc="55" dirty="0">
                <a:latin typeface="+mj-lt"/>
                <a:cs typeface="Microsoft Sans Serif"/>
              </a:rPr>
              <a:t>while</a:t>
            </a:r>
            <a:r>
              <a:rPr lang="en-US" sz="2400" spc="-60" dirty="0">
                <a:latin typeface="+mj-lt"/>
                <a:cs typeface="Microsoft Sans Serif"/>
              </a:rPr>
              <a:t> </a:t>
            </a:r>
            <a:r>
              <a:rPr lang="en-US" sz="2400" dirty="0">
                <a:latin typeface="+mj-lt"/>
                <a:cs typeface="Microsoft Sans Serif"/>
              </a:rPr>
              <a:t>using</a:t>
            </a:r>
            <a:r>
              <a:rPr lang="en-US" sz="2400" spc="-45" dirty="0">
                <a:latin typeface="+mj-lt"/>
                <a:cs typeface="Microsoft Sans Serif"/>
              </a:rPr>
              <a:t> </a:t>
            </a:r>
            <a:r>
              <a:rPr lang="en-US" sz="2400" spc="-170" dirty="0">
                <a:latin typeface="+mj-lt"/>
                <a:cs typeface="Microsoft Sans Serif"/>
              </a:rPr>
              <a:t>KR</a:t>
            </a:r>
            <a:r>
              <a:rPr lang="en-US" sz="2400" spc="-60" dirty="0">
                <a:latin typeface="+mj-lt"/>
                <a:cs typeface="Microsoft Sans Serif"/>
              </a:rPr>
              <a:t> </a:t>
            </a:r>
            <a:r>
              <a:rPr lang="en-US" sz="2400" dirty="0">
                <a:latin typeface="+mj-lt"/>
                <a:cs typeface="Microsoft Sans Serif"/>
              </a:rPr>
              <a:t>techniques</a:t>
            </a:r>
            <a:r>
              <a:rPr lang="en-US" sz="2400" spc="-60" dirty="0">
                <a:latin typeface="+mj-lt"/>
                <a:cs typeface="Microsoft Sans Serif"/>
              </a:rPr>
              <a:t> </a:t>
            </a:r>
            <a:r>
              <a:rPr lang="en-US" sz="2400" spc="-25" dirty="0">
                <a:latin typeface="+mj-lt"/>
                <a:cs typeface="Microsoft Sans Serif"/>
              </a:rPr>
              <a:t>are </a:t>
            </a:r>
            <a:r>
              <a:rPr lang="en-US" sz="2400" spc="-20" dirty="0">
                <a:latin typeface="+mj-lt"/>
                <a:cs typeface="Microsoft Sans Serif"/>
              </a:rPr>
              <a:t>many. </a:t>
            </a:r>
            <a:r>
              <a:rPr lang="en-US" sz="2400" spc="-55" dirty="0">
                <a:latin typeface="+mj-lt"/>
                <a:cs typeface="Microsoft Sans Serif"/>
              </a:rPr>
              <a:t>Some</a:t>
            </a:r>
            <a:r>
              <a:rPr lang="en-US" sz="2400" spc="-15" dirty="0">
                <a:latin typeface="+mj-lt"/>
                <a:cs typeface="Microsoft Sans Serif"/>
              </a:rPr>
              <a:t> </a:t>
            </a:r>
            <a:r>
              <a:rPr lang="en-US" sz="2400" spc="165" dirty="0">
                <a:latin typeface="+mj-lt"/>
                <a:cs typeface="Microsoft Sans Serif"/>
              </a:rPr>
              <a:t>of</a:t>
            </a:r>
            <a:r>
              <a:rPr lang="en-US" sz="2400" spc="-10" dirty="0">
                <a:latin typeface="+mj-lt"/>
                <a:cs typeface="Microsoft Sans Serif"/>
              </a:rPr>
              <a:t> </a:t>
            </a:r>
            <a:r>
              <a:rPr lang="en-US" sz="2400" dirty="0">
                <a:latin typeface="+mj-lt"/>
                <a:cs typeface="Microsoft Sans Serif"/>
              </a:rPr>
              <a:t>these</a:t>
            </a:r>
            <a:r>
              <a:rPr lang="en-US" sz="2400" spc="-25" dirty="0">
                <a:latin typeface="+mj-lt"/>
                <a:cs typeface="Microsoft Sans Serif"/>
              </a:rPr>
              <a:t> </a:t>
            </a:r>
            <a:r>
              <a:rPr lang="en-US" sz="2400" dirty="0">
                <a:latin typeface="+mj-lt"/>
                <a:cs typeface="Microsoft Sans Serif"/>
              </a:rPr>
              <a:t>are</a:t>
            </a:r>
            <a:r>
              <a:rPr lang="en-US" sz="2400" spc="-25" dirty="0">
                <a:latin typeface="+mj-lt"/>
                <a:cs typeface="Microsoft Sans Serif"/>
              </a:rPr>
              <a:t> </a:t>
            </a:r>
            <a:r>
              <a:rPr lang="en-US" sz="2400" dirty="0">
                <a:latin typeface="+mj-lt"/>
                <a:cs typeface="Microsoft Sans Serif"/>
              </a:rPr>
              <a:t>explained</a:t>
            </a:r>
            <a:r>
              <a:rPr lang="en-US" sz="2400" spc="-15" dirty="0">
                <a:latin typeface="+mj-lt"/>
                <a:cs typeface="Microsoft Sans Serif"/>
              </a:rPr>
              <a:t> </a:t>
            </a:r>
            <a:r>
              <a:rPr lang="en-US" sz="2400" spc="-10" dirty="0">
                <a:latin typeface="+mj-lt"/>
                <a:cs typeface="Microsoft Sans Serif"/>
              </a:rPr>
              <a:t>below.</a:t>
            </a:r>
            <a:endParaRPr lang="en-US" sz="2400" dirty="0">
              <a:latin typeface="+mj-lt"/>
              <a:cs typeface="Microsoft Sans Serif"/>
            </a:endParaRPr>
          </a:p>
          <a:p>
            <a:pPr marL="355600" indent="-342900">
              <a:lnSpc>
                <a:spcPct val="100000"/>
              </a:lnSpc>
              <a:spcBef>
                <a:spcPts val="690"/>
              </a:spcBef>
              <a:buFont typeface="Wingdings" panose="05000000000000000000" pitchFamily="2" charset="2"/>
              <a:buChar char="§"/>
              <a:tabLst>
                <a:tab pos="306705" algn="l"/>
              </a:tabLst>
            </a:pPr>
            <a:r>
              <a:rPr lang="en-US" sz="2400" b="1" spc="90" dirty="0">
                <a:latin typeface="+mj-lt"/>
                <a:cs typeface="Microsoft Sans Serif"/>
              </a:rPr>
              <a:t>Important</a:t>
            </a:r>
            <a:r>
              <a:rPr lang="en-US" sz="2400" b="1" spc="-70" dirty="0">
                <a:latin typeface="+mj-lt"/>
                <a:cs typeface="Microsoft Sans Serif"/>
              </a:rPr>
              <a:t> </a:t>
            </a:r>
            <a:r>
              <a:rPr lang="en-US" sz="2400" b="1" spc="90" dirty="0">
                <a:latin typeface="+mj-lt"/>
                <a:cs typeface="Microsoft Sans Serif"/>
              </a:rPr>
              <a:t>Attributed:</a:t>
            </a:r>
            <a:endParaRPr lang="en-US" sz="2400" b="1" dirty="0">
              <a:latin typeface="+mj-lt"/>
              <a:cs typeface="Microsoft Sans Serif"/>
            </a:endParaRPr>
          </a:p>
          <a:p>
            <a:pPr marL="748665" marR="504825" lvl="1" indent="-342900">
              <a:lnSpc>
                <a:spcPct val="100000"/>
              </a:lnSpc>
              <a:spcBef>
                <a:spcPts val="595"/>
              </a:spcBef>
              <a:buFont typeface="Arial" panose="020B0604020202020204" pitchFamily="34" charset="0"/>
              <a:buChar char="•"/>
              <a:tabLst>
                <a:tab pos="650875" algn="l"/>
              </a:tabLst>
            </a:pPr>
            <a:r>
              <a:rPr lang="en-US" sz="2400" dirty="0">
                <a:latin typeface="+mj-lt"/>
                <a:cs typeface="Microsoft Sans Serif"/>
              </a:rPr>
              <a:t>Any</a:t>
            </a:r>
            <a:r>
              <a:rPr lang="en-US" sz="2400" spc="-65" dirty="0">
                <a:latin typeface="+mj-lt"/>
                <a:cs typeface="Microsoft Sans Serif"/>
              </a:rPr>
              <a:t> </a:t>
            </a:r>
            <a:r>
              <a:rPr lang="en-US" sz="2400" spc="114" dirty="0">
                <a:latin typeface="+mj-lt"/>
                <a:cs typeface="Microsoft Sans Serif"/>
              </a:rPr>
              <a:t>attribute</a:t>
            </a:r>
            <a:r>
              <a:rPr lang="en-US" sz="2400" spc="-50" dirty="0">
                <a:latin typeface="+mj-lt"/>
                <a:cs typeface="Microsoft Sans Serif"/>
              </a:rPr>
              <a:t> </a:t>
            </a:r>
            <a:r>
              <a:rPr lang="en-US" sz="2400" spc="170" dirty="0">
                <a:latin typeface="+mj-lt"/>
                <a:cs typeface="Microsoft Sans Serif"/>
              </a:rPr>
              <a:t>of</a:t>
            </a:r>
            <a:r>
              <a:rPr lang="en-US" sz="2400" spc="-60" dirty="0">
                <a:latin typeface="+mj-lt"/>
                <a:cs typeface="Microsoft Sans Serif"/>
              </a:rPr>
              <a:t> </a:t>
            </a:r>
            <a:r>
              <a:rPr lang="en-US" sz="2400" dirty="0">
                <a:latin typeface="+mj-lt"/>
                <a:cs typeface="Microsoft Sans Serif"/>
              </a:rPr>
              <a:t>objects</a:t>
            </a:r>
            <a:r>
              <a:rPr lang="en-US" sz="2400" spc="-55" dirty="0">
                <a:latin typeface="+mj-lt"/>
                <a:cs typeface="Microsoft Sans Serif"/>
              </a:rPr>
              <a:t> </a:t>
            </a:r>
            <a:r>
              <a:rPr lang="en-US" sz="2400" spc="-10" dirty="0">
                <a:latin typeface="+mj-lt"/>
                <a:cs typeface="Microsoft Sans Serif"/>
              </a:rPr>
              <a:t>so</a:t>
            </a:r>
            <a:r>
              <a:rPr lang="en-US" sz="2400" spc="-55" dirty="0">
                <a:latin typeface="+mj-lt"/>
                <a:cs typeface="Microsoft Sans Serif"/>
              </a:rPr>
              <a:t> </a:t>
            </a:r>
            <a:r>
              <a:rPr lang="en-US" sz="2400" spc="-40" dirty="0">
                <a:latin typeface="+mj-lt"/>
                <a:cs typeface="Microsoft Sans Serif"/>
              </a:rPr>
              <a:t>basic</a:t>
            </a:r>
            <a:r>
              <a:rPr lang="en-US" sz="2400" spc="-60" dirty="0">
                <a:latin typeface="+mj-lt"/>
                <a:cs typeface="Microsoft Sans Serif"/>
              </a:rPr>
              <a:t> </a:t>
            </a:r>
            <a:r>
              <a:rPr lang="en-US" sz="2400" spc="130" dirty="0">
                <a:latin typeface="+mj-lt"/>
                <a:cs typeface="Microsoft Sans Serif"/>
              </a:rPr>
              <a:t>that</a:t>
            </a:r>
            <a:r>
              <a:rPr lang="en-US" sz="2400" spc="-65" dirty="0">
                <a:latin typeface="+mj-lt"/>
                <a:cs typeface="Microsoft Sans Serif"/>
              </a:rPr>
              <a:t> </a:t>
            </a:r>
            <a:r>
              <a:rPr lang="en-US" sz="2400" spc="75" dirty="0">
                <a:latin typeface="+mj-lt"/>
                <a:cs typeface="Microsoft Sans Serif"/>
              </a:rPr>
              <a:t>they</a:t>
            </a:r>
            <a:r>
              <a:rPr lang="en-US" sz="2400" spc="-65" dirty="0">
                <a:latin typeface="+mj-lt"/>
                <a:cs typeface="Microsoft Sans Serif"/>
              </a:rPr>
              <a:t> </a:t>
            </a:r>
            <a:r>
              <a:rPr lang="en-US" sz="2400" dirty="0">
                <a:latin typeface="+mj-lt"/>
                <a:cs typeface="Microsoft Sans Serif"/>
              </a:rPr>
              <a:t>occur</a:t>
            </a:r>
            <a:r>
              <a:rPr lang="en-US" sz="2400" spc="-50" dirty="0">
                <a:latin typeface="+mj-lt"/>
                <a:cs typeface="Microsoft Sans Serif"/>
              </a:rPr>
              <a:t> </a:t>
            </a:r>
            <a:r>
              <a:rPr lang="en-US" sz="2400" spc="-25" dirty="0">
                <a:latin typeface="+mj-lt"/>
                <a:cs typeface="Microsoft Sans Serif"/>
              </a:rPr>
              <a:t>in </a:t>
            </a:r>
            <a:r>
              <a:rPr lang="en-US" sz="2400" spc="50" dirty="0">
                <a:latin typeface="+mj-lt"/>
                <a:cs typeface="Microsoft Sans Serif"/>
              </a:rPr>
              <a:t>almost</a:t>
            </a:r>
            <a:r>
              <a:rPr lang="en-US" sz="2400" spc="-65" dirty="0">
                <a:latin typeface="+mj-lt"/>
                <a:cs typeface="Microsoft Sans Serif"/>
              </a:rPr>
              <a:t> </a:t>
            </a:r>
            <a:r>
              <a:rPr lang="en-US" sz="2400" dirty="0">
                <a:latin typeface="+mj-lt"/>
                <a:cs typeface="Microsoft Sans Serif"/>
              </a:rPr>
              <a:t>every</a:t>
            </a:r>
            <a:r>
              <a:rPr lang="en-US" sz="2400" spc="-60" dirty="0">
                <a:latin typeface="+mj-lt"/>
                <a:cs typeface="Microsoft Sans Serif"/>
              </a:rPr>
              <a:t> </a:t>
            </a:r>
            <a:r>
              <a:rPr lang="en-US" sz="2400" spc="70" dirty="0">
                <a:latin typeface="+mj-lt"/>
                <a:cs typeface="Microsoft Sans Serif"/>
              </a:rPr>
              <a:t>problem</a:t>
            </a:r>
            <a:r>
              <a:rPr lang="en-US" sz="2400" spc="-65" dirty="0">
                <a:latin typeface="+mj-lt"/>
                <a:cs typeface="Microsoft Sans Serif"/>
              </a:rPr>
              <a:t> </a:t>
            </a:r>
            <a:r>
              <a:rPr lang="en-US" sz="2400" spc="-10" dirty="0">
                <a:latin typeface="+mj-lt"/>
                <a:cs typeface="Microsoft Sans Serif"/>
              </a:rPr>
              <a:t>domain?</a:t>
            </a:r>
            <a:endParaRPr lang="en-US" sz="2400" dirty="0">
              <a:latin typeface="+mj-lt"/>
              <a:cs typeface="Microsoft Sans Serif"/>
            </a:endParaRPr>
          </a:p>
          <a:p>
            <a:pPr marL="748665" marR="5080" lvl="1" indent="-342900">
              <a:lnSpc>
                <a:spcPct val="100000"/>
              </a:lnSpc>
              <a:spcBef>
                <a:spcPts val="595"/>
              </a:spcBef>
              <a:buFont typeface="Arial" panose="020B0604020202020204" pitchFamily="34" charset="0"/>
              <a:buChar char="•"/>
              <a:tabLst>
                <a:tab pos="650875" algn="l"/>
              </a:tabLst>
            </a:pPr>
            <a:r>
              <a:rPr lang="en-US" sz="2400" dirty="0">
                <a:latin typeface="+mj-lt"/>
                <a:cs typeface="Microsoft Sans Serif"/>
              </a:rPr>
              <a:t>There</a:t>
            </a:r>
            <a:r>
              <a:rPr lang="en-US" sz="2400" spc="-60" dirty="0">
                <a:latin typeface="+mj-lt"/>
                <a:cs typeface="Microsoft Sans Serif"/>
              </a:rPr>
              <a:t> </a:t>
            </a:r>
            <a:r>
              <a:rPr lang="en-US" sz="2400" dirty="0">
                <a:latin typeface="+mj-lt"/>
                <a:cs typeface="Microsoft Sans Serif"/>
              </a:rPr>
              <a:t>are</a:t>
            </a:r>
            <a:r>
              <a:rPr lang="en-US" sz="2400" spc="-70" dirty="0">
                <a:latin typeface="+mj-lt"/>
                <a:cs typeface="Microsoft Sans Serif"/>
              </a:rPr>
              <a:t> </a:t>
            </a:r>
            <a:r>
              <a:rPr lang="en-US" sz="2400" spc="165" dirty="0">
                <a:latin typeface="+mj-lt"/>
                <a:cs typeface="Microsoft Sans Serif"/>
              </a:rPr>
              <a:t>two</a:t>
            </a:r>
            <a:r>
              <a:rPr lang="en-US" sz="2400" spc="-75" dirty="0">
                <a:latin typeface="+mj-lt"/>
                <a:cs typeface="Microsoft Sans Serif"/>
              </a:rPr>
              <a:t> </a:t>
            </a:r>
            <a:r>
              <a:rPr lang="en-US" sz="2400" spc="114" dirty="0">
                <a:latin typeface="+mj-lt"/>
                <a:cs typeface="Microsoft Sans Serif"/>
              </a:rPr>
              <a:t>attributed</a:t>
            </a:r>
            <a:r>
              <a:rPr lang="en-US" sz="2400" spc="-70" dirty="0">
                <a:latin typeface="+mj-lt"/>
                <a:cs typeface="Microsoft Sans Serif"/>
              </a:rPr>
              <a:t> </a:t>
            </a:r>
            <a:r>
              <a:rPr lang="en-US" sz="2400" spc="50" dirty="0">
                <a:latin typeface="+mj-lt"/>
                <a:cs typeface="Microsoft Sans Serif"/>
              </a:rPr>
              <a:t>“instance”</a:t>
            </a:r>
            <a:r>
              <a:rPr lang="en-US" sz="2400" spc="-65" dirty="0">
                <a:latin typeface="+mj-lt"/>
                <a:cs typeface="Microsoft Sans Serif"/>
              </a:rPr>
              <a:t> </a:t>
            </a:r>
            <a:r>
              <a:rPr lang="en-US" sz="2400" dirty="0">
                <a:latin typeface="+mj-lt"/>
                <a:cs typeface="Microsoft Sans Serif"/>
              </a:rPr>
              <a:t>and</a:t>
            </a:r>
            <a:r>
              <a:rPr lang="en-US" sz="2400" spc="-70" dirty="0">
                <a:latin typeface="+mj-lt"/>
                <a:cs typeface="Microsoft Sans Serif"/>
              </a:rPr>
              <a:t> </a:t>
            </a:r>
            <a:r>
              <a:rPr lang="en-US" sz="2400" dirty="0">
                <a:latin typeface="+mj-lt"/>
                <a:cs typeface="Microsoft Sans Serif"/>
              </a:rPr>
              <a:t>“</a:t>
            </a:r>
            <a:r>
              <a:rPr lang="en-US" sz="2400" dirty="0" err="1">
                <a:latin typeface="+mj-lt"/>
                <a:cs typeface="Microsoft Sans Serif"/>
              </a:rPr>
              <a:t>isa</a:t>
            </a:r>
            <a:r>
              <a:rPr lang="en-US" sz="2400" dirty="0">
                <a:latin typeface="+mj-lt"/>
                <a:cs typeface="Microsoft Sans Serif"/>
              </a:rPr>
              <a:t>”,</a:t>
            </a:r>
            <a:r>
              <a:rPr lang="en-US" sz="2400" spc="-60" dirty="0">
                <a:latin typeface="+mj-lt"/>
                <a:cs typeface="Microsoft Sans Serif"/>
              </a:rPr>
              <a:t> </a:t>
            </a:r>
            <a:r>
              <a:rPr lang="en-US" sz="2400" spc="130" dirty="0">
                <a:latin typeface="+mj-lt"/>
                <a:cs typeface="Microsoft Sans Serif"/>
              </a:rPr>
              <a:t>that</a:t>
            </a:r>
            <a:r>
              <a:rPr lang="en-US" sz="2400" spc="-70" dirty="0">
                <a:latin typeface="+mj-lt"/>
                <a:cs typeface="Microsoft Sans Serif"/>
              </a:rPr>
              <a:t> </a:t>
            </a:r>
            <a:r>
              <a:rPr lang="en-US" sz="2400" spc="-25" dirty="0">
                <a:latin typeface="+mj-lt"/>
                <a:cs typeface="Microsoft Sans Serif"/>
              </a:rPr>
              <a:t>are </a:t>
            </a:r>
            <a:r>
              <a:rPr lang="en-US" sz="2400" dirty="0">
                <a:latin typeface="+mj-lt"/>
                <a:cs typeface="Microsoft Sans Serif"/>
              </a:rPr>
              <a:t>general</a:t>
            </a:r>
            <a:r>
              <a:rPr lang="en-US" sz="2400" spc="-30" dirty="0">
                <a:latin typeface="+mj-lt"/>
                <a:cs typeface="Microsoft Sans Serif"/>
              </a:rPr>
              <a:t> </a:t>
            </a:r>
            <a:r>
              <a:rPr lang="en-US" sz="2400" dirty="0">
                <a:latin typeface="+mj-lt"/>
                <a:cs typeface="Microsoft Sans Serif"/>
              </a:rPr>
              <a:t>significance.</a:t>
            </a:r>
            <a:r>
              <a:rPr lang="en-US" sz="2400" spc="-30" dirty="0">
                <a:latin typeface="+mj-lt"/>
                <a:cs typeface="Microsoft Sans Serif"/>
              </a:rPr>
              <a:t> </a:t>
            </a:r>
            <a:r>
              <a:rPr lang="en-US" sz="2400" spc="-50" dirty="0">
                <a:latin typeface="+mj-lt"/>
                <a:cs typeface="Microsoft Sans Serif"/>
              </a:rPr>
              <a:t>These</a:t>
            </a:r>
            <a:r>
              <a:rPr lang="en-US" sz="2400" spc="-25" dirty="0">
                <a:latin typeface="+mj-lt"/>
                <a:cs typeface="Microsoft Sans Serif"/>
              </a:rPr>
              <a:t> </a:t>
            </a:r>
            <a:r>
              <a:rPr lang="en-US" sz="2400" spc="95" dirty="0">
                <a:latin typeface="+mj-lt"/>
                <a:cs typeface="Microsoft Sans Serif"/>
              </a:rPr>
              <a:t>attributes</a:t>
            </a:r>
            <a:r>
              <a:rPr lang="en-US" sz="2400" spc="-40" dirty="0">
                <a:latin typeface="+mj-lt"/>
                <a:cs typeface="Microsoft Sans Serif"/>
              </a:rPr>
              <a:t> </a:t>
            </a:r>
            <a:r>
              <a:rPr lang="en-US" sz="2400" dirty="0">
                <a:latin typeface="+mj-lt"/>
                <a:cs typeface="Microsoft Sans Serif"/>
              </a:rPr>
              <a:t>are</a:t>
            </a:r>
            <a:r>
              <a:rPr lang="en-US" sz="2400" spc="-35" dirty="0">
                <a:latin typeface="+mj-lt"/>
                <a:cs typeface="Microsoft Sans Serif"/>
              </a:rPr>
              <a:t> </a:t>
            </a:r>
            <a:r>
              <a:rPr lang="en-US" sz="2400" spc="90" dirty="0">
                <a:latin typeface="+mj-lt"/>
                <a:cs typeface="Microsoft Sans Serif"/>
              </a:rPr>
              <a:t>important </a:t>
            </a:r>
            <a:r>
              <a:rPr lang="en-US" sz="2400" spc="-30" dirty="0">
                <a:latin typeface="+mj-lt"/>
                <a:cs typeface="Microsoft Sans Serif"/>
              </a:rPr>
              <a:t>because</a:t>
            </a:r>
            <a:r>
              <a:rPr lang="en-US" sz="2400" spc="-85" dirty="0">
                <a:latin typeface="+mj-lt"/>
                <a:cs typeface="Microsoft Sans Serif"/>
              </a:rPr>
              <a:t> </a:t>
            </a:r>
            <a:r>
              <a:rPr lang="en-US" sz="2400" spc="75" dirty="0">
                <a:latin typeface="+mj-lt"/>
                <a:cs typeface="Microsoft Sans Serif"/>
              </a:rPr>
              <a:t>they</a:t>
            </a:r>
            <a:r>
              <a:rPr lang="en-US" sz="2400" spc="-95" dirty="0">
                <a:latin typeface="+mj-lt"/>
                <a:cs typeface="Microsoft Sans Serif"/>
              </a:rPr>
              <a:t> </a:t>
            </a:r>
            <a:r>
              <a:rPr lang="en-US" sz="2400" spc="75" dirty="0">
                <a:latin typeface="+mj-lt"/>
                <a:cs typeface="Microsoft Sans Serif"/>
              </a:rPr>
              <a:t>support</a:t>
            </a:r>
            <a:r>
              <a:rPr lang="en-US" sz="2400" spc="-95" dirty="0">
                <a:latin typeface="+mj-lt"/>
                <a:cs typeface="Microsoft Sans Serif"/>
              </a:rPr>
              <a:t> </a:t>
            </a:r>
            <a:r>
              <a:rPr lang="en-US" sz="2400" spc="90" dirty="0">
                <a:latin typeface="+mj-lt"/>
                <a:cs typeface="Microsoft Sans Serif"/>
              </a:rPr>
              <a:t>property</a:t>
            </a:r>
            <a:r>
              <a:rPr lang="en-US" sz="2400" spc="-90" dirty="0">
                <a:latin typeface="+mj-lt"/>
                <a:cs typeface="Microsoft Sans Serif"/>
              </a:rPr>
              <a:t> </a:t>
            </a:r>
            <a:r>
              <a:rPr lang="en-US" sz="2400" spc="-10" dirty="0">
                <a:latin typeface="+mj-lt"/>
                <a:cs typeface="Microsoft Sans Serif"/>
              </a:rPr>
              <a:t>inheritance.</a:t>
            </a:r>
            <a:endParaRPr lang="en-US" sz="2400" dirty="0">
              <a:latin typeface="+mj-lt"/>
              <a:cs typeface="Microsoft Sans Serif"/>
            </a:endParaRPr>
          </a:p>
        </p:txBody>
      </p:sp>
    </p:spTree>
    <p:extLst>
      <p:ext uri="{BB962C8B-B14F-4D97-AF65-F5344CB8AC3E}">
        <p14:creationId xmlns:p14="http://schemas.microsoft.com/office/powerpoint/2010/main" val="1536850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883564"/>
          </a:xfrm>
          <a:prstGeom prst="rect">
            <a:avLst/>
          </a:prstGeom>
        </p:spPr>
        <p:txBody>
          <a:bodyPr vert="horz" wrap="square" lIns="0" tIns="11430" rIns="0" bIns="0" rtlCol="0">
            <a:spAutoFit/>
          </a:bodyPr>
          <a:lstStyle/>
          <a:p>
            <a:pPr marL="354965" marR="265430" indent="-342900">
              <a:lnSpc>
                <a:spcPct val="150000"/>
              </a:lnSpc>
              <a:spcBef>
                <a:spcPts val="110"/>
              </a:spcBef>
              <a:buFont typeface="Wingdings" panose="05000000000000000000" pitchFamily="2" charset="2"/>
              <a:buChar char="§"/>
              <a:tabLst>
                <a:tab pos="306705" algn="l"/>
              </a:tabLst>
            </a:pPr>
            <a:r>
              <a:rPr lang="en-US" sz="2400" b="1" spc="-20" dirty="0">
                <a:latin typeface="+mj-lt"/>
                <a:cs typeface="Microsoft Sans Serif"/>
              </a:rPr>
              <a:t>Relationship among attributes:</a:t>
            </a:r>
          </a:p>
          <a:p>
            <a:pPr marL="812165" marR="265430" lvl="1" indent="-342900">
              <a:lnSpc>
                <a:spcPct val="150000"/>
              </a:lnSpc>
              <a:spcBef>
                <a:spcPts val="110"/>
              </a:spcBef>
              <a:buFont typeface="Wingdings" panose="05000000000000000000" pitchFamily="2" charset="2"/>
              <a:buChar char="Ø"/>
              <a:tabLst>
                <a:tab pos="306705" algn="l"/>
              </a:tabLst>
            </a:pPr>
            <a:r>
              <a:rPr lang="en-US" sz="2400" spc="-20" dirty="0">
                <a:latin typeface="+mj-lt"/>
                <a:cs typeface="Microsoft Sans Serif"/>
              </a:rPr>
              <a:t>Any important relationship that exists among object  attributed?</a:t>
            </a:r>
          </a:p>
          <a:p>
            <a:pPr marL="812165" marR="265430" lvl="1" indent="-342900">
              <a:lnSpc>
                <a:spcPct val="150000"/>
              </a:lnSpc>
              <a:spcBef>
                <a:spcPts val="110"/>
              </a:spcBef>
              <a:buFont typeface="Wingdings" panose="05000000000000000000" pitchFamily="2" charset="2"/>
              <a:buChar char="Ø"/>
              <a:tabLst>
                <a:tab pos="306705" algn="l"/>
              </a:tabLst>
            </a:pPr>
            <a:r>
              <a:rPr lang="en-US" sz="2400" spc="-20" dirty="0">
                <a:latin typeface="+mj-lt"/>
                <a:cs typeface="Microsoft Sans Serif"/>
              </a:rPr>
              <a:t>The attributes we use to describe objects are themselves entities that we represent.</a:t>
            </a:r>
          </a:p>
          <a:p>
            <a:pPr marL="812165" marR="265430" lvl="1" indent="-342900">
              <a:lnSpc>
                <a:spcPct val="150000"/>
              </a:lnSpc>
              <a:spcBef>
                <a:spcPts val="110"/>
              </a:spcBef>
              <a:buFont typeface="Wingdings" panose="05000000000000000000" pitchFamily="2" charset="2"/>
              <a:buChar char="Ø"/>
              <a:tabLst>
                <a:tab pos="306705" algn="l"/>
              </a:tabLst>
            </a:pPr>
            <a:r>
              <a:rPr lang="en-US" sz="2400" spc="-20" dirty="0">
                <a:latin typeface="+mj-lt"/>
                <a:cs typeface="Microsoft Sans Serif"/>
              </a:rPr>
              <a:t>The relationship between the attributes of an object, independent of specific knowledge they encode, may hold properties like:</a:t>
            </a:r>
          </a:p>
          <a:p>
            <a:pPr marL="354965" marR="265430" indent="-342900">
              <a:lnSpc>
                <a:spcPct val="150000"/>
              </a:lnSpc>
              <a:spcBef>
                <a:spcPts val="110"/>
              </a:spcBef>
              <a:buFont typeface="Wingdings" panose="05000000000000000000" pitchFamily="2" charset="2"/>
              <a:buChar char="§"/>
              <a:tabLst>
                <a:tab pos="306705" algn="l"/>
              </a:tabLst>
            </a:pPr>
            <a:r>
              <a:rPr lang="en-US" sz="2400" b="1" spc="-20" dirty="0">
                <a:latin typeface="+mj-lt"/>
                <a:cs typeface="Microsoft Sans Serif"/>
              </a:rPr>
              <a:t>Inverse —</a:t>
            </a:r>
            <a:r>
              <a:rPr lang="en-US" sz="2400" spc="-20" dirty="0">
                <a:latin typeface="+mj-lt"/>
                <a:cs typeface="Microsoft Sans Serif"/>
              </a:rPr>
              <a:t> This is about consistency check, while a value is added to one attribute. The entities are related to each other in many different ways.</a:t>
            </a:r>
          </a:p>
        </p:txBody>
      </p:sp>
    </p:spTree>
    <p:extLst>
      <p:ext uri="{BB962C8B-B14F-4D97-AF65-F5344CB8AC3E}">
        <p14:creationId xmlns:p14="http://schemas.microsoft.com/office/powerpoint/2010/main" val="4151745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222310"/>
          </a:xfrm>
          <a:prstGeom prst="rect">
            <a:avLst/>
          </a:prstGeom>
        </p:spPr>
        <p:txBody>
          <a:bodyPr vert="horz" wrap="square" lIns="0" tIns="11430" rIns="0" bIns="0" rtlCol="0">
            <a:spAutoFit/>
          </a:bodyPr>
          <a:lstStyle/>
          <a:p>
            <a:pPr marL="355600" indent="-342900">
              <a:lnSpc>
                <a:spcPct val="150000"/>
              </a:lnSpc>
              <a:spcBef>
                <a:spcPts val="735"/>
              </a:spcBef>
              <a:buFont typeface="Wingdings" panose="05000000000000000000" pitchFamily="2" charset="2"/>
              <a:buChar char="§"/>
              <a:tabLst>
                <a:tab pos="320675" algn="l"/>
              </a:tabLst>
            </a:pPr>
            <a:r>
              <a:rPr lang="en-US" sz="2500" b="1" dirty="0">
                <a:latin typeface="+mj-lt"/>
              </a:rPr>
              <a:t>Existence</a:t>
            </a:r>
            <a:r>
              <a:rPr lang="en-US" sz="2500" b="1" spc="-40" dirty="0">
                <a:latin typeface="+mj-lt"/>
              </a:rPr>
              <a:t> </a:t>
            </a:r>
            <a:r>
              <a:rPr lang="en-US" sz="2500" b="1" spc="50" dirty="0">
                <a:latin typeface="+mj-lt"/>
              </a:rPr>
              <a:t>in</a:t>
            </a:r>
            <a:r>
              <a:rPr lang="en-US" sz="2500" b="1" spc="-35" dirty="0">
                <a:latin typeface="+mj-lt"/>
              </a:rPr>
              <a:t> </a:t>
            </a:r>
            <a:r>
              <a:rPr lang="en-US" sz="2500" b="1" dirty="0">
                <a:latin typeface="+mj-lt"/>
              </a:rPr>
              <a:t>an</a:t>
            </a:r>
            <a:r>
              <a:rPr lang="en-US" sz="2500" b="1" spc="-40" dirty="0">
                <a:latin typeface="+mj-lt"/>
              </a:rPr>
              <a:t> </a:t>
            </a:r>
            <a:r>
              <a:rPr lang="en-US" sz="2500" b="1" spc="-40" dirty="0" err="1">
                <a:latin typeface="+mj-lt"/>
              </a:rPr>
              <a:t>isa</a:t>
            </a:r>
            <a:r>
              <a:rPr lang="en-US" sz="2500" b="1" spc="-30" dirty="0">
                <a:latin typeface="+mj-lt"/>
              </a:rPr>
              <a:t> </a:t>
            </a:r>
            <a:r>
              <a:rPr lang="en-US" sz="2500" b="1" dirty="0">
                <a:latin typeface="+mj-lt"/>
              </a:rPr>
              <a:t>hierarchy</a:t>
            </a:r>
            <a:r>
              <a:rPr lang="en-US" sz="2500" b="1" spc="-50" dirty="0">
                <a:latin typeface="+mj-lt"/>
              </a:rPr>
              <a:t> </a:t>
            </a:r>
            <a:r>
              <a:rPr lang="en-US" sz="2500" b="1" spc="985" dirty="0">
                <a:latin typeface="+mj-lt"/>
              </a:rPr>
              <a:t>—</a:t>
            </a:r>
            <a:endParaRPr lang="en-US" sz="2500" b="1" dirty="0">
              <a:latin typeface="+mj-lt"/>
            </a:endParaRPr>
          </a:p>
          <a:p>
            <a:pPr marL="766445" marR="151765" lvl="1" indent="-342900">
              <a:lnSpc>
                <a:spcPct val="150000"/>
              </a:lnSpc>
              <a:spcBef>
                <a:spcPts val="620"/>
              </a:spcBef>
              <a:buFont typeface="Wingdings" panose="05000000000000000000" pitchFamily="2" charset="2"/>
              <a:buChar char="Ø"/>
              <a:tabLst>
                <a:tab pos="680720" algn="l"/>
              </a:tabLst>
            </a:pPr>
            <a:r>
              <a:rPr lang="en-US" sz="2500" spc="-25" dirty="0">
                <a:latin typeface="+mj-lt"/>
                <a:cs typeface="Microsoft Sans Serif"/>
              </a:rPr>
              <a:t>This</a:t>
            </a:r>
            <a:r>
              <a:rPr lang="en-US" sz="2500" spc="170" dirty="0">
                <a:latin typeface="+mj-lt"/>
                <a:cs typeface="Microsoft Sans Serif"/>
              </a:rPr>
              <a:t> </a:t>
            </a:r>
            <a:r>
              <a:rPr lang="en-US" sz="2500" dirty="0">
                <a:latin typeface="+mj-lt"/>
                <a:cs typeface="Microsoft Sans Serif"/>
              </a:rPr>
              <a:t>is</a:t>
            </a:r>
            <a:r>
              <a:rPr lang="en-US" sz="2500" spc="155" dirty="0">
                <a:latin typeface="+mj-lt"/>
                <a:cs typeface="Microsoft Sans Serif"/>
              </a:rPr>
              <a:t> </a:t>
            </a:r>
            <a:r>
              <a:rPr lang="en-US" sz="2500" spc="90" dirty="0">
                <a:latin typeface="+mj-lt"/>
                <a:cs typeface="Microsoft Sans Serif"/>
              </a:rPr>
              <a:t>about</a:t>
            </a:r>
            <a:r>
              <a:rPr lang="en-US" sz="2500" spc="165" dirty="0">
                <a:latin typeface="+mj-lt"/>
                <a:cs typeface="Microsoft Sans Serif"/>
              </a:rPr>
              <a:t> </a:t>
            </a:r>
            <a:r>
              <a:rPr lang="en-US" sz="2500" dirty="0">
                <a:latin typeface="+mj-lt"/>
                <a:cs typeface="Microsoft Sans Serif"/>
              </a:rPr>
              <a:t>generalization-specification,</a:t>
            </a:r>
            <a:r>
              <a:rPr lang="en-US" sz="2500" spc="165" dirty="0">
                <a:latin typeface="+mj-lt"/>
                <a:cs typeface="Microsoft Sans Serif"/>
              </a:rPr>
              <a:t> </a:t>
            </a:r>
            <a:r>
              <a:rPr lang="en-US" sz="2500" spc="-10" dirty="0">
                <a:latin typeface="+mj-lt"/>
                <a:cs typeface="Microsoft Sans Serif"/>
              </a:rPr>
              <a:t>like, </a:t>
            </a:r>
            <a:r>
              <a:rPr lang="en-US" sz="2500" spc="-70" dirty="0">
                <a:latin typeface="+mj-lt"/>
                <a:cs typeface="Microsoft Sans Serif"/>
              </a:rPr>
              <a:t>classes</a:t>
            </a:r>
            <a:r>
              <a:rPr lang="en-US" sz="2500" spc="-60" dirty="0">
                <a:latin typeface="+mj-lt"/>
                <a:cs typeface="Microsoft Sans Serif"/>
              </a:rPr>
              <a:t> </a:t>
            </a:r>
            <a:r>
              <a:rPr lang="en-US" sz="2500" spc="175" dirty="0">
                <a:latin typeface="+mj-lt"/>
                <a:cs typeface="Microsoft Sans Serif"/>
              </a:rPr>
              <a:t>of</a:t>
            </a:r>
            <a:r>
              <a:rPr lang="en-US" sz="2500" spc="-55" dirty="0">
                <a:latin typeface="+mj-lt"/>
                <a:cs typeface="Microsoft Sans Serif"/>
              </a:rPr>
              <a:t> </a:t>
            </a:r>
            <a:r>
              <a:rPr lang="en-US" sz="2500" spc="45" dirty="0">
                <a:latin typeface="+mj-lt"/>
                <a:cs typeface="Microsoft Sans Serif"/>
              </a:rPr>
              <a:t>objects</a:t>
            </a:r>
            <a:r>
              <a:rPr lang="en-US" sz="2500" spc="-65" dirty="0">
                <a:latin typeface="+mj-lt"/>
                <a:cs typeface="Microsoft Sans Serif"/>
              </a:rPr>
              <a:t> </a:t>
            </a:r>
            <a:r>
              <a:rPr lang="en-US" sz="2500" dirty="0">
                <a:latin typeface="+mj-lt"/>
                <a:cs typeface="Microsoft Sans Serif"/>
              </a:rPr>
              <a:t>and</a:t>
            </a:r>
            <a:r>
              <a:rPr lang="en-US" sz="2500" spc="-55" dirty="0">
                <a:latin typeface="+mj-lt"/>
                <a:cs typeface="Microsoft Sans Serif"/>
              </a:rPr>
              <a:t> </a:t>
            </a:r>
            <a:r>
              <a:rPr lang="en-US" sz="2500" dirty="0">
                <a:latin typeface="+mj-lt"/>
                <a:cs typeface="Microsoft Sans Serif"/>
              </a:rPr>
              <a:t>specialized</a:t>
            </a:r>
            <a:r>
              <a:rPr lang="en-US" sz="2500" spc="-55" dirty="0">
                <a:latin typeface="+mj-lt"/>
                <a:cs typeface="Microsoft Sans Serif"/>
              </a:rPr>
              <a:t> </a:t>
            </a:r>
            <a:r>
              <a:rPr lang="en-US" sz="2500" dirty="0">
                <a:latin typeface="+mj-lt"/>
                <a:cs typeface="Microsoft Sans Serif"/>
              </a:rPr>
              <a:t>subsets</a:t>
            </a:r>
            <a:r>
              <a:rPr lang="en-US" sz="2500" spc="-65" dirty="0">
                <a:latin typeface="+mj-lt"/>
                <a:cs typeface="Microsoft Sans Serif"/>
              </a:rPr>
              <a:t> </a:t>
            </a:r>
            <a:r>
              <a:rPr lang="en-US" sz="2500" spc="175" dirty="0">
                <a:latin typeface="+mj-lt"/>
                <a:cs typeface="Microsoft Sans Serif"/>
              </a:rPr>
              <a:t>of</a:t>
            </a:r>
            <a:r>
              <a:rPr lang="en-US" sz="2500" spc="-60" dirty="0">
                <a:latin typeface="+mj-lt"/>
                <a:cs typeface="Microsoft Sans Serif"/>
              </a:rPr>
              <a:t> </a:t>
            </a:r>
            <a:r>
              <a:rPr lang="en-US" sz="2500" spc="40" dirty="0">
                <a:latin typeface="+mj-lt"/>
                <a:cs typeface="Microsoft Sans Serif"/>
              </a:rPr>
              <a:t>those </a:t>
            </a:r>
            <a:r>
              <a:rPr lang="en-US" sz="2500" spc="-75" dirty="0">
                <a:latin typeface="+mj-lt"/>
                <a:cs typeface="Microsoft Sans Serif"/>
              </a:rPr>
              <a:t>classes,</a:t>
            </a:r>
            <a:r>
              <a:rPr lang="en-US" sz="2500" spc="10" dirty="0">
                <a:latin typeface="+mj-lt"/>
                <a:cs typeface="Microsoft Sans Serif"/>
              </a:rPr>
              <a:t> </a:t>
            </a:r>
            <a:r>
              <a:rPr lang="en-US" sz="2500" spc="95" dirty="0">
                <a:latin typeface="+mj-lt"/>
                <a:cs typeface="Microsoft Sans Serif"/>
              </a:rPr>
              <a:t>there</a:t>
            </a:r>
            <a:r>
              <a:rPr lang="en-US" sz="2500" spc="15" dirty="0">
                <a:latin typeface="+mj-lt"/>
                <a:cs typeface="Microsoft Sans Serif"/>
              </a:rPr>
              <a:t> </a:t>
            </a:r>
            <a:r>
              <a:rPr lang="en-US" sz="2500" dirty="0">
                <a:latin typeface="+mj-lt"/>
                <a:cs typeface="Microsoft Sans Serif"/>
              </a:rPr>
              <a:t>are</a:t>
            </a:r>
            <a:r>
              <a:rPr lang="en-US" sz="2500" spc="5" dirty="0">
                <a:latin typeface="+mj-lt"/>
                <a:cs typeface="Microsoft Sans Serif"/>
              </a:rPr>
              <a:t> </a:t>
            </a:r>
            <a:r>
              <a:rPr lang="en-US" sz="2500" spc="100" dirty="0">
                <a:latin typeface="+mj-lt"/>
                <a:cs typeface="Microsoft Sans Serif"/>
              </a:rPr>
              <a:t>attributes</a:t>
            </a:r>
            <a:r>
              <a:rPr lang="en-US" sz="2500" spc="10" dirty="0">
                <a:latin typeface="+mj-lt"/>
                <a:cs typeface="Microsoft Sans Serif"/>
              </a:rPr>
              <a:t> </a:t>
            </a:r>
            <a:r>
              <a:rPr lang="en-US" sz="2500" dirty="0">
                <a:latin typeface="+mj-lt"/>
                <a:cs typeface="Microsoft Sans Serif"/>
              </a:rPr>
              <a:t>and</a:t>
            </a:r>
            <a:r>
              <a:rPr lang="en-US" sz="2500" spc="5" dirty="0">
                <a:latin typeface="+mj-lt"/>
                <a:cs typeface="Microsoft Sans Serif"/>
              </a:rPr>
              <a:t> </a:t>
            </a:r>
            <a:r>
              <a:rPr lang="en-US" sz="2500" dirty="0">
                <a:latin typeface="+mj-lt"/>
                <a:cs typeface="Microsoft Sans Serif"/>
              </a:rPr>
              <a:t>specialization</a:t>
            </a:r>
            <a:r>
              <a:rPr lang="en-US" sz="2500" spc="20" dirty="0">
                <a:latin typeface="+mj-lt"/>
                <a:cs typeface="Microsoft Sans Serif"/>
              </a:rPr>
              <a:t> </a:t>
            </a:r>
            <a:r>
              <a:rPr lang="en-US" sz="2500" spc="150" dirty="0">
                <a:latin typeface="+mj-lt"/>
                <a:cs typeface="Microsoft Sans Serif"/>
              </a:rPr>
              <a:t>of </a:t>
            </a:r>
            <a:r>
              <a:rPr lang="en-US" sz="2500" spc="75" dirty="0">
                <a:latin typeface="+mj-lt"/>
                <a:cs typeface="Microsoft Sans Serif"/>
              </a:rPr>
              <a:t>attributes.</a:t>
            </a:r>
            <a:endParaRPr lang="en-US" sz="2500" dirty="0">
              <a:latin typeface="+mj-lt"/>
              <a:cs typeface="Microsoft Sans Serif"/>
            </a:endParaRPr>
          </a:p>
          <a:p>
            <a:pPr marL="766445" marR="5080" lvl="1" indent="-342900" algn="just">
              <a:lnSpc>
                <a:spcPct val="150000"/>
              </a:lnSpc>
              <a:spcBef>
                <a:spcPts val="625"/>
              </a:spcBef>
              <a:buFont typeface="Wingdings" panose="05000000000000000000" pitchFamily="2" charset="2"/>
              <a:buChar char="Ø"/>
              <a:tabLst>
                <a:tab pos="680720" algn="l"/>
              </a:tabLst>
            </a:pPr>
            <a:r>
              <a:rPr lang="en-US" sz="2500" dirty="0">
                <a:latin typeface="+mj-lt"/>
                <a:cs typeface="Microsoft Sans Serif"/>
              </a:rPr>
              <a:t>For</a:t>
            </a:r>
            <a:r>
              <a:rPr lang="en-US" sz="2500" spc="-70" dirty="0">
                <a:latin typeface="+mj-lt"/>
                <a:cs typeface="Microsoft Sans Serif"/>
              </a:rPr>
              <a:t> </a:t>
            </a:r>
            <a:r>
              <a:rPr lang="en-US" sz="2500" dirty="0">
                <a:latin typeface="+mj-lt"/>
                <a:cs typeface="Microsoft Sans Serif"/>
              </a:rPr>
              <a:t>example,</a:t>
            </a:r>
            <a:r>
              <a:rPr lang="en-US" sz="2500" spc="-75" dirty="0">
                <a:latin typeface="+mj-lt"/>
                <a:cs typeface="Microsoft Sans Serif"/>
              </a:rPr>
              <a:t> </a:t>
            </a:r>
            <a:r>
              <a:rPr lang="en-US" sz="2500" spc="114" dirty="0">
                <a:latin typeface="+mj-lt"/>
                <a:cs typeface="Microsoft Sans Serif"/>
              </a:rPr>
              <a:t>the</a:t>
            </a:r>
            <a:r>
              <a:rPr lang="en-US" sz="2500" spc="-80" dirty="0">
                <a:latin typeface="+mj-lt"/>
                <a:cs typeface="Microsoft Sans Serif"/>
              </a:rPr>
              <a:t> </a:t>
            </a:r>
            <a:r>
              <a:rPr lang="en-US" sz="2500" spc="130" dirty="0">
                <a:latin typeface="+mj-lt"/>
                <a:cs typeface="Microsoft Sans Serif"/>
              </a:rPr>
              <a:t>attribute</a:t>
            </a:r>
            <a:r>
              <a:rPr lang="en-US" sz="2500" spc="-75" dirty="0">
                <a:latin typeface="+mj-lt"/>
                <a:cs typeface="Microsoft Sans Serif"/>
              </a:rPr>
              <a:t> </a:t>
            </a:r>
            <a:r>
              <a:rPr lang="en-US" sz="2500" spc="80" dirty="0">
                <a:latin typeface="+mj-lt"/>
                <a:cs typeface="Microsoft Sans Serif"/>
              </a:rPr>
              <a:t>height</a:t>
            </a:r>
            <a:r>
              <a:rPr lang="en-US" sz="2500" spc="-75" dirty="0">
                <a:latin typeface="+mj-lt"/>
                <a:cs typeface="Microsoft Sans Serif"/>
              </a:rPr>
              <a:t> </a:t>
            </a:r>
            <a:r>
              <a:rPr lang="en-US" sz="2500" dirty="0">
                <a:latin typeface="+mj-lt"/>
                <a:cs typeface="Microsoft Sans Serif"/>
              </a:rPr>
              <a:t>is</a:t>
            </a:r>
            <a:r>
              <a:rPr lang="en-US" sz="2500" spc="-70" dirty="0">
                <a:latin typeface="+mj-lt"/>
                <a:cs typeface="Microsoft Sans Serif"/>
              </a:rPr>
              <a:t> </a:t>
            </a:r>
            <a:r>
              <a:rPr lang="en-US" sz="2500" dirty="0">
                <a:latin typeface="+mj-lt"/>
                <a:cs typeface="Microsoft Sans Serif"/>
              </a:rPr>
              <a:t>a</a:t>
            </a:r>
            <a:r>
              <a:rPr lang="en-US" sz="2500" spc="-70" dirty="0">
                <a:latin typeface="+mj-lt"/>
                <a:cs typeface="Microsoft Sans Serif"/>
              </a:rPr>
              <a:t> </a:t>
            </a:r>
            <a:r>
              <a:rPr lang="en-US" sz="2500" spc="-10" dirty="0">
                <a:latin typeface="+mj-lt"/>
                <a:cs typeface="Microsoft Sans Serif"/>
              </a:rPr>
              <a:t>specialization </a:t>
            </a:r>
            <a:r>
              <a:rPr lang="en-US" sz="2500" spc="175" dirty="0">
                <a:latin typeface="+mj-lt"/>
                <a:cs typeface="Microsoft Sans Serif"/>
              </a:rPr>
              <a:t>of</a:t>
            </a:r>
            <a:r>
              <a:rPr lang="en-US" sz="2500" spc="-15" dirty="0">
                <a:latin typeface="+mj-lt"/>
                <a:cs typeface="Microsoft Sans Serif"/>
              </a:rPr>
              <a:t> </a:t>
            </a:r>
            <a:r>
              <a:rPr lang="en-US" sz="2500" dirty="0">
                <a:latin typeface="+mj-lt"/>
                <a:cs typeface="Microsoft Sans Serif"/>
              </a:rPr>
              <a:t>general</a:t>
            </a:r>
            <a:r>
              <a:rPr lang="en-US" sz="2500" spc="-10" dirty="0">
                <a:latin typeface="+mj-lt"/>
                <a:cs typeface="Microsoft Sans Serif"/>
              </a:rPr>
              <a:t> </a:t>
            </a:r>
            <a:r>
              <a:rPr lang="en-US" sz="2500" spc="125" dirty="0">
                <a:latin typeface="+mj-lt"/>
                <a:cs typeface="Microsoft Sans Serif"/>
              </a:rPr>
              <a:t>attribute</a:t>
            </a:r>
            <a:r>
              <a:rPr lang="en-US" sz="2500" spc="-20" dirty="0">
                <a:latin typeface="+mj-lt"/>
                <a:cs typeface="Microsoft Sans Serif"/>
              </a:rPr>
              <a:t> physical-size</a:t>
            </a:r>
            <a:r>
              <a:rPr lang="en-US" sz="2500" spc="-15" dirty="0">
                <a:latin typeface="+mj-lt"/>
                <a:cs typeface="Microsoft Sans Serif"/>
              </a:rPr>
              <a:t> </a:t>
            </a:r>
            <a:r>
              <a:rPr lang="en-US" sz="2500" dirty="0">
                <a:latin typeface="+mj-lt"/>
                <a:cs typeface="Microsoft Sans Serif"/>
              </a:rPr>
              <a:t>which</a:t>
            </a:r>
            <a:r>
              <a:rPr lang="en-US" sz="2500" spc="-20" dirty="0">
                <a:latin typeface="+mj-lt"/>
                <a:cs typeface="Microsoft Sans Serif"/>
              </a:rPr>
              <a:t> </a:t>
            </a:r>
            <a:r>
              <a:rPr lang="en-US" sz="2500" spc="-40" dirty="0">
                <a:latin typeface="+mj-lt"/>
                <a:cs typeface="Microsoft Sans Serif"/>
              </a:rPr>
              <a:t>is,</a:t>
            </a:r>
            <a:r>
              <a:rPr lang="en-US" sz="2500" spc="-10" dirty="0">
                <a:latin typeface="+mj-lt"/>
                <a:cs typeface="Microsoft Sans Serif"/>
              </a:rPr>
              <a:t> </a:t>
            </a:r>
            <a:r>
              <a:rPr lang="en-US" sz="2500" spc="55" dirty="0">
                <a:latin typeface="+mj-lt"/>
                <a:cs typeface="Microsoft Sans Serif"/>
              </a:rPr>
              <a:t>in</a:t>
            </a:r>
            <a:r>
              <a:rPr lang="en-US" sz="2500" spc="-15" dirty="0">
                <a:latin typeface="+mj-lt"/>
                <a:cs typeface="Microsoft Sans Serif"/>
              </a:rPr>
              <a:t> </a:t>
            </a:r>
            <a:r>
              <a:rPr lang="en-US" sz="2500" spc="85" dirty="0">
                <a:latin typeface="+mj-lt"/>
                <a:cs typeface="Microsoft Sans Serif"/>
              </a:rPr>
              <a:t>turn,</a:t>
            </a:r>
            <a:r>
              <a:rPr lang="en-US" sz="2500" spc="-10" dirty="0">
                <a:latin typeface="+mj-lt"/>
                <a:cs typeface="Microsoft Sans Serif"/>
              </a:rPr>
              <a:t> </a:t>
            </a:r>
            <a:r>
              <a:rPr lang="en-US" sz="2500" spc="-50" dirty="0">
                <a:latin typeface="+mj-lt"/>
                <a:cs typeface="Microsoft Sans Serif"/>
              </a:rPr>
              <a:t>a </a:t>
            </a:r>
            <a:r>
              <a:rPr lang="en-US" sz="2500" dirty="0">
                <a:latin typeface="+mj-lt"/>
                <a:cs typeface="Microsoft Sans Serif"/>
              </a:rPr>
              <a:t>specialization</a:t>
            </a:r>
            <a:r>
              <a:rPr lang="en-US" sz="2500" spc="130" dirty="0">
                <a:latin typeface="+mj-lt"/>
                <a:cs typeface="Microsoft Sans Serif"/>
              </a:rPr>
              <a:t> </a:t>
            </a:r>
            <a:r>
              <a:rPr lang="en-US" sz="2500" spc="175" dirty="0">
                <a:latin typeface="+mj-lt"/>
                <a:cs typeface="Microsoft Sans Serif"/>
              </a:rPr>
              <a:t>of</a:t>
            </a:r>
            <a:r>
              <a:rPr lang="en-US" sz="2500" spc="125" dirty="0">
                <a:latin typeface="+mj-lt"/>
                <a:cs typeface="Microsoft Sans Serif"/>
              </a:rPr>
              <a:t> </a:t>
            </a:r>
            <a:r>
              <a:rPr lang="en-US" sz="2500" spc="-20" dirty="0">
                <a:latin typeface="+mj-lt"/>
                <a:cs typeface="Microsoft Sans Serif"/>
              </a:rPr>
              <a:t>physical-</a:t>
            </a:r>
            <a:r>
              <a:rPr lang="en-US" sz="2500" spc="95" dirty="0">
                <a:latin typeface="+mj-lt"/>
                <a:cs typeface="Microsoft Sans Serif"/>
              </a:rPr>
              <a:t>attribute.</a:t>
            </a:r>
            <a:endParaRPr lang="en-US" sz="2500" dirty="0">
              <a:latin typeface="+mj-lt"/>
              <a:cs typeface="Microsoft Sans Serif"/>
            </a:endParaRPr>
          </a:p>
          <a:p>
            <a:pPr marL="766445" marR="178435" lvl="1" indent="-342900">
              <a:lnSpc>
                <a:spcPct val="150000"/>
              </a:lnSpc>
              <a:spcBef>
                <a:spcPts val="635"/>
              </a:spcBef>
              <a:buFont typeface="Wingdings" panose="05000000000000000000" pitchFamily="2" charset="2"/>
              <a:buChar char="Ø"/>
              <a:tabLst>
                <a:tab pos="680720" algn="l"/>
              </a:tabLst>
            </a:pPr>
            <a:r>
              <a:rPr lang="en-US" sz="2500" spc="-30" dirty="0">
                <a:latin typeface="+mj-lt"/>
                <a:cs typeface="Microsoft Sans Serif"/>
              </a:rPr>
              <a:t>These</a:t>
            </a:r>
            <a:r>
              <a:rPr lang="en-US" sz="2500" spc="350" dirty="0">
                <a:latin typeface="+mj-lt"/>
                <a:cs typeface="Microsoft Sans Serif"/>
              </a:rPr>
              <a:t> </a:t>
            </a:r>
            <a:r>
              <a:rPr lang="en-US" sz="2500" dirty="0">
                <a:latin typeface="+mj-lt"/>
                <a:cs typeface="Microsoft Sans Serif"/>
              </a:rPr>
              <a:t>generalization-specialization</a:t>
            </a:r>
            <a:r>
              <a:rPr lang="en-US" sz="2500" spc="365" dirty="0">
                <a:latin typeface="+mj-lt"/>
                <a:cs typeface="Microsoft Sans Serif"/>
              </a:rPr>
              <a:t> </a:t>
            </a:r>
            <a:r>
              <a:rPr lang="en-US" sz="2500" spc="35" dirty="0">
                <a:latin typeface="+mj-lt"/>
                <a:cs typeface="Microsoft Sans Serif"/>
              </a:rPr>
              <a:t>relationships </a:t>
            </a:r>
            <a:r>
              <a:rPr lang="en-US" sz="2500" dirty="0">
                <a:latin typeface="+mj-lt"/>
                <a:cs typeface="Microsoft Sans Serif"/>
              </a:rPr>
              <a:t>are</a:t>
            </a:r>
            <a:r>
              <a:rPr lang="en-US" sz="2500" spc="-75" dirty="0">
                <a:latin typeface="+mj-lt"/>
                <a:cs typeface="Microsoft Sans Serif"/>
              </a:rPr>
              <a:t> </a:t>
            </a:r>
            <a:r>
              <a:rPr lang="en-US" sz="2500" spc="110" dirty="0">
                <a:latin typeface="+mj-lt"/>
                <a:cs typeface="Microsoft Sans Serif"/>
              </a:rPr>
              <a:t>important</a:t>
            </a:r>
            <a:r>
              <a:rPr lang="en-US" sz="2500" spc="-65" dirty="0">
                <a:latin typeface="+mj-lt"/>
                <a:cs typeface="Microsoft Sans Serif"/>
              </a:rPr>
              <a:t> </a:t>
            </a:r>
            <a:r>
              <a:rPr lang="en-US" sz="2500" spc="160" dirty="0">
                <a:latin typeface="+mj-lt"/>
                <a:cs typeface="Microsoft Sans Serif"/>
              </a:rPr>
              <a:t>for</a:t>
            </a:r>
            <a:r>
              <a:rPr lang="en-US" sz="2500" spc="-65" dirty="0">
                <a:latin typeface="+mj-lt"/>
                <a:cs typeface="Microsoft Sans Serif"/>
              </a:rPr>
              <a:t> </a:t>
            </a:r>
            <a:r>
              <a:rPr lang="en-US" sz="2500" spc="100" dirty="0">
                <a:latin typeface="+mj-lt"/>
                <a:cs typeface="Microsoft Sans Serif"/>
              </a:rPr>
              <a:t>attributes</a:t>
            </a:r>
            <a:r>
              <a:rPr lang="en-US" sz="2500" spc="-60" dirty="0">
                <a:latin typeface="+mj-lt"/>
                <a:cs typeface="Microsoft Sans Serif"/>
              </a:rPr>
              <a:t> </a:t>
            </a:r>
            <a:r>
              <a:rPr lang="en-US" sz="2500" spc="-20" dirty="0">
                <a:latin typeface="+mj-lt"/>
                <a:cs typeface="Microsoft Sans Serif"/>
              </a:rPr>
              <a:t>because</a:t>
            </a:r>
            <a:r>
              <a:rPr lang="en-US" sz="2500" spc="-70" dirty="0">
                <a:latin typeface="+mj-lt"/>
                <a:cs typeface="Microsoft Sans Serif"/>
              </a:rPr>
              <a:t> </a:t>
            </a:r>
            <a:r>
              <a:rPr lang="en-US" sz="2500" spc="85" dirty="0">
                <a:latin typeface="+mj-lt"/>
                <a:cs typeface="Microsoft Sans Serif"/>
              </a:rPr>
              <a:t>they</a:t>
            </a:r>
            <a:r>
              <a:rPr lang="en-US" sz="2500" spc="-65" dirty="0">
                <a:latin typeface="+mj-lt"/>
                <a:cs typeface="Microsoft Sans Serif"/>
              </a:rPr>
              <a:t> </a:t>
            </a:r>
            <a:r>
              <a:rPr lang="en-US" sz="2500" spc="75" dirty="0">
                <a:latin typeface="+mj-lt"/>
                <a:cs typeface="Microsoft Sans Serif"/>
              </a:rPr>
              <a:t>support </a:t>
            </a:r>
            <a:r>
              <a:rPr lang="en-US" sz="2500" spc="-10" dirty="0">
                <a:latin typeface="+mj-lt"/>
                <a:cs typeface="Microsoft Sans Serif"/>
              </a:rPr>
              <a:t>inheritance.</a:t>
            </a:r>
            <a:endParaRPr lang="en-US" sz="2500" dirty="0">
              <a:latin typeface="+mj-lt"/>
              <a:cs typeface="Microsoft Sans Serif"/>
            </a:endParaRPr>
          </a:p>
        </p:txBody>
      </p:sp>
    </p:spTree>
    <p:extLst>
      <p:ext uri="{BB962C8B-B14F-4D97-AF65-F5344CB8AC3E}">
        <p14:creationId xmlns:p14="http://schemas.microsoft.com/office/powerpoint/2010/main" val="1543625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2871299"/>
          </a:xfrm>
          <a:prstGeom prst="rect">
            <a:avLst/>
          </a:prstGeom>
        </p:spPr>
        <p:txBody>
          <a:bodyPr vert="horz" wrap="square" lIns="0" tIns="11430" rIns="0" bIns="0" rtlCol="0">
            <a:spAutoFit/>
          </a:bodyPr>
          <a:lstStyle/>
          <a:p>
            <a:pPr marL="469900" lvl="0" indent="-457200">
              <a:spcBef>
                <a:spcPts val="790"/>
              </a:spcBef>
              <a:buFont typeface="Wingdings" panose="05000000000000000000" pitchFamily="2" charset="2"/>
              <a:buChar char="§"/>
              <a:tabLst>
                <a:tab pos="355600" algn="l"/>
              </a:tabLst>
            </a:pPr>
            <a:r>
              <a:rPr lang="en-US" sz="2800" b="1" kern="0" dirty="0">
                <a:solidFill>
                  <a:sysClr val="windowText" lastClr="000000"/>
                </a:solidFill>
                <a:latin typeface="+mj-lt"/>
                <a:cs typeface="Microsoft Sans Serif"/>
              </a:rPr>
              <a:t>Technique</a:t>
            </a:r>
            <a:r>
              <a:rPr lang="en-US" sz="2800" b="1" kern="0" spc="-100" dirty="0">
                <a:solidFill>
                  <a:sysClr val="windowText" lastClr="000000"/>
                </a:solidFill>
                <a:latin typeface="+mj-lt"/>
                <a:cs typeface="Microsoft Sans Serif"/>
              </a:rPr>
              <a:t> </a:t>
            </a:r>
            <a:r>
              <a:rPr lang="en-US" sz="2800" b="1" kern="0" spc="165" dirty="0">
                <a:solidFill>
                  <a:sysClr val="windowText" lastClr="000000"/>
                </a:solidFill>
                <a:latin typeface="+mj-lt"/>
                <a:cs typeface="Microsoft Sans Serif"/>
              </a:rPr>
              <a:t>for</a:t>
            </a:r>
            <a:r>
              <a:rPr lang="en-US" sz="2800" b="1" kern="0" spc="-100" dirty="0">
                <a:solidFill>
                  <a:sysClr val="windowText" lastClr="000000"/>
                </a:solidFill>
                <a:latin typeface="+mj-lt"/>
                <a:cs typeface="Microsoft Sans Serif"/>
              </a:rPr>
              <a:t> </a:t>
            </a:r>
            <a:r>
              <a:rPr lang="en-US" sz="2800" b="1" kern="0" dirty="0">
                <a:solidFill>
                  <a:sysClr val="windowText" lastClr="000000"/>
                </a:solidFill>
                <a:latin typeface="+mj-lt"/>
                <a:cs typeface="Microsoft Sans Serif"/>
              </a:rPr>
              <a:t>reasoning</a:t>
            </a:r>
            <a:r>
              <a:rPr lang="en-US" sz="2800" b="1" kern="0" spc="-95" dirty="0">
                <a:solidFill>
                  <a:sysClr val="windowText" lastClr="000000"/>
                </a:solidFill>
                <a:latin typeface="+mj-lt"/>
                <a:cs typeface="Microsoft Sans Serif"/>
              </a:rPr>
              <a:t> </a:t>
            </a:r>
            <a:r>
              <a:rPr lang="en-US" sz="2800" b="1" kern="0" spc="80" dirty="0">
                <a:solidFill>
                  <a:sysClr val="windowText" lastClr="000000"/>
                </a:solidFill>
                <a:latin typeface="+mj-lt"/>
                <a:cs typeface="Microsoft Sans Serif"/>
              </a:rPr>
              <a:t>about</a:t>
            </a:r>
            <a:r>
              <a:rPr lang="en-US" sz="2800" b="1" kern="0" spc="-90" dirty="0">
                <a:solidFill>
                  <a:sysClr val="windowText" lastClr="000000"/>
                </a:solidFill>
                <a:latin typeface="+mj-lt"/>
                <a:cs typeface="Microsoft Sans Serif"/>
              </a:rPr>
              <a:t> </a:t>
            </a:r>
            <a:r>
              <a:rPr lang="en-US" sz="2800" b="1" kern="0" spc="-10" dirty="0">
                <a:solidFill>
                  <a:sysClr val="windowText" lastClr="000000"/>
                </a:solidFill>
                <a:latin typeface="+mj-lt"/>
                <a:cs typeface="Microsoft Sans Serif"/>
              </a:rPr>
              <a:t>values</a:t>
            </a:r>
            <a:r>
              <a:rPr lang="en-US" sz="2800" b="1" kern="0" spc="-95" dirty="0">
                <a:solidFill>
                  <a:sysClr val="windowText" lastClr="000000"/>
                </a:solidFill>
                <a:latin typeface="+mj-lt"/>
                <a:cs typeface="Microsoft Sans Serif"/>
              </a:rPr>
              <a:t> </a:t>
            </a:r>
            <a:r>
              <a:rPr lang="en-US" sz="2800" b="1" kern="0" spc="1095" dirty="0">
                <a:solidFill>
                  <a:sysClr val="windowText" lastClr="000000"/>
                </a:solidFill>
                <a:latin typeface="+mj-lt"/>
                <a:cs typeface="Microsoft Sans Serif"/>
              </a:rPr>
              <a:t>—</a:t>
            </a:r>
            <a:endParaRPr lang="en-US" sz="2800" b="1" kern="0" dirty="0">
              <a:solidFill>
                <a:sysClr val="windowText" lastClr="000000"/>
              </a:solidFill>
              <a:latin typeface="+mj-lt"/>
              <a:cs typeface="Microsoft Sans Serif"/>
            </a:endParaRPr>
          </a:p>
          <a:p>
            <a:pPr marL="926465" marR="5080" lvl="1" indent="-457200">
              <a:lnSpc>
                <a:spcPts val="3350"/>
              </a:lnSpc>
              <a:spcBef>
                <a:spcPts val="810"/>
              </a:spcBef>
              <a:buFont typeface="Wingdings" panose="05000000000000000000" pitchFamily="2" charset="2"/>
              <a:buChar char="Ø"/>
              <a:tabLst>
                <a:tab pos="755650" algn="l"/>
              </a:tabLst>
            </a:pPr>
            <a:r>
              <a:rPr lang="en-US" sz="2800" kern="0" spc="-50" dirty="0">
                <a:solidFill>
                  <a:sysClr val="windowText" lastClr="000000"/>
                </a:solidFill>
                <a:latin typeface="+mj-lt"/>
                <a:cs typeface="Microsoft Sans Serif"/>
              </a:rPr>
              <a:t>This</a:t>
            </a:r>
            <a:r>
              <a:rPr lang="en-US" sz="2800" kern="0" spc="-12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is</a:t>
            </a:r>
            <a:r>
              <a:rPr lang="en-US" sz="2800" kern="0" spc="-110" dirty="0">
                <a:solidFill>
                  <a:sysClr val="windowText" lastClr="000000"/>
                </a:solidFill>
                <a:latin typeface="+mj-lt"/>
                <a:cs typeface="Microsoft Sans Serif"/>
              </a:rPr>
              <a:t> </a:t>
            </a:r>
            <a:r>
              <a:rPr lang="en-US" sz="2800" kern="0" spc="80" dirty="0">
                <a:solidFill>
                  <a:sysClr val="windowText" lastClr="000000"/>
                </a:solidFill>
                <a:latin typeface="+mj-lt"/>
                <a:cs typeface="Microsoft Sans Serif"/>
              </a:rPr>
              <a:t>about</a:t>
            </a:r>
            <a:r>
              <a:rPr lang="en-US" sz="2800" kern="0" spc="-114"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reasoning</a:t>
            </a:r>
            <a:r>
              <a:rPr lang="en-US" sz="2800" kern="0" spc="-105" dirty="0">
                <a:solidFill>
                  <a:sysClr val="windowText" lastClr="000000"/>
                </a:solidFill>
                <a:latin typeface="+mj-lt"/>
                <a:cs typeface="Microsoft Sans Serif"/>
              </a:rPr>
              <a:t> </a:t>
            </a:r>
            <a:r>
              <a:rPr lang="en-US" sz="2800" kern="0" spc="-10" dirty="0">
                <a:solidFill>
                  <a:sysClr val="windowText" lastClr="000000"/>
                </a:solidFill>
                <a:latin typeface="+mj-lt"/>
                <a:cs typeface="Microsoft Sans Serif"/>
              </a:rPr>
              <a:t>values</a:t>
            </a:r>
            <a:r>
              <a:rPr lang="en-US" sz="2800" kern="0" spc="-110" dirty="0">
                <a:solidFill>
                  <a:sysClr val="windowText" lastClr="000000"/>
                </a:solidFill>
                <a:latin typeface="+mj-lt"/>
                <a:cs typeface="Microsoft Sans Serif"/>
              </a:rPr>
              <a:t> </a:t>
            </a:r>
            <a:r>
              <a:rPr lang="en-US" sz="2800" kern="0" spc="180" dirty="0">
                <a:solidFill>
                  <a:sysClr val="windowText" lastClr="000000"/>
                </a:solidFill>
                <a:latin typeface="+mj-lt"/>
                <a:cs typeface="Microsoft Sans Serif"/>
              </a:rPr>
              <a:t>of</a:t>
            </a:r>
            <a:r>
              <a:rPr lang="en-US" sz="2800" kern="0" spc="-110" dirty="0">
                <a:solidFill>
                  <a:sysClr val="windowText" lastClr="000000"/>
                </a:solidFill>
                <a:latin typeface="+mj-lt"/>
                <a:cs typeface="Microsoft Sans Serif"/>
              </a:rPr>
              <a:t> </a:t>
            </a:r>
            <a:r>
              <a:rPr lang="en-US" sz="2800" kern="0" spc="95" dirty="0">
                <a:solidFill>
                  <a:sysClr val="windowText" lastClr="000000"/>
                </a:solidFill>
                <a:latin typeface="+mj-lt"/>
                <a:cs typeface="Microsoft Sans Serif"/>
              </a:rPr>
              <a:t>attributes 	</a:t>
            </a:r>
            <a:r>
              <a:rPr lang="en-US" sz="2800" kern="0" spc="150" dirty="0">
                <a:solidFill>
                  <a:sysClr val="windowText" lastClr="000000"/>
                </a:solidFill>
                <a:latin typeface="+mj-lt"/>
                <a:cs typeface="Microsoft Sans Serif"/>
              </a:rPr>
              <a:t>not</a:t>
            </a:r>
            <a:r>
              <a:rPr lang="en-US" sz="2800" kern="0" spc="-3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given</a:t>
            </a:r>
            <a:r>
              <a:rPr lang="en-US" sz="2800" kern="0" spc="-35" dirty="0">
                <a:solidFill>
                  <a:sysClr val="windowText" lastClr="000000"/>
                </a:solidFill>
                <a:latin typeface="+mj-lt"/>
                <a:cs typeface="Microsoft Sans Serif"/>
              </a:rPr>
              <a:t> </a:t>
            </a:r>
            <a:r>
              <a:rPr lang="en-US" sz="2800" kern="0" spc="40" dirty="0">
                <a:solidFill>
                  <a:sysClr val="windowText" lastClr="000000"/>
                </a:solidFill>
                <a:latin typeface="+mj-lt"/>
                <a:cs typeface="Microsoft Sans Serif"/>
              </a:rPr>
              <a:t>explicitly.</a:t>
            </a:r>
            <a:endParaRPr lang="en-US" sz="2800" kern="0" dirty="0">
              <a:solidFill>
                <a:sysClr val="windowText" lastClr="000000"/>
              </a:solidFill>
              <a:latin typeface="+mj-lt"/>
              <a:cs typeface="Microsoft Sans Serif"/>
            </a:endParaRPr>
          </a:p>
          <a:p>
            <a:pPr marL="926465" marR="110489" lvl="1" indent="-457200">
              <a:spcBef>
                <a:spcPts val="580"/>
              </a:spcBef>
              <a:buFont typeface="Wingdings" panose="05000000000000000000" pitchFamily="2" charset="2"/>
              <a:buChar char="Ø"/>
              <a:tabLst>
                <a:tab pos="755650" algn="l"/>
              </a:tabLst>
            </a:pPr>
            <a:r>
              <a:rPr lang="en-US" sz="2800" kern="0" spc="-30" dirty="0">
                <a:solidFill>
                  <a:sysClr val="windowText" lastClr="000000"/>
                </a:solidFill>
                <a:latin typeface="+mj-lt"/>
                <a:cs typeface="Microsoft Sans Serif"/>
              </a:rPr>
              <a:t>Several</a:t>
            </a:r>
            <a:r>
              <a:rPr lang="en-US" sz="2800" kern="0" spc="-9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kinds</a:t>
            </a:r>
            <a:r>
              <a:rPr lang="en-US" sz="2800" kern="0" spc="-90" dirty="0">
                <a:solidFill>
                  <a:sysClr val="windowText" lastClr="000000"/>
                </a:solidFill>
                <a:latin typeface="+mj-lt"/>
                <a:cs typeface="Microsoft Sans Serif"/>
              </a:rPr>
              <a:t> </a:t>
            </a:r>
            <a:r>
              <a:rPr lang="en-US" sz="2800" kern="0" spc="180" dirty="0">
                <a:solidFill>
                  <a:sysClr val="windowText" lastClr="000000"/>
                </a:solidFill>
                <a:latin typeface="+mj-lt"/>
                <a:cs typeface="Microsoft Sans Serif"/>
              </a:rPr>
              <a:t>of</a:t>
            </a:r>
            <a:r>
              <a:rPr lang="en-US" sz="2800" kern="0" spc="-90" dirty="0">
                <a:solidFill>
                  <a:sysClr val="windowText" lastClr="000000"/>
                </a:solidFill>
                <a:latin typeface="+mj-lt"/>
                <a:cs typeface="Microsoft Sans Serif"/>
              </a:rPr>
              <a:t> </a:t>
            </a:r>
            <a:r>
              <a:rPr lang="en-US" sz="2800" kern="0" spc="95" dirty="0">
                <a:solidFill>
                  <a:sysClr val="windowText" lastClr="000000"/>
                </a:solidFill>
                <a:latin typeface="+mj-lt"/>
                <a:cs typeface="Microsoft Sans Serif"/>
              </a:rPr>
              <a:t>information</a:t>
            </a:r>
            <a:r>
              <a:rPr lang="en-US" sz="2800" kern="0" spc="-10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are</a:t>
            </a:r>
            <a:r>
              <a:rPr lang="en-US" sz="2800" kern="0" spc="-95" dirty="0">
                <a:solidFill>
                  <a:sysClr val="windowText" lastClr="000000"/>
                </a:solidFill>
                <a:latin typeface="+mj-lt"/>
                <a:cs typeface="Microsoft Sans Serif"/>
              </a:rPr>
              <a:t> </a:t>
            </a:r>
            <a:r>
              <a:rPr lang="en-US" sz="2800" kern="0" spc="-10" dirty="0">
                <a:solidFill>
                  <a:sysClr val="windowText" lastClr="000000"/>
                </a:solidFill>
                <a:latin typeface="+mj-lt"/>
                <a:cs typeface="Microsoft Sans Serif"/>
              </a:rPr>
              <a:t>used</a:t>
            </a:r>
            <a:r>
              <a:rPr lang="en-US" sz="2800" kern="0" spc="-90" dirty="0">
                <a:solidFill>
                  <a:sysClr val="windowText" lastClr="000000"/>
                </a:solidFill>
                <a:latin typeface="+mj-lt"/>
                <a:cs typeface="Microsoft Sans Serif"/>
              </a:rPr>
              <a:t> </a:t>
            </a:r>
            <a:r>
              <a:rPr lang="en-US" sz="2800" kern="0" spc="-25" dirty="0">
                <a:solidFill>
                  <a:sysClr val="windowText" lastClr="000000"/>
                </a:solidFill>
                <a:latin typeface="+mj-lt"/>
                <a:cs typeface="Microsoft Sans Serif"/>
              </a:rPr>
              <a:t>in </a:t>
            </a:r>
            <a:r>
              <a:rPr lang="en-US" sz="2800" kern="0" dirty="0">
                <a:solidFill>
                  <a:sysClr val="windowText" lastClr="000000"/>
                </a:solidFill>
                <a:latin typeface="+mj-lt"/>
                <a:cs typeface="Microsoft Sans Serif"/>
              </a:rPr>
              <a:t>reasoning,</a:t>
            </a:r>
            <a:r>
              <a:rPr lang="en-US" sz="2800" kern="0" spc="-75"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like,</a:t>
            </a:r>
            <a:r>
              <a:rPr lang="en-US" sz="2800" kern="0" spc="-70" dirty="0">
                <a:solidFill>
                  <a:sysClr val="windowText" lastClr="000000"/>
                </a:solidFill>
                <a:latin typeface="+mj-lt"/>
                <a:cs typeface="Microsoft Sans Serif"/>
              </a:rPr>
              <a:t> </a:t>
            </a:r>
            <a:r>
              <a:rPr lang="en-US" sz="2800" kern="0" spc="55" dirty="0">
                <a:solidFill>
                  <a:sysClr val="windowText" lastClr="000000"/>
                </a:solidFill>
                <a:latin typeface="+mj-lt"/>
                <a:cs typeface="Microsoft Sans Serif"/>
              </a:rPr>
              <a:t>height:</a:t>
            </a:r>
            <a:r>
              <a:rPr lang="en-US" sz="2800" kern="0" spc="-75" dirty="0">
                <a:solidFill>
                  <a:sysClr val="windowText" lastClr="000000"/>
                </a:solidFill>
                <a:latin typeface="+mj-lt"/>
                <a:cs typeface="Microsoft Sans Serif"/>
              </a:rPr>
              <a:t> </a:t>
            </a:r>
            <a:r>
              <a:rPr lang="en-US" sz="2800" kern="0" spc="70" dirty="0">
                <a:solidFill>
                  <a:sysClr val="windowText" lastClr="000000"/>
                </a:solidFill>
                <a:latin typeface="+mj-lt"/>
                <a:cs typeface="Microsoft Sans Serif"/>
              </a:rPr>
              <a:t>must</a:t>
            </a:r>
            <a:r>
              <a:rPr lang="en-US" sz="2800" kern="0" spc="-55"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be</a:t>
            </a:r>
            <a:r>
              <a:rPr lang="en-US" sz="2800" kern="0" spc="-70" dirty="0">
                <a:solidFill>
                  <a:sysClr val="windowText" lastClr="000000"/>
                </a:solidFill>
                <a:latin typeface="+mj-lt"/>
                <a:cs typeface="Microsoft Sans Serif"/>
              </a:rPr>
              <a:t> </a:t>
            </a:r>
            <a:r>
              <a:rPr lang="en-US" sz="2800" kern="0" spc="55" dirty="0">
                <a:solidFill>
                  <a:sysClr val="windowText" lastClr="000000"/>
                </a:solidFill>
                <a:latin typeface="+mj-lt"/>
                <a:cs typeface="Microsoft Sans Serif"/>
              </a:rPr>
              <a:t>in</a:t>
            </a:r>
            <a:r>
              <a:rPr lang="en-US" sz="2800" kern="0" spc="-70" dirty="0">
                <a:solidFill>
                  <a:sysClr val="windowText" lastClr="000000"/>
                </a:solidFill>
                <a:latin typeface="+mj-lt"/>
                <a:cs typeface="Microsoft Sans Serif"/>
              </a:rPr>
              <a:t> </a:t>
            </a:r>
            <a:r>
              <a:rPr lang="en-US" sz="2800" kern="0" spc="-110" dirty="0">
                <a:solidFill>
                  <a:sysClr val="windowText" lastClr="000000"/>
                </a:solidFill>
                <a:latin typeface="+mj-lt"/>
                <a:cs typeface="Microsoft Sans Serif"/>
              </a:rPr>
              <a:t>a</a:t>
            </a:r>
            <a:r>
              <a:rPr lang="en-US" sz="2800" kern="0" spc="-65" dirty="0">
                <a:solidFill>
                  <a:sysClr val="windowText" lastClr="000000"/>
                </a:solidFill>
                <a:latin typeface="+mj-lt"/>
                <a:cs typeface="Microsoft Sans Serif"/>
              </a:rPr>
              <a:t> </a:t>
            </a:r>
            <a:r>
              <a:rPr lang="en-US" sz="2800" kern="0" spc="120" dirty="0">
                <a:solidFill>
                  <a:sysClr val="windowText" lastClr="000000"/>
                </a:solidFill>
                <a:latin typeface="+mj-lt"/>
                <a:cs typeface="Microsoft Sans Serif"/>
              </a:rPr>
              <a:t>unit</a:t>
            </a:r>
            <a:r>
              <a:rPr lang="en-US" sz="2800" kern="0" spc="-65" dirty="0">
                <a:solidFill>
                  <a:sysClr val="windowText" lastClr="000000"/>
                </a:solidFill>
                <a:latin typeface="+mj-lt"/>
                <a:cs typeface="Microsoft Sans Serif"/>
              </a:rPr>
              <a:t> </a:t>
            </a:r>
            <a:r>
              <a:rPr lang="en-US" sz="2800" kern="0" spc="160" dirty="0">
                <a:solidFill>
                  <a:sysClr val="windowText" lastClr="000000"/>
                </a:solidFill>
                <a:latin typeface="+mj-lt"/>
                <a:cs typeface="Microsoft Sans Serif"/>
              </a:rPr>
              <a:t>of </a:t>
            </a:r>
            <a:r>
              <a:rPr lang="en-US" sz="2800" kern="0" spc="65" dirty="0">
                <a:solidFill>
                  <a:sysClr val="windowText" lastClr="000000"/>
                </a:solidFill>
                <a:latin typeface="+mj-lt"/>
                <a:cs typeface="Microsoft Sans Serif"/>
              </a:rPr>
              <a:t>length,</a:t>
            </a:r>
            <a:r>
              <a:rPr lang="en-US" sz="2800" kern="0" spc="-50" dirty="0">
                <a:solidFill>
                  <a:sysClr val="windowText" lastClr="000000"/>
                </a:solidFill>
                <a:latin typeface="+mj-lt"/>
                <a:cs typeface="Microsoft Sans Serif"/>
              </a:rPr>
              <a:t> </a:t>
            </a:r>
            <a:r>
              <a:rPr lang="en-US" sz="2800" kern="0" spc="-10" dirty="0">
                <a:solidFill>
                  <a:sysClr val="windowText" lastClr="000000"/>
                </a:solidFill>
                <a:latin typeface="+mj-lt"/>
                <a:cs typeface="Microsoft Sans Serif"/>
              </a:rPr>
              <a:t>Age:</a:t>
            </a:r>
            <a:r>
              <a:rPr lang="en-US" sz="2800" kern="0" spc="-50" dirty="0">
                <a:solidFill>
                  <a:sysClr val="windowText" lastClr="000000"/>
                </a:solidFill>
                <a:latin typeface="+mj-lt"/>
                <a:cs typeface="Microsoft Sans Serif"/>
              </a:rPr>
              <a:t> </a:t>
            </a:r>
            <a:r>
              <a:rPr lang="en-US" sz="2800" kern="0" spc="185" dirty="0">
                <a:solidFill>
                  <a:sysClr val="windowText" lastClr="000000"/>
                </a:solidFill>
                <a:latin typeface="+mj-lt"/>
                <a:cs typeface="Microsoft Sans Serif"/>
              </a:rPr>
              <a:t>of</a:t>
            </a:r>
            <a:r>
              <a:rPr lang="en-US" sz="2800" kern="0" spc="-45" dirty="0">
                <a:solidFill>
                  <a:sysClr val="windowText" lastClr="000000"/>
                </a:solidFill>
                <a:latin typeface="+mj-lt"/>
                <a:cs typeface="Microsoft Sans Serif"/>
              </a:rPr>
              <a:t> </a:t>
            </a:r>
            <a:r>
              <a:rPr lang="en-US" sz="2800" kern="0" spc="-110" dirty="0">
                <a:solidFill>
                  <a:sysClr val="windowText" lastClr="000000"/>
                </a:solidFill>
                <a:latin typeface="+mj-lt"/>
                <a:cs typeface="Microsoft Sans Serif"/>
              </a:rPr>
              <a:t>a</a:t>
            </a:r>
            <a:r>
              <a:rPr lang="en-US" sz="2800" kern="0" spc="-35"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person</a:t>
            </a:r>
            <a:r>
              <a:rPr lang="en-US" sz="2800" kern="0" spc="-4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cannot</a:t>
            </a:r>
            <a:r>
              <a:rPr lang="en-US" sz="2800" kern="0" spc="-45"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be</a:t>
            </a:r>
            <a:r>
              <a:rPr lang="en-US" sz="2800" kern="0" spc="-45" dirty="0">
                <a:solidFill>
                  <a:sysClr val="windowText" lastClr="000000"/>
                </a:solidFill>
                <a:latin typeface="+mj-lt"/>
                <a:cs typeface="Microsoft Sans Serif"/>
              </a:rPr>
              <a:t> </a:t>
            </a:r>
            <a:r>
              <a:rPr lang="en-US" sz="2800" kern="0" spc="65" dirty="0">
                <a:solidFill>
                  <a:sysClr val="windowText" lastClr="000000"/>
                </a:solidFill>
                <a:latin typeface="+mj-lt"/>
                <a:cs typeface="Microsoft Sans Serif"/>
              </a:rPr>
              <a:t>greater </a:t>
            </a:r>
            <a:r>
              <a:rPr lang="en-US" sz="2800" kern="0" spc="70" dirty="0">
                <a:solidFill>
                  <a:sysClr val="windowText" lastClr="000000"/>
                </a:solidFill>
                <a:latin typeface="+mj-lt"/>
                <a:cs typeface="Microsoft Sans Serif"/>
              </a:rPr>
              <a:t>than</a:t>
            </a:r>
            <a:r>
              <a:rPr lang="en-US" sz="2800" kern="0" spc="-110" dirty="0">
                <a:solidFill>
                  <a:sysClr val="windowText" lastClr="000000"/>
                </a:solidFill>
                <a:latin typeface="+mj-lt"/>
                <a:cs typeface="Microsoft Sans Serif"/>
              </a:rPr>
              <a:t> </a:t>
            </a:r>
            <a:r>
              <a:rPr lang="en-US" sz="2800" kern="0" spc="125" dirty="0">
                <a:solidFill>
                  <a:sysClr val="windowText" lastClr="000000"/>
                </a:solidFill>
                <a:latin typeface="+mj-lt"/>
                <a:cs typeface="Microsoft Sans Serif"/>
              </a:rPr>
              <a:t>the</a:t>
            </a:r>
            <a:r>
              <a:rPr lang="en-US" sz="2800" kern="0" spc="-12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age</a:t>
            </a:r>
            <a:r>
              <a:rPr lang="en-US" sz="2800" kern="0" spc="-114" dirty="0">
                <a:solidFill>
                  <a:sysClr val="windowText" lastClr="000000"/>
                </a:solidFill>
                <a:latin typeface="+mj-lt"/>
                <a:cs typeface="Microsoft Sans Serif"/>
              </a:rPr>
              <a:t> </a:t>
            </a:r>
            <a:r>
              <a:rPr lang="en-US" sz="2800" kern="0" spc="180" dirty="0">
                <a:solidFill>
                  <a:sysClr val="windowText" lastClr="000000"/>
                </a:solidFill>
                <a:latin typeface="+mj-lt"/>
                <a:cs typeface="Microsoft Sans Serif"/>
              </a:rPr>
              <a:t>of</a:t>
            </a:r>
            <a:r>
              <a:rPr lang="en-US" sz="2800" kern="0" spc="-105"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person’s</a:t>
            </a:r>
            <a:r>
              <a:rPr lang="en-US" sz="2800" kern="0" spc="-110" dirty="0">
                <a:solidFill>
                  <a:sysClr val="windowText" lastClr="000000"/>
                </a:solidFill>
                <a:latin typeface="+mj-lt"/>
                <a:cs typeface="Microsoft Sans Serif"/>
              </a:rPr>
              <a:t> </a:t>
            </a:r>
            <a:r>
              <a:rPr lang="en-US" sz="2800" kern="0" spc="-10" dirty="0">
                <a:solidFill>
                  <a:sysClr val="windowText" lastClr="000000"/>
                </a:solidFill>
                <a:latin typeface="+mj-lt"/>
                <a:cs typeface="Microsoft Sans Serif"/>
              </a:rPr>
              <a:t>parents.</a:t>
            </a:r>
            <a:endParaRPr lang="en-US" sz="2800" kern="0" dirty="0">
              <a:solidFill>
                <a:sysClr val="windowText" lastClr="000000"/>
              </a:solidFill>
              <a:latin typeface="+mj-lt"/>
              <a:cs typeface="Microsoft Sans Serif"/>
            </a:endParaRPr>
          </a:p>
          <a:p>
            <a:pPr marL="926465" marR="868044" lvl="1" indent="-457200">
              <a:spcBef>
                <a:spcPts val="670"/>
              </a:spcBef>
              <a:buFont typeface="Wingdings" panose="05000000000000000000" pitchFamily="2" charset="2"/>
              <a:buChar char="Ø"/>
              <a:tabLst>
                <a:tab pos="755650" algn="l"/>
              </a:tabLst>
            </a:pPr>
            <a:r>
              <a:rPr lang="en-US" sz="2800" kern="0" spc="-20" dirty="0">
                <a:solidFill>
                  <a:sysClr val="windowText" lastClr="000000"/>
                </a:solidFill>
                <a:latin typeface="+mj-lt"/>
                <a:cs typeface="Microsoft Sans Serif"/>
              </a:rPr>
              <a:t>The</a:t>
            </a:r>
            <a:r>
              <a:rPr lang="en-US" sz="2800" kern="0" spc="-45" dirty="0">
                <a:solidFill>
                  <a:sysClr val="windowText" lastClr="000000"/>
                </a:solidFill>
                <a:latin typeface="+mj-lt"/>
                <a:cs typeface="Microsoft Sans Serif"/>
              </a:rPr>
              <a:t> </a:t>
            </a:r>
            <a:r>
              <a:rPr lang="en-US" sz="2800" kern="0" spc="-10" dirty="0">
                <a:solidFill>
                  <a:sysClr val="windowText" lastClr="000000"/>
                </a:solidFill>
                <a:latin typeface="+mj-lt"/>
                <a:cs typeface="Microsoft Sans Serif"/>
              </a:rPr>
              <a:t>values</a:t>
            </a:r>
            <a:r>
              <a:rPr lang="en-US" sz="2800" kern="0" spc="-4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are</a:t>
            </a:r>
            <a:r>
              <a:rPr lang="en-US" sz="2800" kern="0" spc="-45" dirty="0">
                <a:solidFill>
                  <a:sysClr val="windowText" lastClr="000000"/>
                </a:solidFill>
                <a:latin typeface="+mj-lt"/>
                <a:cs typeface="Microsoft Sans Serif"/>
              </a:rPr>
              <a:t> </a:t>
            </a:r>
            <a:r>
              <a:rPr lang="en-US" sz="2800" kern="0" spc="145" dirty="0">
                <a:solidFill>
                  <a:sysClr val="windowText" lastClr="000000"/>
                </a:solidFill>
                <a:latin typeface="+mj-lt"/>
                <a:cs typeface="Microsoft Sans Serif"/>
              </a:rPr>
              <a:t>often</a:t>
            </a:r>
            <a:r>
              <a:rPr lang="en-US" sz="2800" kern="0" spc="-45"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specified</a:t>
            </a:r>
            <a:r>
              <a:rPr lang="en-US" sz="2800" kern="0" spc="-4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when</a:t>
            </a:r>
            <a:r>
              <a:rPr lang="en-US" sz="2800" kern="0" spc="-40" dirty="0">
                <a:solidFill>
                  <a:sysClr val="windowText" lastClr="000000"/>
                </a:solidFill>
                <a:latin typeface="+mj-lt"/>
                <a:cs typeface="Microsoft Sans Serif"/>
              </a:rPr>
              <a:t> </a:t>
            </a:r>
            <a:r>
              <a:rPr lang="en-US" sz="2800" kern="0" spc="-50" dirty="0">
                <a:solidFill>
                  <a:sysClr val="windowText" lastClr="000000"/>
                </a:solidFill>
                <a:latin typeface="+mj-lt"/>
                <a:cs typeface="Microsoft Sans Serif"/>
              </a:rPr>
              <a:t>a  </a:t>
            </a:r>
            <a:r>
              <a:rPr lang="en-US" sz="2800" kern="0" spc="60" dirty="0">
                <a:solidFill>
                  <a:sysClr val="windowText" lastClr="000000"/>
                </a:solidFill>
                <a:latin typeface="+mj-lt"/>
                <a:cs typeface="Microsoft Sans Serif"/>
              </a:rPr>
              <a:t>knowledge</a:t>
            </a:r>
            <a:r>
              <a:rPr lang="en-US" sz="2800" kern="0" spc="-135" dirty="0">
                <a:solidFill>
                  <a:sysClr val="windowText" lastClr="000000"/>
                </a:solidFill>
                <a:latin typeface="+mj-lt"/>
                <a:cs typeface="Microsoft Sans Serif"/>
              </a:rPr>
              <a:t> </a:t>
            </a:r>
            <a:r>
              <a:rPr lang="en-US" sz="2800" kern="0" spc="-55" dirty="0">
                <a:solidFill>
                  <a:sysClr val="windowText" lastClr="000000"/>
                </a:solidFill>
                <a:latin typeface="+mj-lt"/>
                <a:cs typeface="Microsoft Sans Serif"/>
              </a:rPr>
              <a:t>base</a:t>
            </a:r>
            <a:r>
              <a:rPr lang="en-US" sz="2800" kern="0" spc="-130" dirty="0">
                <a:solidFill>
                  <a:sysClr val="windowText" lastClr="000000"/>
                </a:solidFill>
                <a:latin typeface="+mj-lt"/>
                <a:cs typeface="Microsoft Sans Serif"/>
              </a:rPr>
              <a:t> </a:t>
            </a:r>
            <a:r>
              <a:rPr lang="en-US" sz="2800" kern="0" dirty="0">
                <a:solidFill>
                  <a:sysClr val="windowText" lastClr="000000"/>
                </a:solidFill>
                <a:latin typeface="+mj-lt"/>
                <a:cs typeface="Microsoft Sans Serif"/>
              </a:rPr>
              <a:t>is</a:t>
            </a:r>
            <a:r>
              <a:rPr lang="en-US" sz="2800" kern="0" spc="-135" dirty="0">
                <a:solidFill>
                  <a:sysClr val="windowText" lastClr="000000"/>
                </a:solidFill>
                <a:latin typeface="+mj-lt"/>
                <a:cs typeface="Microsoft Sans Serif"/>
              </a:rPr>
              <a:t> </a:t>
            </a:r>
            <a:r>
              <a:rPr lang="en-US" sz="2800" kern="0" spc="-10" dirty="0">
                <a:solidFill>
                  <a:sysClr val="windowText" lastClr="000000"/>
                </a:solidFill>
                <a:latin typeface="+mj-lt"/>
                <a:cs typeface="Microsoft Sans Serif"/>
              </a:rPr>
              <a:t>created.</a:t>
            </a:r>
            <a:endParaRPr lang="en-US" sz="28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18785891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307316"/>
          </a:xfrm>
          <a:prstGeom prst="rect">
            <a:avLst/>
          </a:prstGeom>
        </p:spPr>
        <p:txBody>
          <a:bodyPr vert="horz" wrap="square" lIns="0" tIns="11430" rIns="0" bIns="0" rtlCol="0">
            <a:spAutoFit/>
          </a:bodyPr>
          <a:lstStyle/>
          <a:p>
            <a:pPr marL="469900" lvl="0" indent="-457200">
              <a:spcBef>
                <a:spcPts val="790"/>
              </a:spcBef>
              <a:buFont typeface="Wingdings" panose="05000000000000000000" pitchFamily="2" charset="2"/>
              <a:buChar char="§"/>
              <a:tabLst>
                <a:tab pos="355600" algn="l"/>
              </a:tabLst>
            </a:pPr>
            <a:r>
              <a:rPr lang="en-US" sz="2800" b="1" kern="0" spc="-10" dirty="0">
                <a:solidFill>
                  <a:sysClr val="windowText" lastClr="000000"/>
                </a:solidFill>
                <a:latin typeface="Microsoft Sans Serif"/>
                <a:cs typeface="Microsoft Sans Serif"/>
              </a:rPr>
              <a:t>Single</a:t>
            </a:r>
            <a:r>
              <a:rPr lang="en-US" sz="2800" b="1" kern="0" spc="-85" dirty="0">
                <a:solidFill>
                  <a:sysClr val="windowText" lastClr="000000"/>
                </a:solidFill>
                <a:latin typeface="Microsoft Sans Serif"/>
                <a:cs typeface="Microsoft Sans Serif"/>
              </a:rPr>
              <a:t> </a:t>
            </a:r>
            <a:r>
              <a:rPr lang="en-US" sz="2800" b="1" kern="0" dirty="0">
                <a:solidFill>
                  <a:sysClr val="windowText" lastClr="000000"/>
                </a:solidFill>
                <a:latin typeface="Microsoft Sans Serif"/>
                <a:cs typeface="Microsoft Sans Serif"/>
              </a:rPr>
              <a:t>valued</a:t>
            </a:r>
            <a:r>
              <a:rPr lang="en-US" sz="2800" b="1" kern="0" spc="-80" dirty="0">
                <a:solidFill>
                  <a:sysClr val="windowText" lastClr="000000"/>
                </a:solidFill>
                <a:latin typeface="Microsoft Sans Serif"/>
                <a:cs typeface="Microsoft Sans Serif"/>
              </a:rPr>
              <a:t> </a:t>
            </a:r>
            <a:r>
              <a:rPr lang="en-US" sz="2800" b="1" kern="0" spc="105" dirty="0">
                <a:solidFill>
                  <a:sysClr val="windowText" lastClr="000000"/>
                </a:solidFill>
                <a:latin typeface="Microsoft Sans Serif"/>
                <a:cs typeface="Microsoft Sans Serif"/>
              </a:rPr>
              <a:t>attributes</a:t>
            </a:r>
            <a:r>
              <a:rPr lang="en-US" sz="2800" b="1" kern="0" spc="-80" dirty="0">
                <a:solidFill>
                  <a:sysClr val="windowText" lastClr="000000"/>
                </a:solidFill>
                <a:latin typeface="Microsoft Sans Serif"/>
                <a:cs typeface="Microsoft Sans Serif"/>
              </a:rPr>
              <a:t> </a:t>
            </a:r>
            <a:r>
              <a:rPr lang="en-US" sz="2800" b="1" kern="0" spc="1095" dirty="0">
                <a:solidFill>
                  <a:sysClr val="windowText" lastClr="000000"/>
                </a:solidFill>
                <a:latin typeface="Microsoft Sans Serif"/>
                <a:cs typeface="Microsoft Sans Serif"/>
              </a:rPr>
              <a:t>—</a:t>
            </a:r>
            <a:endParaRPr lang="en-US" sz="2800" b="1" kern="0" dirty="0">
              <a:solidFill>
                <a:sysClr val="windowText" lastClr="000000"/>
              </a:solidFill>
              <a:latin typeface="Microsoft Sans Serif"/>
              <a:cs typeface="Microsoft Sans Serif"/>
            </a:endParaRPr>
          </a:p>
          <a:p>
            <a:pPr marL="926465" marR="1068070" lvl="1" indent="-457200">
              <a:lnSpc>
                <a:spcPts val="3350"/>
              </a:lnSpc>
              <a:spcBef>
                <a:spcPts val="810"/>
              </a:spcBef>
              <a:buFont typeface="Wingdings" panose="05000000000000000000" pitchFamily="2" charset="2"/>
              <a:buChar char="Ø"/>
              <a:tabLst>
                <a:tab pos="755650" algn="l"/>
              </a:tabLst>
            </a:pPr>
            <a:r>
              <a:rPr lang="en-US" sz="2800" kern="0" spc="-50" dirty="0">
                <a:solidFill>
                  <a:sysClr val="windowText" lastClr="000000"/>
                </a:solidFill>
                <a:latin typeface="Microsoft Sans Serif"/>
                <a:cs typeface="Microsoft Sans Serif"/>
              </a:rPr>
              <a:t>This</a:t>
            </a:r>
            <a:r>
              <a:rPr lang="en-US" sz="2800" kern="0" spc="-10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is</a:t>
            </a:r>
            <a:r>
              <a:rPr lang="en-US" sz="2800" kern="0" spc="-85" dirty="0">
                <a:solidFill>
                  <a:sysClr val="windowText" lastClr="000000"/>
                </a:solidFill>
                <a:latin typeface="Microsoft Sans Serif"/>
                <a:cs typeface="Microsoft Sans Serif"/>
              </a:rPr>
              <a:t> </a:t>
            </a:r>
            <a:r>
              <a:rPr lang="en-US" sz="2800" kern="0" spc="80" dirty="0">
                <a:solidFill>
                  <a:sysClr val="windowText" lastClr="000000"/>
                </a:solidFill>
                <a:latin typeface="Microsoft Sans Serif"/>
                <a:cs typeface="Microsoft Sans Serif"/>
              </a:rPr>
              <a:t>about</a:t>
            </a:r>
            <a:r>
              <a:rPr lang="en-US" sz="2800" kern="0" spc="-95" dirty="0">
                <a:solidFill>
                  <a:sysClr val="windowText" lastClr="000000"/>
                </a:solidFill>
                <a:latin typeface="Microsoft Sans Serif"/>
                <a:cs typeface="Microsoft Sans Serif"/>
              </a:rPr>
              <a:t> </a:t>
            </a:r>
            <a:r>
              <a:rPr lang="en-US" sz="2800" kern="0" spc="-110" dirty="0">
                <a:solidFill>
                  <a:sysClr val="windowText" lastClr="000000"/>
                </a:solidFill>
                <a:latin typeface="Microsoft Sans Serif"/>
                <a:cs typeface="Microsoft Sans Serif"/>
              </a:rPr>
              <a:t>a</a:t>
            </a:r>
            <a:r>
              <a:rPr lang="en-US" sz="2800" kern="0" spc="-85"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specific</a:t>
            </a:r>
            <a:r>
              <a:rPr lang="en-US" sz="2800" kern="0" spc="-100" dirty="0">
                <a:solidFill>
                  <a:sysClr val="windowText" lastClr="000000"/>
                </a:solidFill>
                <a:latin typeface="Microsoft Sans Serif"/>
                <a:cs typeface="Microsoft Sans Serif"/>
              </a:rPr>
              <a:t> </a:t>
            </a:r>
            <a:r>
              <a:rPr lang="en-US" sz="2800" kern="0" spc="135" dirty="0">
                <a:solidFill>
                  <a:sysClr val="windowText" lastClr="000000"/>
                </a:solidFill>
                <a:latin typeface="Microsoft Sans Serif"/>
                <a:cs typeface="Microsoft Sans Serif"/>
              </a:rPr>
              <a:t>attribute</a:t>
            </a:r>
            <a:r>
              <a:rPr lang="en-US" sz="2800" kern="0" spc="-90" dirty="0">
                <a:solidFill>
                  <a:sysClr val="windowText" lastClr="000000"/>
                </a:solidFill>
                <a:latin typeface="Microsoft Sans Serif"/>
                <a:cs typeface="Microsoft Sans Serif"/>
              </a:rPr>
              <a:t> </a:t>
            </a:r>
            <a:r>
              <a:rPr lang="en-US" sz="2800" kern="0" spc="150" dirty="0">
                <a:solidFill>
                  <a:sysClr val="windowText" lastClr="000000"/>
                </a:solidFill>
                <a:latin typeface="Microsoft Sans Serif"/>
                <a:cs typeface="Microsoft Sans Serif"/>
              </a:rPr>
              <a:t>that</a:t>
            </a:r>
            <a:r>
              <a:rPr lang="en-US" sz="2800" kern="0" spc="-90" dirty="0">
                <a:solidFill>
                  <a:sysClr val="windowText" lastClr="000000"/>
                </a:solidFill>
                <a:latin typeface="Microsoft Sans Serif"/>
                <a:cs typeface="Microsoft Sans Serif"/>
              </a:rPr>
              <a:t> </a:t>
            </a:r>
            <a:r>
              <a:rPr lang="en-US" sz="2800" kern="0" spc="-25" dirty="0">
                <a:solidFill>
                  <a:sysClr val="windowText" lastClr="000000"/>
                </a:solidFill>
                <a:latin typeface="Microsoft Sans Serif"/>
                <a:cs typeface="Microsoft Sans Serif"/>
              </a:rPr>
              <a:t>is 	</a:t>
            </a:r>
            <a:r>
              <a:rPr lang="en-US" sz="2800" kern="0" dirty="0">
                <a:solidFill>
                  <a:sysClr val="windowText" lastClr="000000"/>
                </a:solidFill>
                <a:latin typeface="Microsoft Sans Serif"/>
                <a:cs typeface="Microsoft Sans Serif"/>
              </a:rPr>
              <a:t>guaranteed</a:t>
            </a:r>
            <a:r>
              <a:rPr lang="en-US" sz="2800" kern="0" spc="25" dirty="0">
                <a:solidFill>
                  <a:sysClr val="windowText" lastClr="000000"/>
                </a:solidFill>
                <a:latin typeface="Microsoft Sans Serif"/>
                <a:cs typeface="Microsoft Sans Serif"/>
              </a:rPr>
              <a:t> </a:t>
            </a:r>
            <a:r>
              <a:rPr lang="en-US" sz="2800" kern="0" spc="210" dirty="0">
                <a:solidFill>
                  <a:sysClr val="windowText" lastClr="000000"/>
                </a:solidFill>
                <a:latin typeface="Microsoft Sans Serif"/>
                <a:cs typeface="Microsoft Sans Serif"/>
              </a:rPr>
              <a:t>to</a:t>
            </a:r>
            <a:r>
              <a:rPr lang="en-US" sz="2800" kern="0" spc="20" dirty="0">
                <a:solidFill>
                  <a:sysClr val="windowText" lastClr="000000"/>
                </a:solidFill>
                <a:latin typeface="Microsoft Sans Serif"/>
                <a:cs typeface="Microsoft Sans Serif"/>
              </a:rPr>
              <a:t> </a:t>
            </a:r>
            <a:r>
              <a:rPr lang="en-US" sz="2800" kern="0" spc="70" dirty="0">
                <a:solidFill>
                  <a:sysClr val="windowText" lastClr="000000"/>
                </a:solidFill>
                <a:latin typeface="Microsoft Sans Serif"/>
                <a:cs typeface="Microsoft Sans Serif"/>
              </a:rPr>
              <a:t>take</a:t>
            </a:r>
            <a:r>
              <a:rPr lang="en-US" sz="2800" kern="0" spc="20" dirty="0">
                <a:solidFill>
                  <a:sysClr val="windowText" lastClr="000000"/>
                </a:solidFill>
                <a:latin typeface="Microsoft Sans Serif"/>
                <a:cs typeface="Microsoft Sans Serif"/>
              </a:rPr>
              <a:t> </a:t>
            </a:r>
            <a:r>
              <a:rPr lang="en-US" sz="2800" kern="0" spc="-114" dirty="0">
                <a:solidFill>
                  <a:sysClr val="windowText" lastClr="000000"/>
                </a:solidFill>
                <a:latin typeface="Microsoft Sans Serif"/>
                <a:cs typeface="Microsoft Sans Serif"/>
              </a:rPr>
              <a:t>a</a:t>
            </a:r>
            <a:r>
              <a:rPr lang="en-US" sz="2800" kern="0" spc="4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unique</a:t>
            </a:r>
            <a:r>
              <a:rPr lang="en-US" sz="2800" kern="0" spc="25" dirty="0">
                <a:solidFill>
                  <a:sysClr val="windowText" lastClr="000000"/>
                </a:solidFill>
                <a:latin typeface="Microsoft Sans Serif"/>
                <a:cs typeface="Microsoft Sans Serif"/>
              </a:rPr>
              <a:t> </a:t>
            </a:r>
            <a:r>
              <a:rPr lang="en-US" sz="2800" kern="0" spc="-10" dirty="0">
                <a:solidFill>
                  <a:sysClr val="windowText" lastClr="000000"/>
                </a:solidFill>
                <a:latin typeface="Microsoft Sans Serif"/>
                <a:cs typeface="Microsoft Sans Serif"/>
              </a:rPr>
              <a:t>value.</a:t>
            </a:r>
            <a:endParaRPr lang="en-US" sz="2800" kern="0" dirty="0">
              <a:solidFill>
                <a:sysClr val="windowText" lastClr="000000"/>
              </a:solidFill>
              <a:latin typeface="Microsoft Sans Serif"/>
              <a:cs typeface="Microsoft Sans Serif"/>
            </a:endParaRPr>
          </a:p>
          <a:p>
            <a:pPr marL="926465" marR="5080" lvl="1" indent="-457200">
              <a:spcBef>
                <a:spcPts val="580"/>
              </a:spcBef>
              <a:buFont typeface="Wingdings" panose="05000000000000000000" pitchFamily="2" charset="2"/>
              <a:buChar char="Ø"/>
              <a:tabLst>
                <a:tab pos="755650" algn="l"/>
              </a:tabLst>
            </a:pPr>
            <a:r>
              <a:rPr lang="en-US" sz="2800" kern="0" dirty="0">
                <a:solidFill>
                  <a:sysClr val="windowText" lastClr="000000"/>
                </a:solidFill>
                <a:latin typeface="Microsoft Sans Serif"/>
                <a:cs typeface="Microsoft Sans Serif"/>
              </a:rPr>
              <a:t>For</a:t>
            </a:r>
            <a:r>
              <a:rPr lang="en-US" sz="2800" kern="0" spc="-75"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example,</a:t>
            </a:r>
            <a:r>
              <a:rPr lang="en-US" sz="2800" kern="0" spc="-75" dirty="0">
                <a:solidFill>
                  <a:sysClr val="windowText" lastClr="000000"/>
                </a:solidFill>
                <a:latin typeface="Microsoft Sans Serif"/>
                <a:cs typeface="Microsoft Sans Serif"/>
              </a:rPr>
              <a:t> </a:t>
            </a:r>
            <a:r>
              <a:rPr lang="en-US" sz="2800" kern="0" spc="-110" dirty="0">
                <a:solidFill>
                  <a:sysClr val="windowText" lastClr="000000"/>
                </a:solidFill>
                <a:latin typeface="Microsoft Sans Serif"/>
                <a:cs typeface="Microsoft Sans Serif"/>
              </a:rPr>
              <a:t>a</a:t>
            </a:r>
            <a:r>
              <a:rPr lang="en-US" sz="2800" kern="0" spc="-75"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baseball</a:t>
            </a:r>
            <a:r>
              <a:rPr lang="en-US" sz="2800" kern="0" spc="-7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player</a:t>
            </a:r>
            <a:r>
              <a:rPr lang="en-US" sz="2800" kern="0" spc="-80" dirty="0">
                <a:solidFill>
                  <a:sysClr val="windowText" lastClr="000000"/>
                </a:solidFill>
                <a:latin typeface="Microsoft Sans Serif"/>
                <a:cs typeface="Microsoft Sans Serif"/>
              </a:rPr>
              <a:t> </a:t>
            </a:r>
            <a:r>
              <a:rPr lang="en-US" sz="2800" kern="0" spc="-50" dirty="0">
                <a:solidFill>
                  <a:sysClr val="windowText" lastClr="000000"/>
                </a:solidFill>
                <a:latin typeface="Microsoft Sans Serif"/>
                <a:cs typeface="Microsoft Sans Serif"/>
              </a:rPr>
              <a:t>can</a:t>
            </a:r>
            <a:r>
              <a:rPr lang="en-US" sz="2800" kern="0" spc="-75" dirty="0">
                <a:solidFill>
                  <a:sysClr val="windowText" lastClr="000000"/>
                </a:solidFill>
                <a:latin typeface="Microsoft Sans Serif"/>
                <a:cs typeface="Microsoft Sans Serif"/>
              </a:rPr>
              <a:t> </a:t>
            </a:r>
            <a:r>
              <a:rPr lang="en-US" sz="2800" kern="0" spc="114" dirty="0">
                <a:solidFill>
                  <a:sysClr val="windowText" lastClr="000000"/>
                </a:solidFill>
                <a:latin typeface="Microsoft Sans Serif"/>
                <a:cs typeface="Microsoft Sans Serif"/>
              </a:rPr>
              <a:t>at</a:t>
            </a:r>
            <a:r>
              <a:rPr lang="en-US" sz="2800" kern="0" spc="-70" dirty="0">
                <a:solidFill>
                  <a:sysClr val="windowText" lastClr="000000"/>
                </a:solidFill>
                <a:latin typeface="Microsoft Sans Serif"/>
                <a:cs typeface="Microsoft Sans Serif"/>
              </a:rPr>
              <a:t> </a:t>
            </a:r>
            <a:r>
              <a:rPr lang="en-US" sz="2800" kern="0" spc="100" dirty="0">
                <a:solidFill>
                  <a:sysClr val="windowText" lastClr="000000"/>
                </a:solidFill>
                <a:latin typeface="Microsoft Sans Serif"/>
                <a:cs typeface="Microsoft Sans Serif"/>
              </a:rPr>
              <a:t>time </a:t>
            </a:r>
            <a:r>
              <a:rPr lang="en-US" sz="2800" kern="0" spc="-10" dirty="0">
                <a:solidFill>
                  <a:sysClr val="windowText" lastClr="000000"/>
                </a:solidFill>
                <a:latin typeface="Microsoft Sans Serif"/>
                <a:cs typeface="Microsoft Sans Serif"/>
              </a:rPr>
              <a:t>have</a:t>
            </a:r>
            <a:r>
              <a:rPr lang="en-US" sz="2800" kern="0" spc="-90" dirty="0">
                <a:solidFill>
                  <a:sysClr val="windowText" lastClr="000000"/>
                </a:solidFill>
                <a:latin typeface="Microsoft Sans Serif"/>
                <a:cs typeface="Microsoft Sans Serif"/>
              </a:rPr>
              <a:t> </a:t>
            </a:r>
            <a:r>
              <a:rPr lang="en-US" sz="2800" kern="0" spc="50" dirty="0">
                <a:solidFill>
                  <a:sysClr val="windowText" lastClr="000000"/>
                </a:solidFill>
                <a:latin typeface="Microsoft Sans Serif"/>
                <a:cs typeface="Microsoft Sans Serif"/>
              </a:rPr>
              <a:t>only</a:t>
            </a:r>
            <a:r>
              <a:rPr lang="en-US" sz="2800" kern="0" spc="-80" dirty="0">
                <a:solidFill>
                  <a:sysClr val="windowText" lastClr="000000"/>
                </a:solidFill>
                <a:latin typeface="Microsoft Sans Serif"/>
                <a:cs typeface="Microsoft Sans Serif"/>
              </a:rPr>
              <a:t> </a:t>
            </a:r>
            <a:r>
              <a:rPr lang="en-US" sz="2800" kern="0" spc="-110" dirty="0">
                <a:solidFill>
                  <a:sysClr val="windowText" lastClr="000000"/>
                </a:solidFill>
                <a:latin typeface="Microsoft Sans Serif"/>
                <a:cs typeface="Microsoft Sans Serif"/>
              </a:rPr>
              <a:t>a</a:t>
            </a:r>
            <a:r>
              <a:rPr lang="en-US" sz="2800" kern="0" spc="-8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single</a:t>
            </a:r>
            <a:r>
              <a:rPr lang="en-US" sz="2800" kern="0" spc="-85" dirty="0">
                <a:solidFill>
                  <a:sysClr val="windowText" lastClr="000000"/>
                </a:solidFill>
                <a:latin typeface="Microsoft Sans Serif"/>
                <a:cs typeface="Microsoft Sans Serif"/>
              </a:rPr>
              <a:t> </a:t>
            </a:r>
            <a:r>
              <a:rPr lang="en-US" sz="2800" kern="0" spc="80" dirty="0">
                <a:solidFill>
                  <a:sysClr val="windowText" lastClr="000000"/>
                </a:solidFill>
                <a:latin typeface="Microsoft Sans Serif"/>
                <a:cs typeface="Microsoft Sans Serif"/>
              </a:rPr>
              <a:t>height</a:t>
            </a:r>
            <a:r>
              <a:rPr lang="en-US" sz="2800" kern="0" spc="-8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and</a:t>
            </a:r>
            <a:r>
              <a:rPr lang="en-US" sz="2800" kern="0" spc="-9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be</a:t>
            </a:r>
            <a:r>
              <a:rPr lang="en-US" sz="2800" kern="0" spc="-90" dirty="0">
                <a:solidFill>
                  <a:sysClr val="windowText" lastClr="000000"/>
                </a:solidFill>
                <a:latin typeface="Microsoft Sans Serif"/>
                <a:cs typeface="Microsoft Sans Serif"/>
              </a:rPr>
              <a:t> </a:t>
            </a:r>
            <a:r>
              <a:rPr lang="en-US" sz="2800" kern="0" spc="-114" dirty="0">
                <a:solidFill>
                  <a:sysClr val="windowText" lastClr="000000"/>
                </a:solidFill>
                <a:latin typeface="Microsoft Sans Serif"/>
                <a:cs typeface="Microsoft Sans Serif"/>
              </a:rPr>
              <a:t>a</a:t>
            </a:r>
            <a:r>
              <a:rPr lang="en-US" sz="2800" kern="0" spc="-75" dirty="0">
                <a:solidFill>
                  <a:sysClr val="windowText" lastClr="000000"/>
                </a:solidFill>
                <a:latin typeface="Microsoft Sans Serif"/>
                <a:cs typeface="Microsoft Sans Serif"/>
              </a:rPr>
              <a:t> </a:t>
            </a:r>
            <a:r>
              <a:rPr lang="en-US" sz="2800" kern="0" spc="50" dirty="0">
                <a:solidFill>
                  <a:sysClr val="windowText" lastClr="000000"/>
                </a:solidFill>
                <a:latin typeface="Microsoft Sans Serif"/>
                <a:cs typeface="Microsoft Sans Serif"/>
              </a:rPr>
              <a:t>member</a:t>
            </a:r>
            <a:r>
              <a:rPr lang="en-US" sz="2800" kern="0" spc="-85" dirty="0">
                <a:solidFill>
                  <a:sysClr val="windowText" lastClr="000000"/>
                </a:solidFill>
                <a:latin typeface="Microsoft Sans Serif"/>
                <a:cs typeface="Microsoft Sans Serif"/>
              </a:rPr>
              <a:t> </a:t>
            </a:r>
            <a:r>
              <a:rPr lang="en-US" sz="2800" kern="0" spc="160" dirty="0">
                <a:solidFill>
                  <a:sysClr val="windowText" lastClr="000000"/>
                </a:solidFill>
                <a:latin typeface="Microsoft Sans Serif"/>
                <a:cs typeface="Microsoft Sans Serif"/>
              </a:rPr>
              <a:t>of 	</a:t>
            </a:r>
            <a:r>
              <a:rPr lang="en-US" sz="2800" kern="0" spc="50" dirty="0">
                <a:solidFill>
                  <a:sysClr val="windowText" lastClr="000000"/>
                </a:solidFill>
                <a:latin typeface="Microsoft Sans Serif"/>
                <a:cs typeface="Microsoft Sans Serif"/>
              </a:rPr>
              <a:t>only</a:t>
            </a:r>
            <a:r>
              <a:rPr lang="en-US" sz="2800" kern="0" spc="-55"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one</a:t>
            </a:r>
            <a:r>
              <a:rPr lang="en-US" sz="2800" kern="0" spc="-55" dirty="0">
                <a:solidFill>
                  <a:sysClr val="windowText" lastClr="000000"/>
                </a:solidFill>
                <a:latin typeface="Microsoft Sans Serif"/>
                <a:cs typeface="Microsoft Sans Serif"/>
              </a:rPr>
              <a:t> </a:t>
            </a:r>
            <a:r>
              <a:rPr lang="en-US" sz="2800" kern="0" spc="-20" dirty="0">
                <a:solidFill>
                  <a:sysClr val="windowText" lastClr="000000"/>
                </a:solidFill>
                <a:latin typeface="Microsoft Sans Serif"/>
                <a:cs typeface="Microsoft Sans Serif"/>
              </a:rPr>
              <a:t>team.</a:t>
            </a:r>
            <a:endParaRPr lang="en-US" sz="2800" kern="0" dirty="0">
              <a:solidFill>
                <a:sysClr val="windowText" lastClr="000000"/>
              </a:solidFill>
              <a:latin typeface="Microsoft Sans Serif"/>
              <a:cs typeface="Microsoft Sans Serif"/>
            </a:endParaRPr>
          </a:p>
          <a:p>
            <a:pPr marL="926465" marR="150495" lvl="1" indent="-457200">
              <a:spcBef>
                <a:spcPts val="680"/>
              </a:spcBef>
              <a:buFont typeface="Wingdings" panose="05000000000000000000" pitchFamily="2" charset="2"/>
              <a:buChar char="Ø"/>
              <a:tabLst>
                <a:tab pos="755650" algn="l"/>
              </a:tabLst>
            </a:pPr>
            <a:r>
              <a:rPr lang="en-US" sz="2800" kern="0" spc="-200" dirty="0">
                <a:solidFill>
                  <a:sysClr val="windowText" lastClr="000000"/>
                </a:solidFill>
                <a:latin typeface="Microsoft Sans Serif"/>
                <a:cs typeface="Microsoft Sans Serif"/>
              </a:rPr>
              <a:t>KR</a:t>
            </a:r>
            <a:r>
              <a:rPr lang="en-US" sz="2800" kern="0" spc="-100" dirty="0">
                <a:solidFill>
                  <a:sysClr val="windowText" lastClr="000000"/>
                </a:solidFill>
                <a:latin typeface="Microsoft Sans Serif"/>
                <a:cs typeface="Microsoft Sans Serif"/>
              </a:rPr>
              <a:t> </a:t>
            </a:r>
            <a:r>
              <a:rPr lang="en-US" sz="2800" kern="0" spc="-10" dirty="0">
                <a:solidFill>
                  <a:sysClr val="windowText" lastClr="000000"/>
                </a:solidFill>
                <a:latin typeface="Microsoft Sans Serif"/>
                <a:cs typeface="Microsoft Sans Serif"/>
              </a:rPr>
              <a:t>systems</a:t>
            </a:r>
            <a:r>
              <a:rPr lang="en-US" sz="2800" kern="0" spc="-100" dirty="0">
                <a:solidFill>
                  <a:sysClr val="windowText" lastClr="000000"/>
                </a:solidFill>
                <a:latin typeface="Microsoft Sans Serif"/>
                <a:cs typeface="Microsoft Sans Serif"/>
              </a:rPr>
              <a:t> </a:t>
            </a:r>
            <a:r>
              <a:rPr lang="en-US" sz="2800" kern="0" spc="70" dirty="0">
                <a:solidFill>
                  <a:sysClr val="windowText" lastClr="000000"/>
                </a:solidFill>
                <a:latin typeface="Microsoft Sans Serif"/>
                <a:cs typeface="Microsoft Sans Serif"/>
              </a:rPr>
              <a:t>take</a:t>
            </a:r>
            <a:r>
              <a:rPr lang="en-US" sz="2800" kern="0" spc="-100" dirty="0">
                <a:solidFill>
                  <a:sysClr val="windowText" lastClr="000000"/>
                </a:solidFill>
                <a:latin typeface="Microsoft Sans Serif"/>
                <a:cs typeface="Microsoft Sans Serif"/>
              </a:rPr>
              <a:t> </a:t>
            </a:r>
            <a:r>
              <a:rPr lang="en-US" sz="2800" kern="0" spc="135" dirty="0">
                <a:solidFill>
                  <a:sysClr val="windowText" lastClr="000000"/>
                </a:solidFill>
                <a:latin typeface="Microsoft Sans Serif"/>
                <a:cs typeface="Microsoft Sans Serif"/>
              </a:rPr>
              <a:t>different</a:t>
            </a:r>
            <a:r>
              <a:rPr lang="en-US" sz="2800" kern="0" spc="-105" dirty="0">
                <a:solidFill>
                  <a:sysClr val="windowText" lastClr="000000"/>
                </a:solidFill>
                <a:latin typeface="Microsoft Sans Serif"/>
                <a:cs typeface="Microsoft Sans Serif"/>
              </a:rPr>
              <a:t> </a:t>
            </a:r>
            <a:r>
              <a:rPr lang="en-US" sz="2800" kern="0" spc="-10" dirty="0">
                <a:solidFill>
                  <a:sysClr val="windowText" lastClr="000000"/>
                </a:solidFill>
                <a:latin typeface="Microsoft Sans Serif"/>
                <a:cs typeface="Microsoft Sans Serif"/>
              </a:rPr>
              <a:t>approaches</a:t>
            </a:r>
            <a:r>
              <a:rPr lang="en-US" sz="2800" kern="0" spc="-95" dirty="0">
                <a:solidFill>
                  <a:sysClr val="windowText" lastClr="000000"/>
                </a:solidFill>
                <a:latin typeface="Microsoft Sans Serif"/>
                <a:cs typeface="Microsoft Sans Serif"/>
              </a:rPr>
              <a:t> </a:t>
            </a:r>
            <a:r>
              <a:rPr lang="en-US" sz="2800" kern="0" spc="175" dirty="0">
                <a:solidFill>
                  <a:sysClr val="windowText" lastClr="000000"/>
                </a:solidFill>
                <a:latin typeface="Microsoft Sans Serif"/>
                <a:cs typeface="Microsoft Sans Serif"/>
              </a:rPr>
              <a:t>to </a:t>
            </a:r>
            <a:r>
              <a:rPr lang="en-US" sz="2800" kern="0" spc="60" dirty="0">
                <a:solidFill>
                  <a:sysClr val="windowText" lastClr="000000"/>
                </a:solidFill>
                <a:latin typeface="Microsoft Sans Serif"/>
                <a:cs typeface="Microsoft Sans Serif"/>
              </a:rPr>
              <a:t>provide</a:t>
            </a:r>
            <a:r>
              <a:rPr lang="en-US" sz="2800" kern="0" spc="-60" dirty="0">
                <a:solidFill>
                  <a:sysClr val="windowText" lastClr="000000"/>
                </a:solidFill>
                <a:latin typeface="Microsoft Sans Serif"/>
                <a:cs typeface="Microsoft Sans Serif"/>
              </a:rPr>
              <a:t> </a:t>
            </a:r>
            <a:r>
              <a:rPr lang="en-US" sz="2800" kern="0" spc="80" dirty="0">
                <a:solidFill>
                  <a:sysClr val="windowText" lastClr="000000"/>
                </a:solidFill>
                <a:latin typeface="Microsoft Sans Serif"/>
                <a:cs typeface="Microsoft Sans Serif"/>
              </a:rPr>
              <a:t>support</a:t>
            </a:r>
            <a:r>
              <a:rPr lang="en-US" sz="2800" kern="0" spc="-50" dirty="0">
                <a:solidFill>
                  <a:sysClr val="windowText" lastClr="000000"/>
                </a:solidFill>
                <a:latin typeface="Microsoft Sans Serif"/>
                <a:cs typeface="Microsoft Sans Serif"/>
              </a:rPr>
              <a:t> </a:t>
            </a:r>
            <a:r>
              <a:rPr lang="en-US" sz="2800" kern="0" spc="165" dirty="0">
                <a:solidFill>
                  <a:sysClr val="windowText" lastClr="000000"/>
                </a:solidFill>
                <a:latin typeface="Microsoft Sans Serif"/>
                <a:cs typeface="Microsoft Sans Serif"/>
              </a:rPr>
              <a:t>for</a:t>
            </a:r>
            <a:r>
              <a:rPr lang="en-US" sz="2800" kern="0" spc="-60"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single</a:t>
            </a:r>
            <a:r>
              <a:rPr lang="en-US" sz="2800" kern="0" spc="-55" dirty="0">
                <a:solidFill>
                  <a:sysClr val="windowText" lastClr="000000"/>
                </a:solidFill>
                <a:latin typeface="Microsoft Sans Serif"/>
                <a:cs typeface="Microsoft Sans Serif"/>
              </a:rPr>
              <a:t> </a:t>
            </a:r>
            <a:r>
              <a:rPr lang="en-US" sz="2800" kern="0" dirty="0">
                <a:solidFill>
                  <a:sysClr val="windowText" lastClr="000000"/>
                </a:solidFill>
                <a:latin typeface="Microsoft Sans Serif"/>
                <a:cs typeface="Microsoft Sans Serif"/>
              </a:rPr>
              <a:t>valued</a:t>
            </a:r>
            <a:r>
              <a:rPr lang="en-US" sz="2800" kern="0" spc="-65" dirty="0">
                <a:solidFill>
                  <a:sysClr val="windowText" lastClr="000000"/>
                </a:solidFill>
                <a:latin typeface="Microsoft Sans Serif"/>
                <a:cs typeface="Microsoft Sans Serif"/>
              </a:rPr>
              <a:t> </a:t>
            </a:r>
            <a:r>
              <a:rPr lang="en-US" sz="2800" kern="0" spc="75" dirty="0">
                <a:solidFill>
                  <a:sysClr val="windowText" lastClr="000000"/>
                </a:solidFill>
                <a:latin typeface="Microsoft Sans Serif"/>
                <a:cs typeface="Microsoft Sans Serif"/>
              </a:rPr>
              <a:t>attributes.</a:t>
            </a:r>
            <a:endParaRPr lang="en-US" sz="2800" kern="0" dirty="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8289827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677225"/>
          </a:xfrm>
          <a:prstGeom prst="rect">
            <a:avLst/>
          </a:prstGeom>
        </p:spPr>
        <p:txBody>
          <a:bodyPr vert="horz" wrap="square" lIns="0" tIns="11430" rIns="0" bIns="0" rtlCol="0">
            <a:spAutoFit/>
          </a:bodyPr>
          <a:lstStyle/>
          <a:p>
            <a:pPr marL="355600" lvl="0" indent="-342900">
              <a:spcBef>
                <a:spcPts val="675"/>
              </a:spcBef>
              <a:buFont typeface="Wingdings" panose="05000000000000000000" pitchFamily="2" charset="2"/>
              <a:buChar char="§"/>
              <a:tabLst>
                <a:tab pos="290830" algn="l"/>
              </a:tabLst>
            </a:pPr>
            <a:r>
              <a:rPr lang="en-US" sz="2400" b="1" kern="0" dirty="0">
                <a:solidFill>
                  <a:sysClr val="windowText" lastClr="000000"/>
                </a:solidFill>
                <a:latin typeface="+mj-lt"/>
                <a:cs typeface="Microsoft Sans Serif"/>
              </a:rPr>
              <a:t>Choosing</a:t>
            </a:r>
            <a:r>
              <a:rPr lang="en-US" sz="2400" b="1" kern="0" spc="-100" dirty="0">
                <a:solidFill>
                  <a:sysClr val="windowText" lastClr="000000"/>
                </a:solidFill>
                <a:latin typeface="+mj-lt"/>
                <a:cs typeface="Microsoft Sans Serif"/>
              </a:rPr>
              <a:t> </a:t>
            </a:r>
            <a:r>
              <a:rPr lang="en-US" sz="2400" b="1" kern="0" spc="-10" dirty="0">
                <a:solidFill>
                  <a:sysClr val="windowText" lastClr="000000"/>
                </a:solidFill>
                <a:latin typeface="+mj-lt"/>
                <a:cs typeface="Microsoft Sans Serif"/>
              </a:rPr>
              <a:t>Granularity:</a:t>
            </a:r>
            <a:endParaRPr lang="en-US" sz="2400" b="1" kern="0" dirty="0">
              <a:solidFill>
                <a:sysClr val="windowText" lastClr="000000"/>
              </a:solidFill>
              <a:latin typeface="+mj-lt"/>
              <a:cs typeface="Microsoft Sans Serif"/>
            </a:endParaRPr>
          </a:p>
          <a:p>
            <a:pPr marL="724535" marR="1238250" lvl="1" indent="-342900">
              <a:spcBef>
                <a:spcPts val="580"/>
              </a:spcBef>
              <a:buFont typeface="Wingdings" panose="05000000000000000000" pitchFamily="2" charset="2"/>
              <a:buChar char="Ø"/>
              <a:tabLst>
                <a:tab pos="614045" algn="l"/>
              </a:tabLst>
            </a:pPr>
            <a:r>
              <a:rPr lang="en-US" sz="2400" kern="0" spc="140" dirty="0">
                <a:solidFill>
                  <a:sysClr val="windowText" lastClr="000000"/>
                </a:solidFill>
                <a:latin typeface="+mj-lt"/>
                <a:cs typeface="Microsoft Sans Serif"/>
              </a:rPr>
              <a:t>At</a:t>
            </a:r>
            <a:r>
              <a:rPr lang="en-US" sz="2400" kern="0" spc="-10"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what</a:t>
            </a:r>
            <a:r>
              <a:rPr lang="en-US" sz="2400" kern="0" spc="-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level </a:t>
            </a:r>
            <a:r>
              <a:rPr lang="en-US" sz="2400" kern="0" spc="170" dirty="0">
                <a:solidFill>
                  <a:sysClr val="windowText" lastClr="000000"/>
                </a:solidFill>
                <a:latin typeface="+mj-lt"/>
                <a:cs typeface="Microsoft Sans Serif"/>
              </a:rPr>
              <a:t>of</a:t>
            </a:r>
            <a:r>
              <a:rPr lang="en-US" sz="2400" kern="0" spc="-10" dirty="0">
                <a:solidFill>
                  <a:sysClr val="windowText" lastClr="000000"/>
                </a:solidFill>
                <a:latin typeface="+mj-lt"/>
                <a:cs typeface="Microsoft Sans Serif"/>
              </a:rPr>
              <a:t> </a:t>
            </a:r>
            <a:r>
              <a:rPr lang="en-US" sz="2400" kern="0" spc="70" dirty="0">
                <a:solidFill>
                  <a:sysClr val="windowText" lastClr="000000"/>
                </a:solidFill>
                <a:latin typeface="+mj-lt"/>
                <a:cs typeface="Microsoft Sans Serif"/>
              </a:rPr>
              <a:t>detail</a:t>
            </a:r>
            <a:r>
              <a:rPr lang="en-US" sz="2400" kern="0" dirty="0">
                <a:solidFill>
                  <a:sysClr val="windowText" lastClr="000000"/>
                </a:solidFill>
                <a:latin typeface="+mj-lt"/>
                <a:cs typeface="Microsoft Sans Serif"/>
              </a:rPr>
              <a:t> should</a:t>
            </a:r>
            <a:r>
              <a:rPr lang="en-US" sz="2400" kern="0" spc="-15" dirty="0">
                <a:solidFill>
                  <a:sysClr val="windowText" lastClr="000000"/>
                </a:solidFill>
                <a:latin typeface="+mj-lt"/>
                <a:cs typeface="Microsoft Sans Serif"/>
              </a:rPr>
              <a:t> </a:t>
            </a:r>
            <a:r>
              <a:rPr lang="en-US" sz="2400" kern="0" spc="105" dirty="0">
                <a:solidFill>
                  <a:sysClr val="windowText" lastClr="000000"/>
                </a:solidFill>
                <a:latin typeface="+mj-lt"/>
                <a:cs typeface="Microsoft Sans Serif"/>
              </a:rPr>
              <a:t>the</a:t>
            </a:r>
            <a:r>
              <a:rPr lang="en-US" sz="2400" kern="0" spc="-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knowledge</a:t>
            </a:r>
            <a:r>
              <a:rPr lang="en-US" sz="2400" kern="0" spc="-5" dirty="0">
                <a:solidFill>
                  <a:sysClr val="windowText" lastClr="000000"/>
                </a:solidFill>
                <a:latin typeface="+mj-lt"/>
                <a:cs typeface="Microsoft Sans Serif"/>
              </a:rPr>
              <a:t> </a:t>
            </a:r>
            <a:r>
              <a:rPr lang="en-US" sz="2400" kern="0" spc="-25" dirty="0">
                <a:solidFill>
                  <a:sysClr val="windowText" lastClr="000000"/>
                </a:solidFill>
                <a:latin typeface="+mj-lt"/>
                <a:cs typeface="Microsoft Sans Serif"/>
              </a:rPr>
              <a:t>be </a:t>
            </a:r>
            <a:r>
              <a:rPr lang="en-US" sz="2400" kern="0" spc="-10" dirty="0">
                <a:solidFill>
                  <a:sysClr val="windowText" lastClr="000000"/>
                </a:solidFill>
                <a:latin typeface="+mj-lt"/>
                <a:cs typeface="Microsoft Sans Serif"/>
              </a:rPr>
              <a:t>represented?</a:t>
            </a:r>
            <a:endParaRPr lang="en-US" sz="2400" kern="0" dirty="0">
              <a:solidFill>
                <a:sysClr val="windowText" lastClr="000000"/>
              </a:solidFill>
              <a:latin typeface="+mj-lt"/>
              <a:cs typeface="Microsoft Sans Serif"/>
            </a:endParaRPr>
          </a:p>
          <a:p>
            <a:pPr marL="725170" lvl="1" indent="-342900">
              <a:spcBef>
                <a:spcPts val="590"/>
              </a:spcBef>
              <a:buFont typeface="Wingdings" panose="05000000000000000000" pitchFamily="2" charset="2"/>
              <a:buChar char="Ø"/>
              <a:tabLst>
                <a:tab pos="614045" algn="l"/>
              </a:tabLst>
            </a:pPr>
            <a:r>
              <a:rPr lang="en-US" sz="2400" kern="0" spc="-10" dirty="0">
                <a:solidFill>
                  <a:sysClr val="windowText" lastClr="000000"/>
                </a:solidFill>
                <a:latin typeface="+mj-lt"/>
                <a:cs typeface="Microsoft Sans Serif"/>
              </a:rPr>
              <a:t>Regardless</a:t>
            </a:r>
            <a:r>
              <a:rPr lang="en-US" sz="2400" kern="0" spc="-30" dirty="0">
                <a:solidFill>
                  <a:sysClr val="windowText" lastClr="000000"/>
                </a:solidFill>
                <a:latin typeface="+mj-lt"/>
                <a:cs typeface="Microsoft Sans Serif"/>
              </a:rPr>
              <a:t> </a:t>
            </a:r>
            <a:r>
              <a:rPr lang="en-US" sz="2400" kern="0" spc="165" dirty="0">
                <a:solidFill>
                  <a:sysClr val="windowText" lastClr="000000"/>
                </a:solidFill>
                <a:latin typeface="+mj-lt"/>
                <a:cs typeface="Microsoft Sans Serif"/>
              </a:rPr>
              <a:t>of</a:t>
            </a:r>
            <a:r>
              <a:rPr lang="en-US" sz="2400" kern="0" spc="-25"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the</a:t>
            </a:r>
            <a:r>
              <a:rPr lang="en-US" sz="2400" kern="0" spc="-30" dirty="0">
                <a:solidFill>
                  <a:sysClr val="windowText" lastClr="000000"/>
                </a:solidFill>
                <a:latin typeface="+mj-lt"/>
                <a:cs typeface="Microsoft Sans Serif"/>
              </a:rPr>
              <a:t> </a:t>
            </a:r>
            <a:r>
              <a:rPr lang="en-US" sz="2400" kern="0" spc="-155" dirty="0">
                <a:solidFill>
                  <a:sysClr val="windowText" lastClr="000000"/>
                </a:solidFill>
                <a:latin typeface="+mj-lt"/>
                <a:cs typeface="Microsoft Sans Serif"/>
              </a:rPr>
              <a:t>KR</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formalism,</a:t>
            </a:r>
            <a:r>
              <a:rPr lang="en-US" sz="2400" kern="0" spc="-35" dirty="0">
                <a:solidFill>
                  <a:sysClr val="windowText" lastClr="000000"/>
                </a:solidFill>
                <a:latin typeface="+mj-lt"/>
                <a:cs typeface="Microsoft Sans Serif"/>
              </a:rPr>
              <a:t> </a:t>
            </a:r>
            <a:r>
              <a:rPr lang="en-US" sz="2400" kern="0" spc="170" dirty="0">
                <a:solidFill>
                  <a:sysClr val="windowText" lastClr="000000"/>
                </a:solidFill>
                <a:latin typeface="+mj-lt"/>
                <a:cs typeface="Microsoft Sans Serif"/>
              </a:rPr>
              <a:t>it</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is</a:t>
            </a:r>
            <a:r>
              <a:rPr lang="en-US" sz="2400" kern="0" spc="-35" dirty="0">
                <a:solidFill>
                  <a:sysClr val="windowText" lastClr="000000"/>
                </a:solidFill>
                <a:latin typeface="+mj-lt"/>
                <a:cs typeface="Microsoft Sans Serif"/>
              </a:rPr>
              <a:t> </a:t>
            </a:r>
            <a:r>
              <a:rPr lang="en-US" sz="2400" kern="0" spc="-20" dirty="0">
                <a:solidFill>
                  <a:sysClr val="windowText" lastClr="000000"/>
                </a:solidFill>
                <a:latin typeface="+mj-lt"/>
                <a:cs typeface="Microsoft Sans Serif"/>
              </a:rPr>
              <a:t>necessary</a:t>
            </a:r>
            <a:r>
              <a:rPr lang="en-US" sz="2400" kern="0" spc="-30" dirty="0">
                <a:solidFill>
                  <a:sysClr val="windowText" lastClr="000000"/>
                </a:solidFill>
                <a:latin typeface="+mj-lt"/>
                <a:cs typeface="Microsoft Sans Serif"/>
              </a:rPr>
              <a:t> </a:t>
            </a:r>
            <a:r>
              <a:rPr lang="en-US" sz="2400" kern="0" spc="185" dirty="0">
                <a:solidFill>
                  <a:sysClr val="windowText" lastClr="000000"/>
                </a:solidFill>
                <a:latin typeface="+mj-lt"/>
                <a:cs typeface="Microsoft Sans Serif"/>
              </a:rPr>
              <a:t>to</a:t>
            </a:r>
            <a:r>
              <a:rPr lang="en-US" sz="2400" kern="0" spc="-3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know:</a:t>
            </a:r>
            <a:endParaRPr lang="en-US" sz="2400" kern="0" dirty="0">
              <a:solidFill>
                <a:sysClr val="windowText" lastClr="000000"/>
              </a:solidFill>
              <a:latin typeface="+mj-lt"/>
              <a:cs typeface="Microsoft Sans Serif"/>
            </a:endParaRPr>
          </a:p>
          <a:p>
            <a:pPr marL="1096010" marR="396240" lvl="2" indent="-342900">
              <a:spcBef>
                <a:spcPts val="500"/>
              </a:spcBef>
              <a:buFont typeface="Arial" panose="020B0604020202020204" pitchFamily="34" charset="0"/>
              <a:buChar char="•"/>
              <a:tabLst>
                <a:tab pos="938530" algn="l"/>
              </a:tabLst>
            </a:pPr>
            <a:r>
              <a:rPr lang="en-US" sz="2400" kern="0" spc="140" dirty="0">
                <a:solidFill>
                  <a:sysClr val="windowText" lastClr="000000"/>
                </a:solidFill>
                <a:latin typeface="+mj-lt"/>
                <a:cs typeface="Microsoft Sans Serif"/>
              </a:rPr>
              <a:t>At</a:t>
            </a:r>
            <a:r>
              <a:rPr lang="en-US" sz="2400" kern="0" spc="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what</a:t>
            </a:r>
            <a:r>
              <a:rPr lang="en-US" sz="2400" kern="0" spc="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level</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should </a:t>
            </a:r>
            <a:r>
              <a:rPr lang="en-US" sz="2400" kern="0" spc="105" dirty="0">
                <a:solidFill>
                  <a:sysClr val="windowText" lastClr="000000"/>
                </a:solidFill>
                <a:latin typeface="+mj-lt"/>
                <a:cs typeface="Microsoft Sans Serif"/>
              </a:rPr>
              <a:t>the</a:t>
            </a:r>
            <a:r>
              <a:rPr lang="en-US" sz="2400" kern="0" spc="10"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knowledge</a:t>
            </a:r>
            <a:r>
              <a:rPr lang="en-US" sz="2400" kern="0" spc="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10"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represented  </a:t>
            </a:r>
            <a:r>
              <a:rPr lang="en-US" sz="2400" kern="0" dirty="0">
                <a:solidFill>
                  <a:sysClr val="windowText" lastClr="000000"/>
                </a:solidFill>
                <a:latin typeface="+mj-lt"/>
                <a:cs typeface="Microsoft Sans Serif"/>
              </a:rPr>
              <a:t>and</a:t>
            </a:r>
            <a:r>
              <a:rPr lang="en-US" sz="2400" kern="0" spc="-5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what</a:t>
            </a:r>
            <a:r>
              <a:rPr lang="en-US" sz="2400" kern="0" spc="-5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are</a:t>
            </a:r>
            <a:r>
              <a:rPr lang="en-US" sz="2400" kern="0" spc="-45" dirty="0">
                <a:solidFill>
                  <a:sysClr val="windowText" lastClr="000000"/>
                </a:solidFill>
                <a:latin typeface="+mj-lt"/>
                <a:cs typeface="Microsoft Sans Serif"/>
              </a:rPr>
              <a:t> </a:t>
            </a:r>
            <a:r>
              <a:rPr lang="en-US" sz="2400" kern="0" spc="105" dirty="0">
                <a:solidFill>
                  <a:sysClr val="windowText" lastClr="000000"/>
                </a:solidFill>
                <a:latin typeface="+mj-lt"/>
                <a:cs typeface="Microsoft Sans Serif"/>
              </a:rPr>
              <a:t>the</a:t>
            </a:r>
            <a:r>
              <a:rPr lang="en-US" sz="2400" kern="0" spc="-4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primitives?</a:t>
            </a:r>
            <a:endParaRPr lang="en-US" sz="2400" kern="0" dirty="0">
              <a:solidFill>
                <a:sysClr val="windowText" lastClr="000000"/>
              </a:solidFill>
              <a:latin typeface="+mj-lt"/>
              <a:cs typeface="Microsoft Sans Serif"/>
            </a:endParaRPr>
          </a:p>
          <a:p>
            <a:pPr marL="1096010" marR="339725" lvl="2" indent="-342900">
              <a:lnSpc>
                <a:spcPct val="100499"/>
              </a:lnSpc>
              <a:spcBef>
                <a:spcPts val="484"/>
              </a:spcBef>
              <a:buFont typeface="Arial" panose="020B0604020202020204" pitchFamily="34" charset="0"/>
              <a:buChar char="•"/>
              <a:tabLst>
                <a:tab pos="938530" algn="l"/>
              </a:tabLst>
            </a:pPr>
            <a:r>
              <a:rPr lang="en-US" sz="2400" kern="0" dirty="0">
                <a:solidFill>
                  <a:sysClr val="windowText" lastClr="000000"/>
                </a:solidFill>
                <a:latin typeface="+mj-lt"/>
                <a:cs typeface="Microsoft Sans Serif"/>
              </a:rPr>
              <a:t>Should</a:t>
            </a:r>
            <a:r>
              <a:rPr lang="en-US" sz="2400" kern="0" spc="-2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there</a:t>
            </a:r>
            <a:r>
              <a:rPr lang="en-US" sz="2400" kern="0" spc="-2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15"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a</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small</a:t>
            </a:r>
            <a:r>
              <a:rPr lang="en-US" sz="2400" kern="0" spc="-1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number</a:t>
            </a:r>
            <a:r>
              <a:rPr lang="en-US" sz="2400" kern="0" spc="-10" dirty="0">
                <a:solidFill>
                  <a:sysClr val="windowText" lastClr="000000"/>
                </a:solidFill>
                <a:latin typeface="+mj-lt"/>
                <a:cs typeface="Microsoft Sans Serif"/>
              </a:rPr>
              <a:t> </a:t>
            </a:r>
            <a:r>
              <a:rPr lang="en-US" sz="2400" kern="0" spc="100" dirty="0">
                <a:solidFill>
                  <a:sysClr val="windowText" lastClr="000000"/>
                </a:solidFill>
                <a:latin typeface="+mj-lt"/>
                <a:cs typeface="Microsoft Sans Serif"/>
              </a:rPr>
              <a:t>or</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should</a:t>
            </a:r>
            <a:r>
              <a:rPr lang="en-US" sz="2400" kern="0" spc="-2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there</a:t>
            </a:r>
            <a:r>
              <a:rPr lang="en-US" sz="2400" kern="0" spc="-1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15"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a </a:t>
            </a:r>
            <a:r>
              <a:rPr lang="en-US" sz="2400" kern="0" dirty="0">
                <a:solidFill>
                  <a:sysClr val="windowText" lastClr="000000"/>
                </a:solidFill>
                <a:latin typeface="+mj-lt"/>
                <a:cs typeface="Microsoft Sans Serif"/>
              </a:rPr>
              <a:t>large</a:t>
            </a:r>
            <a:r>
              <a:rPr lang="en-US" sz="2400" kern="0" spc="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number</a:t>
            </a:r>
            <a:r>
              <a:rPr lang="en-US" sz="2400" kern="0" dirty="0">
                <a:solidFill>
                  <a:sysClr val="windowText" lastClr="000000"/>
                </a:solidFill>
                <a:latin typeface="+mj-lt"/>
                <a:cs typeface="Microsoft Sans Serif"/>
              </a:rPr>
              <a:t> </a:t>
            </a:r>
            <a:r>
              <a:rPr lang="en-US" sz="2400" kern="0" spc="165" dirty="0">
                <a:solidFill>
                  <a:sysClr val="windowText" lastClr="000000"/>
                </a:solidFill>
                <a:latin typeface="+mj-lt"/>
                <a:cs typeface="Microsoft Sans Serif"/>
              </a:rPr>
              <a:t>of</a:t>
            </a:r>
            <a:r>
              <a:rPr lang="en-US" sz="2400" kern="0" spc="10"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low-</a:t>
            </a:r>
            <a:r>
              <a:rPr lang="en-US" sz="2400" kern="0" dirty="0">
                <a:solidFill>
                  <a:sysClr val="windowText" lastClr="000000"/>
                </a:solidFill>
                <a:latin typeface="+mj-lt"/>
                <a:cs typeface="Microsoft Sans Serif"/>
              </a:rPr>
              <a:t>level</a:t>
            </a:r>
            <a:r>
              <a:rPr lang="en-US" sz="2400" kern="0" spc="20"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primitives</a:t>
            </a:r>
            <a:r>
              <a:rPr lang="en-US" sz="2400" kern="0" spc="5" dirty="0">
                <a:solidFill>
                  <a:sysClr val="windowText" lastClr="000000"/>
                </a:solidFill>
                <a:latin typeface="+mj-lt"/>
                <a:cs typeface="Microsoft Sans Serif"/>
              </a:rPr>
              <a:t> </a:t>
            </a:r>
            <a:r>
              <a:rPr lang="en-US" sz="2400" kern="0" spc="100" dirty="0">
                <a:solidFill>
                  <a:sysClr val="windowText" lastClr="000000"/>
                </a:solidFill>
                <a:latin typeface="+mj-lt"/>
                <a:cs typeface="Microsoft Sans Serif"/>
              </a:rPr>
              <a:t>or</a:t>
            </a:r>
            <a:r>
              <a:rPr lang="en-US" sz="2400" kern="0" dirty="0">
                <a:solidFill>
                  <a:sysClr val="windowText" lastClr="000000"/>
                </a:solidFill>
                <a:latin typeface="+mj-lt"/>
                <a:cs typeface="Microsoft Sans Serif"/>
              </a:rPr>
              <a:t> High-</a:t>
            </a:r>
            <a:r>
              <a:rPr lang="en-US" sz="2400" kern="0" spc="-10" dirty="0">
                <a:solidFill>
                  <a:sysClr val="windowText" lastClr="000000"/>
                </a:solidFill>
                <a:latin typeface="+mj-lt"/>
                <a:cs typeface="Microsoft Sans Serif"/>
              </a:rPr>
              <a:t>level facts.</a:t>
            </a:r>
            <a:endParaRPr lang="en-US" sz="2400" kern="0" dirty="0">
              <a:solidFill>
                <a:sysClr val="windowText" lastClr="000000"/>
              </a:solidFill>
              <a:latin typeface="+mj-lt"/>
              <a:cs typeface="Microsoft Sans Serif"/>
            </a:endParaRPr>
          </a:p>
          <a:p>
            <a:pPr marL="1096010" marR="5080" lvl="2" indent="-342900">
              <a:lnSpc>
                <a:spcPct val="100699"/>
              </a:lnSpc>
              <a:spcBef>
                <a:spcPts val="475"/>
              </a:spcBef>
              <a:buFont typeface="Arial" panose="020B0604020202020204" pitchFamily="34" charset="0"/>
              <a:buChar char="•"/>
              <a:tabLst>
                <a:tab pos="938530" algn="l"/>
              </a:tabLst>
            </a:pPr>
            <a:r>
              <a:rPr lang="en-US" sz="2400" kern="0" dirty="0">
                <a:solidFill>
                  <a:sysClr val="windowText" lastClr="000000"/>
                </a:solidFill>
                <a:latin typeface="+mj-lt"/>
                <a:cs typeface="Microsoft Sans Serif"/>
              </a:rPr>
              <a:t>High-level</a:t>
            </a:r>
            <a:r>
              <a:rPr lang="en-US" sz="2400" kern="0" spc="20"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facts</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may</a:t>
            </a:r>
            <a:r>
              <a:rPr lang="en-US" sz="2400" kern="0" spc="20" dirty="0">
                <a:solidFill>
                  <a:sysClr val="windowText" lastClr="000000"/>
                </a:solidFill>
                <a:latin typeface="+mj-lt"/>
                <a:cs typeface="Microsoft Sans Serif"/>
              </a:rPr>
              <a:t> </a:t>
            </a:r>
            <a:r>
              <a:rPr lang="en-US" sz="2400" kern="0" spc="135" dirty="0">
                <a:solidFill>
                  <a:sysClr val="windowText" lastClr="000000"/>
                </a:solidFill>
                <a:latin typeface="+mj-lt"/>
                <a:cs typeface="Microsoft Sans Serif"/>
              </a:rPr>
              <a:t>not</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adequate</a:t>
            </a:r>
            <a:r>
              <a:rPr lang="en-US" sz="2400" kern="0" spc="20" dirty="0">
                <a:solidFill>
                  <a:sysClr val="windowText" lastClr="000000"/>
                </a:solidFill>
                <a:latin typeface="+mj-lt"/>
                <a:cs typeface="Microsoft Sans Serif"/>
              </a:rPr>
              <a:t> </a:t>
            </a:r>
            <a:r>
              <a:rPr lang="en-US" sz="2400" kern="0" spc="150" dirty="0">
                <a:solidFill>
                  <a:sysClr val="windowText" lastClr="000000"/>
                </a:solidFill>
                <a:latin typeface="+mj-lt"/>
                <a:cs typeface="Microsoft Sans Serif"/>
              </a:rPr>
              <a:t>for</a:t>
            </a:r>
            <a:r>
              <a:rPr lang="en-US" sz="2400" kern="0" spc="15" dirty="0">
                <a:solidFill>
                  <a:sysClr val="windowText" lastClr="000000"/>
                </a:solidFill>
                <a:latin typeface="+mj-lt"/>
                <a:cs typeface="Microsoft Sans Serif"/>
              </a:rPr>
              <a:t> </a:t>
            </a:r>
            <a:r>
              <a:rPr lang="en-US" sz="2400" kern="0" spc="40" dirty="0">
                <a:solidFill>
                  <a:sysClr val="windowText" lastClr="000000"/>
                </a:solidFill>
                <a:latin typeface="+mj-lt"/>
                <a:cs typeface="Microsoft Sans Serif"/>
              </a:rPr>
              <a:t>inference </a:t>
            </a:r>
            <a:r>
              <a:rPr lang="en-US" sz="2400" kern="0" spc="65" dirty="0">
                <a:solidFill>
                  <a:sysClr val="windowText" lastClr="000000"/>
                </a:solidFill>
                <a:latin typeface="+mj-lt"/>
                <a:cs typeface="Microsoft Sans Serif"/>
              </a:rPr>
              <a:t>while</a:t>
            </a:r>
            <a:r>
              <a:rPr lang="en-US" sz="2400" kern="0" spc="-3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Low-level</a:t>
            </a:r>
            <a:r>
              <a:rPr lang="en-US" sz="2400" kern="0" spc="-2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primitives</a:t>
            </a:r>
            <a:r>
              <a:rPr lang="en-US" sz="2400" kern="0" spc="-3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may</a:t>
            </a:r>
            <a:r>
              <a:rPr lang="en-US" sz="2400" kern="0" spc="-3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require</a:t>
            </a:r>
            <a:r>
              <a:rPr lang="en-US" sz="2400" kern="0" spc="-35"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a</a:t>
            </a:r>
            <a:r>
              <a:rPr lang="en-US" sz="2400" kern="0" spc="-40" dirty="0">
                <a:solidFill>
                  <a:sysClr val="windowText" lastClr="000000"/>
                </a:solidFill>
                <a:latin typeface="+mj-lt"/>
                <a:cs typeface="Microsoft Sans Serif"/>
              </a:rPr>
              <a:t> </a:t>
            </a:r>
            <a:r>
              <a:rPr lang="en-US" sz="2400" kern="0" spc="160" dirty="0">
                <a:solidFill>
                  <a:sysClr val="windowText" lastClr="000000"/>
                </a:solidFill>
                <a:latin typeface="+mj-lt"/>
                <a:cs typeface="Microsoft Sans Serif"/>
              </a:rPr>
              <a:t>lot</a:t>
            </a:r>
            <a:r>
              <a:rPr lang="en-US" sz="2400" kern="0" spc="-35" dirty="0">
                <a:solidFill>
                  <a:sysClr val="windowText" lastClr="000000"/>
                </a:solidFill>
                <a:latin typeface="+mj-lt"/>
                <a:cs typeface="Microsoft Sans Serif"/>
              </a:rPr>
              <a:t> </a:t>
            </a:r>
            <a:r>
              <a:rPr lang="en-US" sz="2400" kern="0" spc="165" dirty="0">
                <a:solidFill>
                  <a:sysClr val="windowText" lastClr="000000"/>
                </a:solidFill>
                <a:latin typeface="+mj-lt"/>
                <a:cs typeface="Microsoft Sans Serif"/>
              </a:rPr>
              <a:t>of</a:t>
            </a:r>
            <a:r>
              <a:rPr lang="en-US" sz="2400" kern="0" spc="-3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storage.</a:t>
            </a: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272270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012637"/>
          </a:xfrm>
          <a:prstGeom prst="rect">
            <a:avLst/>
          </a:prstGeom>
        </p:spPr>
        <p:txBody>
          <a:bodyPr vert="horz" wrap="square" lIns="0" tIns="11430" rIns="0" bIns="0" rtlCol="0">
            <a:spAutoFit/>
          </a:bodyPr>
          <a:lstStyle/>
          <a:p>
            <a:pPr marL="298450" lvl="0" indent="-285750">
              <a:spcBef>
                <a:spcPts val="625"/>
              </a:spcBef>
              <a:buFont typeface="Wingdings" panose="05000000000000000000" pitchFamily="2" charset="2"/>
              <a:buChar char="§"/>
              <a:tabLst>
                <a:tab pos="234315" algn="l"/>
              </a:tabLst>
            </a:pPr>
            <a:r>
              <a:rPr lang="en-US" sz="2000" b="1" kern="0" dirty="0">
                <a:solidFill>
                  <a:sysClr val="windowText" lastClr="000000"/>
                </a:solidFill>
                <a:latin typeface="+mj-lt"/>
                <a:cs typeface="Microsoft Sans Serif"/>
              </a:rPr>
              <a:t>Example</a:t>
            </a:r>
            <a:r>
              <a:rPr lang="en-US" sz="2000" b="1" kern="0" spc="-90" dirty="0">
                <a:solidFill>
                  <a:sysClr val="windowText" lastClr="000000"/>
                </a:solidFill>
                <a:latin typeface="+mj-lt"/>
                <a:cs typeface="Microsoft Sans Serif"/>
              </a:rPr>
              <a:t> </a:t>
            </a:r>
            <a:r>
              <a:rPr lang="en-US" sz="2000" b="1" kern="0" spc="130" dirty="0">
                <a:solidFill>
                  <a:sysClr val="windowText" lastClr="000000"/>
                </a:solidFill>
                <a:latin typeface="+mj-lt"/>
                <a:cs typeface="Microsoft Sans Serif"/>
              </a:rPr>
              <a:t>of</a:t>
            </a:r>
            <a:r>
              <a:rPr lang="en-US" sz="2000" b="1" kern="0" spc="-70" dirty="0">
                <a:solidFill>
                  <a:sysClr val="windowText" lastClr="000000"/>
                </a:solidFill>
                <a:latin typeface="+mj-lt"/>
                <a:cs typeface="Microsoft Sans Serif"/>
              </a:rPr>
              <a:t> </a:t>
            </a:r>
            <a:r>
              <a:rPr lang="en-US" sz="2000" b="1" kern="0" spc="-10" dirty="0">
                <a:solidFill>
                  <a:sysClr val="windowText" lastClr="000000"/>
                </a:solidFill>
                <a:latin typeface="+mj-lt"/>
                <a:cs typeface="Microsoft Sans Serif"/>
              </a:rPr>
              <a:t>Granularity:</a:t>
            </a:r>
            <a:endParaRPr lang="en-US" sz="2000" b="1" kern="0" dirty="0">
              <a:solidFill>
                <a:sysClr val="windowText" lastClr="000000"/>
              </a:solidFill>
              <a:latin typeface="+mj-lt"/>
              <a:cs typeface="Microsoft Sans Serif"/>
            </a:endParaRPr>
          </a:p>
          <a:p>
            <a:pPr marL="733425" lvl="0" indent="-285750">
              <a:spcBef>
                <a:spcPts val="530"/>
              </a:spcBef>
              <a:buFont typeface="Arial" panose="020B0604020202020204" pitchFamily="34" charset="0"/>
              <a:buChar char="•"/>
            </a:pPr>
            <a:r>
              <a:rPr lang="en-US" sz="2000" kern="0" spc="-20" dirty="0">
                <a:solidFill>
                  <a:sysClr val="windowText" lastClr="000000"/>
                </a:solidFill>
                <a:latin typeface="+mj-lt"/>
                <a:cs typeface="Microsoft Sans Serif"/>
              </a:rPr>
              <a:t>Suppose</a:t>
            </a:r>
            <a:r>
              <a:rPr lang="en-US" sz="2000" kern="0" spc="-50" dirty="0">
                <a:solidFill>
                  <a:sysClr val="windowText" lastClr="000000"/>
                </a:solidFill>
                <a:latin typeface="+mj-lt"/>
                <a:cs typeface="Microsoft Sans Serif"/>
              </a:rPr>
              <a:t> </a:t>
            </a:r>
            <a:r>
              <a:rPr lang="en-US" sz="2000" kern="0" spc="50" dirty="0">
                <a:solidFill>
                  <a:sysClr val="windowText" lastClr="000000"/>
                </a:solidFill>
                <a:latin typeface="+mj-lt"/>
                <a:cs typeface="Microsoft Sans Serif"/>
              </a:rPr>
              <a:t>we</a:t>
            </a:r>
            <a:r>
              <a:rPr lang="en-US" sz="2000" kern="0" spc="-3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are</a:t>
            </a:r>
            <a:r>
              <a:rPr lang="en-US" sz="2000" kern="0" spc="-35" dirty="0">
                <a:solidFill>
                  <a:sysClr val="windowText" lastClr="000000"/>
                </a:solidFill>
                <a:latin typeface="+mj-lt"/>
                <a:cs typeface="Microsoft Sans Serif"/>
              </a:rPr>
              <a:t> </a:t>
            </a:r>
            <a:r>
              <a:rPr lang="en-US" sz="2000" kern="0" spc="55" dirty="0">
                <a:solidFill>
                  <a:sysClr val="windowText" lastClr="000000"/>
                </a:solidFill>
                <a:latin typeface="+mj-lt"/>
                <a:cs typeface="Microsoft Sans Serif"/>
              </a:rPr>
              <a:t>interested</a:t>
            </a:r>
            <a:r>
              <a:rPr lang="en-US" sz="2000" kern="0" spc="-3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in</a:t>
            </a:r>
            <a:r>
              <a:rPr lang="en-US" sz="2000" kern="0" spc="-30" dirty="0">
                <a:solidFill>
                  <a:sysClr val="windowText" lastClr="000000"/>
                </a:solidFill>
                <a:latin typeface="+mj-lt"/>
                <a:cs typeface="Microsoft Sans Serif"/>
              </a:rPr>
              <a:t> </a:t>
            </a:r>
            <a:r>
              <a:rPr lang="en-US" sz="2000" kern="0" spc="75" dirty="0">
                <a:solidFill>
                  <a:sysClr val="windowText" lastClr="000000"/>
                </a:solidFill>
                <a:latin typeface="+mj-lt"/>
                <a:cs typeface="Microsoft Sans Serif"/>
              </a:rPr>
              <a:t>following</a:t>
            </a:r>
            <a:r>
              <a:rPr lang="en-US" sz="2000" kern="0" spc="-30" dirty="0">
                <a:solidFill>
                  <a:sysClr val="windowText" lastClr="000000"/>
                </a:solidFill>
                <a:latin typeface="+mj-lt"/>
                <a:cs typeface="Microsoft Sans Serif"/>
              </a:rPr>
              <a:t> </a:t>
            </a:r>
            <a:r>
              <a:rPr lang="en-US" sz="2000" kern="0" spc="-10" dirty="0">
                <a:solidFill>
                  <a:sysClr val="windowText" lastClr="000000"/>
                </a:solidFill>
                <a:latin typeface="+mj-lt"/>
                <a:cs typeface="Microsoft Sans Serif"/>
              </a:rPr>
              <a:t>facts:</a:t>
            </a:r>
            <a:endParaRPr lang="en-US" sz="2000" kern="0" dirty="0">
              <a:solidFill>
                <a:sysClr val="windowText" lastClr="000000"/>
              </a:solidFill>
              <a:latin typeface="+mj-lt"/>
              <a:cs typeface="Microsoft Sans Serif"/>
            </a:endParaRPr>
          </a:p>
          <a:p>
            <a:pPr marL="733425" lvl="0" indent="-285750">
              <a:spcBef>
                <a:spcPts val="540"/>
              </a:spcBef>
              <a:buFont typeface="Arial" panose="020B0604020202020204" pitchFamily="34" charset="0"/>
              <a:buChar char="•"/>
            </a:pPr>
            <a:r>
              <a:rPr lang="en-US" sz="2000" kern="0" dirty="0">
                <a:solidFill>
                  <a:sysClr val="windowText" lastClr="000000"/>
                </a:solidFill>
                <a:latin typeface="+mj-lt"/>
                <a:cs typeface="Microsoft Sans Serif"/>
              </a:rPr>
              <a:t>John</a:t>
            </a:r>
            <a:r>
              <a:rPr lang="en-US" sz="2000" kern="0" spc="15" dirty="0">
                <a:solidFill>
                  <a:sysClr val="windowText" lastClr="000000"/>
                </a:solidFill>
                <a:latin typeface="+mj-lt"/>
                <a:cs typeface="Microsoft Sans Serif"/>
              </a:rPr>
              <a:t> </a:t>
            </a:r>
            <a:r>
              <a:rPr lang="en-US" sz="2000" kern="0" spc="75" dirty="0">
                <a:solidFill>
                  <a:sysClr val="windowText" lastClr="000000"/>
                </a:solidFill>
                <a:latin typeface="+mj-lt"/>
                <a:cs typeface="Microsoft Sans Serif"/>
              </a:rPr>
              <a:t>spotted</a:t>
            </a:r>
            <a:r>
              <a:rPr lang="en-US" sz="2000" kern="0" spc="25"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Sue.</a:t>
            </a:r>
            <a:endParaRPr lang="en-US" sz="2000" kern="0" dirty="0">
              <a:solidFill>
                <a:sysClr val="windowText" lastClr="000000"/>
              </a:solidFill>
              <a:latin typeface="+mj-lt"/>
              <a:cs typeface="Microsoft Sans Serif"/>
            </a:endParaRPr>
          </a:p>
          <a:p>
            <a:pPr marL="733425" marR="3628390" lvl="0" indent="-285750">
              <a:spcBef>
                <a:spcPts val="170"/>
              </a:spcBef>
              <a:buFont typeface="Arial" panose="020B0604020202020204" pitchFamily="34" charset="0"/>
              <a:buChar char="•"/>
            </a:pPr>
            <a:r>
              <a:rPr lang="en-US" sz="2000" kern="0" spc="-20" dirty="0">
                <a:solidFill>
                  <a:sysClr val="windowText" lastClr="000000"/>
                </a:solidFill>
                <a:latin typeface="+mj-lt"/>
                <a:cs typeface="Microsoft Sans Serif"/>
              </a:rPr>
              <a:t>This</a:t>
            </a:r>
            <a:r>
              <a:rPr lang="en-US" sz="2000" kern="0" spc="10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could</a:t>
            </a:r>
            <a:r>
              <a:rPr lang="en-US" sz="2000" kern="0" spc="114"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be</a:t>
            </a:r>
            <a:r>
              <a:rPr lang="en-US" sz="2000" kern="0" spc="10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represented</a:t>
            </a:r>
            <a:r>
              <a:rPr lang="en-US" sz="2000" kern="0" spc="114" dirty="0">
                <a:solidFill>
                  <a:sysClr val="windowText" lastClr="000000"/>
                </a:solidFill>
                <a:latin typeface="+mj-lt"/>
                <a:cs typeface="Microsoft Sans Serif"/>
              </a:rPr>
              <a:t> </a:t>
            </a:r>
            <a:r>
              <a:rPr lang="en-US" sz="2000" kern="0" spc="-25" dirty="0">
                <a:solidFill>
                  <a:sysClr val="windowText" lastClr="000000"/>
                </a:solidFill>
                <a:latin typeface="+mj-lt"/>
                <a:cs typeface="Microsoft Sans Serif"/>
              </a:rPr>
              <a:t>as </a:t>
            </a:r>
            <a:r>
              <a:rPr lang="en-US" sz="2000" kern="0" spc="55" dirty="0">
                <a:solidFill>
                  <a:sysClr val="windowText" lastClr="000000"/>
                </a:solidFill>
                <a:latin typeface="+mj-lt"/>
                <a:cs typeface="Microsoft Sans Serif"/>
              </a:rPr>
              <a:t>Spotted</a:t>
            </a:r>
            <a:r>
              <a:rPr lang="en-US" sz="2000" kern="0" spc="140" dirty="0">
                <a:solidFill>
                  <a:sysClr val="windowText" lastClr="000000"/>
                </a:solidFill>
                <a:latin typeface="+mj-lt"/>
                <a:cs typeface="Microsoft Sans Serif"/>
              </a:rPr>
              <a:t> </a:t>
            </a:r>
            <a:r>
              <a:rPr lang="en-US" sz="2000" kern="0" spc="10" dirty="0">
                <a:solidFill>
                  <a:sysClr val="windowText" lastClr="000000"/>
                </a:solidFill>
                <a:latin typeface="+mj-lt"/>
                <a:cs typeface="Microsoft Sans Serif"/>
              </a:rPr>
              <a:t>(agent(John),object</a:t>
            </a:r>
            <a:r>
              <a:rPr lang="en-US" sz="2000" kern="0" spc="145" dirty="0">
                <a:solidFill>
                  <a:sysClr val="windowText" lastClr="000000"/>
                </a:solidFill>
                <a:latin typeface="+mj-lt"/>
                <a:cs typeface="Microsoft Sans Serif"/>
              </a:rPr>
              <a:t> </a:t>
            </a:r>
            <a:r>
              <a:rPr lang="en-US" sz="2000" kern="0" spc="-25" dirty="0">
                <a:solidFill>
                  <a:sysClr val="windowText" lastClr="000000"/>
                </a:solidFill>
                <a:latin typeface="+mj-lt"/>
                <a:cs typeface="Microsoft Sans Serif"/>
              </a:rPr>
              <a:t>(Sue))</a:t>
            </a:r>
            <a:endParaRPr lang="en-US" sz="2000" kern="0" dirty="0">
              <a:solidFill>
                <a:sysClr val="windowText" lastClr="000000"/>
              </a:solidFill>
              <a:latin typeface="+mj-lt"/>
              <a:cs typeface="Microsoft Sans Serif"/>
            </a:endParaRPr>
          </a:p>
          <a:p>
            <a:pPr marL="297815" marR="5080" lvl="0" indent="-285750">
              <a:spcBef>
                <a:spcPts val="5"/>
              </a:spcBef>
              <a:buFont typeface="Wingdings" panose="05000000000000000000" pitchFamily="2" charset="2"/>
              <a:buChar char="Ø"/>
              <a:tabLst>
                <a:tab pos="447675" algn="l"/>
              </a:tabLst>
            </a:pPr>
            <a:r>
              <a:rPr lang="en-US" sz="2000" kern="0" spc="-70" dirty="0">
                <a:solidFill>
                  <a:sysClr val="windowText" lastClr="000000"/>
                </a:solidFill>
                <a:latin typeface="+mj-lt"/>
                <a:cs typeface="Microsoft Sans Serif"/>
              </a:rPr>
              <a:t>Such</a:t>
            </a:r>
            <a:r>
              <a:rPr lang="en-US" sz="2000" kern="0" spc="-25" dirty="0">
                <a:solidFill>
                  <a:sysClr val="windowText" lastClr="000000"/>
                </a:solidFill>
                <a:latin typeface="+mj-lt"/>
                <a:cs typeface="Microsoft Sans Serif"/>
              </a:rPr>
              <a:t> </a:t>
            </a:r>
            <a:r>
              <a:rPr lang="en-US" sz="2000" kern="0" spc="-60" dirty="0">
                <a:solidFill>
                  <a:sysClr val="windowText" lastClr="000000"/>
                </a:solidFill>
                <a:latin typeface="+mj-lt"/>
                <a:cs typeface="Microsoft Sans Serif"/>
              </a:rPr>
              <a:t>a</a:t>
            </a:r>
            <a:r>
              <a:rPr lang="en-US" sz="2000" kern="0" spc="-20" dirty="0">
                <a:solidFill>
                  <a:sysClr val="windowText" lastClr="000000"/>
                </a:solidFill>
                <a:latin typeface="+mj-lt"/>
                <a:cs typeface="Microsoft Sans Serif"/>
              </a:rPr>
              <a:t> </a:t>
            </a:r>
            <a:r>
              <a:rPr lang="en-US" sz="2000" kern="0" spc="50" dirty="0">
                <a:solidFill>
                  <a:sysClr val="windowText" lastClr="000000"/>
                </a:solidFill>
                <a:latin typeface="+mj-lt"/>
                <a:cs typeface="Microsoft Sans Serif"/>
              </a:rPr>
              <a:t>representation</a:t>
            </a:r>
            <a:r>
              <a:rPr lang="en-US" sz="2000" kern="0" spc="-20" dirty="0">
                <a:solidFill>
                  <a:sysClr val="windowText" lastClr="000000"/>
                </a:solidFill>
                <a:latin typeface="+mj-lt"/>
                <a:cs typeface="Microsoft Sans Serif"/>
              </a:rPr>
              <a:t> </a:t>
            </a:r>
            <a:r>
              <a:rPr lang="en-US" sz="2000" kern="0" spc="65" dirty="0">
                <a:solidFill>
                  <a:sysClr val="windowText" lastClr="000000"/>
                </a:solidFill>
                <a:latin typeface="+mj-lt"/>
                <a:cs typeface="Microsoft Sans Serif"/>
              </a:rPr>
              <a:t>would</a:t>
            </a:r>
            <a:r>
              <a:rPr lang="en-US" sz="2000" kern="0" spc="-2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make</a:t>
            </a:r>
            <a:r>
              <a:rPr lang="en-US" sz="2000" kern="0" spc="-30" dirty="0">
                <a:solidFill>
                  <a:sysClr val="windowText" lastClr="000000"/>
                </a:solidFill>
                <a:latin typeface="+mj-lt"/>
                <a:cs typeface="Microsoft Sans Serif"/>
              </a:rPr>
              <a:t> </a:t>
            </a:r>
            <a:r>
              <a:rPr lang="en-US" sz="2000" kern="0" spc="130" dirty="0">
                <a:solidFill>
                  <a:sysClr val="windowText" lastClr="000000"/>
                </a:solidFill>
                <a:latin typeface="+mj-lt"/>
                <a:cs typeface="Microsoft Sans Serif"/>
              </a:rPr>
              <a:t>it</a:t>
            </a:r>
            <a:r>
              <a:rPr lang="en-US" sz="2000" kern="0" spc="-15" dirty="0">
                <a:solidFill>
                  <a:sysClr val="windowText" lastClr="000000"/>
                </a:solidFill>
                <a:latin typeface="+mj-lt"/>
                <a:cs typeface="Microsoft Sans Serif"/>
              </a:rPr>
              <a:t> </a:t>
            </a:r>
            <a:r>
              <a:rPr lang="en-US" sz="2000" kern="0" spc="-45" dirty="0">
                <a:solidFill>
                  <a:sysClr val="windowText" lastClr="000000"/>
                </a:solidFill>
                <a:latin typeface="+mj-lt"/>
                <a:cs typeface="Microsoft Sans Serif"/>
              </a:rPr>
              <a:t>easy</a:t>
            </a:r>
            <a:r>
              <a:rPr lang="en-US" sz="2000" kern="0" spc="-15" dirty="0">
                <a:solidFill>
                  <a:sysClr val="windowText" lastClr="000000"/>
                </a:solidFill>
                <a:latin typeface="+mj-lt"/>
                <a:cs typeface="Microsoft Sans Serif"/>
              </a:rPr>
              <a:t> </a:t>
            </a:r>
            <a:r>
              <a:rPr lang="en-US" sz="2000" kern="0" spc="145" dirty="0">
                <a:solidFill>
                  <a:sysClr val="windowText" lastClr="000000"/>
                </a:solidFill>
                <a:latin typeface="+mj-lt"/>
                <a:cs typeface="Microsoft Sans Serif"/>
              </a:rPr>
              <a:t>to</a:t>
            </a:r>
            <a:r>
              <a:rPr lang="en-US" sz="2000" kern="0" spc="-4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answer</a:t>
            </a:r>
            <a:r>
              <a:rPr lang="en-US" sz="2000" kern="0" spc="-4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questions</a:t>
            </a:r>
            <a:r>
              <a:rPr lang="en-US" sz="2000" kern="0" spc="-20" dirty="0">
                <a:solidFill>
                  <a:sysClr val="windowText" lastClr="000000"/>
                </a:solidFill>
                <a:latin typeface="+mj-lt"/>
                <a:cs typeface="Microsoft Sans Serif"/>
              </a:rPr>
              <a:t> such</a:t>
            </a:r>
            <a:r>
              <a:rPr lang="en-US" sz="2000" kern="0" spc="-35"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are: 	</a:t>
            </a:r>
          </a:p>
          <a:p>
            <a:pPr marL="12065" marR="5080" lvl="0">
              <a:spcBef>
                <a:spcPts val="5"/>
              </a:spcBef>
              <a:tabLst>
                <a:tab pos="447675" algn="l"/>
              </a:tabLst>
            </a:pPr>
            <a:r>
              <a:rPr lang="en-US" sz="2000" kern="0" spc="-2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Who</a:t>
            </a:r>
            <a:r>
              <a:rPr lang="en-US" sz="2000" kern="0" spc="-30" dirty="0">
                <a:solidFill>
                  <a:sysClr val="windowText" lastClr="000000"/>
                </a:solidFill>
                <a:latin typeface="+mj-lt"/>
                <a:cs typeface="Microsoft Sans Serif"/>
              </a:rPr>
              <a:t> </a:t>
            </a:r>
            <a:r>
              <a:rPr lang="en-US" sz="2000" kern="0" spc="75" dirty="0">
                <a:solidFill>
                  <a:sysClr val="windowText" lastClr="000000"/>
                </a:solidFill>
                <a:latin typeface="+mj-lt"/>
                <a:cs typeface="Microsoft Sans Serif"/>
              </a:rPr>
              <a:t>spotted</a:t>
            </a:r>
            <a:r>
              <a:rPr lang="en-US" sz="2000" kern="0" spc="-25"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Sue?</a:t>
            </a:r>
            <a:endParaRPr lang="en-US" sz="2000" kern="0" dirty="0">
              <a:solidFill>
                <a:sysClr val="windowText" lastClr="000000"/>
              </a:solidFill>
              <a:latin typeface="+mj-lt"/>
              <a:cs typeface="Microsoft Sans Serif"/>
            </a:endParaRPr>
          </a:p>
          <a:p>
            <a:pPr marL="297815" marR="4668520" lvl="0" indent="-285750">
              <a:spcBef>
                <a:spcPts val="15"/>
              </a:spcBef>
              <a:buFont typeface="Wingdings" panose="05000000000000000000" pitchFamily="2" charset="2"/>
              <a:buChar char="Ø"/>
              <a:tabLst>
                <a:tab pos="447675" algn="l"/>
              </a:tabLst>
            </a:pPr>
            <a:r>
              <a:rPr lang="en-US" sz="2000" kern="0" spc="-20" dirty="0">
                <a:solidFill>
                  <a:sysClr val="windowText" lastClr="000000"/>
                </a:solidFill>
                <a:latin typeface="+mj-lt"/>
                <a:cs typeface="Microsoft Sans Serif"/>
              </a:rPr>
              <a:t>Suppose</a:t>
            </a:r>
            <a:r>
              <a:rPr lang="en-US" sz="2000" kern="0" spc="-55" dirty="0">
                <a:solidFill>
                  <a:sysClr val="windowText" lastClr="000000"/>
                </a:solidFill>
                <a:latin typeface="+mj-lt"/>
                <a:cs typeface="Microsoft Sans Serif"/>
              </a:rPr>
              <a:t> </a:t>
            </a:r>
            <a:r>
              <a:rPr lang="en-US" sz="2000" kern="0" spc="50" dirty="0">
                <a:solidFill>
                  <a:sysClr val="windowText" lastClr="000000"/>
                </a:solidFill>
                <a:latin typeface="+mj-lt"/>
                <a:cs typeface="Microsoft Sans Serif"/>
              </a:rPr>
              <a:t>we</a:t>
            </a:r>
            <a:r>
              <a:rPr lang="en-US" sz="2000" kern="0" spc="-70" dirty="0">
                <a:solidFill>
                  <a:sysClr val="windowText" lastClr="000000"/>
                </a:solidFill>
                <a:latin typeface="+mj-lt"/>
                <a:cs typeface="Microsoft Sans Serif"/>
              </a:rPr>
              <a:t> </a:t>
            </a:r>
            <a:r>
              <a:rPr lang="en-US" sz="2000" kern="0" spc="70" dirty="0">
                <a:solidFill>
                  <a:sysClr val="windowText" lastClr="000000"/>
                </a:solidFill>
                <a:latin typeface="+mj-lt"/>
                <a:cs typeface="Microsoft Sans Serif"/>
              </a:rPr>
              <a:t>want</a:t>
            </a:r>
            <a:r>
              <a:rPr lang="en-US" sz="2000" kern="0" spc="-45" dirty="0">
                <a:solidFill>
                  <a:sysClr val="windowText" lastClr="000000"/>
                </a:solidFill>
                <a:latin typeface="+mj-lt"/>
                <a:cs typeface="Microsoft Sans Serif"/>
              </a:rPr>
              <a:t> </a:t>
            </a:r>
            <a:r>
              <a:rPr lang="en-US" sz="2000" kern="0" spc="145" dirty="0">
                <a:solidFill>
                  <a:sysClr val="windowText" lastClr="000000"/>
                </a:solidFill>
                <a:latin typeface="+mj-lt"/>
                <a:cs typeface="Microsoft Sans Serif"/>
              </a:rPr>
              <a:t>to</a:t>
            </a:r>
            <a:r>
              <a:rPr lang="en-US" sz="2000" kern="0" spc="-55"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know: 	</a:t>
            </a:r>
          </a:p>
          <a:p>
            <a:pPr marL="12065" marR="4668520" lvl="0">
              <a:spcBef>
                <a:spcPts val="15"/>
              </a:spcBef>
              <a:tabLst>
                <a:tab pos="447675" algn="l"/>
              </a:tabLst>
            </a:pPr>
            <a:r>
              <a:rPr lang="en-US" sz="2000" kern="0" spc="-2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Did</a:t>
            </a:r>
            <a:r>
              <a:rPr lang="en-US" sz="2000" kern="0" spc="1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John</a:t>
            </a:r>
            <a:r>
              <a:rPr lang="en-US" sz="2000" kern="0" spc="15" dirty="0">
                <a:solidFill>
                  <a:sysClr val="windowText" lastClr="000000"/>
                </a:solidFill>
                <a:latin typeface="+mj-lt"/>
                <a:cs typeface="Microsoft Sans Serif"/>
              </a:rPr>
              <a:t> </a:t>
            </a:r>
            <a:r>
              <a:rPr lang="en-US" sz="2000" kern="0" spc="-30" dirty="0">
                <a:solidFill>
                  <a:sysClr val="windowText" lastClr="000000"/>
                </a:solidFill>
                <a:latin typeface="+mj-lt"/>
                <a:cs typeface="Microsoft Sans Serif"/>
              </a:rPr>
              <a:t>see</a:t>
            </a:r>
            <a:r>
              <a:rPr lang="en-US" sz="2000" kern="0" spc="10"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Sue?</a:t>
            </a:r>
            <a:endParaRPr lang="en-US" sz="2000" kern="0" dirty="0">
              <a:solidFill>
                <a:sysClr val="windowText" lastClr="000000"/>
              </a:solidFill>
              <a:latin typeface="+mj-lt"/>
              <a:cs typeface="Microsoft Sans Serif"/>
            </a:endParaRPr>
          </a:p>
          <a:p>
            <a:pPr marL="298450" lvl="0" indent="-285750">
              <a:spcBef>
                <a:spcPts val="360"/>
              </a:spcBef>
              <a:buFont typeface="Wingdings" panose="05000000000000000000" pitchFamily="2" charset="2"/>
              <a:buChar char="Ø"/>
              <a:tabLst>
                <a:tab pos="234315" algn="l"/>
              </a:tabLst>
            </a:pPr>
            <a:r>
              <a:rPr lang="en-US" sz="2000" kern="0" spc="-20" dirty="0">
                <a:solidFill>
                  <a:sysClr val="windowText" lastClr="000000"/>
                </a:solidFill>
                <a:latin typeface="+mj-lt"/>
                <a:cs typeface="Microsoft Sans Serif"/>
              </a:rPr>
              <a:t>Given</a:t>
            </a:r>
            <a:r>
              <a:rPr lang="en-US" sz="2000" kern="0" spc="5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only</a:t>
            </a:r>
            <a:r>
              <a:rPr lang="en-US" sz="2000" kern="0" spc="5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one</a:t>
            </a:r>
            <a:r>
              <a:rPr lang="en-US" sz="2000" kern="0" spc="5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fact,</a:t>
            </a:r>
            <a:r>
              <a:rPr lang="en-US" sz="2000" kern="0" spc="5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we</a:t>
            </a:r>
            <a:r>
              <a:rPr lang="en-US" sz="2000" kern="0" spc="5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cannot</a:t>
            </a:r>
            <a:r>
              <a:rPr lang="en-US" sz="2000" kern="0" spc="5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discover</a:t>
            </a:r>
            <a:r>
              <a:rPr lang="en-US" sz="2000" kern="0" spc="60" dirty="0">
                <a:solidFill>
                  <a:sysClr val="windowText" lastClr="000000"/>
                </a:solidFill>
                <a:latin typeface="+mj-lt"/>
                <a:cs typeface="Microsoft Sans Serif"/>
              </a:rPr>
              <a:t> </a:t>
            </a:r>
            <a:r>
              <a:rPr lang="en-US" sz="2000" kern="0" spc="105" dirty="0">
                <a:solidFill>
                  <a:sysClr val="windowText" lastClr="000000"/>
                </a:solidFill>
                <a:latin typeface="+mj-lt"/>
                <a:cs typeface="Microsoft Sans Serif"/>
              </a:rPr>
              <a:t>that</a:t>
            </a:r>
            <a:r>
              <a:rPr lang="en-US" sz="2000" kern="0" spc="60" dirty="0">
                <a:solidFill>
                  <a:sysClr val="windowText" lastClr="000000"/>
                </a:solidFill>
                <a:latin typeface="+mj-lt"/>
                <a:cs typeface="Microsoft Sans Serif"/>
              </a:rPr>
              <a:t> </a:t>
            </a:r>
            <a:r>
              <a:rPr lang="en-US" sz="2000" kern="0" spc="-10" dirty="0">
                <a:solidFill>
                  <a:sysClr val="windowText" lastClr="000000"/>
                </a:solidFill>
                <a:latin typeface="+mj-lt"/>
                <a:cs typeface="Microsoft Sans Serif"/>
              </a:rPr>
              <a:t>answer.</a:t>
            </a:r>
            <a:endParaRPr lang="en-US" sz="2000" kern="0" dirty="0">
              <a:solidFill>
                <a:sysClr val="windowText" lastClr="000000"/>
              </a:solidFill>
              <a:latin typeface="+mj-lt"/>
              <a:cs typeface="Microsoft Sans Serif"/>
            </a:endParaRPr>
          </a:p>
          <a:p>
            <a:pPr marL="297815" marR="4205605" lvl="0" indent="-285750">
              <a:spcBef>
                <a:spcPts val="170"/>
              </a:spcBef>
              <a:buFont typeface="Wingdings" panose="05000000000000000000" pitchFamily="2" charset="2"/>
              <a:buChar char="Ø"/>
              <a:tabLst>
                <a:tab pos="447675" algn="l"/>
              </a:tabLst>
            </a:pPr>
            <a:r>
              <a:rPr lang="en-US" sz="2000" kern="0" dirty="0">
                <a:solidFill>
                  <a:sysClr val="windowText" lastClr="000000"/>
                </a:solidFill>
                <a:latin typeface="+mj-lt"/>
                <a:cs typeface="Microsoft Sans Serif"/>
              </a:rPr>
              <a:t>We</a:t>
            </a:r>
            <a:r>
              <a:rPr lang="en-US" sz="2000" kern="0" spc="-45"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can</a:t>
            </a:r>
            <a:r>
              <a:rPr lang="en-US" sz="2000" kern="0" spc="-4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add</a:t>
            </a:r>
            <a:r>
              <a:rPr lang="en-US" sz="2000" kern="0" spc="-35" dirty="0">
                <a:solidFill>
                  <a:sysClr val="windowText" lastClr="000000"/>
                </a:solidFill>
                <a:latin typeface="+mj-lt"/>
                <a:cs typeface="Microsoft Sans Serif"/>
              </a:rPr>
              <a:t> </a:t>
            </a:r>
            <a:r>
              <a:rPr lang="en-US" sz="2000" kern="0" spc="80" dirty="0">
                <a:solidFill>
                  <a:sysClr val="windowText" lastClr="000000"/>
                </a:solidFill>
                <a:latin typeface="+mj-lt"/>
                <a:cs typeface="Microsoft Sans Serif"/>
              </a:rPr>
              <a:t>other</a:t>
            </a:r>
            <a:r>
              <a:rPr lang="en-US" sz="2000" kern="0" spc="-3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facts,</a:t>
            </a:r>
            <a:r>
              <a:rPr lang="en-US" sz="2000" kern="0" spc="-35"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such</a:t>
            </a:r>
            <a:r>
              <a:rPr lang="en-US" sz="2000" kern="0" spc="-35" dirty="0">
                <a:solidFill>
                  <a:sysClr val="windowText" lastClr="000000"/>
                </a:solidFill>
                <a:latin typeface="+mj-lt"/>
                <a:cs typeface="Microsoft Sans Serif"/>
              </a:rPr>
              <a:t> </a:t>
            </a:r>
            <a:r>
              <a:rPr lang="en-US" sz="2000" kern="0" spc="-25" dirty="0">
                <a:solidFill>
                  <a:sysClr val="windowText" lastClr="000000"/>
                </a:solidFill>
                <a:latin typeface="+mj-lt"/>
                <a:cs typeface="Microsoft Sans Serif"/>
              </a:rPr>
              <a:t>as 	</a:t>
            </a:r>
          </a:p>
          <a:p>
            <a:pPr marL="12065" marR="4205605" lvl="0">
              <a:spcBef>
                <a:spcPts val="170"/>
              </a:spcBef>
              <a:tabLst>
                <a:tab pos="447675" algn="l"/>
              </a:tabLst>
            </a:pPr>
            <a:r>
              <a:rPr lang="en-US" sz="2000" kern="0" spc="-2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Spotted(x,</a:t>
            </a:r>
            <a:r>
              <a:rPr lang="en-US" sz="2000" kern="0" spc="5"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y)</a:t>
            </a:r>
            <a:r>
              <a:rPr lang="en-US" sz="2000" kern="0" spc="5" dirty="0">
                <a:solidFill>
                  <a:sysClr val="windowText" lastClr="000000"/>
                </a:solidFill>
                <a:latin typeface="+mj-lt"/>
                <a:cs typeface="Microsoft Sans Serif"/>
              </a:rPr>
              <a:t> </a:t>
            </a:r>
            <a:r>
              <a:rPr lang="en-US" sz="2000" kern="0" spc="-65" dirty="0">
                <a:solidFill>
                  <a:sysClr val="windowText" lastClr="000000"/>
                </a:solidFill>
                <a:latin typeface="+mj-lt"/>
                <a:cs typeface="Microsoft Sans Serif"/>
              </a:rPr>
              <a:t>-</a:t>
            </a:r>
            <a:r>
              <a:rPr lang="en-US" sz="2000" kern="0" dirty="0">
                <a:solidFill>
                  <a:sysClr val="windowText" lastClr="000000"/>
                </a:solidFill>
                <a:latin typeface="+mj-lt"/>
                <a:cs typeface="Microsoft Sans Serif"/>
              </a:rPr>
              <a:t>&gt;</a:t>
            </a:r>
            <a:r>
              <a:rPr lang="en-US" sz="2000" kern="0" spc="10"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saw(x,</a:t>
            </a:r>
            <a:r>
              <a:rPr lang="en-US" sz="2000" kern="0" spc="10" dirty="0">
                <a:solidFill>
                  <a:sysClr val="windowText" lastClr="000000"/>
                </a:solidFill>
                <a:latin typeface="+mj-lt"/>
                <a:cs typeface="Microsoft Sans Serif"/>
              </a:rPr>
              <a:t> </a:t>
            </a:r>
            <a:r>
              <a:rPr lang="en-US" sz="2000" kern="0" spc="-25" dirty="0">
                <a:solidFill>
                  <a:sysClr val="windowText" lastClr="000000"/>
                </a:solidFill>
                <a:latin typeface="+mj-lt"/>
                <a:cs typeface="Microsoft Sans Serif"/>
              </a:rPr>
              <a:t>y)</a:t>
            </a:r>
            <a:endParaRPr lang="en-US" sz="2000" kern="0" dirty="0">
              <a:solidFill>
                <a:sysClr val="windowText" lastClr="000000"/>
              </a:solidFill>
              <a:latin typeface="+mj-lt"/>
              <a:cs typeface="Microsoft Sans Serif"/>
            </a:endParaRPr>
          </a:p>
          <a:p>
            <a:pPr marL="298450" lvl="0" indent="-285750">
              <a:spcBef>
                <a:spcPts val="360"/>
              </a:spcBef>
              <a:buFont typeface="Wingdings" panose="05000000000000000000" pitchFamily="2" charset="2"/>
              <a:buChar char="Ø"/>
              <a:tabLst>
                <a:tab pos="234315" algn="l"/>
              </a:tabLst>
            </a:pPr>
            <a:r>
              <a:rPr lang="en-US" sz="2000" kern="0" dirty="0">
                <a:solidFill>
                  <a:sysClr val="windowText" lastClr="000000"/>
                </a:solidFill>
                <a:latin typeface="+mj-lt"/>
                <a:cs typeface="Microsoft Sans Serif"/>
              </a:rPr>
              <a:t>We</a:t>
            </a:r>
            <a:r>
              <a:rPr lang="en-US" sz="2000" kern="0" spc="-60" dirty="0">
                <a:solidFill>
                  <a:sysClr val="windowText" lastClr="000000"/>
                </a:solidFill>
                <a:latin typeface="+mj-lt"/>
                <a:cs typeface="Microsoft Sans Serif"/>
              </a:rPr>
              <a:t> </a:t>
            </a:r>
            <a:r>
              <a:rPr lang="en-US" sz="2000" kern="0" spc="-20" dirty="0">
                <a:solidFill>
                  <a:sysClr val="windowText" lastClr="000000"/>
                </a:solidFill>
                <a:latin typeface="+mj-lt"/>
                <a:cs typeface="Microsoft Sans Serif"/>
              </a:rPr>
              <a:t>can</a:t>
            </a:r>
            <a:r>
              <a:rPr lang="en-US" sz="2000" kern="0" spc="-60" dirty="0">
                <a:solidFill>
                  <a:sysClr val="windowText" lastClr="000000"/>
                </a:solidFill>
                <a:latin typeface="+mj-lt"/>
                <a:cs typeface="Microsoft Sans Serif"/>
              </a:rPr>
              <a:t> </a:t>
            </a:r>
            <a:r>
              <a:rPr lang="en-US" sz="2000" kern="0" spc="65" dirty="0">
                <a:solidFill>
                  <a:sysClr val="windowText" lastClr="000000"/>
                </a:solidFill>
                <a:latin typeface="+mj-lt"/>
                <a:cs typeface="Microsoft Sans Serif"/>
              </a:rPr>
              <a:t>now</a:t>
            </a:r>
            <a:r>
              <a:rPr lang="en-US" sz="2000" kern="0" spc="-60" dirty="0">
                <a:solidFill>
                  <a:sysClr val="windowText" lastClr="000000"/>
                </a:solidFill>
                <a:latin typeface="+mj-lt"/>
                <a:cs typeface="Microsoft Sans Serif"/>
              </a:rPr>
              <a:t> </a:t>
            </a:r>
            <a:r>
              <a:rPr lang="en-US" sz="2000" kern="0" spc="70" dirty="0">
                <a:solidFill>
                  <a:sysClr val="windowText" lastClr="000000"/>
                </a:solidFill>
                <a:latin typeface="+mj-lt"/>
                <a:cs typeface="Microsoft Sans Serif"/>
              </a:rPr>
              <a:t>infer</a:t>
            </a:r>
            <a:r>
              <a:rPr lang="en-US" sz="2000" kern="0" spc="-55" dirty="0">
                <a:solidFill>
                  <a:sysClr val="windowText" lastClr="000000"/>
                </a:solidFill>
                <a:latin typeface="+mj-lt"/>
                <a:cs typeface="Microsoft Sans Serif"/>
              </a:rPr>
              <a:t> </a:t>
            </a:r>
            <a:r>
              <a:rPr lang="en-US" sz="2000" kern="0" spc="85" dirty="0">
                <a:solidFill>
                  <a:sysClr val="windowText" lastClr="000000"/>
                </a:solidFill>
                <a:latin typeface="+mj-lt"/>
                <a:cs typeface="Microsoft Sans Serif"/>
              </a:rPr>
              <a:t>the</a:t>
            </a:r>
            <a:r>
              <a:rPr lang="en-US" sz="2000" kern="0" spc="-60" dirty="0">
                <a:solidFill>
                  <a:sysClr val="windowText" lastClr="000000"/>
                </a:solidFill>
                <a:latin typeface="+mj-lt"/>
                <a:cs typeface="Microsoft Sans Serif"/>
              </a:rPr>
              <a:t> </a:t>
            </a:r>
            <a:r>
              <a:rPr lang="en-US" sz="2000" kern="0" dirty="0">
                <a:solidFill>
                  <a:sysClr val="windowText" lastClr="000000"/>
                </a:solidFill>
                <a:latin typeface="+mj-lt"/>
                <a:cs typeface="Microsoft Sans Serif"/>
              </a:rPr>
              <a:t>answer</a:t>
            </a:r>
            <a:r>
              <a:rPr lang="en-US" sz="2000" kern="0" spc="-70" dirty="0">
                <a:solidFill>
                  <a:sysClr val="windowText" lastClr="000000"/>
                </a:solidFill>
                <a:latin typeface="+mj-lt"/>
                <a:cs typeface="Microsoft Sans Serif"/>
              </a:rPr>
              <a:t> </a:t>
            </a:r>
            <a:r>
              <a:rPr lang="en-US" sz="2000" kern="0" spc="145" dirty="0">
                <a:solidFill>
                  <a:sysClr val="windowText" lastClr="000000"/>
                </a:solidFill>
                <a:latin typeface="+mj-lt"/>
                <a:cs typeface="Microsoft Sans Serif"/>
              </a:rPr>
              <a:t>to</a:t>
            </a:r>
            <a:r>
              <a:rPr lang="en-US" sz="2000" kern="0" spc="-55" dirty="0">
                <a:solidFill>
                  <a:sysClr val="windowText" lastClr="000000"/>
                </a:solidFill>
                <a:latin typeface="+mj-lt"/>
                <a:cs typeface="Microsoft Sans Serif"/>
              </a:rPr>
              <a:t> </a:t>
            </a:r>
            <a:r>
              <a:rPr lang="en-US" sz="2000" kern="0" spc="85" dirty="0">
                <a:solidFill>
                  <a:sysClr val="windowText" lastClr="000000"/>
                </a:solidFill>
                <a:latin typeface="+mj-lt"/>
                <a:cs typeface="Microsoft Sans Serif"/>
              </a:rPr>
              <a:t>the</a:t>
            </a:r>
            <a:r>
              <a:rPr lang="en-US" sz="2000" kern="0" spc="-75" dirty="0">
                <a:solidFill>
                  <a:sysClr val="windowText" lastClr="000000"/>
                </a:solidFill>
                <a:latin typeface="+mj-lt"/>
                <a:cs typeface="Microsoft Sans Serif"/>
              </a:rPr>
              <a:t> </a:t>
            </a:r>
            <a:r>
              <a:rPr lang="en-US" sz="2000" kern="0" spc="-10" dirty="0">
                <a:solidFill>
                  <a:sysClr val="windowText" lastClr="000000"/>
                </a:solidFill>
                <a:latin typeface="+mj-lt"/>
                <a:cs typeface="Microsoft Sans Serif"/>
              </a:rPr>
              <a:t>question.</a:t>
            </a:r>
            <a:endParaRPr lang="en-US" sz="20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3452868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012637"/>
          </a:xfrm>
          <a:prstGeom prst="rect">
            <a:avLst/>
          </a:prstGeom>
        </p:spPr>
        <p:txBody>
          <a:bodyPr vert="horz" wrap="square" lIns="0" tIns="11430" rIns="0" bIns="0" rtlCol="0">
            <a:spAutoFit/>
          </a:bodyPr>
          <a:lstStyle/>
          <a:p>
            <a:pPr marL="355600" lvl="0" indent="-342900">
              <a:spcBef>
                <a:spcPts val="825"/>
              </a:spcBef>
              <a:buFont typeface="Wingdings" panose="05000000000000000000" pitchFamily="2" charset="2"/>
              <a:buChar char="§"/>
              <a:tabLst>
                <a:tab pos="310515" algn="l"/>
              </a:tabLst>
            </a:pPr>
            <a:r>
              <a:rPr lang="en-US" sz="2400" b="1" kern="0" dirty="0">
                <a:solidFill>
                  <a:sysClr val="windowText" lastClr="000000"/>
                </a:solidFill>
                <a:latin typeface="+mj-lt"/>
                <a:cs typeface="Microsoft Sans Serif"/>
              </a:rPr>
              <a:t>Set</a:t>
            </a:r>
            <a:r>
              <a:rPr lang="en-US" sz="2400" b="1" kern="0" spc="-100" dirty="0">
                <a:solidFill>
                  <a:sysClr val="windowText" lastClr="000000"/>
                </a:solidFill>
                <a:latin typeface="+mj-lt"/>
                <a:cs typeface="Microsoft Sans Serif"/>
              </a:rPr>
              <a:t> </a:t>
            </a:r>
            <a:r>
              <a:rPr lang="en-US" sz="2400" b="1" kern="0" spc="180" dirty="0">
                <a:solidFill>
                  <a:sysClr val="windowText" lastClr="000000"/>
                </a:solidFill>
                <a:latin typeface="+mj-lt"/>
                <a:cs typeface="Microsoft Sans Serif"/>
              </a:rPr>
              <a:t>of</a:t>
            </a:r>
            <a:r>
              <a:rPr lang="en-US" sz="2400" b="1" kern="0" spc="-85" dirty="0">
                <a:solidFill>
                  <a:sysClr val="windowText" lastClr="000000"/>
                </a:solidFill>
                <a:latin typeface="+mj-lt"/>
                <a:cs typeface="Microsoft Sans Serif"/>
              </a:rPr>
              <a:t> </a:t>
            </a:r>
            <a:r>
              <a:rPr lang="en-US" sz="2400" b="1" kern="0" spc="-10" dirty="0">
                <a:solidFill>
                  <a:sysClr val="windowText" lastClr="000000"/>
                </a:solidFill>
                <a:latin typeface="+mj-lt"/>
                <a:cs typeface="Microsoft Sans Serif"/>
              </a:rPr>
              <a:t>objects:</a:t>
            </a:r>
            <a:endParaRPr lang="en-US" sz="2400" b="1" kern="0" dirty="0">
              <a:solidFill>
                <a:sysClr val="windowText" lastClr="000000"/>
              </a:solidFill>
              <a:latin typeface="+mj-lt"/>
              <a:cs typeface="Microsoft Sans Serif"/>
            </a:endParaRPr>
          </a:p>
          <a:p>
            <a:pPr marL="355600" lvl="0" indent="-342900">
              <a:spcBef>
                <a:spcPts val="730"/>
              </a:spcBef>
              <a:buFont typeface="Wingdings" panose="05000000000000000000" pitchFamily="2" charset="2"/>
              <a:buChar char="Ø"/>
              <a:tabLst>
                <a:tab pos="310515" algn="l"/>
              </a:tabLst>
            </a:pPr>
            <a:r>
              <a:rPr lang="en-US" sz="2400" kern="0" spc="55" dirty="0">
                <a:solidFill>
                  <a:sysClr val="windowText" lastClr="000000"/>
                </a:solidFill>
                <a:latin typeface="+mj-lt"/>
                <a:cs typeface="Microsoft Sans Serif"/>
              </a:rPr>
              <a:t>How</a:t>
            </a:r>
            <a:r>
              <a:rPr lang="en-US" sz="2400" kern="0" spc="-1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should</a:t>
            </a:r>
            <a:r>
              <a:rPr lang="en-US" sz="2400" kern="0" spc="-2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sets</a:t>
            </a:r>
            <a:r>
              <a:rPr lang="en-US" sz="2400" kern="0" spc="-20" dirty="0">
                <a:solidFill>
                  <a:sysClr val="windowText" lastClr="000000"/>
                </a:solidFill>
                <a:latin typeface="+mj-lt"/>
                <a:cs typeface="Microsoft Sans Serif"/>
              </a:rPr>
              <a:t> </a:t>
            </a:r>
            <a:r>
              <a:rPr lang="en-US" sz="2400" kern="0" spc="180" dirty="0">
                <a:solidFill>
                  <a:sysClr val="windowText" lastClr="000000"/>
                </a:solidFill>
                <a:latin typeface="+mj-lt"/>
                <a:cs typeface="Microsoft Sans Serif"/>
              </a:rPr>
              <a:t>of</a:t>
            </a:r>
            <a:r>
              <a:rPr lang="en-US" sz="2400" kern="0" spc="-15"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objects</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represented?</a:t>
            </a:r>
            <a:endParaRPr lang="en-US" sz="2400" kern="0" dirty="0">
              <a:solidFill>
                <a:sysClr val="windowText" lastClr="000000"/>
              </a:solidFill>
              <a:latin typeface="+mj-lt"/>
              <a:cs typeface="Microsoft Sans Serif"/>
            </a:endParaRPr>
          </a:p>
          <a:p>
            <a:pPr marL="354965" marR="177165" lvl="0" indent="-342900">
              <a:lnSpc>
                <a:spcPct val="101099"/>
              </a:lnSpc>
              <a:spcBef>
                <a:spcPts val="695"/>
              </a:spcBef>
              <a:buFont typeface="Wingdings" panose="05000000000000000000" pitchFamily="2" charset="2"/>
              <a:buChar char="Ø"/>
              <a:tabLst>
                <a:tab pos="310515" algn="l"/>
              </a:tabLst>
            </a:pPr>
            <a:r>
              <a:rPr lang="en-US" sz="2400" kern="0" dirty="0">
                <a:solidFill>
                  <a:sysClr val="windowText" lastClr="000000"/>
                </a:solidFill>
                <a:latin typeface="+mj-lt"/>
                <a:cs typeface="Microsoft Sans Serif"/>
              </a:rPr>
              <a:t>There</a:t>
            </a:r>
            <a:r>
              <a:rPr lang="en-US" sz="2400" kern="0" spc="-5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are</a:t>
            </a:r>
            <a:r>
              <a:rPr lang="en-US" sz="2400" kern="0" spc="-5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certain</a:t>
            </a:r>
            <a:r>
              <a:rPr lang="en-US" sz="2400" kern="0" spc="-55" dirty="0">
                <a:solidFill>
                  <a:sysClr val="windowText" lastClr="000000"/>
                </a:solidFill>
                <a:latin typeface="+mj-lt"/>
                <a:cs typeface="Microsoft Sans Serif"/>
              </a:rPr>
              <a:t> </a:t>
            </a:r>
            <a:r>
              <a:rPr lang="en-US" sz="2400" kern="0" spc="70" dirty="0">
                <a:solidFill>
                  <a:sysClr val="windowText" lastClr="000000"/>
                </a:solidFill>
                <a:latin typeface="+mj-lt"/>
                <a:cs typeface="Microsoft Sans Serif"/>
              </a:rPr>
              <a:t>properties</a:t>
            </a:r>
            <a:r>
              <a:rPr lang="en-US" sz="2400" kern="0" spc="-45" dirty="0">
                <a:solidFill>
                  <a:sysClr val="windowText" lastClr="000000"/>
                </a:solidFill>
                <a:latin typeface="+mj-lt"/>
                <a:cs typeface="Microsoft Sans Serif"/>
              </a:rPr>
              <a:t> </a:t>
            </a:r>
            <a:r>
              <a:rPr lang="en-US" sz="2400" kern="0" spc="180" dirty="0">
                <a:solidFill>
                  <a:sysClr val="windowText" lastClr="000000"/>
                </a:solidFill>
                <a:latin typeface="+mj-lt"/>
                <a:cs typeface="Microsoft Sans Serif"/>
              </a:rPr>
              <a:t>of</a:t>
            </a:r>
            <a:r>
              <a:rPr lang="en-US" sz="2400" kern="0" spc="-50"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objects</a:t>
            </a:r>
            <a:r>
              <a:rPr lang="en-US" sz="2400" kern="0" spc="-45" dirty="0">
                <a:solidFill>
                  <a:sysClr val="windowText" lastClr="000000"/>
                </a:solidFill>
                <a:latin typeface="+mj-lt"/>
                <a:cs typeface="Microsoft Sans Serif"/>
              </a:rPr>
              <a:t> </a:t>
            </a:r>
            <a:r>
              <a:rPr lang="en-US" sz="2400" kern="0" spc="135" dirty="0">
                <a:solidFill>
                  <a:sysClr val="windowText" lastClr="000000"/>
                </a:solidFill>
                <a:latin typeface="+mj-lt"/>
                <a:cs typeface="Microsoft Sans Serif"/>
              </a:rPr>
              <a:t>that</a:t>
            </a:r>
            <a:r>
              <a:rPr lang="en-US" sz="2400" kern="0" spc="-6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are</a:t>
            </a:r>
            <a:r>
              <a:rPr lang="en-US" sz="2400" kern="0" spc="-50" dirty="0">
                <a:solidFill>
                  <a:sysClr val="windowText" lastClr="000000"/>
                </a:solidFill>
                <a:latin typeface="+mj-lt"/>
                <a:cs typeface="Microsoft Sans Serif"/>
              </a:rPr>
              <a:t> </a:t>
            </a:r>
            <a:r>
              <a:rPr lang="en-US" sz="2400" kern="0" spc="125" dirty="0">
                <a:solidFill>
                  <a:sysClr val="windowText" lastClr="000000"/>
                </a:solidFill>
                <a:latin typeface="+mj-lt"/>
                <a:cs typeface="Microsoft Sans Serif"/>
              </a:rPr>
              <a:t>true</a:t>
            </a:r>
            <a:r>
              <a:rPr lang="en-US" sz="2400" kern="0" spc="-50" dirty="0">
                <a:solidFill>
                  <a:sysClr val="windowText" lastClr="000000"/>
                </a:solidFill>
                <a:latin typeface="+mj-lt"/>
                <a:cs typeface="Microsoft Sans Serif"/>
              </a:rPr>
              <a:t> </a:t>
            </a:r>
            <a:r>
              <a:rPr lang="en-US" sz="2400" kern="0" spc="-25" dirty="0">
                <a:solidFill>
                  <a:sysClr val="windowText" lastClr="000000"/>
                </a:solidFill>
                <a:latin typeface="+mj-lt"/>
                <a:cs typeface="Microsoft Sans Serif"/>
              </a:rPr>
              <a:t>as </a:t>
            </a:r>
            <a:r>
              <a:rPr lang="en-US" sz="2400" kern="0" spc="60" dirty="0">
                <a:solidFill>
                  <a:sysClr val="windowText" lastClr="000000"/>
                </a:solidFill>
                <a:latin typeface="+mj-lt"/>
                <a:cs typeface="Microsoft Sans Serif"/>
              </a:rPr>
              <a:t>member</a:t>
            </a:r>
            <a:r>
              <a:rPr lang="en-US" sz="2400" kern="0" spc="-75" dirty="0">
                <a:solidFill>
                  <a:sysClr val="windowText" lastClr="000000"/>
                </a:solidFill>
                <a:latin typeface="+mj-lt"/>
                <a:cs typeface="Microsoft Sans Serif"/>
              </a:rPr>
              <a:t> </a:t>
            </a:r>
            <a:r>
              <a:rPr lang="en-US" sz="2400" kern="0" spc="180" dirty="0">
                <a:solidFill>
                  <a:sysClr val="windowText" lastClr="000000"/>
                </a:solidFill>
                <a:latin typeface="+mj-lt"/>
                <a:cs typeface="Microsoft Sans Serif"/>
              </a:rPr>
              <a:t>of</a:t>
            </a:r>
            <a:r>
              <a:rPr lang="en-US" sz="2400" kern="0" spc="-7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a</a:t>
            </a:r>
            <a:r>
              <a:rPr lang="en-US" sz="2400" kern="0" spc="-80"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set</a:t>
            </a:r>
            <a:r>
              <a:rPr lang="en-US" sz="2400" kern="0" spc="-75" dirty="0">
                <a:solidFill>
                  <a:sysClr val="windowText" lastClr="000000"/>
                </a:solidFill>
                <a:latin typeface="+mj-lt"/>
                <a:cs typeface="Microsoft Sans Serif"/>
              </a:rPr>
              <a:t> </a:t>
            </a:r>
            <a:r>
              <a:rPr lang="en-US" sz="2400" kern="0" spc="140" dirty="0">
                <a:solidFill>
                  <a:sysClr val="windowText" lastClr="000000"/>
                </a:solidFill>
                <a:latin typeface="+mj-lt"/>
                <a:cs typeface="Microsoft Sans Serif"/>
              </a:rPr>
              <a:t>but</a:t>
            </a:r>
            <a:r>
              <a:rPr lang="en-US" sz="2400" kern="0" spc="-80" dirty="0">
                <a:solidFill>
                  <a:sysClr val="windowText" lastClr="000000"/>
                </a:solidFill>
                <a:latin typeface="+mj-lt"/>
                <a:cs typeface="Microsoft Sans Serif"/>
              </a:rPr>
              <a:t> </a:t>
            </a:r>
            <a:r>
              <a:rPr lang="en-US" sz="2400" kern="0" spc="145" dirty="0">
                <a:solidFill>
                  <a:sysClr val="windowText" lastClr="000000"/>
                </a:solidFill>
                <a:latin typeface="+mj-lt"/>
                <a:cs typeface="Microsoft Sans Serif"/>
              </a:rPr>
              <a:t>not</a:t>
            </a:r>
            <a:r>
              <a:rPr lang="en-US" sz="2400" kern="0" spc="-75"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as</a:t>
            </a:r>
            <a:r>
              <a:rPr lang="en-US" sz="2400" kern="0" spc="-7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individual;</a:t>
            </a:r>
            <a:endParaRPr lang="en-US" sz="2400" kern="0" dirty="0">
              <a:solidFill>
                <a:sysClr val="windowText" lastClr="000000"/>
              </a:solidFill>
              <a:latin typeface="+mj-lt"/>
              <a:cs typeface="Microsoft Sans Serif"/>
            </a:endParaRPr>
          </a:p>
          <a:p>
            <a:pPr marL="354965" marR="5080" lvl="0" indent="-342900">
              <a:lnSpc>
                <a:spcPct val="125299"/>
              </a:lnSpc>
              <a:buFont typeface="Wingdings" panose="05000000000000000000" pitchFamily="2" charset="2"/>
              <a:buChar char="Ø"/>
              <a:tabLst>
                <a:tab pos="595630" algn="l"/>
              </a:tabLst>
            </a:pPr>
            <a:r>
              <a:rPr lang="en-US" sz="2400" kern="0" spc="-10" dirty="0">
                <a:solidFill>
                  <a:sysClr val="windowText" lastClr="000000"/>
                </a:solidFill>
                <a:latin typeface="+mj-lt"/>
                <a:cs typeface="Microsoft Sans Serif"/>
              </a:rPr>
              <a:t>Example:</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Consider</a:t>
            </a:r>
            <a:r>
              <a:rPr lang="en-US" sz="2400" kern="0" spc="-25"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assertion</a:t>
            </a:r>
            <a:r>
              <a:rPr lang="en-US" sz="2400" kern="0" spc="-2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made</a:t>
            </a:r>
            <a:r>
              <a:rPr lang="en-US" sz="2400" kern="0" spc="-3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in</a:t>
            </a:r>
            <a:r>
              <a:rPr lang="en-US" sz="2400" kern="0" spc="-30"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3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sentences: 	</a:t>
            </a:r>
          </a:p>
          <a:p>
            <a:pPr marL="12065" marR="5080" lvl="0">
              <a:lnSpc>
                <a:spcPct val="125299"/>
              </a:lnSpc>
              <a:tabLst>
                <a:tab pos="595630" algn="l"/>
              </a:tabLst>
            </a:pPr>
            <a:r>
              <a:rPr lang="en-US" sz="2400" kern="0" spc="-10"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“there</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are</a:t>
            </a:r>
            <a:r>
              <a:rPr lang="en-US" sz="2400" kern="0" spc="-10" dirty="0">
                <a:solidFill>
                  <a:sysClr val="windowText" lastClr="000000"/>
                </a:solidFill>
                <a:latin typeface="+mj-lt"/>
                <a:cs typeface="Microsoft Sans Serif"/>
              </a:rPr>
              <a:t> </a:t>
            </a:r>
            <a:r>
              <a:rPr lang="en-US" sz="2400" kern="0" spc="75" dirty="0">
                <a:solidFill>
                  <a:sysClr val="windowText" lastClr="000000"/>
                </a:solidFill>
                <a:latin typeface="+mj-lt"/>
                <a:cs typeface="Microsoft Sans Serif"/>
              </a:rPr>
              <a:t>more</a:t>
            </a:r>
            <a:r>
              <a:rPr lang="en-US" sz="2400" kern="0" spc="-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sheep</a:t>
            </a:r>
            <a:r>
              <a:rPr lang="en-US" sz="2400" kern="0" spc="-5" dirty="0">
                <a:solidFill>
                  <a:sysClr val="windowText" lastClr="000000"/>
                </a:solidFill>
                <a:latin typeface="+mj-lt"/>
                <a:cs typeface="Microsoft Sans Serif"/>
              </a:rPr>
              <a:t> </a:t>
            </a:r>
            <a:r>
              <a:rPr lang="en-US" sz="2400" kern="0" spc="70" dirty="0">
                <a:solidFill>
                  <a:sysClr val="windowText" lastClr="000000"/>
                </a:solidFill>
                <a:latin typeface="+mj-lt"/>
                <a:cs typeface="Microsoft Sans Serif"/>
              </a:rPr>
              <a:t>than</a:t>
            </a:r>
            <a:r>
              <a:rPr lang="en-US" sz="2400" kern="0" spc="-10"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people</a:t>
            </a:r>
            <a:r>
              <a:rPr lang="en-US" sz="2400" kern="0" spc="-1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in</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Australia”,</a:t>
            </a:r>
            <a:r>
              <a:rPr lang="en-US" sz="2400" kern="0" spc="-10" dirty="0">
                <a:solidFill>
                  <a:sysClr val="windowText" lastClr="000000"/>
                </a:solidFill>
                <a:latin typeface="+mj-lt"/>
                <a:cs typeface="Microsoft Sans Serif"/>
              </a:rPr>
              <a:t> </a:t>
            </a:r>
            <a:r>
              <a:rPr lang="en-US" sz="2400" kern="0" spc="-25" dirty="0">
                <a:solidFill>
                  <a:sysClr val="windowText" lastClr="000000"/>
                </a:solidFill>
                <a:latin typeface="+mj-lt"/>
                <a:cs typeface="Microsoft Sans Serif"/>
              </a:rPr>
              <a:t>and 	</a:t>
            </a:r>
          </a:p>
          <a:p>
            <a:pPr marL="12065" marR="5080" lvl="0">
              <a:lnSpc>
                <a:spcPct val="125299"/>
              </a:lnSpc>
              <a:tabLst>
                <a:tab pos="595630" algn="l"/>
              </a:tabLst>
            </a:pP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“English</a:t>
            </a:r>
            <a:r>
              <a:rPr lang="en-US" sz="2400" kern="0" spc="-5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speakers</a:t>
            </a:r>
            <a:r>
              <a:rPr lang="en-US" sz="2400" kern="0" spc="-50" dirty="0">
                <a:solidFill>
                  <a:sysClr val="windowText" lastClr="000000"/>
                </a:solidFill>
                <a:latin typeface="+mj-lt"/>
                <a:cs typeface="Microsoft Sans Serif"/>
              </a:rPr>
              <a:t> </a:t>
            </a:r>
            <a:r>
              <a:rPr lang="en-US" sz="2400" kern="0" spc="-20" dirty="0">
                <a:solidFill>
                  <a:sysClr val="windowText" lastClr="000000"/>
                </a:solidFill>
                <a:latin typeface="+mj-lt"/>
                <a:cs typeface="Microsoft Sans Serif"/>
              </a:rPr>
              <a:t>can</a:t>
            </a:r>
            <a:r>
              <a:rPr lang="en-US" sz="2400" kern="0" spc="-4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45" dirty="0">
                <a:solidFill>
                  <a:sysClr val="windowText" lastClr="000000"/>
                </a:solidFill>
                <a:latin typeface="+mj-lt"/>
                <a:cs typeface="Microsoft Sans Serif"/>
              </a:rPr>
              <a:t> </a:t>
            </a:r>
            <a:r>
              <a:rPr lang="en-US" sz="2400" kern="0" spc="105" dirty="0">
                <a:solidFill>
                  <a:sysClr val="windowText" lastClr="000000"/>
                </a:solidFill>
                <a:latin typeface="+mj-lt"/>
                <a:cs typeface="Microsoft Sans Serif"/>
              </a:rPr>
              <a:t>found</a:t>
            </a:r>
            <a:r>
              <a:rPr lang="en-US" sz="2400" kern="0" spc="-4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all</a:t>
            </a:r>
            <a:r>
              <a:rPr lang="en-US" sz="2400" kern="0" spc="-4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over</a:t>
            </a:r>
            <a:r>
              <a:rPr lang="en-US" sz="2400" kern="0" spc="-45" dirty="0">
                <a:solidFill>
                  <a:sysClr val="windowText" lastClr="000000"/>
                </a:solidFill>
                <a:latin typeface="+mj-lt"/>
                <a:cs typeface="Microsoft Sans Serif"/>
              </a:rPr>
              <a:t> </a:t>
            </a:r>
            <a:r>
              <a:rPr lang="en-US" sz="2400" kern="0" spc="120" dirty="0">
                <a:solidFill>
                  <a:sysClr val="windowText" lastClr="000000"/>
                </a:solidFill>
                <a:latin typeface="+mj-lt"/>
                <a:cs typeface="Microsoft Sans Serif"/>
              </a:rPr>
              <a:t>the</a:t>
            </a:r>
            <a:r>
              <a:rPr lang="en-US" sz="2400" kern="0" spc="-45" dirty="0">
                <a:solidFill>
                  <a:sysClr val="windowText" lastClr="000000"/>
                </a:solidFill>
                <a:latin typeface="+mj-lt"/>
                <a:cs typeface="Microsoft Sans Serif"/>
              </a:rPr>
              <a:t> </a:t>
            </a:r>
            <a:r>
              <a:rPr lang="en-US" sz="2400" kern="0" spc="85" dirty="0">
                <a:solidFill>
                  <a:sysClr val="windowText" lastClr="000000"/>
                </a:solidFill>
                <a:latin typeface="+mj-lt"/>
                <a:cs typeface="Microsoft Sans Serif"/>
              </a:rPr>
              <a:t>world.”</a:t>
            </a:r>
            <a:endParaRPr lang="en-US" sz="2400" kern="0" dirty="0">
              <a:solidFill>
                <a:sysClr val="windowText" lastClr="000000"/>
              </a:solidFill>
              <a:latin typeface="+mj-lt"/>
              <a:cs typeface="Microsoft Sans Serif"/>
            </a:endParaRPr>
          </a:p>
          <a:p>
            <a:pPr marL="354965" marR="342265" lvl="0" indent="-342900">
              <a:lnSpc>
                <a:spcPct val="101200"/>
              </a:lnSpc>
              <a:spcBef>
                <a:spcPts val="700"/>
              </a:spcBef>
              <a:buFont typeface="Wingdings" panose="05000000000000000000" pitchFamily="2" charset="2"/>
              <a:buChar char="Ø"/>
              <a:tabLst>
                <a:tab pos="310515" algn="l"/>
              </a:tabLst>
            </a:pPr>
            <a:r>
              <a:rPr lang="en-US" sz="2400" kern="0" dirty="0">
                <a:solidFill>
                  <a:sysClr val="windowText" lastClr="000000"/>
                </a:solidFill>
                <a:latin typeface="+mj-lt"/>
                <a:cs typeface="Microsoft Sans Serif"/>
              </a:rPr>
              <a:t>To</a:t>
            </a:r>
            <a:r>
              <a:rPr lang="en-US" sz="2400" kern="0" spc="-2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describe</a:t>
            </a:r>
            <a:r>
              <a:rPr lang="en-US" sz="2400" kern="0" spc="-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these</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facts,</a:t>
            </a:r>
            <a:r>
              <a:rPr lang="en-US" sz="2400" kern="0" spc="-15"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2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only</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way</a:t>
            </a:r>
            <a:r>
              <a:rPr lang="en-US" sz="2400" kern="0" spc="-1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is</a:t>
            </a:r>
            <a:r>
              <a:rPr lang="en-US" sz="2400" kern="0" spc="-20"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5"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attach </a:t>
            </a:r>
            <a:r>
              <a:rPr lang="en-US" sz="2400" kern="0" dirty="0">
                <a:solidFill>
                  <a:sysClr val="windowText" lastClr="000000"/>
                </a:solidFill>
                <a:latin typeface="+mj-lt"/>
                <a:cs typeface="Microsoft Sans Serif"/>
              </a:rPr>
              <a:t>assertion</a:t>
            </a:r>
            <a:r>
              <a:rPr lang="en-US" sz="2400" kern="0" spc="10"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5"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sets</a:t>
            </a:r>
            <a:r>
              <a:rPr lang="en-US" sz="2400" kern="0" spc="10"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representing</a:t>
            </a:r>
            <a:r>
              <a:rPr lang="en-US" sz="2400" kern="0" spc="1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people,</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sheep,</a:t>
            </a:r>
            <a:r>
              <a:rPr lang="en-US" sz="2400" kern="0" spc="10" dirty="0">
                <a:solidFill>
                  <a:sysClr val="windowText" lastClr="000000"/>
                </a:solidFill>
                <a:latin typeface="+mj-lt"/>
                <a:cs typeface="Microsoft Sans Serif"/>
              </a:rPr>
              <a:t> </a:t>
            </a:r>
            <a:r>
              <a:rPr lang="en-US" sz="2400" kern="0" spc="-25" dirty="0">
                <a:solidFill>
                  <a:sysClr val="windowText" lastClr="000000"/>
                </a:solidFill>
                <a:latin typeface="+mj-lt"/>
                <a:cs typeface="Microsoft Sans Serif"/>
              </a:rPr>
              <a:t>and </a:t>
            </a:r>
            <a:r>
              <a:rPr lang="en-US" sz="2400" kern="0" spc="-10" dirty="0">
                <a:solidFill>
                  <a:sysClr val="windowText" lastClr="000000"/>
                </a:solidFill>
                <a:latin typeface="+mj-lt"/>
                <a:cs typeface="Microsoft Sans Serif"/>
              </a:rPr>
              <a:t>English.</a:t>
            </a: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233405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075924"/>
          </a:xfrm>
          <a:prstGeom prst="rect">
            <a:avLst/>
          </a:prstGeom>
        </p:spPr>
        <p:txBody>
          <a:bodyPr vert="horz" wrap="square" lIns="0" tIns="11430" rIns="0" bIns="0" rtlCol="0">
            <a:spAutoFit/>
          </a:bodyPr>
          <a:lstStyle/>
          <a:p>
            <a:pPr marL="469265" marR="33020" lvl="0" indent="-457200">
              <a:lnSpc>
                <a:spcPct val="150000"/>
              </a:lnSpc>
              <a:spcBef>
                <a:spcPts val="110"/>
              </a:spcBef>
              <a:buFont typeface="Wingdings" panose="05000000000000000000" pitchFamily="2" charset="2"/>
              <a:buChar char="Ø"/>
              <a:tabLst>
                <a:tab pos="323215" algn="l"/>
              </a:tabLst>
            </a:pPr>
            <a:r>
              <a:rPr lang="en-US" sz="2400" kern="0" spc="-10" dirty="0">
                <a:solidFill>
                  <a:sysClr val="windowText" lastClr="000000"/>
                </a:solidFill>
                <a:latin typeface="+mj-lt"/>
                <a:cs typeface="Microsoft Sans Serif"/>
              </a:rPr>
              <a:t>The</a:t>
            </a:r>
            <a:r>
              <a:rPr lang="en-US" sz="2400" kern="0" spc="-6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reason</a:t>
            </a:r>
            <a:r>
              <a:rPr lang="en-US" sz="2400" kern="0" spc="-65" dirty="0">
                <a:solidFill>
                  <a:sysClr val="windowText" lastClr="000000"/>
                </a:solidFill>
                <a:latin typeface="+mj-lt"/>
                <a:cs typeface="Microsoft Sans Serif"/>
              </a:rPr>
              <a:t> </a:t>
            </a:r>
            <a:r>
              <a:rPr lang="en-US" sz="2400" kern="0" spc="190" dirty="0">
                <a:solidFill>
                  <a:sysClr val="windowText" lastClr="000000"/>
                </a:solidFill>
                <a:latin typeface="+mj-lt"/>
                <a:cs typeface="Microsoft Sans Serif"/>
              </a:rPr>
              <a:t>to</a:t>
            </a:r>
            <a:r>
              <a:rPr lang="en-US" sz="2400" kern="0" spc="-65"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represent</a:t>
            </a:r>
            <a:r>
              <a:rPr lang="en-US" sz="2400" kern="0" spc="-6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sets</a:t>
            </a:r>
            <a:r>
              <a:rPr lang="en-US" sz="2400" kern="0" spc="-60" dirty="0">
                <a:solidFill>
                  <a:sysClr val="windowText" lastClr="000000"/>
                </a:solidFill>
                <a:latin typeface="+mj-lt"/>
                <a:cs typeface="Microsoft Sans Serif"/>
              </a:rPr>
              <a:t> </a:t>
            </a:r>
            <a:r>
              <a:rPr lang="en-US" sz="2400" kern="0" spc="170" dirty="0">
                <a:solidFill>
                  <a:sysClr val="windowText" lastClr="000000"/>
                </a:solidFill>
                <a:latin typeface="+mj-lt"/>
                <a:cs typeface="Microsoft Sans Serif"/>
              </a:rPr>
              <a:t>of</a:t>
            </a:r>
            <a:r>
              <a:rPr lang="en-US" sz="2400" kern="0" spc="-6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objects</a:t>
            </a:r>
            <a:r>
              <a:rPr lang="en-US" sz="2400" kern="0" spc="-5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is:</a:t>
            </a:r>
            <a:r>
              <a:rPr lang="en-US" sz="2400" kern="0" spc="-70" dirty="0">
                <a:solidFill>
                  <a:sysClr val="windowText" lastClr="000000"/>
                </a:solidFill>
                <a:latin typeface="+mj-lt"/>
                <a:cs typeface="Microsoft Sans Serif"/>
              </a:rPr>
              <a:t> </a:t>
            </a:r>
            <a:r>
              <a:rPr lang="en-US" sz="2400" kern="0" spc="160" dirty="0">
                <a:solidFill>
                  <a:sysClr val="windowText" lastClr="000000"/>
                </a:solidFill>
                <a:latin typeface="+mj-lt"/>
                <a:cs typeface="Microsoft Sans Serif"/>
              </a:rPr>
              <a:t>if</a:t>
            </a:r>
            <a:r>
              <a:rPr lang="en-US" sz="2400" kern="0" spc="-65"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a </a:t>
            </a:r>
            <a:r>
              <a:rPr lang="en-US" sz="2400" kern="0" spc="95" dirty="0">
                <a:solidFill>
                  <a:sysClr val="windowText" lastClr="000000"/>
                </a:solidFill>
                <a:latin typeface="+mj-lt"/>
                <a:cs typeface="Microsoft Sans Serif"/>
              </a:rPr>
              <a:t>property</a:t>
            </a:r>
            <a:r>
              <a:rPr lang="en-US" sz="2400" kern="0" spc="-6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is</a:t>
            </a:r>
            <a:r>
              <a:rPr lang="en-US" sz="2400" kern="0" spc="-45"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true</a:t>
            </a:r>
            <a:r>
              <a:rPr lang="en-US" sz="2400" kern="0" spc="-45" dirty="0">
                <a:solidFill>
                  <a:sysClr val="windowText" lastClr="000000"/>
                </a:solidFill>
                <a:latin typeface="+mj-lt"/>
                <a:cs typeface="Microsoft Sans Serif"/>
              </a:rPr>
              <a:t> </a:t>
            </a:r>
            <a:r>
              <a:rPr lang="en-US" sz="2400" kern="0" spc="150" dirty="0">
                <a:solidFill>
                  <a:sysClr val="windowText" lastClr="000000"/>
                </a:solidFill>
                <a:latin typeface="+mj-lt"/>
                <a:cs typeface="Microsoft Sans Serif"/>
              </a:rPr>
              <a:t>for</a:t>
            </a:r>
            <a:r>
              <a:rPr lang="en-US" sz="2400" kern="0" spc="-5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all</a:t>
            </a:r>
            <a:r>
              <a:rPr lang="en-US" sz="2400" kern="0" spc="-45" dirty="0">
                <a:solidFill>
                  <a:sysClr val="windowText" lastClr="000000"/>
                </a:solidFill>
                <a:latin typeface="+mj-lt"/>
                <a:cs typeface="Microsoft Sans Serif"/>
              </a:rPr>
              <a:t> </a:t>
            </a:r>
            <a:r>
              <a:rPr lang="en-US" sz="2400" kern="0" spc="100" dirty="0">
                <a:solidFill>
                  <a:sysClr val="windowText" lastClr="000000"/>
                </a:solidFill>
                <a:latin typeface="+mj-lt"/>
                <a:cs typeface="Microsoft Sans Serif"/>
              </a:rPr>
              <a:t>or</a:t>
            </a:r>
            <a:r>
              <a:rPr lang="en-US" sz="2400" kern="0" spc="-50" dirty="0">
                <a:solidFill>
                  <a:sysClr val="windowText" lastClr="000000"/>
                </a:solidFill>
                <a:latin typeface="+mj-lt"/>
                <a:cs typeface="Microsoft Sans Serif"/>
              </a:rPr>
              <a:t> </a:t>
            </a:r>
            <a:r>
              <a:rPr lang="en-US" sz="2400" kern="0" spc="70" dirty="0">
                <a:solidFill>
                  <a:sysClr val="windowText" lastClr="000000"/>
                </a:solidFill>
                <a:latin typeface="+mj-lt"/>
                <a:cs typeface="Microsoft Sans Serif"/>
              </a:rPr>
              <a:t>most</a:t>
            </a:r>
            <a:r>
              <a:rPr lang="en-US" sz="2400" kern="0" spc="-5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elements</a:t>
            </a:r>
            <a:r>
              <a:rPr lang="en-US" sz="2400" kern="0" spc="-45" dirty="0">
                <a:solidFill>
                  <a:sysClr val="windowText" lastClr="000000"/>
                </a:solidFill>
                <a:latin typeface="+mj-lt"/>
                <a:cs typeface="Microsoft Sans Serif"/>
              </a:rPr>
              <a:t> </a:t>
            </a:r>
            <a:r>
              <a:rPr lang="en-US" sz="2400" kern="0" spc="170" dirty="0">
                <a:solidFill>
                  <a:sysClr val="windowText" lastClr="000000"/>
                </a:solidFill>
                <a:latin typeface="+mj-lt"/>
                <a:cs typeface="Microsoft Sans Serif"/>
              </a:rPr>
              <a:t>of</a:t>
            </a:r>
            <a:r>
              <a:rPr lang="en-US" sz="2400" kern="0" spc="-50"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a</a:t>
            </a:r>
            <a:r>
              <a:rPr lang="en-US" sz="2400" kern="0" spc="-45" dirty="0">
                <a:solidFill>
                  <a:sysClr val="windowText" lastClr="000000"/>
                </a:solidFill>
                <a:latin typeface="+mj-lt"/>
                <a:cs typeface="Microsoft Sans Serif"/>
              </a:rPr>
              <a:t> </a:t>
            </a:r>
            <a:r>
              <a:rPr lang="en-US" sz="2400" kern="0" spc="-20" dirty="0">
                <a:solidFill>
                  <a:sysClr val="windowText" lastClr="000000"/>
                </a:solidFill>
                <a:latin typeface="+mj-lt"/>
                <a:cs typeface="Microsoft Sans Serif"/>
              </a:rPr>
              <a:t>set, </a:t>
            </a:r>
            <a:r>
              <a:rPr lang="en-US" sz="2400" kern="0" spc="95" dirty="0">
                <a:solidFill>
                  <a:sysClr val="windowText" lastClr="000000"/>
                </a:solidFill>
                <a:latin typeface="+mj-lt"/>
                <a:cs typeface="Microsoft Sans Serif"/>
              </a:rPr>
              <a:t>then</a:t>
            </a:r>
            <a:r>
              <a:rPr lang="en-US" sz="2400" kern="0" spc="-95" dirty="0">
                <a:solidFill>
                  <a:sysClr val="windowText" lastClr="000000"/>
                </a:solidFill>
                <a:latin typeface="+mj-lt"/>
                <a:cs typeface="Microsoft Sans Serif"/>
              </a:rPr>
              <a:t> </a:t>
            </a:r>
            <a:r>
              <a:rPr lang="en-US" sz="2400" kern="0" spc="170" dirty="0">
                <a:solidFill>
                  <a:sysClr val="windowText" lastClr="000000"/>
                </a:solidFill>
                <a:latin typeface="+mj-lt"/>
                <a:cs typeface="Microsoft Sans Serif"/>
              </a:rPr>
              <a:t>it</a:t>
            </a:r>
            <a:r>
              <a:rPr lang="en-US" sz="2400" kern="0" spc="-9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is</a:t>
            </a:r>
            <a:r>
              <a:rPr lang="en-US" sz="2400" kern="0" spc="-8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more</a:t>
            </a:r>
            <a:r>
              <a:rPr lang="en-US" sz="2400" kern="0" spc="-100" dirty="0">
                <a:solidFill>
                  <a:sysClr val="windowText" lastClr="000000"/>
                </a:solidFill>
                <a:latin typeface="+mj-lt"/>
                <a:cs typeface="Microsoft Sans Serif"/>
              </a:rPr>
              <a:t> </a:t>
            </a:r>
            <a:r>
              <a:rPr lang="en-US" sz="2400" kern="0" spc="95" dirty="0">
                <a:solidFill>
                  <a:sysClr val="windowText" lastClr="000000"/>
                </a:solidFill>
                <a:latin typeface="+mj-lt"/>
                <a:cs typeface="Microsoft Sans Serif"/>
              </a:rPr>
              <a:t>efficient</a:t>
            </a:r>
            <a:r>
              <a:rPr lang="en-US" sz="2400" kern="0" spc="-90" dirty="0">
                <a:solidFill>
                  <a:sysClr val="windowText" lastClr="000000"/>
                </a:solidFill>
                <a:latin typeface="+mj-lt"/>
                <a:cs typeface="Microsoft Sans Serif"/>
              </a:rPr>
              <a:t> </a:t>
            </a:r>
            <a:r>
              <a:rPr lang="en-US" sz="2400" kern="0" spc="190" dirty="0">
                <a:solidFill>
                  <a:sysClr val="windowText" lastClr="000000"/>
                </a:solidFill>
                <a:latin typeface="+mj-lt"/>
                <a:cs typeface="Microsoft Sans Serif"/>
              </a:rPr>
              <a:t>to</a:t>
            </a:r>
            <a:r>
              <a:rPr lang="en-US" sz="2400" kern="0" spc="-9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associate</a:t>
            </a:r>
            <a:r>
              <a:rPr lang="en-US" sz="2400" kern="0" spc="-90" dirty="0">
                <a:solidFill>
                  <a:sysClr val="windowText" lastClr="000000"/>
                </a:solidFill>
                <a:latin typeface="+mj-lt"/>
                <a:cs typeface="Microsoft Sans Serif"/>
              </a:rPr>
              <a:t> </a:t>
            </a:r>
            <a:r>
              <a:rPr lang="en-US" sz="2400" kern="0" spc="175" dirty="0">
                <a:solidFill>
                  <a:sysClr val="windowText" lastClr="000000"/>
                </a:solidFill>
                <a:latin typeface="+mj-lt"/>
                <a:cs typeface="Microsoft Sans Serif"/>
              </a:rPr>
              <a:t>it</a:t>
            </a:r>
            <a:r>
              <a:rPr lang="en-US" sz="2400" kern="0" spc="-9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once</a:t>
            </a:r>
            <a:r>
              <a:rPr lang="en-US" sz="2400" kern="0" spc="-100" dirty="0">
                <a:solidFill>
                  <a:sysClr val="windowText" lastClr="000000"/>
                </a:solidFill>
                <a:latin typeface="+mj-lt"/>
                <a:cs typeface="Microsoft Sans Serif"/>
              </a:rPr>
              <a:t> </a:t>
            </a:r>
            <a:r>
              <a:rPr lang="en-US" sz="2400" kern="0" spc="125" dirty="0">
                <a:solidFill>
                  <a:sysClr val="windowText" lastClr="000000"/>
                </a:solidFill>
                <a:latin typeface="+mj-lt"/>
                <a:cs typeface="Microsoft Sans Serif"/>
              </a:rPr>
              <a:t>with</a:t>
            </a:r>
            <a:r>
              <a:rPr lang="en-US" sz="2400" kern="0" spc="-95"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the </a:t>
            </a:r>
            <a:r>
              <a:rPr lang="en-US" sz="2400" kern="0" spc="55" dirty="0">
                <a:solidFill>
                  <a:sysClr val="windowText" lastClr="000000"/>
                </a:solidFill>
                <a:latin typeface="+mj-lt"/>
                <a:cs typeface="Microsoft Sans Serif"/>
              </a:rPr>
              <a:t>set</a:t>
            </a:r>
            <a:r>
              <a:rPr lang="en-US" sz="2400" kern="0" spc="-90"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rather</a:t>
            </a:r>
            <a:r>
              <a:rPr lang="en-US" sz="2400" kern="0" spc="-90"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than</a:t>
            </a:r>
            <a:r>
              <a:rPr lang="en-US" sz="2400" kern="0" spc="-80" dirty="0">
                <a:solidFill>
                  <a:sysClr val="windowText" lastClr="000000"/>
                </a:solidFill>
                <a:latin typeface="+mj-lt"/>
                <a:cs typeface="Microsoft Sans Serif"/>
              </a:rPr>
              <a:t> </a:t>
            </a:r>
            <a:r>
              <a:rPr lang="en-US" sz="2400" kern="0" spc="185" dirty="0">
                <a:solidFill>
                  <a:sysClr val="windowText" lastClr="000000"/>
                </a:solidFill>
                <a:latin typeface="+mj-lt"/>
                <a:cs typeface="Microsoft Sans Serif"/>
              </a:rPr>
              <a:t>to</a:t>
            </a:r>
            <a:r>
              <a:rPr lang="en-US" sz="2400" kern="0" spc="-9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associate</a:t>
            </a:r>
            <a:r>
              <a:rPr lang="en-US" sz="2400" kern="0" spc="-85" dirty="0">
                <a:solidFill>
                  <a:sysClr val="windowText" lastClr="000000"/>
                </a:solidFill>
                <a:latin typeface="+mj-lt"/>
                <a:cs typeface="Microsoft Sans Serif"/>
              </a:rPr>
              <a:t> </a:t>
            </a:r>
            <a:r>
              <a:rPr lang="en-US" sz="2400" kern="0" spc="175" dirty="0">
                <a:solidFill>
                  <a:sysClr val="windowText" lastClr="000000"/>
                </a:solidFill>
                <a:latin typeface="+mj-lt"/>
                <a:cs typeface="Microsoft Sans Serif"/>
              </a:rPr>
              <a:t>it</a:t>
            </a:r>
            <a:r>
              <a:rPr lang="en-US" sz="2400" kern="0" spc="-9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explicitly</a:t>
            </a:r>
            <a:r>
              <a:rPr lang="en-US" sz="2400" kern="0" spc="-90" dirty="0">
                <a:solidFill>
                  <a:sysClr val="windowText" lastClr="000000"/>
                </a:solidFill>
                <a:latin typeface="+mj-lt"/>
                <a:cs typeface="Microsoft Sans Serif"/>
              </a:rPr>
              <a:t> </a:t>
            </a:r>
            <a:r>
              <a:rPr lang="en-US" sz="2400" kern="0" spc="125" dirty="0">
                <a:solidFill>
                  <a:sysClr val="windowText" lastClr="000000"/>
                </a:solidFill>
                <a:latin typeface="+mj-lt"/>
                <a:cs typeface="Microsoft Sans Serif"/>
              </a:rPr>
              <a:t>with</a:t>
            </a:r>
            <a:r>
              <a:rPr lang="en-US" sz="2400" kern="0" spc="-9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every </a:t>
            </a:r>
            <a:r>
              <a:rPr lang="en-US" sz="2400" kern="0" spc="45" dirty="0">
                <a:solidFill>
                  <a:sysClr val="windowText" lastClr="000000"/>
                </a:solidFill>
                <a:latin typeface="+mj-lt"/>
                <a:cs typeface="Microsoft Sans Serif"/>
              </a:rPr>
              <a:t>elements</a:t>
            </a:r>
            <a:r>
              <a:rPr lang="en-US" sz="2400" kern="0" spc="-95" dirty="0">
                <a:solidFill>
                  <a:sysClr val="windowText" lastClr="000000"/>
                </a:solidFill>
                <a:latin typeface="+mj-lt"/>
                <a:cs typeface="Microsoft Sans Serif"/>
              </a:rPr>
              <a:t> </a:t>
            </a:r>
            <a:r>
              <a:rPr lang="en-US" sz="2400" kern="0" spc="170" dirty="0">
                <a:solidFill>
                  <a:sysClr val="windowText" lastClr="000000"/>
                </a:solidFill>
                <a:latin typeface="+mj-lt"/>
                <a:cs typeface="Microsoft Sans Serif"/>
              </a:rPr>
              <a:t>of</a:t>
            </a:r>
            <a:r>
              <a:rPr lang="en-US" sz="2400" kern="0" spc="-95"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the</a:t>
            </a:r>
            <a:r>
              <a:rPr lang="en-US" sz="2400" kern="0" spc="-90" dirty="0">
                <a:solidFill>
                  <a:sysClr val="windowText" lastClr="000000"/>
                </a:solidFill>
                <a:latin typeface="+mj-lt"/>
                <a:cs typeface="Microsoft Sans Serif"/>
              </a:rPr>
              <a:t> </a:t>
            </a:r>
            <a:r>
              <a:rPr lang="en-US" sz="2400" kern="0" spc="-20" dirty="0">
                <a:solidFill>
                  <a:sysClr val="windowText" lastClr="000000"/>
                </a:solidFill>
                <a:latin typeface="+mj-lt"/>
                <a:cs typeface="Microsoft Sans Serif"/>
              </a:rPr>
              <a:t>set.</a:t>
            </a:r>
            <a:endParaRPr lang="en-US" sz="2400" kern="0" dirty="0">
              <a:solidFill>
                <a:sysClr val="windowText" lastClr="000000"/>
              </a:solidFill>
              <a:latin typeface="+mj-lt"/>
              <a:cs typeface="Microsoft Sans Serif"/>
            </a:endParaRPr>
          </a:p>
          <a:p>
            <a:pPr marL="469900" lvl="0" indent="-457200">
              <a:lnSpc>
                <a:spcPct val="150000"/>
              </a:lnSpc>
              <a:spcBef>
                <a:spcPts val="710"/>
              </a:spcBef>
              <a:buFont typeface="Wingdings" panose="05000000000000000000" pitchFamily="2" charset="2"/>
              <a:buChar char="Ø"/>
              <a:tabLst>
                <a:tab pos="323215" algn="l"/>
              </a:tabLst>
            </a:pPr>
            <a:r>
              <a:rPr lang="en-US" sz="2400" kern="0" spc="-45" dirty="0">
                <a:solidFill>
                  <a:sysClr val="windowText" lastClr="000000"/>
                </a:solidFill>
                <a:latin typeface="+mj-lt"/>
                <a:cs typeface="Microsoft Sans Serif"/>
              </a:rPr>
              <a:t>This</a:t>
            </a:r>
            <a:r>
              <a:rPr lang="en-US" sz="2400" kern="0" spc="-12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is</a:t>
            </a:r>
            <a:r>
              <a:rPr lang="en-US" sz="2400" kern="0" spc="-130" dirty="0">
                <a:solidFill>
                  <a:sysClr val="windowText" lastClr="000000"/>
                </a:solidFill>
                <a:latin typeface="+mj-lt"/>
                <a:cs typeface="Microsoft Sans Serif"/>
              </a:rPr>
              <a:t> </a:t>
            </a:r>
            <a:r>
              <a:rPr lang="en-US" sz="2400" kern="0" spc="-20" dirty="0">
                <a:solidFill>
                  <a:sysClr val="windowText" lastClr="000000"/>
                </a:solidFill>
                <a:latin typeface="+mj-lt"/>
                <a:cs typeface="Microsoft Sans Serif"/>
              </a:rPr>
              <a:t>done,</a:t>
            </a:r>
            <a:endParaRPr lang="en-US" sz="2400" kern="0" dirty="0">
              <a:solidFill>
                <a:sysClr val="windowText" lastClr="000000"/>
              </a:solidFill>
              <a:latin typeface="+mj-lt"/>
              <a:cs typeface="Microsoft Sans Serif"/>
            </a:endParaRPr>
          </a:p>
          <a:p>
            <a:pPr marL="999490" marR="914400" lvl="0" indent="-571500">
              <a:lnSpc>
                <a:spcPct val="150000"/>
              </a:lnSpc>
              <a:spcBef>
                <a:spcPts val="620"/>
              </a:spcBef>
              <a:buFont typeface="Arial" panose="020B0604020202020204" pitchFamily="34" charset="0"/>
              <a:buChar char="•"/>
            </a:pPr>
            <a:r>
              <a:rPr lang="en-US" sz="2400" kern="0" dirty="0">
                <a:solidFill>
                  <a:sysClr val="windowText" lastClr="000000"/>
                </a:solidFill>
                <a:latin typeface="+mj-lt"/>
                <a:cs typeface="Microsoft Sans Serif"/>
              </a:rPr>
              <a:t>in</a:t>
            </a:r>
            <a:r>
              <a:rPr lang="en-US" sz="2400" kern="0" spc="-5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logical</a:t>
            </a:r>
            <a:r>
              <a:rPr lang="en-US" sz="2400" kern="0" spc="-5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representation</a:t>
            </a:r>
            <a:r>
              <a:rPr lang="en-US" sz="2400" kern="0" spc="-60" dirty="0">
                <a:solidFill>
                  <a:sysClr val="windowText" lastClr="000000"/>
                </a:solidFill>
                <a:latin typeface="+mj-lt"/>
                <a:cs typeface="Microsoft Sans Serif"/>
              </a:rPr>
              <a:t> </a:t>
            </a:r>
            <a:r>
              <a:rPr lang="en-US" sz="2400" kern="0" spc="95" dirty="0">
                <a:solidFill>
                  <a:sysClr val="windowText" lastClr="000000"/>
                </a:solidFill>
                <a:latin typeface="+mj-lt"/>
                <a:cs typeface="Microsoft Sans Serif"/>
              </a:rPr>
              <a:t>through</a:t>
            </a:r>
            <a:r>
              <a:rPr lang="en-US" sz="2400" kern="0" spc="-50" dirty="0">
                <a:solidFill>
                  <a:sysClr val="windowText" lastClr="000000"/>
                </a:solidFill>
                <a:latin typeface="+mj-lt"/>
                <a:cs typeface="Microsoft Sans Serif"/>
              </a:rPr>
              <a:t> </a:t>
            </a:r>
            <a:r>
              <a:rPr lang="en-US" sz="2400" kern="0" spc="105" dirty="0">
                <a:solidFill>
                  <a:sysClr val="windowText" lastClr="000000"/>
                </a:solidFill>
                <a:latin typeface="+mj-lt"/>
                <a:cs typeface="Microsoft Sans Serif"/>
              </a:rPr>
              <a:t>the</a:t>
            </a:r>
            <a:r>
              <a:rPr lang="en-US" sz="2400" kern="0" spc="-4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use</a:t>
            </a:r>
            <a:r>
              <a:rPr lang="en-US" sz="2400" kern="0" spc="-45" dirty="0">
                <a:solidFill>
                  <a:sysClr val="windowText" lastClr="000000"/>
                </a:solidFill>
                <a:latin typeface="+mj-lt"/>
                <a:cs typeface="Microsoft Sans Serif"/>
              </a:rPr>
              <a:t> </a:t>
            </a:r>
            <a:r>
              <a:rPr lang="en-US" sz="2400" kern="0" spc="145" dirty="0">
                <a:solidFill>
                  <a:sysClr val="windowText" lastClr="000000"/>
                </a:solidFill>
                <a:latin typeface="+mj-lt"/>
                <a:cs typeface="Microsoft Sans Serif"/>
              </a:rPr>
              <a:t>of </a:t>
            </a:r>
            <a:r>
              <a:rPr lang="en-US" sz="2400" kern="0" dirty="0">
                <a:solidFill>
                  <a:sysClr val="windowText" lastClr="000000"/>
                </a:solidFill>
                <a:latin typeface="+mj-lt"/>
                <a:cs typeface="Microsoft Sans Serif"/>
              </a:rPr>
              <a:t>universal</a:t>
            </a:r>
            <a:r>
              <a:rPr lang="en-US" sz="2400" kern="0" spc="-15"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quantifier,</a:t>
            </a:r>
            <a:r>
              <a:rPr lang="en-US" sz="2400" kern="0" spc="-25" dirty="0">
                <a:solidFill>
                  <a:sysClr val="windowText" lastClr="000000"/>
                </a:solidFill>
                <a:latin typeface="+mj-lt"/>
                <a:cs typeface="Microsoft Sans Serif"/>
              </a:rPr>
              <a:t> and</a:t>
            </a:r>
            <a:endParaRPr lang="en-US" sz="2400" kern="0" dirty="0">
              <a:solidFill>
                <a:sysClr val="windowText" lastClr="000000"/>
              </a:solidFill>
              <a:latin typeface="+mj-lt"/>
              <a:cs typeface="Microsoft Sans Serif"/>
            </a:endParaRPr>
          </a:p>
          <a:p>
            <a:pPr marL="999490" marR="5080" lvl="0" indent="-571500">
              <a:lnSpc>
                <a:spcPct val="150000"/>
              </a:lnSpc>
              <a:spcBef>
                <a:spcPts val="620"/>
              </a:spcBef>
              <a:buFont typeface="Arial" panose="020B0604020202020204" pitchFamily="34" charset="0"/>
              <a:buChar char="•"/>
            </a:pPr>
            <a:r>
              <a:rPr lang="en-US" sz="2400" kern="0" dirty="0">
                <a:solidFill>
                  <a:sysClr val="windowText" lastClr="000000"/>
                </a:solidFill>
                <a:latin typeface="+mj-lt"/>
                <a:cs typeface="Microsoft Sans Serif"/>
              </a:rPr>
              <a:t>in</a:t>
            </a:r>
            <a:r>
              <a:rPr lang="en-US" sz="2400" kern="0" spc="-1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hierarchical</a:t>
            </a:r>
            <a:r>
              <a:rPr lang="en-US" sz="2400" kern="0" spc="-10" dirty="0">
                <a:solidFill>
                  <a:sysClr val="windowText" lastClr="000000"/>
                </a:solidFill>
                <a:latin typeface="+mj-lt"/>
                <a:cs typeface="Microsoft Sans Serif"/>
              </a:rPr>
              <a:t> </a:t>
            </a:r>
            <a:r>
              <a:rPr lang="en-US" sz="2400" kern="0" spc="70" dirty="0">
                <a:solidFill>
                  <a:sysClr val="windowText" lastClr="000000"/>
                </a:solidFill>
                <a:latin typeface="+mj-lt"/>
                <a:cs typeface="Microsoft Sans Serif"/>
              </a:rPr>
              <a:t>structure</a:t>
            </a:r>
            <a:r>
              <a:rPr lang="en-US" sz="2400" kern="0" spc="-5"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where</a:t>
            </a:r>
            <a:r>
              <a:rPr lang="en-US" sz="2400" kern="0" spc="-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node</a:t>
            </a:r>
            <a:r>
              <a:rPr lang="en-US" sz="2400" kern="0" spc="-5"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represent </a:t>
            </a:r>
            <a:r>
              <a:rPr lang="en-US" sz="2400" kern="0" dirty="0">
                <a:solidFill>
                  <a:sysClr val="windowText" lastClr="000000"/>
                </a:solidFill>
                <a:latin typeface="+mj-lt"/>
                <a:cs typeface="Microsoft Sans Serif"/>
              </a:rPr>
              <a:t>sets</a:t>
            </a:r>
            <a:r>
              <a:rPr lang="en-US" sz="2400" kern="0" spc="3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and</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inheritance</a:t>
            </a:r>
            <a:r>
              <a:rPr lang="en-US" sz="2400" kern="0" spc="35"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propagate</a:t>
            </a:r>
            <a:r>
              <a:rPr lang="en-US" sz="2400" kern="0" spc="35"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set</a:t>
            </a:r>
            <a:r>
              <a:rPr lang="en-US" sz="2400" kern="0" spc="2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level</a:t>
            </a:r>
            <a:r>
              <a:rPr lang="en-US" sz="2400" kern="0" spc="3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assertion </a:t>
            </a:r>
            <a:r>
              <a:rPr lang="en-US" sz="2400" kern="0" spc="80" dirty="0">
                <a:solidFill>
                  <a:sysClr val="windowText" lastClr="000000"/>
                </a:solidFill>
                <a:latin typeface="+mj-lt"/>
                <a:cs typeface="Microsoft Sans Serif"/>
              </a:rPr>
              <a:t>down</a:t>
            </a:r>
            <a:r>
              <a:rPr lang="en-US" sz="2400" kern="0" spc="-95" dirty="0">
                <a:solidFill>
                  <a:sysClr val="windowText" lastClr="000000"/>
                </a:solidFill>
                <a:latin typeface="+mj-lt"/>
                <a:cs typeface="Microsoft Sans Serif"/>
              </a:rPr>
              <a:t> </a:t>
            </a:r>
            <a:r>
              <a:rPr lang="en-US" sz="2400" kern="0" spc="190" dirty="0">
                <a:solidFill>
                  <a:sysClr val="windowText" lastClr="000000"/>
                </a:solidFill>
                <a:latin typeface="+mj-lt"/>
                <a:cs typeface="Microsoft Sans Serif"/>
              </a:rPr>
              <a:t>to</a:t>
            </a:r>
            <a:r>
              <a:rPr lang="en-US" sz="2400" kern="0" spc="-9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individual.</a:t>
            </a: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16026169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2127505"/>
          </a:xfrm>
          <a:prstGeom prst="rect">
            <a:avLst/>
          </a:prstGeom>
        </p:spPr>
        <p:txBody>
          <a:bodyPr vert="horz" wrap="square" lIns="0" tIns="11430" rIns="0" bIns="0" rtlCol="0">
            <a:spAutoFit/>
          </a:bodyPr>
          <a:lstStyle/>
          <a:p>
            <a:pPr marL="469900" lvl="0" indent="-457200">
              <a:spcBef>
                <a:spcPts val="790"/>
              </a:spcBef>
              <a:buFont typeface="Wingdings" panose="05000000000000000000" pitchFamily="2" charset="2"/>
              <a:buChar char="Ø"/>
              <a:tabLst>
                <a:tab pos="355600" algn="l"/>
              </a:tabLst>
            </a:pPr>
            <a:r>
              <a:rPr lang="en-US" sz="2400" kern="0" dirty="0">
                <a:solidFill>
                  <a:sysClr val="windowText" lastClr="000000"/>
                </a:solidFill>
                <a:latin typeface="+mj-lt"/>
                <a:cs typeface="Microsoft Sans Serif"/>
              </a:rPr>
              <a:t>Finding</a:t>
            </a:r>
            <a:r>
              <a:rPr lang="en-US" sz="2400" kern="0" spc="5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Right</a:t>
            </a:r>
            <a:r>
              <a:rPr lang="en-US" sz="2400" kern="0" spc="6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structure:</a:t>
            </a:r>
            <a:endParaRPr lang="en-US" sz="2400" kern="0" dirty="0">
              <a:solidFill>
                <a:sysClr val="windowText" lastClr="000000"/>
              </a:solidFill>
              <a:latin typeface="+mj-lt"/>
              <a:cs typeface="Microsoft Sans Serif"/>
            </a:endParaRPr>
          </a:p>
          <a:p>
            <a:pPr marL="926465" marR="5080" lvl="1" indent="-457200">
              <a:lnSpc>
                <a:spcPct val="99800"/>
              </a:lnSpc>
              <a:spcBef>
                <a:spcPts val="695"/>
              </a:spcBef>
              <a:buFont typeface="Arial" panose="020B0604020202020204" pitchFamily="34" charset="0"/>
              <a:buChar char="•"/>
              <a:tabLst>
                <a:tab pos="755650" algn="l"/>
              </a:tabLst>
            </a:pPr>
            <a:r>
              <a:rPr lang="en-US" sz="2400" kern="0" spc="-45" dirty="0">
                <a:solidFill>
                  <a:sysClr val="windowText" lastClr="000000"/>
                </a:solidFill>
                <a:latin typeface="+mj-lt"/>
                <a:cs typeface="Microsoft Sans Serif"/>
              </a:rPr>
              <a:t>Given</a:t>
            </a:r>
            <a:r>
              <a:rPr lang="en-US" sz="2400" kern="0" spc="-70"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a</a:t>
            </a:r>
            <a:r>
              <a:rPr lang="en-US" sz="2400" kern="0" spc="-7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large</a:t>
            </a:r>
            <a:r>
              <a:rPr lang="en-US" sz="2400" kern="0" spc="-80" dirty="0">
                <a:solidFill>
                  <a:sysClr val="windowText" lastClr="000000"/>
                </a:solidFill>
                <a:latin typeface="+mj-lt"/>
                <a:cs typeface="Microsoft Sans Serif"/>
              </a:rPr>
              <a:t> </a:t>
            </a:r>
            <a:r>
              <a:rPr lang="en-US" sz="2400" kern="0" spc="75" dirty="0">
                <a:solidFill>
                  <a:sysClr val="windowText" lastClr="000000"/>
                </a:solidFill>
                <a:latin typeface="+mj-lt"/>
                <a:cs typeface="Microsoft Sans Serif"/>
              </a:rPr>
              <a:t>amount</a:t>
            </a:r>
            <a:r>
              <a:rPr lang="en-US" sz="2400" kern="0" spc="-70" dirty="0">
                <a:solidFill>
                  <a:sysClr val="windowText" lastClr="000000"/>
                </a:solidFill>
                <a:latin typeface="+mj-lt"/>
                <a:cs typeface="Microsoft Sans Serif"/>
              </a:rPr>
              <a:t> </a:t>
            </a:r>
            <a:r>
              <a:rPr lang="en-US" sz="2400" kern="0" spc="185" dirty="0">
                <a:solidFill>
                  <a:sysClr val="windowText" lastClr="000000"/>
                </a:solidFill>
                <a:latin typeface="+mj-lt"/>
                <a:cs typeface="Microsoft Sans Serif"/>
              </a:rPr>
              <a:t>of</a:t>
            </a:r>
            <a:r>
              <a:rPr lang="en-US" sz="2400" kern="0" spc="-7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knowledge</a:t>
            </a:r>
            <a:r>
              <a:rPr lang="en-US" sz="2400" kern="0" spc="-70" dirty="0">
                <a:solidFill>
                  <a:sysClr val="windowText" lastClr="000000"/>
                </a:solidFill>
                <a:latin typeface="+mj-lt"/>
                <a:cs typeface="Microsoft Sans Serif"/>
              </a:rPr>
              <a:t> </a:t>
            </a:r>
            <a:r>
              <a:rPr lang="en-US" sz="2400" kern="0" spc="75" dirty="0">
                <a:solidFill>
                  <a:sysClr val="windowText" lastClr="000000"/>
                </a:solidFill>
                <a:latin typeface="+mj-lt"/>
                <a:cs typeface="Microsoft Sans Serif"/>
              </a:rPr>
              <a:t>stored</a:t>
            </a:r>
            <a:r>
              <a:rPr lang="en-US" sz="2400" kern="0" spc="-75" dirty="0">
                <a:solidFill>
                  <a:sysClr val="windowText" lastClr="000000"/>
                </a:solidFill>
                <a:latin typeface="+mj-lt"/>
                <a:cs typeface="Microsoft Sans Serif"/>
              </a:rPr>
              <a:t> </a:t>
            </a:r>
            <a:r>
              <a:rPr lang="en-US" sz="2400" kern="0" spc="30" dirty="0">
                <a:solidFill>
                  <a:sysClr val="windowText" lastClr="000000"/>
                </a:solidFill>
                <a:latin typeface="+mj-lt"/>
                <a:cs typeface="Microsoft Sans Serif"/>
              </a:rPr>
              <a:t>in </a:t>
            </a:r>
            <a:r>
              <a:rPr lang="en-US" sz="2400" kern="0" spc="-110" dirty="0">
                <a:solidFill>
                  <a:sysClr val="windowText" lastClr="000000"/>
                </a:solidFill>
                <a:latin typeface="+mj-lt"/>
                <a:cs typeface="Microsoft Sans Serif"/>
              </a:rPr>
              <a:t>a</a:t>
            </a:r>
            <a:r>
              <a:rPr lang="en-US" sz="2400" kern="0" spc="-10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database,</a:t>
            </a:r>
            <a:r>
              <a:rPr lang="en-US" sz="2400" kern="0" spc="-114" dirty="0">
                <a:solidFill>
                  <a:sysClr val="windowText" lastClr="000000"/>
                </a:solidFill>
                <a:latin typeface="+mj-lt"/>
                <a:cs typeface="Microsoft Sans Serif"/>
              </a:rPr>
              <a:t> </a:t>
            </a:r>
            <a:r>
              <a:rPr lang="en-US" sz="2400" kern="0" spc="75" dirty="0">
                <a:solidFill>
                  <a:sysClr val="windowText" lastClr="000000"/>
                </a:solidFill>
                <a:latin typeface="+mj-lt"/>
                <a:cs typeface="Microsoft Sans Serif"/>
              </a:rPr>
              <a:t>how</a:t>
            </a:r>
            <a:r>
              <a:rPr lang="en-US" sz="2400" kern="0" spc="-10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can</a:t>
            </a:r>
            <a:r>
              <a:rPr lang="en-US" sz="2400" kern="0" spc="-10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relevant</a:t>
            </a:r>
            <a:r>
              <a:rPr lang="en-US" sz="2400" kern="0" spc="-10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parts</a:t>
            </a:r>
            <a:r>
              <a:rPr lang="en-US" sz="2400" kern="0" spc="-100" dirty="0">
                <a:solidFill>
                  <a:sysClr val="windowText" lastClr="000000"/>
                </a:solidFill>
                <a:latin typeface="+mj-lt"/>
                <a:cs typeface="Microsoft Sans Serif"/>
              </a:rPr>
              <a:t> </a:t>
            </a:r>
            <a:r>
              <a:rPr lang="en-US" sz="2400" kern="0" spc="-25" dirty="0">
                <a:solidFill>
                  <a:sysClr val="windowText" lastClr="000000"/>
                </a:solidFill>
                <a:latin typeface="+mj-lt"/>
                <a:cs typeface="Microsoft Sans Serif"/>
              </a:rPr>
              <a:t>are </a:t>
            </a:r>
            <a:r>
              <a:rPr lang="en-US" sz="2400" kern="0" spc="-80" dirty="0">
                <a:solidFill>
                  <a:sysClr val="windowText" lastClr="000000"/>
                </a:solidFill>
                <a:latin typeface="+mj-lt"/>
                <a:cs typeface="Microsoft Sans Serif"/>
              </a:rPr>
              <a:t>accessed</a:t>
            </a:r>
            <a:r>
              <a:rPr lang="en-US" sz="2400" kern="0" spc="-4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when</a:t>
            </a:r>
            <a:r>
              <a:rPr lang="en-US" sz="2400" kern="0" spc="-30" dirty="0">
                <a:solidFill>
                  <a:sysClr val="windowText" lastClr="000000"/>
                </a:solidFill>
                <a:latin typeface="+mj-lt"/>
                <a:cs typeface="Microsoft Sans Serif"/>
              </a:rPr>
              <a:t> </a:t>
            </a:r>
            <a:r>
              <a:rPr lang="en-US" sz="2400" kern="0" spc="85" dirty="0">
                <a:solidFill>
                  <a:sysClr val="windowText" lastClr="000000"/>
                </a:solidFill>
                <a:latin typeface="+mj-lt"/>
                <a:cs typeface="Microsoft Sans Serif"/>
              </a:rPr>
              <a:t>they</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are</a:t>
            </a:r>
            <a:r>
              <a:rPr lang="en-US" sz="2400" kern="0" spc="-5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needed?</a:t>
            </a:r>
            <a:endParaRPr lang="en-US" sz="2400" kern="0" dirty="0">
              <a:solidFill>
                <a:sysClr val="windowText" lastClr="000000"/>
              </a:solidFill>
              <a:latin typeface="+mj-lt"/>
              <a:cs typeface="Microsoft Sans Serif"/>
            </a:endParaRPr>
          </a:p>
          <a:p>
            <a:pPr marL="926465" marR="668655" lvl="1" indent="-457200">
              <a:spcBef>
                <a:spcPts val="690"/>
              </a:spcBef>
              <a:buFont typeface="Arial" panose="020B0604020202020204" pitchFamily="34" charset="0"/>
              <a:buChar char="•"/>
              <a:tabLst>
                <a:tab pos="755650" algn="l"/>
              </a:tabLst>
            </a:pPr>
            <a:r>
              <a:rPr lang="en-US" sz="2400" kern="0" spc="-50" dirty="0">
                <a:solidFill>
                  <a:sysClr val="windowText" lastClr="000000"/>
                </a:solidFill>
                <a:latin typeface="+mj-lt"/>
                <a:cs typeface="Microsoft Sans Serif"/>
              </a:rPr>
              <a:t>This</a:t>
            </a:r>
            <a:r>
              <a:rPr lang="en-US" sz="2400" kern="0" spc="-114"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is</a:t>
            </a:r>
            <a:r>
              <a:rPr lang="en-US" sz="2400" kern="0" spc="-100"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about</a:t>
            </a:r>
            <a:r>
              <a:rPr lang="en-US" sz="2400" kern="0" spc="-110"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access</a:t>
            </a:r>
            <a:r>
              <a:rPr lang="en-US" sz="2400" kern="0" spc="-110" dirty="0">
                <a:solidFill>
                  <a:sysClr val="windowText" lastClr="000000"/>
                </a:solidFill>
                <a:latin typeface="+mj-lt"/>
                <a:cs typeface="Microsoft Sans Serif"/>
              </a:rPr>
              <a:t> </a:t>
            </a:r>
            <a:r>
              <a:rPr lang="en-US" sz="2400" kern="0" spc="210" dirty="0">
                <a:solidFill>
                  <a:sysClr val="windowText" lastClr="000000"/>
                </a:solidFill>
                <a:latin typeface="+mj-lt"/>
                <a:cs typeface="Microsoft Sans Serif"/>
              </a:rPr>
              <a:t>to</a:t>
            </a:r>
            <a:r>
              <a:rPr lang="en-US" sz="2400" kern="0" spc="-110" dirty="0">
                <a:solidFill>
                  <a:sysClr val="windowText" lastClr="000000"/>
                </a:solidFill>
                <a:latin typeface="+mj-lt"/>
                <a:cs typeface="Microsoft Sans Serif"/>
              </a:rPr>
              <a:t> </a:t>
            </a:r>
            <a:r>
              <a:rPr lang="en-US" sz="2400" kern="0" spc="120" dirty="0">
                <a:solidFill>
                  <a:sysClr val="windowText" lastClr="000000"/>
                </a:solidFill>
                <a:latin typeface="+mj-lt"/>
                <a:cs typeface="Microsoft Sans Serif"/>
              </a:rPr>
              <a:t>right</a:t>
            </a:r>
            <a:r>
              <a:rPr lang="en-US" sz="2400" kern="0" spc="-95" dirty="0">
                <a:solidFill>
                  <a:sysClr val="windowText" lastClr="000000"/>
                </a:solidFill>
                <a:latin typeface="+mj-lt"/>
                <a:cs typeface="Microsoft Sans Serif"/>
              </a:rPr>
              <a:t> </a:t>
            </a:r>
            <a:r>
              <a:rPr lang="en-US" sz="2400" kern="0" spc="85" dirty="0">
                <a:solidFill>
                  <a:sysClr val="windowText" lastClr="000000"/>
                </a:solidFill>
                <a:latin typeface="+mj-lt"/>
                <a:cs typeface="Microsoft Sans Serif"/>
              </a:rPr>
              <a:t>structure</a:t>
            </a:r>
            <a:r>
              <a:rPr lang="en-US" sz="2400" kern="0" spc="-110" dirty="0">
                <a:solidFill>
                  <a:sysClr val="windowText" lastClr="000000"/>
                </a:solidFill>
                <a:latin typeface="+mj-lt"/>
                <a:cs typeface="Microsoft Sans Serif"/>
              </a:rPr>
              <a:t> </a:t>
            </a:r>
            <a:r>
              <a:rPr lang="en-US" sz="2400" kern="0" spc="140" dirty="0">
                <a:solidFill>
                  <a:sysClr val="windowText" lastClr="000000"/>
                </a:solidFill>
                <a:latin typeface="+mj-lt"/>
                <a:cs typeface="Microsoft Sans Serif"/>
              </a:rPr>
              <a:t>for </a:t>
            </a:r>
            <a:r>
              <a:rPr lang="en-US" sz="2400" kern="0" dirty="0">
                <a:solidFill>
                  <a:sysClr val="windowText" lastClr="000000"/>
                </a:solidFill>
                <a:latin typeface="+mj-lt"/>
                <a:cs typeface="Microsoft Sans Serif"/>
              </a:rPr>
              <a:t>describing</a:t>
            </a:r>
            <a:r>
              <a:rPr lang="en-US" sz="2400" kern="0" spc="-30"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a</a:t>
            </a:r>
            <a:r>
              <a:rPr lang="en-US" sz="2400" kern="0" spc="-2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particular</a:t>
            </a:r>
            <a:r>
              <a:rPr lang="en-US" sz="2400" kern="0" spc="-20"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situation.</a:t>
            </a:r>
            <a:endParaRPr lang="en-US" sz="2400" kern="0" dirty="0">
              <a:solidFill>
                <a:sysClr val="windowText" lastClr="000000"/>
              </a:solidFill>
              <a:latin typeface="+mj-lt"/>
              <a:cs typeface="Microsoft Sans Serif"/>
            </a:endParaRPr>
          </a:p>
          <a:p>
            <a:pPr marL="926465" marR="508000" lvl="1" indent="-457200">
              <a:spcBef>
                <a:spcPts val="680"/>
              </a:spcBef>
              <a:buFont typeface="Arial" panose="020B0604020202020204" pitchFamily="34" charset="0"/>
              <a:buChar char="•"/>
              <a:tabLst>
                <a:tab pos="755650" algn="l"/>
              </a:tabLst>
            </a:pPr>
            <a:r>
              <a:rPr lang="en-US" sz="2400" kern="0" spc="-50" dirty="0">
                <a:solidFill>
                  <a:sysClr val="windowText" lastClr="000000"/>
                </a:solidFill>
                <a:latin typeface="+mj-lt"/>
                <a:cs typeface="Microsoft Sans Serif"/>
              </a:rPr>
              <a:t>This</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requires,</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selecting</a:t>
            </a:r>
            <a:r>
              <a:rPr lang="en-US" sz="2400" kern="0" spc="-2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an</a:t>
            </a:r>
            <a:r>
              <a:rPr lang="en-US" sz="2400" kern="0" spc="-20"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initial</a:t>
            </a:r>
            <a:r>
              <a:rPr lang="en-US" sz="2400" kern="0" spc="-10" dirty="0">
                <a:solidFill>
                  <a:sysClr val="windowText" lastClr="000000"/>
                </a:solidFill>
                <a:latin typeface="+mj-lt"/>
                <a:cs typeface="Microsoft Sans Serif"/>
              </a:rPr>
              <a:t> </a:t>
            </a:r>
            <a:r>
              <a:rPr lang="en-US" sz="2400" kern="0" spc="70" dirty="0">
                <a:solidFill>
                  <a:sysClr val="windowText" lastClr="000000"/>
                </a:solidFill>
                <a:latin typeface="+mj-lt"/>
                <a:cs typeface="Microsoft Sans Serif"/>
              </a:rPr>
              <a:t>structure </a:t>
            </a:r>
            <a:r>
              <a:rPr lang="en-US" sz="2400" kern="0" dirty="0">
                <a:solidFill>
                  <a:sysClr val="windowText" lastClr="000000"/>
                </a:solidFill>
                <a:latin typeface="+mj-lt"/>
                <a:cs typeface="Microsoft Sans Serif"/>
              </a:rPr>
              <a:t>and</a:t>
            </a:r>
            <a:r>
              <a:rPr lang="en-US" sz="2400" kern="0" spc="-65" dirty="0">
                <a:solidFill>
                  <a:sysClr val="windowText" lastClr="000000"/>
                </a:solidFill>
                <a:latin typeface="+mj-lt"/>
                <a:cs typeface="Microsoft Sans Serif"/>
              </a:rPr>
              <a:t> </a:t>
            </a:r>
            <a:r>
              <a:rPr lang="en-US" sz="2400" kern="0" spc="100" dirty="0">
                <a:solidFill>
                  <a:sysClr val="windowText" lastClr="000000"/>
                </a:solidFill>
                <a:latin typeface="+mj-lt"/>
                <a:cs typeface="Microsoft Sans Serif"/>
              </a:rPr>
              <a:t>then</a:t>
            </a:r>
            <a:r>
              <a:rPr lang="en-US" sz="2400" kern="0" spc="-6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revising</a:t>
            </a:r>
            <a:r>
              <a:rPr lang="en-US" sz="2400" kern="0" spc="-50" dirty="0">
                <a:solidFill>
                  <a:sysClr val="windowText" lastClr="000000"/>
                </a:solidFill>
                <a:latin typeface="+mj-lt"/>
                <a:cs typeface="Microsoft Sans Serif"/>
              </a:rPr>
              <a:t> </a:t>
            </a:r>
            <a:r>
              <a:rPr lang="en-US" sz="2400" kern="0" spc="120" dirty="0">
                <a:solidFill>
                  <a:sysClr val="windowText" lastClr="000000"/>
                </a:solidFill>
                <a:latin typeface="+mj-lt"/>
                <a:cs typeface="Microsoft Sans Serif"/>
              </a:rPr>
              <a:t>the</a:t>
            </a:r>
            <a:r>
              <a:rPr lang="en-US" sz="2400" kern="0" spc="-5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choice.</a:t>
            </a: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3232860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Issues in Knowledge Representation</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016723"/>
          </a:xfrm>
          <a:prstGeom prst="rect">
            <a:avLst/>
          </a:prstGeom>
        </p:spPr>
        <p:txBody>
          <a:bodyPr vert="horz" wrap="square" lIns="0" tIns="11430" rIns="0" bIns="0" rtlCol="0">
            <a:spAutoFit/>
          </a:bodyPr>
          <a:lstStyle/>
          <a:p>
            <a:pPr marL="354965" marR="567690" lvl="0" indent="-342900">
              <a:lnSpc>
                <a:spcPct val="101400"/>
              </a:lnSpc>
              <a:spcBef>
                <a:spcPts val="85"/>
              </a:spcBef>
              <a:buFont typeface="Wingdings" panose="05000000000000000000" pitchFamily="2" charset="2"/>
              <a:buChar char="Ø"/>
              <a:tabLst>
                <a:tab pos="310515" algn="l"/>
              </a:tabLst>
            </a:pPr>
            <a:r>
              <a:rPr lang="en-US" sz="2400" kern="0" dirty="0">
                <a:solidFill>
                  <a:sysClr val="windowText" lastClr="000000"/>
                </a:solidFill>
                <a:latin typeface="+mj-lt"/>
                <a:cs typeface="Microsoft Sans Serif"/>
              </a:rPr>
              <a:t>While</a:t>
            </a:r>
            <a:r>
              <a:rPr lang="en-US" sz="2400" kern="0" spc="-60"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doing</a:t>
            </a:r>
            <a:r>
              <a:rPr lang="en-US" sz="2400" kern="0" spc="-65"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so,</a:t>
            </a:r>
            <a:r>
              <a:rPr lang="en-US" sz="2400" kern="0" spc="-55" dirty="0">
                <a:solidFill>
                  <a:sysClr val="windowText" lastClr="000000"/>
                </a:solidFill>
                <a:latin typeface="+mj-lt"/>
                <a:cs typeface="Microsoft Sans Serif"/>
              </a:rPr>
              <a:t> </a:t>
            </a:r>
            <a:r>
              <a:rPr lang="en-US" sz="2400" kern="0" spc="180" dirty="0">
                <a:solidFill>
                  <a:sysClr val="windowText" lastClr="000000"/>
                </a:solidFill>
                <a:latin typeface="+mj-lt"/>
                <a:cs typeface="Microsoft Sans Serif"/>
              </a:rPr>
              <a:t>it</a:t>
            </a:r>
            <a:r>
              <a:rPr lang="en-US" sz="2400" kern="0" spc="-7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is</a:t>
            </a:r>
            <a:r>
              <a:rPr lang="en-US" sz="2400" kern="0" spc="-75" dirty="0">
                <a:solidFill>
                  <a:sysClr val="windowText" lastClr="000000"/>
                </a:solidFill>
                <a:latin typeface="+mj-lt"/>
                <a:cs typeface="Microsoft Sans Serif"/>
              </a:rPr>
              <a:t> </a:t>
            </a:r>
            <a:r>
              <a:rPr lang="en-US" sz="2400" kern="0" spc="-20" dirty="0">
                <a:solidFill>
                  <a:sysClr val="windowText" lastClr="000000"/>
                </a:solidFill>
                <a:latin typeface="+mj-lt"/>
                <a:cs typeface="Microsoft Sans Serif"/>
              </a:rPr>
              <a:t>necessary</a:t>
            </a:r>
            <a:r>
              <a:rPr lang="en-US" sz="2400" kern="0" spc="-75"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6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solve</a:t>
            </a:r>
            <a:r>
              <a:rPr lang="en-US" sz="2400" kern="0" spc="-6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following </a:t>
            </a:r>
            <a:r>
              <a:rPr lang="en-US" sz="2400" kern="0" spc="-10" dirty="0">
                <a:solidFill>
                  <a:sysClr val="windowText" lastClr="000000"/>
                </a:solidFill>
                <a:latin typeface="+mj-lt"/>
                <a:cs typeface="Microsoft Sans Serif"/>
              </a:rPr>
              <a:t>problems:</a:t>
            </a:r>
            <a:endParaRPr lang="en-US" sz="2400" kern="0" dirty="0">
              <a:solidFill>
                <a:sysClr val="windowText" lastClr="000000"/>
              </a:solidFill>
              <a:latin typeface="+mj-lt"/>
              <a:cs typeface="Microsoft Sans Serif"/>
            </a:endParaRPr>
          </a:p>
          <a:p>
            <a:pPr marL="752475" marR="386080" lvl="1" indent="-342900">
              <a:lnSpc>
                <a:spcPct val="101099"/>
              </a:lnSpc>
              <a:spcBef>
                <a:spcPts val="610"/>
              </a:spcBef>
              <a:buFont typeface="Arial" panose="020B0604020202020204" pitchFamily="34" charset="0"/>
              <a:buChar char="•"/>
              <a:tabLst>
                <a:tab pos="659130" algn="l"/>
              </a:tabLst>
            </a:pPr>
            <a:r>
              <a:rPr lang="en-US" sz="2400" kern="0" spc="55" dirty="0">
                <a:solidFill>
                  <a:sysClr val="windowText" lastClr="000000"/>
                </a:solidFill>
                <a:latin typeface="+mj-lt"/>
                <a:cs typeface="Microsoft Sans Serif"/>
              </a:rPr>
              <a:t>How</a:t>
            </a:r>
            <a:r>
              <a:rPr lang="en-US" sz="2400" kern="0" spc="-75"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80" dirty="0">
                <a:solidFill>
                  <a:sysClr val="windowText" lastClr="000000"/>
                </a:solidFill>
                <a:latin typeface="+mj-lt"/>
                <a:cs typeface="Microsoft Sans Serif"/>
              </a:rPr>
              <a:t> </a:t>
            </a:r>
            <a:r>
              <a:rPr lang="en-US" sz="2400" kern="0" spc="110" dirty="0">
                <a:solidFill>
                  <a:sysClr val="windowText" lastClr="000000"/>
                </a:solidFill>
                <a:latin typeface="+mj-lt"/>
                <a:cs typeface="Microsoft Sans Serif"/>
              </a:rPr>
              <a:t>perform</a:t>
            </a:r>
            <a:r>
              <a:rPr lang="en-US" sz="2400" kern="0" spc="-8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an</a:t>
            </a:r>
            <a:r>
              <a:rPr lang="en-US" sz="2400" kern="0" spc="-65" dirty="0">
                <a:solidFill>
                  <a:sysClr val="windowText" lastClr="000000"/>
                </a:solidFill>
                <a:latin typeface="+mj-lt"/>
                <a:cs typeface="Microsoft Sans Serif"/>
              </a:rPr>
              <a:t> </a:t>
            </a:r>
            <a:r>
              <a:rPr lang="en-US" sz="2400" kern="0" spc="75" dirty="0">
                <a:solidFill>
                  <a:sysClr val="windowText" lastClr="000000"/>
                </a:solidFill>
                <a:latin typeface="+mj-lt"/>
                <a:cs typeface="Microsoft Sans Serif"/>
              </a:rPr>
              <a:t>initial</a:t>
            </a:r>
            <a:r>
              <a:rPr lang="en-US" sz="2400" kern="0" spc="-80"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selection</a:t>
            </a:r>
            <a:r>
              <a:rPr lang="en-US" sz="2400" kern="0" spc="-75" dirty="0">
                <a:solidFill>
                  <a:sysClr val="windowText" lastClr="000000"/>
                </a:solidFill>
                <a:latin typeface="+mj-lt"/>
                <a:cs typeface="Microsoft Sans Serif"/>
              </a:rPr>
              <a:t> </a:t>
            </a:r>
            <a:r>
              <a:rPr lang="en-US" sz="2400" kern="0" spc="180" dirty="0">
                <a:solidFill>
                  <a:sysClr val="windowText" lastClr="000000"/>
                </a:solidFill>
                <a:latin typeface="+mj-lt"/>
                <a:cs typeface="Microsoft Sans Serif"/>
              </a:rPr>
              <a:t>of</a:t>
            </a:r>
            <a:r>
              <a:rPr lang="en-US" sz="2400" kern="0" spc="-70"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75"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most 	appropriate</a:t>
            </a:r>
            <a:r>
              <a:rPr lang="en-US" sz="2400" kern="0" spc="-6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structure.</a:t>
            </a:r>
            <a:endParaRPr lang="en-US" sz="2400" kern="0" dirty="0">
              <a:solidFill>
                <a:sysClr val="windowText" lastClr="000000"/>
              </a:solidFill>
              <a:latin typeface="+mj-lt"/>
              <a:cs typeface="Microsoft Sans Serif"/>
            </a:endParaRPr>
          </a:p>
          <a:p>
            <a:pPr marL="752475" marR="5080" lvl="1" indent="-342900">
              <a:lnSpc>
                <a:spcPct val="101499"/>
              </a:lnSpc>
              <a:spcBef>
                <a:spcPts val="595"/>
              </a:spcBef>
              <a:buFont typeface="Arial" panose="020B0604020202020204" pitchFamily="34" charset="0"/>
              <a:buChar char="•"/>
              <a:tabLst>
                <a:tab pos="659130" algn="l"/>
              </a:tabLst>
            </a:pPr>
            <a:r>
              <a:rPr lang="en-US" sz="2400" kern="0" spc="55" dirty="0">
                <a:solidFill>
                  <a:sysClr val="windowText" lastClr="000000"/>
                </a:solidFill>
                <a:latin typeface="+mj-lt"/>
                <a:cs typeface="Microsoft Sans Serif"/>
              </a:rPr>
              <a:t>How</a:t>
            </a:r>
            <a:r>
              <a:rPr lang="en-US" sz="2400" kern="0" spc="-65"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70" dirty="0">
                <a:solidFill>
                  <a:sysClr val="windowText" lastClr="000000"/>
                </a:solidFill>
                <a:latin typeface="+mj-lt"/>
                <a:cs typeface="Microsoft Sans Serif"/>
              </a:rPr>
              <a:t> </a:t>
            </a:r>
            <a:r>
              <a:rPr lang="en-US" sz="2400" kern="0" spc="135" dirty="0">
                <a:solidFill>
                  <a:sysClr val="windowText" lastClr="000000"/>
                </a:solidFill>
                <a:latin typeface="+mj-lt"/>
                <a:cs typeface="Microsoft Sans Serif"/>
              </a:rPr>
              <a:t>fill</a:t>
            </a:r>
            <a:r>
              <a:rPr lang="en-US" sz="2400" kern="0" spc="-70" dirty="0">
                <a:solidFill>
                  <a:sysClr val="windowText" lastClr="000000"/>
                </a:solidFill>
                <a:latin typeface="+mj-lt"/>
                <a:cs typeface="Microsoft Sans Serif"/>
              </a:rPr>
              <a:t> </a:t>
            </a:r>
            <a:r>
              <a:rPr lang="en-US" sz="2400" kern="0" spc="55" dirty="0">
                <a:solidFill>
                  <a:sysClr val="windowText" lastClr="000000"/>
                </a:solidFill>
                <a:latin typeface="+mj-lt"/>
                <a:cs typeface="Microsoft Sans Serif"/>
              </a:rPr>
              <a:t>in</a:t>
            </a:r>
            <a:r>
              <a:rPr lang="en-US" sz="2400" kern="0" spc="-70"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appropriate</a:t>
            </a:r>
            <a:r>
              <a:rPr lang="en-US" sz="2400" kern="0" spc="-65"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details</a:t>
            </a:r>
            <a:r>
              <a:rPr lang="en-US" sz="2400" kern="0" spc="-70" dirty="0">
                <a:solidFill>
                  <a:sysClr val="windowText" lastClr="000000"/>
                </a:solidFill>
                <a:latin typeface="+mj-lt"/>
                <a:cs typeface="Microsoft Sans Serif"/>
              </a:rPr>
              <a:t> </a:t>
            </a:r>
            <a:r>
              <a:rPr lang="en-US" sz="2400" kern="0" spc="140" dirty="0">
                <a:solidFill>
                  <a:sysClr val="windowText" lastClr="000000"/>
                </a:solidFill>
                <a:latin typeface="+mj-lt"/>
                <a:cs typeface="Microsoft Sans Serif"/>
              </a:rPr>
              <a:t>from</a:t>
            </a:r>
            <a:r>
              <a:rPr lang="en-US" sz="2400" kern="0" spc="-70"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55" dirty="0">
                <a:solidFill>
                  <a:sysClr val="windowText" lastClr="000000"/>
                </a:solidFill>
                <a:latin typeface="+mj-lt"/>
                <a:cs typeface="Microsoft Sans Serif"/>
              </a:rPr>
              <a:t> </a:t>
            </a:r>
            <a:r>
              <a:rPr lang="en-US" sz="2400" kern="0" spc="75" dirty="0">
                <a:solidFill>
                  <a:sysClr val="windowText" lastClr="000000"/>
                </a:solidFill>
                <a:latin typeface="+mj-lt"/>
                <a:cs typeface="Microsoft Sans Serif"/>
              </a:rPr>
              <a:t>current </a:t>
            </a:r>
            <a:r>
              <a:rPr lang="en-US" sz="2400" kern="0" spc="35" dirty="0">
                <a:solidFill>
                  <a:sysClr val="windowText" lastClr="000000"/>
                </a:solidFill>
                <a:latin typeface="+mj-lt"/>
                <a:cs typeface="Microsoft Sans Serif"/>
              </a:rPr>
              <a:t>situations.</a:t>
            </a:r>
            <a:endParaRPr lang="en-US" sz="2400" kern="0" dirty="0">
              <a:solidFill>
                <a:sysClr val="windowText" lastClr="000000"/>
              </a:solidFill>
              <a:latin typeface="+mj-lt"/>
              <a:cs typeface="Microsoft Sans Serif"/>
            </a:endParaRPr>
          </a:p>
          <a:p>
            <a:pPr marL="752475" marR="248285" lvl="1" indent="-342900">
              <a:lnSpc>
                <a:spcPct val="101099"/>
              </a:lnSpc>
              <a:spcBef>
                <a:spcPts val="605"/>
              </a:spcBef>
              <a:buFont typeface="Arial" panose="020B0604020202020204" pitchFamily="34" charset="0"/>
              <a:buChar char="•"/>
              <a:tabLst>
                <a:tab pos="659130" algn="l"/>
              </a:tabLst>
            </a:pPr>
            <a:r>
              <a:rPr lang="en-US" sz="2400" kern="0" spc="55" dirty="0">
                <a:solidFill>
                  <a:sysClr val="windowText" lastClr="000000"/>
                </a:solidFill>
                <a:latin typeface="+mj-lt"/>
                <a:cs typeface="Microsoft Sans Serif"/>
              </a:rPr>
              <a:t>How</a:t>
            </a:r>
            <a:r>
              <a:rPr lang="en-US" sz="2400" kern="0" spc="-75"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75"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find</a:t>
            </a:r>
            <a:r>
              <a:rPr lang="en-US" sz="2400" kern="0" spc="-7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a</a:t>
            </a:r>
            <a:r>
              <a:rPr lang="en-US" sz="2400" kern="0" spc="-70" dirty="0">
                <a:solidFill>
                  <a:sysClr val="windowText" lastClr="000000"/>
                </a:solidFill>
                <a:latin typeface="+mj-lt"/>
                <a:cs typeface="Microsoft Sans Serif"/>
              </a:rPr>
              <a:t> </a:t>
            </a:r>
            <a:r>
              <a:rPr lang="en-US" sz="2400" kern="0" spc="135" dirty="0">
                <a:solidFill>
                  <a:sysClr val="windowText" lastClr="000000"/>
                </a:solidFill>
                <a:latin typeface="+mj-lt"/>
                <a:cs typeface="Microsoft Sans Serif"/>
              </a:rPr>
              <a:t>better</a:t>
            </a:r>
            <a:r>
              <a:rPr lang="en-US" sz="2400" kern="0" spc="-70" dirty="0">
                <a:solidFill>
                  <a:sysClr val="windowText" lastClr="000000"/>
                </a:solidFill>
                <a:latin typeface="+mj-lt"/>
                <a:cs typeface="Microsoft Sans Serif"/>
              </a:rPr>
              <a:t> </a:t>
            </a:r>
            <a:r>
              <a:rPr lang="en-US" sz="2400" kern="0" spc="85" dirty="0">
                <a:solidFill>
                  <a:sysClr val="windowText" lastClr="000000"/>
                </a:solidFill>
                <a:latin typeface="+mj-lt"/>
                <a:cs typeface="Microsoft Sans Serif"/>
              </a:rPr>
              <a:t>structure</a:t>
            </a:r>
            <a:r>
              <a:rPr lang="en-US" sz="2400" kern="0" spc="-70" dirty="0">
                <a:solidFill>
                  <a:sysClr val="windowText" lastClr="000000"/>
                </a:solidFill>
                <a:latin typeface="+mj-lt"/>
                <a:cs typeface="Microsoft Sans Serif"/>
              </a:rPr>
              <a:t> </a:t>
            </a:r>
            <a:r>
              <a:rPr lang="en-US" sz="2400" kern="0" spc="160" dirty="0">
                <a:solidFill>
                  <a:sysClr val="windowText" lastClr="000000"/>
                </a:solidFill>
                <a:latin typeface="+mj-lt"/>
                <a:cs typeface="Microsoft Sans Serif"/>
              </a:rPr>
              <a:t>if</a:t>
            </a:r>
            <a:r>
              <a:rPr lang="en-US" sz="2400" kern="0" spc="-75"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70"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one</a:t>
            </a:r>
            <a:r>
              <a:rPr lang="en-US" sz="2400" kern="0" spc="-70" dirty="0">
                <a:solidFill>
                  <a:sysClr val="windowText" lastClr="000000"/>
                </a:solidFill>
                <a:latin typeface="+mj-lt"/>
                <a:cs typeface="Microsoft Sans Serif"/>
              </a:rPr>
              <a:t> </a:t>
            </a:r>
            <a:r>
              <a:rPr lang="en-US" sz="2400" kern="0" spc="-10" dirty="0">
                <a:solidFill>
                  <a:sysClr val="windowText" lastClr="000000"/>
                </a:solidFill>
                <a:latin typeface="+mj-lt"/>
                <a:cs typeface="Microsoft Sans Serif"/>
              </a:rPr>
              <a:t>chosen </a:t>
            </a:r>
            <a:r>
              <a:rPr lang="en-US" sz="2400" kern="0" spc="70" dirty="0">
                <a:solidFill>
                  <a:sysClr val="windowText" lastClr="000000"/>
                </a:solidFill>
                <a:latin typeface="+mj-lt"/>
                <a:cs typeface="Microsoft Sans Serif"/>
              </a:rPr>
              <a:t>initially</a:t>
            </a:r>
            <a:r>
              <a:rPr lang="en-US" sz="2400" kern="0" spc="-70"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turns</a:t>
            </a:r>
            <a:r>
              <a:rPr lang="en-US" sz="2400" kern="0" spc="-60" dirty="0">
                <a:solidFill>
                  <a:sysClr val="windowText" lastClr="000000"/>
                </a:solidFill>
                <a:latin typeface="+mj-lt"/>
                <a:cs typeface="Microsoft Sans Serif"/>
              </a:rPr>
              <a:t> </a:t>
            </a:r>
            <a:r>
              <a:rPr lang="en-US" sz="2400" kern="0" spc="145" dirty="0">
                <a:solidFill>
                  <a:sysClr val="windowText" lastClr="000000"/>
                </a:solidFill>
                <a:latin typeface="+mj-lt"/>
                <a:cs typeface="Microsoft Sans Serif"/>
              </a:rPr>
              <a:t>out</a:t>
            </a:r>
            <a:r>
              <a:rPr lang="en-US" sz="2400" kern="0" spc="-55" dirty="0">
                <a:solidFill>
                  <a:sysClr val="windowText" lastClr="000000"/>
                </a:solidFill>
                <a:latin typeface="+mj-lt"/>
                <a:cs typeface="Microsoft Sans Serif"/>
              </a:rPr>
              <a:t> </a:t>
            </a:r>
            <a:r>
              <a:rPr lang="en-US" sz="2400" kern="0" spc="145" dirty="0">
                <a:solidFill>
                  <a:sysClr val="windowText" lastClr="000000"/>
                </a:solidFill>
                <a:latin typeface="+mj-lt"/>
                <a:cs typeface="Microsoft Sans Serif"/>
              </a:rPr>
              <a:t>not</a:t>
            </a:r>
            <a:r>
              <a:rPr lang="en-US" sz="2400" kern="0" spc="-55"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6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be</a:t>
            </a:r>
            <a:r>
              <a:rPr lang="en-US" sz="2400" kern="0" spc="-55" dirty="0">
                <a:solidFill>
                  <a:sysClr val="windowText" lastClr="000000"/>
                </a:solidFill>
                <a:latin typeface="+mj-lt"/>
                <a:cs typeface="Microsoft Sans Serif"/>
              </a:rPr>
              <a:t> </a:t>
            </a:r>
            <a:r>
              <a:rPr lang="en-US" sz="2400" kern="0" spc="45" dirty="0">
                <a:solidFill>
                  <a:sysClr val="windowText" lastClr="000000"/>
                </a:solidFill>
                <a:latin typeface="+mj-lt"/>
                <a:cs typeface="Microsoft Sans Serif"/>
              </a:rPr>
              <a:t>appropriate.</a:t>
            </a:r>
            <a:endParaRPr lang="en-US" sz="2400" kern="0" dirty="0">
              <a:solidFill>
                <a:sysClr val="windowText" lastClr="000000"/>
              </a:solidFill>
              <a:latin typeface="+mj-lt"/>
              <a:cs typeface="Microsoft Sans Serif"/>
            </a:endParaRPr>
          </a:p>
          <a:p>
            <a:pPr marL="752475" marR="308610" lvl="1" indent="-342900">
              <a:lnSpc>
                <a:spcPct val="101000"/>
              </a:lnSpc>
              <a:spcBef>
                <a:spcPts val="615"/>
              </a:spcBef>
              <a:buFont typeface="Arial" panose="020B0604020202020204" pitchFamily="34" charset="0"/>
              <a:buChar char="•"/>
              <a:tabLst>
                <a:tab pos="659130" algn="l"/>
              </a:tabLst>
            </a:pPr>
            <a:r>
              <a:rPr lang="en-US" sz="2400" kern="0" spc="50" dirty="0">
                <a:solidFill>
                  <a:sysClr val="windowText" lastClr="000000"/>
                </a:solidFill>
                <a:latin typeface="+mj-lt"/>
                <a:cs typeface="Microsoft Sans Serif"/>
              </a:rPr>
              <a:t>What</a:t>
            </a:r>
            <a:r>
              <a:rPr lang="en-US" sz="2400" kern="0" spc="-40" dirty="0">
                <a:solidFill>
                  <a:sysClr val="windowText" lastClr="000000"/>
                </a:solidFill>
                <a:latin typeface="+mj-lt"/>
                <a:cs typeface="Microsoft Sans Serif"/>
              </a:rPr>
              <a:t> </a:t>
            </a:r>
            <a:r>
              <a:rPr lang="en-US" sz="2400" kern="0" spc="195" dirty="0">
                <a:solidFill>
                  <a:sysClr val="windowText" lastClr="000000"/>
                </a:solidFill>
                <a:latin typeface="+mj-lt"/>
                <a:cs typeface="Microsoft Sans Serif"/>
              </a:rPr>
              <a:t>to</a:t>
            </a:r>
            <a:r>
              <a:rPr lang="en-US" sz="2400" kern="0" spc="-45" dirty="0">
                <a:solidFill>
                  <a:sysClr val="windowText" lastClr="000000"/>
                </a:solidFill>
                <a:latin typeface="+mj-lt"/>
                <a:cs typeface="Microsoft Sans Serif"/>
              </a:rPr>
              <a:t> </a:t>
            </a:r>
            <a:r>
              <a:rPr lang="en-US" sz="2400" kern="0" spc="80" dirty="0">
                <a:solidFill>
                  <a:sysClr val="windowText" lastClr="000000"/>
                </a:solidFill>
                <a:latin typeface="+mj-lt"/>
                <a:cs typeface="Microsoft Sans Serif"/>
              </a:rPr>
              <a:t>do</a:t>
            </a:r>
            <a:r>
              <a:rPr lang="en-US" sz="2400" kern="0" spc="-45" dirty="0">
                <a:solidFill>
                  <a:sysClr val="windowText" lastClr="000000"/>
                </a:solidFill>
                <a:latin typeface="+mj-lt"/>
                <a:cs typeface="Microsoft Sans Serif"/>
              </a:rPr>
              <a:t> </a:t>
            </a:r>
            <a:r>
              <a:rPr lang="en-US" sz="2400" kern="0" spc="160" dirty="0">
                <a:solidFill>
                  <a:sysClr val="windowText" lastClr="000000"/>
                </a:solidFill>
                <a:latin typeface="+mj-lt"/>
                <a:cs typeface="Microsoft Sans Serif"/>
              </a:rPr>
              <a:t>if</a:t>
            </a:r>
            <a:r>
              <a:rPr lang="en-US" sz="2400" kern="0" spc="-4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none</a:t>
            </a:r>
            <a:r>
              <a:rPr lang="en-US" sz="2400" kern="0" spc="-25" dirty="0">
                <a:solidFill>
                  <a:sysClr val="windowText" lastClr="000000"/>
                </a:solidFill>
                <a:latin typeface="+mj-lt"/>
                <a:cs typeface="Microsoft Sans Serif"/>
              </a:rPr>
              <a:t> </a:t>
            </a:r>
            <a:r>
              <a:rPr lang="en-US" sz="2400" kern="0" spc="175" dirty="0">
                <a:solidFill>
                  <a:sysClr val="windowText" lastClr="000000"/>
                </a:solidFill>
                <a:latin typeface="+mj-lt"/>
                <a:cs typeface="Microsoft Sans Serif"/>
              </a:rPr>
              <a:t>of</a:t>
            </a:r>
            <a:r>
              <a:rPr lang="en-US" sz="2400" kern="0" spc="-40" dirty="0">
                <a:solidFill>
                  <a:sysClr val="windowText" lastClr="000000"/>
                </a:solidFill>
                <a:latin typeface="+mj-lt"/>
                <a:cs typeface="Microsoft Sans Serif"/>
              </a:rPr>
              <a:t> </a:t>
            </a:r>
            <a:r>
              <a:rPr lang="en-US" sz="2400" kern="0" spc="114" dirty="0">
                <a:solidFill>
                  <a:sysClr val="windowText" lastClr="000000"/>
                </a:solidFill>
                <a:latin typeface="+mj-lt"/>
                <a:cs typeface="Microsoft Sans Serif"/>
              </a:rPr>
              <a:t>the</a:t>
            </a:r>
            <a:r>
              <a:rPr lang="en-US" sz="2400" kern="0" spc="-30"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available</a:t>
            </a:r>
            <a:r>
              <a:rPr lang="en-US" sz="2400" kern="0" spc="-3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structures</a:t>
            </a:r>
            <a:r>
              <a:rPr lang="en-US" sz="2400" kern="0" spc="-35" dirty="0">
                <a:solidFill>
                  <a:sysClr val="windowText" lastClr="000000"/>
                </a:solidFill>
                <a:latin typeface="+mj-lt"/>
                <a:cs typeface="Microsoft Sans Serif"/>
              </a:rPr>
              <a:t> </a:t>
            </a:r>
            <a:r>
              <a:rPr lang="en-US" sz="2400" kern="0" spc="-25" dirty="0">
                <a:solidFill>
                  <a:sysClr val="windowText" lastClr="000000"/>
                </a:solidFill>
                <a:latin typeface="+mj-lt"/>
                <a:cs typeface="Microsoft Sans Serif"/>
              </a:rPr>
              <a:t>is </a:t>
            </a:r>
            <a:r>
              <a:rPr lang="en-US" sz="2400" kern="0" spc="40" dirty="0">
                <a:solidFill>
                  <a:sysClr val="windowText" lastClr="000000"/>
                </a:solidFill>
                <a:latin typeface="+mj-lt"/>
                <a:cs typeface="Microsoft Sans Serif"/>
              </a:rPr>
              <a:t>appropriate.</a:t>
            </a:r>
            <a:endParaRPr lang="en-US" sz="2400" kern="0" dirty="0">
              <a:solidFill>
                <a:sysClr val="windowText" lastClr="000000"/>
              </a:solidFill>
              <a:latin typeface="+mj-lt"/>
              <a:cs typeface="Microsoft Sans Serif"/>
            </a:endParaRPr>
          </a:p>
          <a:p>
            <a:pPr marL="752475" lvl="1" indent="-342900">
              <a:spcBef>
                <a:spcPts val="650"/>
              </a:spcBef>
              <a:buFont typeface="Arial" panose="020B0604020202020204" pitchFamily="34" charset="0"/>
              <a:buChar char="•"/>
              <a:tabLst>
                <a:tab pos="657225" algn="l"/>
              </a:tabLst>
            </a:pPr>
            <a:r>
              <a:rPr lang="en-US" sz="2400" kern="0" dirty="0">
                <a:solidFill>
                  <a:sysClr val="windowText" lastClr="000000"/>
                </a:solidFill>
                <a:latin typeface="+mj-lt"/>
                <a:cs typeface="Microsoft Sans Serif"/>
              </a:rPr>
              <a:t>When</a:t>
            </a:r>
            <a:r>
              <a:rPr lang="en-US" sz="2400" kern="0" spc="-70" dirty="0">
                <a:solidFill>
                  <a:sysClr val="windowText" lastClr="000000"/>
                </a:solidFill>
                <a:latin typeface="+mj-lt"/>
                <a:cs typeface="Microsoft Sans Serif"/>
              </a:rPr>
              <a:t> </a:t>
            </a:r>
            <a:r>
              <a:rPr lang="en-US" sz="2400" kern="0" spc="200" dirty="0">
                <a:solidFill>
                  <a:sysClr val="windowText" lastClr="000000"/>
                </a:solidFill>
                <a:latin typeface="+mj-lt"/>
                <a:cs typeface="Microsoft Sans Serif"/>
              </a:rPr>
              <a:t>to</a:t>
            </a:r>
            <a:r>
              <a:rPr lang="en-US" sz="2400" kern="0" spc="-65" dirty="0">
                <a:solidFill>
                  <a:sysClr val="windowText" lastClr="000000"/>
                </a:solidFill>
                <a:latin typeface="+mj-lt"/>
                <a:cs typeface="Microsoft Sans Serif"/>
              </a:rPr>
              <a:t> </a:t>
            </a:r>
            <a:r>
              <a:rPr lang="en-US" sz="2400" kern="0" spc="50" dirty="0">
                <a:solidFill>
                  <a:sysClr val="windowText" lastClr="000000"/>
                </a:solidFill>
                <a:latin typeface="+mj-lt"/>
                <a:cs typeface="Microsoft Sans Serif"/>
              </a:rPr>
              <a:t>create</a:t>
            </a:r>
            <a:r>
              <a:rPr lang="en-US" sz="2400" kern="0" spc="-65" dirty="0">
                <a:solidFill>
                  <a:sysClr val="windowText" lastClr="000000"/>
                </a:solidFill>
                <a:latin typeface="+mj-lt"/>
                <a:cs typeface="Microsoft Sans Serif"/>
              </a:rPr>
              <a:t> </a:t>
            </a:r>
            <a:r>
              <a:rPr lang="en-US" sz="2400" kern="0" dirty="0">
                <a:solidFill>
                  <a:sysClr val="windowText" lastClr="000000"/>
                </a:solidFill>
                <a:latin typeface="+mj-lt"/>
                <a:cs typeface="Microsoft Sans Serif"/>
              </a:rPr>
              <a:t>and</a:t>
            </a:r>
            <a:r>
              <a:rPr lang="en-US" sz="2400" kern="0" spc="-65"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remember</a:t>
            </a:r>
            <a:r>
              <a:rPr lang="en-US" sz="2400" kern="0" spc="-65" dirty="0">
                <a:solidFill>
                  <a:sysClr val="windowText" lastClr="000000"/>
                </a:solidFill>
                <a:latin typeface="+mj-lt"/>
                <a:cs typeface="Microsoft Sans Serif"/>
              </a:rPr>
              <a:t> </a:t>
            </a:r>
            <a:r>
              <a:rPr lang="en-US" sz="2400" kern="0" spc="-90" dirty="0">
                <a:solidFill>
                  <a:sysClr val="windowText" lastClr="000000"/>
                </a:solidFill>
                <a:latin typeface="+mj-lt"/>
                <a:cs typeface="Microsoft Sans Serif"/>
              </a:rPr>
              <a:t>a</a:t>
            </a:r>
            <a:r>
              <a:rPr lang="en-US" sz="2400" kern="0" spc="-70" dirty="0">
                <a:solidFill>
                  <a:sysClr val="windowText" lastClr="000000"/>
                </a:solidFill>
                <a:latin typeface="+mj-lt"/>
                <a:cs typeface="Microsoft Sans Serif"/>
              </a:rPr>
              <a:t> </a:t>
            </a:r>
            <a:r>
              <a:rPr lang="en-US" sz="2400" kern="0" spc="65" dirty="0">
                <a:solidFill>
                  <a:sysClr val="windowText" lastClr="000000"/>
                </a:solidFill>
                <a:latin typeface="+mj-lt"/>
                <a:cs typeface="Microsoft Sans Serif"/>
              </a:rPr>
              <a:t>new</a:t>
            </a:r>
            <a:r>
              <a:rPr lang="en-US" sz="2400" kern="0" spc="-65" dirty="0">
                <a:solidFill>
                  <a:sysClr val="windowText" lastClr="000000"/>
                </a:solidFill>
                <a:latin typeface="+mj-lt"/>
                <a:cs typeface="Microsoft Sans Serif"/>
              </a:rPr>
              <a:t> </a:t>
            </a:r>
            <a:r>
              <a:rPr lang="en-US" sz="2400" kern="0" spc="60" dirty="0">
                <a:solidFill>
                  <a:sysClr val="windowText" lastClr="000000"/>
                </a:solidFill>
                <a:latin typeface="+mj-lt"/>
                <a:cs typeface="Microsoft Sans Serif"/>
              </a:rPr>
              <a:t>structure.</a:t>
            </a: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2507598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7"/>
          </a:xfrm>
          <a:prstGeom prst="rect">
            <a:avLst/>
          </a:prstGeom>
        </p:spPr>
      </p:pic>
      <p:sp>
        <p:nvSpPr>
          <p:cNvPr id="3" name="object 3"/>
          <p:cNvSpPr txBox="1">
            <a:spLocks noGrp="1"/>
          </p:cNvSpPr>
          <p:nvPr>
            <p:ph type="title"/>
          </p:nvPr>
        </p:nvSpPr>
        <p:spPr>
          <a:xfrm>
            <a:off x="3733800" y="1662468"/>
            <a:ext cx="5790311" cy="1090683"/>
          </a:xfrm>
          <a:prstGeom prst="rect">
            <a:avLst/>
          </a:prstGeom>
        </p:spPr>
        <p:txBody>
          <a:bodyPr vert="horz" wrap="square" lIns="0" tIns="13335" rIns="0" bIns="0" rtlCol="0">
            <a:spAutoFit/>
          </a:bodyPr>
          <a:lstStyle/>
          <a:p>
            <a:pPr marL="12700" algn="ctr">
              <a:lnSpc>
                <a:spcPct val="100000"/>
              </a:lnSpc>
              <a:spcBef>
                <a:spcPts val="105"/>
              </a:spcBef>
            </a:pPr>
            <a:r>
              <a:rPr lang="en-IN" spc="-5" dirty="0"/>
              <a:t>Artificial Intelligence</a:t>
            </a:r>
            <a:br>
              <a:rPr lang="en-IN" spc="-5" dirty="0"/>
            </a:br>
            <a:r>
              <a:rPr lang="en-IN" spc="-5" dirty="0"/>
              <a:t>303105307</a:t>
            </a:r>
            <a:endParaRPr lang="en-IN" spc="-10" dirty="0"/>
          </a:p>
        </p:txBody>
      </p:sp>
      <p:sp>
        <p:nvSpPr>
          <p:cNvPr id="4" name="object 4"/>
          <p:cNvSpPr txBox="1"/>
          <p:nvPr/>
        </p:nvSpPr>
        <p:spPr>
          <a:xfrm>
            <a:off x="3896359" y="2870149"/>
            <a:ext cx="4403090" cy="352661"/>
          </a:xfrm>
          <a:prstGeom prst="rect">
            <a:avLst/>
          </a:prstGeom>
        </p:spPr>
        <p:txBody>
          <a:bodyPr vert="horz" wrap="square" lIns="0" tIns="13970" rIns="0" bIns="0" rtlCol="0">
            <a:spAutoFit/>
          </a:bodyPr>
          <a:lstStyle/>
          <a:p>
            <a:pPr algn="ctr">
              <a:lnSpc>
                <a:spcPct val="100000"/>
              </a:lnSpc>
            </a:pPr>
            <a:r>
              <a:rPr sz="2200" b="1" dirty="0">
                <a:latin typeface="Calibri"/>
                <a:cs typeface="Calibri"/>
              </a:rPr>
              <a:t>Computer</a:t>
            </a:r>
            <a:r>
              <a:rPr sz="2200" b="1" spc="-50" dirty="0">
                <a:latin typeface="Calibri"/>
                <a:cs typeface="Calibri"/>
              </a:rPr>
              <a:t> </a:t>
            </a:r>
            <a:r>
              <a:rPr sz="2200" b="1" dirty="0">
                <a:latin typeface="Calibri"/>
                <a:cs typeface="Calibri"/>
              </a:rPr>
              <a:t>Science</a:t>
            </a:r>
            <a:r>
              <a:rPr sz="2200" b="1" spc="-50" dirty="0">
                <a:latin typeface="Calibri"/>
                <a:cs typeface="Calibri"/>
              </a:rPr>
              <a:t> </a:t>
            </a:r>
            <a:r>
              <a:rPr sz="2200" b="1" spc="5" dirty="0">
                <a:latin typeface="Calibri"/>
                <a:cs typeface="Calibri"/>
              </a:rPr>
              <a:t>&amp;</a:t>
            </a:r>
            <a:r>
              <a:rPr sz="2200" b="1" spc="-5" dirty="0">
                <a:latin typeface="Calibri"/>
                <a:cs typeface="Calibri"/>
              </a:rPr>
              <a:t> Engineering</a:t>
            </a:r>
            <a:endParaRPr sz="2200" b="1" dirty="0">
              <a:latin typeface="Calibri"/>
              <a:cs typeface="Calibri"/>
            </a:endParaRPr>
          </a:p>
        </p:txBody>
      </p:sp>
      <p:grpSp>
        <p:nvGrpSpPr>
          <p:cNvPr id="5" name="object 5"/>
          <p:cNvGrpSpPr/>
          <p:nvPr/>
        </p:nvGrpSpPr>
        <p:grpSpPr>
          <a:xfrm>
            <a:off x="1886711" y="499872"/>
            <a:ext cx="8415655" cy="2286000"/>
            <a:chOff x="1886711" y="499872"/>
            <a:chExt cx="8415655" cy="2286000"/>
          </a:xfrm>
        </p:grpSpPr>
        <p:pic>
          <p:nvPicPr>
            <p:cNvPr id="6" name="object 6"/>
            <p:cNvPicPr/>
            <p:nvPr/>
          </p:nvPicPr>
          <p:blipFill>
            <a:blip r:embed="rId3" cstate="print"/>
            <a:stretch>
              <a:fillRect/>
            </a:stretch>
          </p:blipFill>
          <p:spPr>
            <a:xfrm>
              <a:off x="4507991" y="499872"/>
              <a:ext cx="3176016" cy="627888"/>
            </a:xfrm>
            <a:prstGeom prst="rect">
              <a:avLst/>
            </a:prstGeom>
          </p:spPr>
        </p:pic>
        <p:sp>
          <p:nvSpPr>
            <p:cNvPr id="7" name="object 7"/>
            <p:cNvSpPr/>
            <p:nvPr/>
          </p:nvSpPr>
          <p:spPr>
            <a:xfrm>
              <a:off x="1891283" y="2738627"/>
              <a:ext cx="8382000" cy="3175"/>
            </a:xfrm>
            <a:custGeom>
              <a:avLst/>
              <a:gdLst/>
              <a:ahLst/>
              <a:cxnLst/>
              <a:rect l="l" t="t" r="r" b="b"/>
              <a:pathLst>
                <a:path w="8382000" h="3175">
                  <a:moveTo>
                    <a:pt x="0" y="0"/>
                  </a:moveTo>
                  <a:lnTo>
                    <a:pt x="8382000" y="3048"/>
                  </a:lnTo>
                </a:path>
              </a:pathLst>
            </a:custGeom>
            <a:ln w="9144">
              <a:solidFill>
                <a:srgbClr val="000000"/>
              </a:solidFill>
            </a:ln>
          </p:spPr>
          <p:txBody>
            <a:bodyPr wrap="square" lIns="0" tIns="0" rIns="0" bIns="0" rtlCol="0"/>
            <a:lstStyle/>
            <a:p>
              <a:endParaRPr/>
            </a:p>
          </p:txBody>
        </p:sp>
        <p:pic>
          <p:nvPicPr>
            <p:cNvPr id="8" name="object 8"/>
            <p:cNvPicPr/>
            <p:nvPr/>
          </p:nvPicPr>
          <p:blipFill>
            <a:blip r:embed="rId4" cstate="print"/>
            <a:stretch>
              <a:fillRect/>
            </a:stretch>
          </p:blipFill>
          <p:spPr>
            <a:xfrm>
              <a:off x="1889759" y="2691383"/>
              <a:ext cx="124967" cy="94487"/>
            </a:xfrm>
            <a:prstGeom prst="rect">
              <a:avLst/>
            </a:prstGeom>
          </p:spPr>
        </p:pic>
        <p:pic>
          <p:nvPicPr>
            <p:cNvPr id="9" name="object 9"/>
            <p:cNvPicPr/>
            <p:nvPr/>
          </p:nvPicPr>
          <p:blipFill>
            <a:blip r:embed="rId4" cstate="print"/>
            <a:stretch>
              <a:fillRect/>
            </a:stretch>
          </p:blipFill>
          <p:spPr>
            <a:xfrm>
              <a:off x="10177271" y="2691383"/>
              <a:ext cx="124968" cy="94487"/>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7"/>
            <a:chOff x="0" y="0"/>
            <a:chExt cx="12192000" cy="6857997"/>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2478023" y="2572511"/>
              <a:ext cx="7239000" cy="2804160"/>
            </a:xfrm>
            <a:prstGeom prst="rect">
              <a:avLst/>
            </a:prstGeom>
          </p:spPr>
        </p:pic>
        <p:sp>
          <p:nvSpPr>
            <p:cNvPr id="5" name="object 5"/>
            <p:cNvSpPr/>
            <p:nvPr/>
          </p:nvSpPr>
          <p:spPr>
            <a:xfrm>
              <a:off x="0" y="3715510"/>
              <a:ext cx="12192000" cy="2075690"/>
            </a:xfrm>
            <a:custGeom>
              <a:avLst/>
              <a:gdLst/>
              <a:ahLst/>
              <a:cxnLst/>
              <a:rect l="l" t="t" r="r" b="b"/>
              <a:pathLst>
                <a:path w="12192000" h="713739">
                  <a:moveTo>
                    <a:pt x="12192000" y="0"/>
                  </a:moveTo>
                  <a:lnTo>
                    <a:pt x="0" y="0"/>
                  </a:lnTo>
                  <a:lnTo>
                    <a:pt x="0" y="713232"/>
                  </a:lnTo>
                  <a:lnTo>
                    <a:pt x="12192000" y="713232"/>
                  </a:lnTo>
                  <a:lnTo>
                    <a:pt x="12192000" y="0"/>
                  </a:lnTo>
                  <a:close/>
                </a:path>
              </a:pathLst>
            </a:custGeom>
            <a:solidFill>
              <a:srgbClr val="1F487C"/>
            </a:solidFill>
          </p:spPr>
          <p:txBody>
            <a:bodyPr wrap="square" lIns="0" tIns="0" rIns="0" bIns="0" rtlCol="0"/>
            <a:lstStyle/>
            <a:p>
              <a:endParaRPr/>
            </a:p>
          </p:txBody>
        </p:sp>
      </p:grpSp>
      <p:sp>
        <p:nvSpPr>
          <p:cNvPr id="6" name="object 6"/>
          <p:cNvSpPr txBox="1"/>
          <p:nvPr/>
        </p:nvSpPr>
        <p:spPr>
          <a:xfrm>
            <a:off x="1049422" y="3715510"/>
            <a:ext cx="7789778" cy="1654940"/>
          </a:xfrm>
          <a:prstGeom prst="rect">
            <a:avLst/>
          </a:prstGeom>
        </p:spPr>
        <p:txBody>
          <a:bodyPr vert="horz" wrap="square" lIns="0" tIns="13335" rIns="0" bIns="0" rtlCol="0">
            <a:spAutoFit/>
          </a:bodyPr>
          <a:lstStyle/>
          <a:p>
            <a:pPr marL="12700" algn="ctr">
              <a:lnSpc>
                <a:spcPct val="100000"/>
              </a:lnSpc>
              <a:spcBef>
                <a:spcPts val="105"/>
              </a:spcBef>
            </a:pPr>
            <a:r>
              <a:rPr lang="en-US" sz="3500" b="1" spc="-5" dirty="0">
                <a:solidFill>
                  <a:srgbClr val="FFFFFF"/>
                </a:solidFill>
                <a:cs typeface="Calibri"/>
              </a:rPr>
              <a:t>Topic-3.3</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Predicate Logic  </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Representation Simple Facts in Logic</a:t>
            </a:r>
            <a:endParaRPr lang="en-IN" sz="3500" dirty="0">
              <a:latin typeface="Calibri"/>
              <a:cs typeface="Calibri"/>
            </a:endParaRPr>
          </a:p>
        </p:txBody>
      </p:sp>
      <p:sp>
        <p:nvSpPr>
          <p:cNvPr id="9" name="object 7">
            <a:extLst>
              <a:ext uri="{FF2B5EF4-FFF2-40B4-BE49-F238E27FC236}">
                <a16:creationId xmlns:a16="http://schemas.microsoft.com/office/drawing/2014/main" id="{A4085080-0372-4AC3-B41F-7B3F1635256A}"/>
              </a:ext>
            </a:extLst>
          </p:cNvPr>
          <p:cNvSpPr txBox="1">
            <a:spLocks/>
          </p:cNvSpPr>
          <p:nvPr/>
        </p:nvSpPr>
        <p:spPr>
          <a:xfrm>
            <a:off x="3124200" y="1857622"/>
            <a:ext cx="5562600" cy="995785"/>
          </a:xfrm>
          <a:prstGeom prst="rect">
            <a:avLst/>
          </a:prstGeom>
        </p:spPr>
        <p:txBody>
          <a:bodyPr vert="horz" wrap="square" lIns="0" tIns="13335" rIns="0" bIns="0" rtlCol="0">
            <a:spAutoFit/>
          </a:bodyPr>
          <a:lstStyle>
            <a:lvl1pPr>
              <a:defRPr sz="3500" b="1" i="0">
                <a:solidFill>
                  <a:schemeClr val="tx1"/>
                </a:solidFill>
                <a:latin typeface="Calibri"/>
                <a:ea typeface="+mj-ea"/>
                <a:cs typeface="Calibri"/>
              </a:defRPr>
            </a:lvl1pPr>
          </a:lstStyle>
          <a:p>
            <a:pPr marL="13970" algn="ctr">
              <a:spcBef>
                <a:spcPts val="105"/>
              </a:spcBef>
            </a:pPr>
            <a:r>
              <a:rPr lang="en-US" sz="2800" kern="0" spc="-5" dirty="0"/>
              <a:t>CHAPTER-3</a:t>
            </a:r>
          </a:p>
          <a:p>
            <a:pPr marL="13970" algn="ctr">
              <a:spcBef>
                <a:spcPts val="105"/>
              </a:spcBef>
            </a:pPr>
            <a:r>
              <a:rPr lang="en-US" kern="0" spc="-5" dirty="0"/>
              <a:t> Knowledge Representation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2943" y="2243250"/>
            <a:ext cx="7096125" cy="2997615"/>
          </a:xfrm>
          <a:prstGeom prst="rect">
            <a:avLst/>
          </a:prstGeom>
        </p:spPr>
        <p:txBody>
          <a:bodyPr vert="horz" wrap="square" lIns="0" tIns="73025" rIns="0" bIns="0" rtlCol="0">
            <a:spAutoFit/>
          </a:bodyPr>
          <a:lstStyle/>
          <a:p>
            <a:pPr marL="101600" indent="-89535">
              <a:lnSpc>
                <a:spcPct val="100000"/>
              </a:lnSpc>
              <a:spcBef>
                <a:spcPts val="575"/>
              </a:spcBef>
              <a:buSzPct val="95000"/>
              <a:buFont typeface="Arial MT"/>
              <a:buChar char="•"/>
              <a:tabLst>
                <a:tab pos="102235" algn="l"/>
              </a:tabLst>
            </a:pPr>
            <a:r>
              <a:rPr lang="en-IN" sz="2000" b="1" spc="-10" dirty="0">
                <a:cs typeface="Calibri"/>
              </a:rPr>
              <a:t>Predicate Logic</a:t>
            </a:r>
          </a:p>
          <a:p>
            <a:pPr marL="101600" indent="-89535">
              <a:lnSpc>
                <a:spcPct val="100000"/>
              </a:lnSpc>
              <a:spcBef>
                <a:spcPts val="575"/>
              </a:spcBef>
              <a:buSzPct val="95000"/>
              <a:buFont typeface="Arial MT"/>
              <a:buChar char="•"/>
              <a:tabLst>
                <a:tab pos="102235" algn="l"/>
              </a:tabLst>
            </a:pPr>
            <a:r>
              <a:rPr lang="en-IN" sz="2000" b="1" spc="-10" dirty="0">
                <a:cs typeface="Calibri"/>
              </a:rPr>
              <a:t> Use of Predicate Logic</a:t>
            </a:r>
          </a:p>
          <a:p>
            <a:pPr marL="101600" indent="-89535">
              <a:lnSpc>
                <a:spcPct val="100000"/>
              </a:lnSpc>
              <a:spcBef>
                <a:spcPts val="575"/>
              </a:spcBef>
              <a:buSzPct val="95000"/>
              <a:buFont typeface="Arial MT"/>
              <a:buChar char="•"/>
              <a:tabLst>
                <a:tab pos="102235" algn="l"/>
              </a:tabLst>
            </a:pPr>
            <a:r>
              <a:rPr lang="en-US" sz="2000" b="1" spc="-10" dirty="0">
                <a:cs typeface="Calibri"/>
              </a:rPr>
              <a:t>Representing Simple Facts in Logic</a:t>
            </a:r>
          </a:p>
          <a:p>
            <a:pPr marL="101600" indent="-89535">
              <a:lnSpc>
                <a:spcPct val="100000"/>
              </a:lnSpc>
              <a:spcBef>
                <a:spcPts val="575"/>
              </a:spcBef>
              <a:buSzPct val="95000"/>
              <a:buFont typeface="Arial MT"/>
              <a:buChar char="•"/>
              <a:tabLst>
                <a:tab pos="102235" algn="l"/>
              </a:tabLst>
            </a:pPr>
            <a:r>
              <a:rPr lang="en-US" sz="2000" b="1" spc="-10" dirty="0">
                <a:cs typeface="Calibri"/>
              </a:rPr>
              <a:t>Examples to Representation of Simple Facts in Logic</a:t>
            </a:r>
            <a:br>
              <a:rPr lang="en-US" sz="2000" b="1" spc="-10" dirty="0">
                <a:cs typeface="Calibri"/>
              </a:rPr>
            </a:br>
            <a:endParaRPr lang="en-US" sz="2000" b="1" spc="-10" dirty="0">
              <a:cs typeface="Calibri"/>
            </a:endParaRPr>
          </a:p>
          <a:p>
            <a:pPr marL="101600" indent="-89535">
              <a:lnSpc>
                <a:spcPct val="100000"/>
              </a:lnSpc>
              <a:spcBef>
                <a:spcPts val="575"/>
              </a:spcBef>
              <a:buSzPct val="95000"/>
              <a:buFont typeface="Arial MT"/>
              <a:buChar char="•"/>
              <a:tabLst>
                <a:tab pos="102235" algn="l"/>
              </a:tabLst>
            </a:pPr>
            <a:endParaRPr lang="en-US" sz="2000" b="1" spc="-10" dirty="0">
              <a:cs typeface="Calibri"/>
            </a:endParaRPr>
          </a:p>
          <a:p>
            <a:pPr marL="101600" indent="-89535">
              <a:lnSpc>
                <a:spcPct val="100000"/>
              </a:lnSpc>
              <a:spcBef>
                <a:spcPts val="575"/>
              </a:spcBef>
              <a:buSzPct val="95000"/>
              <a:buFont typeface="Arial MT"/>
              <a:buChar char="•"/>
              <a:tabLst>
                <a:tab pos="102235" algn="l"/>
              </a:tabLst>
            </a:pPr>
            <a:endParaRPr lang="en-IN" sz="2000" b="1" spc="-10" dirty="0">
              <a:cs typeface="Calibri"/>
            </a:endParaRPr>
          </a:p>
          <a:p>
            <a:pPr marL="101600" indent="-89535">
              <a:lnSpc>
                <a:spcPct val="100000"/>
              </a:lnSpc>
              <a:spcBef>
                <a:spcPts val="575"/>
              </a:spcBef>
              <a:buSzPct val="95000"/>
              <a:buFont typeface="Arial MT"/>
              <a:buChar char="•"/>
              <a:tabLst>
                <a:tab pos="102235" algn="l"/>
              </a:tabLst>
            </a:pPr>
            <a:endParaRPr lang="en-IN" sz="2000" b="1" spc="-10" dirty="0">
              <a:latin typeface="Calibri"/>
              <a:cs typeface="Calibri"/>
            </a:endParaRPr>
          </a:p>
        </p:txBody>
      </p:sp>
      <p:sp>
        <p:nvSpPr>
          <p:cNvPr id="3" name="object 3"/>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4" name="object 4"/>
          <p:cNvSpPr txBox="1">
            <a:spLocks noGrp="1"/>
          </p:cNvSpPr>
          <p:nvPr>
            <p:ph type="title"/>
          </p:nvPr>
        </p:nvSpPr>
        <p:spPr>
          <a:xfrm>
            <a:off x="332943" y="1697227"/>
            <a:ext cx="1525270" cy="512445"/>
          </a:xfrm>
          <a:prstGeom prst="rect">
            <a:avLst/>
          </a:prstGeom>
        </p:spPr>
        <p:txBody>
          <a:bodyPr vert="horz" wrap="square" lIns="0" tIns="11430" rIns="0" bIns="0" rtlCol="0">
            <a:spAutoFit/>
          </a:bodyPr>
          <a:lstStyle/>
          <a:p>
            <a:pPr marL="12700">
              <a:lnSpc>
                <a:spcPct val="100000"/>
              </a:lnSpc>
              <a:spcBef>
                <a:spcPts val="90"/>
              </a:spcBef>
            </a:pPr>
            <a:r>
              <a:rPr sz="3200" spc="-25" dirty="0">
                <a:solidFill>
                  <a:srgbClr val="FFFFFF"/>
                </a:solidFill>
              </a:rPr>
              <a:t>Contents</a:t>
            </a:r>
            <a:endParaRPr sz="3200"/>
          </a:p>
        </p:txBody>
      </p:sp>
      <p:sp>
        <p:nvSpPr>
          <p:cNvPr id="5" name="object 5"/>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Predicate Logic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632743"/>
          </a:xfrm>
          <a:prstGeom prst="rect">
            <a:avLst/>
          </a:prstGeom>
        </p:spPr>
        <p:txBody>
          <a:bodyPr vert="horz" wrap="square" lIns="0" tIns="11430" rIns="0" bIns="0" rtlCol="0">
            <a:spAutoFit/>
          </a:bodyPr>
          <a:lstStyle/>
          <a:p>
            <a:r>
              <a:rPr lang="en-US" sz="2000" b="1" dirty="0"/>
              <a:t>Predicate logic</a:t>
            </a:r>
          </a:p>
          <a:p>
            <a:r>
              <a:rPr lang="en-US" sz="2000" dirty="0"/>
              <a:t>First-order Predicate logic (FOPL) models the world in terms of</a:t>
            </a:r>
          </a:p>
          <a:p>
            <a:pPr marL="800100" lvl="1" indent="-342900">
              <a:buFont typeface="Arial" panose="020B0604020202020204" pitchFamily="34" charset="0"/>
              <a:buChar char="•"/>
            </a:pPr>
            <a:r>
              <a:rPr lang="en-US" sz="2000" dirty="0"/>
              <a:t>Objects, which are things with individual identities</a:t>
            </a:r>
          </a:p>
          <a:p>
            <a:pPr marL="800100" lvl="1" indent="-342900">
              <a:buFont typeface="Arial" panose="020B0604020202020204" pitchFamily="34" charset="0"/>
              <a:buChar char="•"/>
            </a:pPr>
            <a:r>
              <a:rPr lang="en-US" sz="2000" dirty="0"/>
              <a:t>Properties of objects that distinguish them from other objects</a:t>
            </a:r>
          </a:p>
          <a:p>
            <a:pPr marL="800100" lvl="1" indent="-342900">
              <a:buFont typeface="Arial" panose="020B0604020202020204" pitchFamily="34" charset="0"/>
              <a:buChar char="•"/>
            </a:pPr>
            <a:r>
              <a:rPr lang="en-US" sz="2000" dirty="0"/>
              <a:t>Relations that hold among sets of objects</a:t>
            </a:r>
          </a:p>
          <a:p>
            <a:pPr marL="800100" lvl="1" indent="-342900">
              <a:buFont typeface="Arial" panose="020B0604020202020204" pitchFamily="34" charset="0"/>
              <a:buChar char="•"/>
            </a:pPr>
            <a:r>
              <a:rPr lang="en-US" sz="2000" dirty="0"/>
              <a:t>Functions, which are a subset of relations where there is only one “value” for any given “input”</a:t>
            </a:r>
          </a:p>
          <a:p>
            <a:pPr marL="800100" lvl="1" indent="-342900">
              <a:buFont typeface="Arial" panose="020B0604020202020204" pitchFamily="34" charset="0"/>
              <a:buChar char="•"/>
            </a:pPr>
            <a:r>
              <a:rPr lang="en-US" sz="2000" dirty="0"/>
              <a:t>First-order Predicate logic (FOPL) provides</a:t>
            </a:r>
          </a:p>
          <a:p>
            <a:pPr marL="800100" lvl="1" indent="-342900">
              <a:buFont typeface="Arial" panose="020B0604020202020204" pitchFamily="34" charset="0"/>
              <a:buChar char="•"/>
            </a:pPr>
            <a:r>
              <a:rPr lang="en-US" sz="2000" dirty="0"/>
              <a:t>Constants: a, b, dog33. Name a specific object.</a:t>
            </a:r>
          </a:p>
          <a:p>
            <a:pPr marL="800100" lvl="1" indent="-342900">
              <a:buFont typeface="Arial" panose="020B0604020202020204" pitchFamily="34" charset="0"/>
              <a:buChar char="•"/>
            </a:pPr>
            <a:r>
              <a:rPr lang="en-US" sz="2000" dirty="0"/>
              <a:t>Variables: X, Y. Refer to an object without naming it.</a:t>
            </a:r>
          </a:p>
          <a:p>
            <a:pPr marL="800100" lvl="1" indent="-342900">
              <a:buFont typeface="Arial" panose="020B0604020202020204" pitchFamily="34" charset="0"/>
              <a:buChar char="•"/>
            </a:pPr>
            <a:r>
              <a:rPr lang="en-US" sz="2000" dirty="0"/>
              <a:t>Functions: Mapping from objects to objects.</a:t>
            </a:r>
          </a:p>
          <a:p>
            <a:pPr marL="800100" lvl="1" indent="-342900">
              <a:buFont typeface="Arial" panose="020B0604020202020204" pitchFamily="34" charset="0"/>
              <a:buChar char="•"/>
            </a:pPr>
            <a:r>
              <a:rPr lang="en-US" sz="2000" dirty="0"/>
              <a:t>Terms: Refer to objects</a:t>
            </a:r>
          </a:p>
          <a:p>
            <a:pPr marL="800100" lvl="1" indent="-342900">
              <a:buFont typeface="Arial" panose="020B0604020202020204" pitchFamily="34" charset="0"/>
              <a:buChar char="•"/>
            </a:pPr>
            <a:r>
              <a:rPr lang="en-US" sz="2000" dirty="0"/>
              <a:t>Atomic Sentences: in(dad-of(X), food6) Can be true or false, Correspond to propositional symbols P, Q.</a:t>
            </a:r>
          </a:p>
          <a:p>
            <a:pPr marL="800100" lvl="1" indent="-342900">
              <a:lnSpc>
                <a:spcPct val="150000"/>
              </a:lnSpc>
              <a:buFont typeface="Arial" panose="020B0604020202020204" pitchFamily="34" charset="0"/>
              <a:buChar char="•"/>
            </a:pPr>
            <a:endParaRPr lang="en-US" sz="2400" dirty="0"/>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35008225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Predicate Logic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709413"/>
          </a:xfrm>
          <a:prstGeom prst="rect">
            <a:avLst/>
          </a:prstGeom>
        </p:spPr>
        <p:txBody>
          <a:bodyPr vert="horz" wrap="square" lIns="0" tIns="11430" rIns="0" bIns="0" rtlCol="0">
            <a:spAutoFit/>
          </a:bodyPr>
          <a:lstStyle/>
          <a:p>
            <a:r>
              <a:rPr lang="en-US" sz="2400" dirty="0"/>
              <a:t>But propositional logic fails to capture the relationship between an individual being a man and that individual being a mortal.</a:t>
            </a:r>
          </a:p>
          <a:p>
            <a:pPr marL="800100" lvl="1" indent="-342900">
              <a:buFont typeface="Wingdings" panose="05000000000000000000" pitchFamily="2" charset="2"/>
              <a:buChar char="§"/>
            </a:pPr>
            <a:r>
              <a:rPr lang="en-US" sz="2400" dirty="0"/>
              <a:t>How can these sentences be represented so that we can infer the third sentence from the first two?</a:t>
            </a:r>
          </a:p>
          <a:p>
            <a:pPr marL="800100" lvl="1" indent="-342900">
              <a:buFont typeface="Wingdings" panose="05000000000000000000" pitchFamily="2" charset="2"/>
              <a:buChar char="§"/>
            </a:pPr>
            <a:r>
              <a:rPr lang="en-US" sz="2400" dirty="0"/>
              <a:t>Also, Propositional logic commits only to the existence of facts that may or may not be the case in the world being represented.</a:t>
            </a:r>
          </a:p>
          <a:p>
            <a:pPr marL="800100" lvl="1" indent="-342900">
              <a:buFont typeface="Wingdings" panose="05000000000000000000" pitchFamily="2" charset="2"/>
              <a:buChar char="§"/>
            </a:pPr>
            <a:r>
              <a:rPr lang="en-US" sz="2400" dirty="0"/>
              <a:t>Moreover, It has a simple syntax and simple semantics. It suffices to illustrate the process of inference.</a:t>
            </a:r>
          </a:p>
          <a:p>
            <a:pPr marL="800100" lvl="1" indent="-342900">
              <a:buFont typeface="Wingdings" panose="05000000000000000000" pitchFamily="2" charset="2"/>
              <a:buChar char="§"/>
            </a:pPr>
            <a:r>
              <a:rPr lang="en-US" sz="2400" dirty="0"/>
              <a:t>Propositional logic quickly becomes impractical, even for very small worlds.</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2232734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Predicate Logic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709413"/>
          </a:xfrm>
          <a:prstGeom prst="rect">
            <a:avLst/>
          </a:prstGeom>
        </p:spPr>
        <p:txBody>
          <a:bodyPr vert="horz" wrap="square" lIns="0" tIns="11430" rIns="0" bIns="0" rtlCol="0">
            <a:spAutoFit/>
          </a:bodyPr>
          <a:lstStyle/>
          <a:p>
            <a:r>
              <a:rPr lang="en-US" sz="2400" dirty="0"/>
              <a:t>But propositional logic fails to capture the relationship between an individual being a man and that individual being a mortal.</a:t>
            </a:r>
          </a:p>
          <a:p>
            <a:pPr marL="800100" lvl="1" indent="-342900">
              <a:buFont typeface="Wingdings" panose="05000000000000000000" pitchFamily="2" charset="2"/>
              <a:buChar char="§"/>
            </a:pPr>
            <a:r>
              <a:rPr lang="en-US" sz="2400" dirty="0"/>
              <a:t>How can these sentences be represented so that we can infer the third sentence from the first two?</a:t>
            </a:r>
          </a:p>
          <a:p>
            <a:pPr marL="800100" lvl="1" indent="-342900">
              <a:buFont typeface="Wingdings" panose="05000000000000000000" pitchFamily="2" charset="2"/>
              <a:buChar char="§"/>
            </a:pPr>
            <a:r>
              <a:rPr lang="en-US" sz="2400" dirty="0"/>
              <a:t>Also, Propositional logic commits only to the existence of facts that may or may not be the case in the world being represented.</a:t>
            </a:r>
          </a:p>
          <a:p>
            <a:pPr marL="800100" lvl="1" indent="-342900">
              <a:buFont typeface="Wingdings" panose="05000000000000000000" pitchFamily="2" charset="2"/>
              <a:buChar char="§"/>
            </a:pPr>
            <a:r>
              <a:rPr lang="en-US" sz="2400" dirty="0"/>
              <a:t>Moreover, It has a simple syntax and simple semantics. It suffices to illustrate the process of inference.</a:t>
            </a:r>
          </a:p>
          <a:p>
            <a:pPr marL="800100" lvl="1" indent="-342900">
              <a:buFont typeface="Wingdings" panose="05000000000000000000" pitchFamily="2" charset="2"/>
              <a:buChar char="§"/>
            </a:pPr>
            <a:r>
              <a:rPr lang="en-US" sz="2400" dirty="0"/>
              <a:t>Propositional logic quickly becomes impractical, even for very small worlds.</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3361132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183642" y="1697227"/>
            <a:ext cx="9493757" cy="503984"/>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Use of Predicate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6" name="object 4">
            <a:extLst>
              <a:ext uri="{FF2B5EF4-FFF2-40B4-BE49-F238E27FC236}">
                <a16:creationId xmlns:a16="http://schemas.microsoft.com/office/drawing/2014/main" id="{7C67AFFD-9BCF-4C1C-807A-570EED3353D7}"/>
              </a:ext>
            </a:extLst>
          </p:cNvPr>
          <p:cNvSpPr txBox="1"/>
          <p:nvPr/>
        </p:nvSpPr>
        <p:spPr>
          <a:xfrm>
            <a:off x="183642" y="2438400"/>
            <a:ext cx="11675416" cy="3614451"/>
          </a:xfrm>
          <a:prstGeom prst="rect">
            <a:avLst/>
          </a:prstGeom>
        </p:spPr>
        <p:txBody>
          <a:bodyPr vert="horz" wrap="square" lIns="0" tIns="13335" rIns="0" bIns="0" rtlCol="0">
            <a:spAutoFit/>
          </a:bodyPr>
          <a:lstStyle/>
          <a:p>
            <a:pPr marL="12700">
              <a:lnSpc>
                <a:spcPct val="100000"/>
              </a:lnSpc>
              <a:spcBef>
                <a:spcPts val="105"/>
              </a:spcBef>
            </a:pPr>
            <a:r>
              <a:rPr sz="2600" b="1" dirty="0">
                <a:latin typeface="Arial"/>
                <a:cs typeface="Arial"/>
              </a:rPr>
              <a:t>Logic</a:t>
            </a:r>
            <a:endParaRPr sz="2600" dirty="0">
              <a:latin typeface="Arial"/>
              <a:cs typeface="Arial"/>
            </a:endParaRPr>
          </a:p>
          <a:p>
            <a:pPr marL="12700" marR="5080">
              <a:lnSpc>
                <a:spcPct val="100000"/>
              </a:lnSpc>
            </a:pPr>
            <a:r>
              <a:rPr sz="2600" dirty="0">
                <a:latin typeface="Arial"/>
                <a:cs typeface="Arial"/>
              </a:rPr>
              <a:t>Logic </a:t>
            </a:r>
            <a:r>
              <a:rPr sz="2600" spc="-10" dirty="0">
                <a:latin typeface="Arial"/>
                <a:cs typeface="Arial"/>
              </a:rPr>
              <a:t>is </a:t>
            </a:r>
            <a:r>
              <a:rPr sz="2600" dirty="0">
                <a:latin typeface="Arial"/>
                <a:cs typeface="Arial"/>
              </a:rPr>
              <a:t>concerned with the truth of statements </a:t>
            </a:r>
            <a:r>
              <a:rPr sz="2600" spc="5" dirty="0">
                <a:latin typeface="Arial"/>
                <a:cs typeface="Arial"/>
              </a:rPr>
              <a:t>about </a:t>
            </a:r>
            <a:r>
              <a:rPr sz="2600" dirty="0">
                <a:latin typeface="Arial"/>
                <a:cs typeface="Arial"/>
              </a:rPr>
              <a:t>the world.  Generally each statement </a:t>
            </a:r>
            <a:r>
              <a:rPr sz="2600" spc="-5" dirty="0">
                <a:latin typeface="Arial"/>
                <a:cs typeface="Arial"/>
              </a:rPr>
              <a:t>is </a:t>
            </a:r>
            <a:r>
              <a:rPr sz="2600" dirty="0">
                <a:latin typeface="Arial"/>
                <a:cs typeface="Arial"/>
              </a:rPr>
              <a:t>either </a:t>
            </a:r>
            <a:r>
              <a:rPr sz="2600" i="1" spc="5" dirty="0">
                <a:latin typeface="Arial"/>
                <a:cs typeface="Arial"/>
              </a:rPr>
              <a:t>TRUE </a:t>
            </a:r>
            <a:r>
              <a:rPr sz="2600" dirty="0">
                <a:latin typeface="Arial"/>
                <a:cs typeface="Arial"/>
              </a:rPr>
              <a:t>or</a:t>
            </a:r>
            <a:r>
              <a:rPr sz="2600" spc="-80" dirty="0">
                <a:latin typeface="Arial"/>
                <a:cs typeface="Arial"/>
              </a:rPr>
              <a:t> </a:t>
            </a:r>
            <a:r>
              <a:rPr sz="2600" i="1" spc="5" dirty="0">
                <a:latin typeface="Arial"/>
                <a:cs typeface="Arial"/>
              </a:rPr>
              <a:t>FALSE</a:t>
            </a:r>
            <a:r>
              <a:rPr sz="2600" spc="5" dirty="0">
                <a:latin typeface="Arial"/>
                <a:cs typeface="Arial"/>
              </a:rPr>
              <a:t>.</a:t>
            </a:r>
            <a:endParaRPr sz="2600" dirty="0">
              <a:latin typeface="Arial"/>
              <a:cs typeface="Arial"/>
            </a:endParaRPr>
          </a:p>
          <a:p>
            <a:pPr marL="12700">
              <a:lnSpc>
                <a:spcPct val="100000"/>
              </a:lnSpc>
            </a:pPr>
            <a:r>
              <a:rPr sz="2600" dirty="0">
                <a:latin typeface="Arial"/>
                <a:cs typeface="Arial"/>
              </a:rPr>
              <a:t>Logic includes :</a:t>
            </a:r>
            <a:r>
              <a:rPr sz="2600" i="1" dirty="0">
                <a:latin typeface="Arial"/>
                <a:cs typeface="Arial"/>
              </a:rPr>
              <a:t>Syntax , Semantics and Inference</a:t>
            </a:r>
            <a:r>
              <a:rPr sz="2600" i="1" spc="-5" dirty="0">
                <a:latin typeface="Arial"/>
                <a:cs typeface="Arial"/>
              </a:rPr>
              <a:t> </a:t>
            </a:r>
            <a:r>
              <a:rPr sz="2600" i="1" dirty="0">
                <a:latin typeface="Arial"/>
                <a:cs typeface="Arial"/>
              </a:rPr>
              <a:t>Procedure</a:t>
            </a:r>
            <a:r>
              <a:rPr sz="2600" dirty="0">
                <a:latin typeface="Arial"/>
                <a:cs typeface="Arial"/>
              </a:rPr>
              <a:t>.</a:t>
            </a:r>
          </a:p>
          <a:p>
            <a:pPr marL="104139">
              <a:lnSpc>
                <a:spcPct val="100000"/>
              </a:lnSpc>
            </a:pPr>
            <a:endParaRPr lang="en-IN" sz="2600" b="1" dirty="0">
              <a:latin typeface="Arial"/>
              <a:cs typeface="Arial"/>
            </a:endParaRPr>
          </a:p>
          <a:p>
            <a:pPr marL="104139">
              <a:lnSpc>
                <a:spcPct val="100000"/>
              </a:lnSpc>
            </a:pPr>
            <a:r>
              <a:rPr sz="2600" b="1" spc="-5" dirty="0">
                <a:latin typeface="Arial"/>
                <a:cs typeface="Arial"/>
              </a:rPr>
              <a:t>Syntax</a:t>
            </a:r>
            <a:r>
              <a:rPr sz="2600" b="1" spc="20" dirty="0">
                <a:latin typeface="Arial"/>
                <a:cs typeface="Arial"/>
              </a:rPr>
              <a:t> </a:t>
            </a:r>
            <a:r>
              <a:rPr sz="2600" b="1" dirty="0">
                <a:latin typeface="Arial"/>
                <a:cs typeface="Arial"/>
              </a:rPr>
              <a:t>:</a:t>
            </a:r>
            <a:endParaRPr sz="2600" dirty="0">
              <a:latin typeface="Arial"/>
              <a:cs typeface="Arial"/>
            </a:endParaRPr>
          </a:p>
          <a:p>
            <a:pPr marL="12700" marR="5080" algn="just">
              <a:lnSpc>
                <a:spcPct val="100000"/>
              </a:lnSpc>
            </a:pPr>
            <a:r>
              <a:rPr sz="2600" dirty="0">
                <a:latin typeface="Arial"/>
                <a:cs typeface="Arial"/>
              </a:rPr>
              <a:t>Specifies the </a:t>
            </a:r>
            <a:r>
              <a:rPr sz="2600" i="1" spc="-5" dirty="0">
                <a:latin typeface="Arial"/>
                <a:cs typeface="Arial"/>
              </a:rPr>
              <a:t>symbols </a:t>
            </a:r>
            <a:r>
              <a:rPr sz="2600" spc="-5" dirty="0">
                <a:latin typeface="Arial"/>
                <a:cs typeface="Arial"/>
              </a:rPr>
              <a:t>in </a:t>
            </a:r>
            <a:r>
              <a:rPr sz="2600" dirty="0">
                <a:latin typeface="Arial"/>
                <a:cs typeface="Arial"/>
              </a:rPr>
              <a:t>the language about how they can be </a:t>
            </a:r>
            <a:r>
              <a:rPr sz="2600" spc="5" dirty="0">
                <a:latin typeface="Arial"/>
                <a:cs typeface="Arial"/>
              </a:rPr>
              <a:t>co  </a:t>
            </a:r>
            <a:r>
              <a:rPr sz="2600" dirty="0">
                <a:latin typeface="Arial"/>
                <a:cs typeface="Arial"/>
              </a:rPr>
              <a:t>mbined to form sentences. The </a:t>
            </a:r>
            <a:r>
              <a:rPr sz="2600" b="1" dirty="0">
                <a:latin typeface="Arial"/>
                <a:cs typeface="Arial"/>
              </a:rPr>
              <a:t>facts about the world are repre  sented </a:t>
            </a:r>
            <a:r>
              <a:rPr sz="2600" dirty="0">
                <a:latin typeface="Arial"/>
                <a:cs typeface="Arial"/>
              </a:rPr>
              <a:t>as sentences </a:t>
            </a:r>
            <a:r>
              <a:rPr sz="2600" spc="-5" dirty="0">
                <a:latin typeface="Arial"/>
                <a:cs typeface="Arial"/>
              </a:rPr>
              <a:t>in</a:t>
            </a:r>
            <a:r>
              <a:rPr sz="2600" spc="-30" dirty="0">
                <a:latin typeface="Arial"/>
                <a:cs typeface="Arial"/>
              </a:rPr>
              <a:t> </a:t>
            </a:r>
            <a:r>
              <a:rPr sz="2600" dirty="0">
                <a:latin typeface="Arial"/>
                <a:cs typeface="Arial"/>
              </a:rPr>
              <a:t>logic.</a:t>
            </a:r>
          </a:p>
        </p:txBody>
      </p:sp>
    </p:spTree>
    <p:extLst>
      <p:ext uri="{BB962C8B-B14F-4D97-AF65-F5344CB8AC3E}">
        <p14:creationId xmlns:p14="http://schemas.microsoft.com/office/powerpoint/2010/main" val="62721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332942" y="1697227"/>
            <a:ext cx="9344457" cy="996427"/>
          </a:xfrm>
          <a:prstGeom prst="rect">
            <a:avLst/>
          </a:prstGeom>
        </p:spPr>
        <p:txBody>
          <a:bodyPr vert="horz" wrap="square" lIns="0" tIns="11430" rIns="0" bIns="0" rtlCol="0">
            <a:spAutoFit/>
          </a:bodyPr>
          <a:lstStyle/>
          <a:p>
            <a:pPr marL="12700">
              <a:lnSpc>
                <a:spcPct val="100000"/>
              </a:lnSpc>
              <a:spcBef>
                <a:spcPts val="90"/>
              </a:spcBef>
            </a:pPr>
            <a:r>
              <a:rPr lang="en-IN" sz="3200" spc="-10" dirty="0">
                <a:solidFill>
                  <a:srgbClr val="FFFFFF"/>
                </a:solidFill>
              </a:rPr>
              <a:t>Use of Predicate Logic</a:t>
            </a:r>
            <a:br>
              <a:rPr lang="en-US" sz="3200" spc="-10" dirty="0">
                <a:solidFill>
                  <a:srgbClr val="FFFFFF"/>
                </a:solidFill>
              </a:rPr>
            </a:b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object 4">
            <a:extLst>
              <a:ext uri="{FF2B5EF4-FFF2-40B4-BE49-F238E27FC236}">
                <a16:creationId xmlns:a16="http://schemas.microsoft.com/office/drawing/2014/main" id="{446A726D-B067-4077-81F1-EDEF41AE8029}"/>
              </a:ext>
            </a:extLst>
          </p:cNvPr>
          <p:cNvSpPr txBox="1"/>
          <p:nvPr/>
        </p:nvSpPr>
        <p:spPr>
          <a:xfrm>
            <a:off x="332942" y="2340482"/>
            <a:ext cx="11526116" cy="3614451"/>
          </a:xfrm>
          <a:prstGeom prst="rect">
            <a:avLst/>
          </a:prstGeom>
        </p:spPr>
        <p:txBody>
          <a:bodyPr vert="horz" wrap="square" lIns="0" tIns="13335" rIns="0" bIns="0" rtlCol="0">
            <a:spAutoFit/>
          </a:bodyPr>
          <a:lstStyle/>
          <a:p>
            <a:pPr marL="12065" algn="just">
              <a:lnSpc>
                <a:spcPct val="100000"/>
              </a:lnSpc>
              <a:tabLst>
                <a:tab pos="269240" algn="l"/>
              </a:tabLst>
            </a:pPr>
            <a:r>
              <a:rPr sz="2600" b="1" dirty="0">
                <a:latin typeface="Arial"/>
                <a:cs typeface="Arial"/>
              </a:rPr>
              <a:t>Semantic</a:t>
            </a:r>
            <a:r>
              <a:rPr sz="2600" b="1" spc="-20" dirty="0">
                <a:latin typeface="Arial"/>
                <a:cs typeface="Arial"/>
              </a:rPr>
              <a:t> </a:t>
            </a:r>
            <a:r>
              <a:rPr sz="2600" b="1" dirty="0">
                <a:latin typeface="Arial"/>
                <a:cs typeface="Arial"/>
              </a:rPr>
              <a:t>:</a:t>
            </a:r>
            <a:endParaRPr sz="2600" dirty="0">
              <a:latin typeface="Arial"/>
              <a:cs typeface="Arial"/>
            </a:endParaRPr>
          </a:p>
          <a:p>
            <a:pPr marL="12700" marR="5080">
              <a:lnSpc>
                <a:spcPct val="100000"/>
              </a:lnSpc>
              <a:spcBef>
                <a:spcPts val="5"/>
              </a:spcBef>
            </a:pPr>
            <a:r>
              <a:rPr sz="2600" dirty="0">
                <a:latin typeface="Arial"/>
                <a:cs typeface="Arial"/>
              </a:rPr>
              <a:t>Specifies how </a:t>
            </a:r>
            <a:r>
              <a:rPr sz="2600" spc="-5" dirty="0">
                <a:latin typeface="Arial"/>
                <a:cs typeface="Arial"/>
              </a:rPr>
              <a:t>to </a:t>
            </a:r>
            <a:r>
              <a:rPr sz="2600" dirty="0">
                <a:latin typeface="Arial"/>
                <a:cs typeface="Arial"/>
              </a:rPr>
              <a:t>assign a truth value </a:t>
            </a:r>
            <a:r>
              <a:rPr sz="2600" spc="-5" dirty="0">
                <a:latin typeface="Arial"/>
                <a:cs typeface="Arial"/>
              </a:rPr>
              <a:t>to </a:t>
            </a:r>
            <a:r>
              <a:rPr sz="2600" dirty="0">
                <a:latin typeface="Arial"/>
                <a:cs typeface="Arial"/>
              </a:rPr>
              <a:t>a sentence based on its  </a:t>
            </a:r>
            <a:r>
              <a:rPr sz="2600" i="1" dirty="0">
                <a:latin typeface="Arial"/>
                <a:cs typeface="Arial"/>
              </a:rPr>
              <a:t>meaning </a:t>
            </a:r>
            <a:r>
              <a:rPr sz="2600" dirty="0">
                <a:latin typeface="Arial"/>
                <a:cs typeface="Arial"/>
              </a:rPr>
              <a:t>in the world. </a:t>
            </a:r>
            <a:endParaRPr lang="en-IN" sz="2600" dirty="0">
              <a:latin typeface="Arial"/>
              <a:cs typeface="Arial"/>
            </a:endParaRPr>
          </a:p>
          <a:p>
            <a:pPr marL="12700" marR="5080">
              <a:lnSpc>
                <a:spcPct val="100000"/>
              </a:lnSpc>
              <a:spcBef>
                <a:spcPts val="5"/>
              </a:spcBef>
            </a:pPr>
            <a:endParaRPr lang="en-IN" sz="2600" spc="-5" dirty="0">
              <a:latin typeface="Arial"/>
              <a:cs typeface="Arial"/>
            </a:endParaRPr>
          </a:p>
          <a:p>
            <a:pPr marL="12700" marR="5080">
              <a:lnSpc>
                <a:spcPct val="100000"/>
              </a:lnSpc>
              <a:spcBef>
                <a:spcPts val="5"/>
              </a:spcBef>
            </a:pPr>
            <a:r>
              <a:rPr sz="2600" spc="-5" dirty="0">
                <a:latin typeface="Arial"/>
                <a:cs typeface="Arial"/>
              </a:rPr>
              <a:t>It </a:t>
            </a:r>
            <a:r>
              <a:rPr sz="2600" dirty="0">
                <a:latin typeface="Arial"/>
                <a:cs typeface="Arial"/>
              </a:rPr>
              <a:t>Specifies what facts a sentence refers to.  </a:t>
            </a:r>
            <a:endParaRPr lang="en-IN" sz="2600" dirty="0">
              <a:latin typeface="Arial"/>
              <a:cs typeface="Arial"/>
            </a:endParaRPr>
          </a:p>
          <a:p>
            <a:pPr marL="12700" marR="5080">
              <a:lnSpc>
                <a:spcPct val="100000"/>
              </a:lnSpc>
              <a:spcBef>
                <a:spcPts val="5"/>
              </a:spcBef>
            </a:pPr>
            <a:endParaRPr lang="en-IN" sz="2600" dirty="0">
              <a:latin typeface="Arial"/>
              <a:cs typeface="Arial"/>
            </a:endParaRPr>
          </a:p>
          <a:p>
            <a:pPr marL="12700" marR="5080">
              <a:lnSpc>
                <a:spcPct val="100000"/>
              </a:lnSpc>
              <a:spcBef>
                <a:spcPts val="5"/>
              </a:spcBef>
            </a:pPr>
            <a:r>
              <a:rPr sz="2600" dirty="0">
                <a:latin typeface="Arial"/>
                <a:cs typeface="Arial"/>
              </a:rPr>
              <a:t>A fact </a:t>
            </a:r>
            <a:r>
              <a:rPr sz="2600" spc="-5" dirty="0">
                <a:latin typeface="Arial"/>
                <a:cs typeface="Arial"/>
              </a:rPr>
              <a:t>is </a:t>
            </a:r>
            <a:r>
              <a:rPr sz="2600" dirty="0">
                <a:latin typeface="Arial"/>
                <a:cs typeface="Arial"/>
              </a:rPr>
              <a:t>a claim about the world, and </a:t>
            </a:r>
            <a:r>
              <a:rPr sz="2600" spc="-5" dirty="0">
                <a:latin typeface="Arial"/>
                <a:cs typeface="Arial"/>
              </a:rPr>
              <a:t>it </a:t>
            </a:r>
            <a:r>
              <a:rPr sz="2600" dirty="0">
                <a:latin typeface="Arial"/>
                <a:cs typeface="Arial"/>
              </a:rPr>
              <a:t>may be </a:t>
            </a:r>
            <a:r>
              <a:rPr sz="2600" i="1" dirty="0">
                <a:latin typeface="Arial"/>
                <a:cs typeface="Arial"/>
              </a:rPr>
              <a:t>TRUE </a:t>
            </a:r>
            <a:r>
              <a:rPr sz="2600" dirty="0">
                <a:latin typeface="Arial"/>
                <a:cs typeface="Arial"/>
              </a:rPr>
              <a:t>or</a:t>
            </a:r>
            <a:r>
              <a:rPr sz="2600" spc="-20" dirty="0">
                <a:latin typeface="Arial"/>
                <a:cs typeface="Arial"/>
              </a:rPr>
              <a:t> </a:t>
            </a:r>
            <a:r>
              <a:rPr sz="2600" i="1" dirty="0">
                <a:latin typeface="Arial"/>
                <a:cs typeface="Arial"/>
              </a:rPr>
              <a:t>FALSE</a:t>
            </a:r>
            <a:r>
              <a:rPr sz="2600" dirty="0">
                <a:latin typeface="Arial"/>
                <a:cs typeface="Arial"/>
              </a:rPr>
              <a:t>.</a:t>
            </a:r>
          </a:p>
          <a:p>
            <a:pPr marL="12065">
              <a:lnSpc>
                <a:spcPct val="100000"/>
              </a:lnSpc>
              <a:tabLst>
                <a:tab pos="269240" algn="l"/>
              </a:tabLst>
            </a:pPr>
            <a:r>
              <a:rPr sz="2600" b="1" dirty="0">
                <a:latin typeface="Arial"/>
                <a:cs typeface="Arial"/>
              </a:rPr>
              <a:t>Inference Procedure</a:t>
            </a:r>
            <a:r>
              <a:rPr sz="2600" b="1" spc="-35" dirty="0">
                <a:latin typeface="Arial"/>
                <a:cs typeface="Arial"/>
              </a:rPr>
              <a:t> </a:t>
            </a:r>
            <a:r>
              <a:rPr sz="2600" b="1" dirty="0">
                <a:latin typeface="Arial"/>
                <a:cs typeface="Arial"/>
              </a:rPr>
              <a:t>:</a:t>
            </a:r>
            <a:endParaRPr sz="2600" dirty="0">
              <a:latin typeface="Arial"/>
              <a:cs typeface="Arial"/>
            </a:endParaRPr>
          </a:p>
          <a:p>
            <a:pPr marL="12700">
              <a:lnSpc>
                <a:spcPct val="100000"/>
              </a:lnSpc>
            </a:pPr>
            <a:r>
              <a:rPr sz="2600" dirty="0">
                <a:latin typeface="Arial"/>
                <a:cs typeface="Arial"/>
              </a:rPr>
              <a:t>Specifies</a:t>
            </a:r>
            <a:r>
              <a:rPr sz="2600" spc="175" dirty="0">
                <a:latin typeface="Arial"/>
                <a:cs typeface="Arial"/>
              </a:rPr>
              <a:t> </a:t>
            </a:r>
            <a:r>
              <a:rPr sz="2600" i="1" spc="-5" dirty="0">
                <a:latin typeface="Arial"/>
                <a:cs typeface="Arial"/>
              </a:rPr>
              <a:t>methods</a:t>
            </a:r>
            <a:r>
              <a:rPr sz="2600" i="1" spc="175" dirty="0">
                <a:latin typeface="Arial"/>
                <a:cs typeface="Arial"/>
              </a:rPr>
              <a:t> </a:t>
            </a:r>
            <a:r>
              <a:rPr sz="2600" dirty="0">
                <a:latin typeface="Arial"/>
                <a:cs typeface="Arial"/>
              </a:rPr>
              <a:t>for</a:t>
            </a:r>
            <a:r>
              <a:rPr sz="2600" spc="170" dirty="0">
                <a:latin typeface="Arial"/>
                <a:cs typeface="Arial"/>
              </a:rPr>
              <a:t> </a:t>
            </a:r>
            <a:r>
              <a:rPr sz="2600" dirty="0">
                <a:latin typeface="Arial"/>
                <a:cs typeface="Arial"/>
              </a:rPr>
              <a:t>computing</a:t>
            </a:r>
            <a:r>
              <a:rPr sz="2600" spc="170" dirty="0">
                <a:latin typeface="Arial"/>
                <a:cs typeface="Arial"/>
              </a:rPr>
              <a:t> </a:t>
            </a:r>
            <a:r>
              <a:rPr sz="2600" spc="5" dirty="0">
                <a:latin typeface="Arial"/>
                <a:cs typeface="Arial"/>
              </a:rPr>
              <a:t>new</a:t>
            </a:r>
            <a:r>
              <a:rPr sz="2600" spc="165" dirty="0">
                <a:latin typeface="Arial"/>
                <a:cs typeface="Arial"/>
              </a:rPr>
              <a:t> </a:t>
            </a:r>
            <a:r>
              <a:rPr sz="2600" dirty="0">
                <a:latin typeface="Arial"/>
                <a:cs typeface="Arial"/>
              </a:rPr>
              <a:t>sentences</a:t>
            </a:r>
            <a:r>
              <a:rPr sz="2600" spc="175" dirty="0">
                <a:latin typeface="Arial"/>
                <a:cs typeface="Arial"/>
              </a:rPr>
              <a:t> </a:t>
            </a:r>
            <a:r>
              <a:rPr sz="2600" dirty="0">
                <a:latin typeface="Arial"/>
                <a:cs typeface="Arial"/>
              </a:rPr>
              <a:t>from</a:t>
            </a:r>
            <a:r>
              <a:rPr sz="2600" spc="165" dirty="0">
                <a:latin typeface="Arial"/>
                <a:cs typeface="Arial"/>
              </a:rPr>
              <a:t> </a:t>
            </a:r>
            <a:r>
              <a:rPr sz="2600" dirty="0">
                <a:latin typeface="Arial"/>
                <a:cs typeface="Arial"/>
              </a:rPr>
              <a:t>the</a:t>
            </a:r>
            <a:r>
              <a:rPr sz="2600" spc="170" dirty="0">
                <a:latin typeface="Arial"/>
                <a:cs typeface="Arial"/>
              </a:rPr>
              <a:t> </a:t>
            </a:r>
            <a:r>
              <a:rPr sz="2600" dirty="0">
                <a:latin typeface="Arial"/>
                <a:cs typeface="Arial"/>
              </a:rPr>
              <a:t>existing</a:t>
            </a:r>
            <a:r>
              <a:rPr lang="en-IN" sz="2600" spc="-45" dirty="0">
                <a:latin typeface="Arial"/>
                <a:cs typeface="Arial"/>
              </a:rPr>
              <a:t> </a:t>
            </a:r>
            <a:r>
              <a:rPr lang="en-IN" sz="2600" dirty="0">
                <a:latin typeface="Arial"/>
                <a:cs typeface="Arial"/>
              </a:rPr>
              <a:t>sentences</a:t>
            </a:r>
            <a:endParaRPr sz="2600" dirty="0">
              <a:latin typeface="Arial"/>
              <a:cs typeface="Arial"/>
            </a:endParaRPr>
          </a:p>
        </p:txBody>
      </p:sp>
    </p:spTree>
    <p:extLst>
      <p:ext uri="{BB962C8B-B14F-4D97-AF65-F5344CB8AC3E}">
        <p14:creationId xmlns:p14="http://schemas.microsoft.com/office/powerpoint/2010/main" val="7392550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Representing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9" name="object 3">
            <a:extLst>
              <a:ext uri="{FF2B5EF4-FFF2-40B4-BE49-F238E27FC236}">
                <a16:creationId xmlns:a16="http://schemas.microsoft.com/office/drawing/2014/main" id="{284CDB6A-CFAB-4DF1-BBB4-15230C2EA252}"/>
              </a:ext>
            </a:extLst>
          </p:cNvPr>
          <p:cNvSpPr txBox="1"/>
          <p:nvPr/>
        </p:nvSpPr>
        <p:spPr>
          <a:xfrm>
            <a:off x="793979" y="2430550"/>
            <a:ext cx="11398021" cy="1551066"/>
          </a:xfrm>
          <a:prstGeom prst="rect">
            <a:avLst/>
          </a:prstGeom>
        </p:spPr>
        <p:txBody>
          <a:bodyPr vert="horz" wrap="square" lIns="0" tIns="215265" rIns="0" bIns="0" rtlCol="0">
            <a:spAutoFit/>
          </a:bodyPr>
          <a:lstStyle/>
          <a:p>
            <a:pPr marL="12700">
              <a:lnSpc>
                <a:spcPct val="100000"/>
              </a:lnSpc>
              <a:spcBef>
                <a:spcPts val="1695"/>
              </a:spcBef>
            </a:pPr>
            <a:r>
              <a:rPr sz="2000" dirty="0">
                <a:latin typeface="Arial"/>
                <a:cs typeface="Arial"/>
              </a:rPr>
              <a:t>Using propositional</a:t>
            </a:r>
            <a:r>
              <a:rPr sz="2000" spc="-50" dirty="0">
                <a:latin typeface="Arial"/>
                <a:cs typeface="Arial"/>
              </a:rPr>
              <a:t> </a:t>
            </a:r>
            <a:r>
              <a:rPr sz="2000" dirty="0">
                <a:latin typeface="Arial"/>
                <a:cs typeface="Arial"/>
              </a:rPr>
              <a:t>logic</a:t>
            </a:r>
          </a:p>
          <a:p>
            <a:pPr marL="12700" marR="5080">
              <a:lnSpc>
                <a:spcPct val="100000"/>
              </a:lnSpc>
              <a:spcBef>
                <a:spcPts val="1595"/>
              </a:spcBef>
              <a:tabLst>
                <a:tab pos="8519160" algn="l"/>
              </a:tabLst>
            </a:pPr>
            <a:r>
              <a:rPr sz="2000" dirty="0">
                <a:latin typeface="Arial"/>
                <a:cs typeface="Arial"/>
              </a:rPr>
              <a:t>–Rea</a:t>
            </a:r>
            <a:r>
              <a:rPr sz="2000" spc="-5" dirty="0">
                <a:latin typeface="Arial"/>
                <a:cs typeface="Arial"/>
              </a:rPr>
              <a:t>l-</a:t>
            </a:r>
            <a:r>
              <a:rPr sz="2000" dirty="0">
                <a:latin typeface="Arial"/>
                <a:cs typeface="Arial"/>
              </a:rPr>
              <a:t>w</a:t>
            </a:r>
            <a:r>
              <a:rPr sz="2000" spc="5" dirty="0">
                <a:latin typeface="Arial"/>
                <a:cs typeface="Arial"/>
              </a:rPr>
              <a:t>o</a:t>
            </a:r>
            <a:r>
              <a:rPr sz="2000" dirty="0">
                <a:latin typeface="Arial"/>
                <a:cs typeface="Arial"/>
              </a:rPr>
              <a:t>rld</a:t>
            </a:r>
            <a:r>
              <a:rPr sz="2000" spc="-30" dirty="0">
                <a:latin typeface="Arial"/>
                <a:cs typeface="Arial"/>
              </a:rPr>
              <a:t> </a:t>
            </a:r>
            <a:r>
              <a:rPr sz="2000" dirty="0">
                <a:latin typeface="Arial"/>
                <a:cs typeface="Arial"/>
              </a:rPr>
              <a:t>facts</a:t>
            </a:r>
            <a:r>
              <a:rPr sz="2000" spc="5" dirty="0">
                <a:latin typeface="Arial"/>
                <a:cs typeface="Arial"/>
              </a:rPr>
              <a:t> </a:t>
            </a:r>
            <a:r>
              <a:rPr sz="2000" dirty="0">
                <a:latin typeface="Arial"/>
                <a:cs typeface="Arial"/>
              </a:rPr>
              <a:t>are repre</a:t>
            </a:r>
            <a:r>
              <a:rPr sz="2000" spc="5" dirty="0">
                <a:latin typeface="Arial"/>
                <a:cs typeface="Arial"/>
              </a:rPr>
              <a:t>s</a:t>
            </a:r>
            <a:r>
              <a:rPr sz="2000" dirty="0">
                <a:latin typeface="Arial"/>
                <a:cs typeface="Arial"/>
              </a:rPr>
              <a:t>e</a:t>
            </a:r>
            <a:r>
              <a:rPr sz="2000" spc="5" dirty="0">
                <a:latin typeface="Arial"/>
                <a:cs typeface="Arial"/>
              </a:rPr>
              <a:t>n</a:t>
            </a:r>
            <a:r>
              <a:rPr sz="2000" dirty="0">
                <a:latin typeface="Arial"/>
                <a:cs typeface="Arial"/>
              </a:rPr>
              <a:t>ted</a:t>
            </a:r>
            <a:r>
              <a:rPr sz="2000" spc="-25" dirty="0">
                <a:latin typeface="Arial"/>
                <a:cs typeface="Arial"/>
              </a:rPr>
              <a:t> </a:t>
            </a:r>
            <a:r>
              <a:rPr sz="2000" dirty="0">
                <a:latin typeface="Arial"/>
                <a:cs typeface="Arial"/>
              </a:rPr>
              <a:t>as</a:t>
            </a:r>
            <a:r>
              <a:rPr sz="2000" spc="5" dirty="0">
                <a:latin typeface="Arial"/>
                <a:cs typeface="Arial"/>
              </a:rPr>
              <a:t> </a:t>
            </a:r>
            <a:r>
              <a:rPr sz="2000" dirty="0">
                <a:latin typeface="Arial"/>
                <a:cs typeface="Arial"/>
              </a:rPr>
              <a:t>logic</a:t>
            </a:r>
            <a:r>
              <a:rPr sz="2000" spc="5" dirty="0">
                <a:latin typeface="Arial"/>
                <a:cs typeface="Arial"/>
              </a:rPr>
              <a:t>a</a:t>
            </a:r>
            <a:r>
              <a:rPr sz="2000" dirty="0">
                <a:latin typeface="Arial"/>
                <a:cs typeface="Arial"/>
              </a:rPr>
              <a:t>l</a:t>
            </a:r>
            <a:r>
              <a:rPr sz="2000" spc="-20" dirty="0">
                <a:latin typeface="Arial"/>
                <a:cs typeface="Arial"/>
              </a:rPr>
              <a:t> </a:t>
            </a:r>
            <a:r>
              <a:rPr sz="2000" dirty="0">
                <a:latin typeface="Arial"/>
                <a:cs typeface="Arial"/>
              </a:rPr>
              <a:t>pro</a:t>
            </a:r>
            <a:r>
              <a:rPr sz="2000" spc="5" dirty="0">
                <a:latin typeface="Arial"/>
                <a:cs typeface="Arial"/>
              </a:rPr>
              <a:t>p</a:t>
            </a:r>
            <a:r>
              <a:rPr sz="2000" dirty="0">
                <a:latin typeface="Arial"/>
                <a:cs typeface="Arial"/>
              </a:rPr>
              <a:t>o</a:t>
            </a:r>
            <a:r>
              <a:rPr sz="2000" spc="5" dirty="0">
                <a:latin typeface="Arial"/>
                <a:cs typeface="Arial"/>
              </a:rPr>
              <a:t>s</a:t>
            </a:r>
            <a:r>
              <a:rPr sz="2000" dirty="0">
                <a:latin typeface="Arial"/>
                <a:cs typeface="Arial"/>
              </a:rPr>
              <a:t>it</a:t>
            </a:r>
            <a:r>
              <a:rPr sz="2000" spc="-10" dirty="0">
                <a:latin typeface="Arial"/>
                <a:cs typeface="Arial"/>
              </a:rPr>
              <a:t>i</a:t>
            </a:r>
            <a:r>
              <a:rPr sz="2000" dirty="0">
                <a:latin typeface="Arial"/>
                <a:cs typeface="Arial"/>
              </a:rPr>
              <a:t>o</a:t>
            </a:r>
            <a:r>
              <a:rPr sz="2000" spc="5" dirty="0">
                <a:latin typeface="Arial"/>
                <a:cs typeface="Arial"/>
              </a:rPr>
              <a:t>n</a:t>
            </a:r>
            <a:r>
              <a:rPr sz="2000" dirty="0">
                <a:latin typeface="Arial"/>
                <a:cs typeface="Arial"/>
              </a:rPr>
              <a:t>s</a:t>
            </a:r>
            <a:r>
              <a:rPr lang="en-US" sz="2000" dirty="0">
                <a:latin typeface="Arial"/>
                <a:cs typeface="Arial"/>
              </a:rPr>
              <a:t> </a:t>
            </a:r>
            <a:r>
              <a:rPr sz="2000" dirty="0">
                <a:latin typeface="Arial"/>
                <a:cs typeface="Arial"/>
              </a:rPr>
              <a:t>wr</a:t>
            </a:r>
            <a:r>
              <a:rPr sz="2000" spc="-5" dirty="0">
                <a:latin typeface="Arial"/>
                <a:cs typeface="Arial"/>
              </a:rPr>
              <a:t>itten </a:t>
            </a:r>
            <a:r>
              <a:rPr sz="2000" dirty="0">
                <a:latin typeface="Arial"/>
                <a:cs typeface="Arial"/>
              </a:rPr>
              <a:t>as well-formed formulas</a:t>
            </a:r>
            <a:r>
              <a:rPr sz="2000" spc="-35" dirty="0">
                <a:latin typeface="Arial"/>
                <a:cs typeface="Arial"/>
              </a:rPr>
              <a:t> </a:t>
            </a:r>
            <a:r>
              <a:rPr sz="2000" spc="-5" dirty="0">
                <a:latin typeface="Arial"/>
                <a:cs typeface="Arial"/>
              </a:rPr>
              <a:t>(wff’s)</a:t>
            </a:r>
            <a:endParaRPr sz="2000" dirty="0">
              <a:latin typeface="Arial"/>
              <a:cs typeface="Arial"/>
            </a:endParaRPr>
          </a:p>
          <a:p>
            <a:pPr marL="12700">
              <a:lnSpc>
                <a:spcPct val="100000"/>
              </a:lnSpc>
              <a:spcBef>
                <a:spcPts val="1600"/>
              </a:spcBef>
            </a:pPr>
            <a:r>
              <a:rPr sz="2000" dirty="0">
                <a:latin typeface="Arial"/>
                <a:cs typeface="Arial"/>
              </a:rPr>
              <a:t>–Example</a:t>
            </a:r>
            <a:r>
              <a:rPr sz="2000" spc="-30" dirty="0">
                <a:latin typeface="Arial"/>
                <a:cs typeface="Arial"/>
              </a:rPr>
              <a:t> </a:t>
            </a:r>
            <a:r>
              <a:rPr sz="2000" dirty="0">
                <a:latin typeface="Arial"/>
                <a:cs typeface="Arial"/>
              </a:rPr>
              <a:t>1:</a:t>
            </a:r>
          </a:p>
        </p:txBody>
      </p:sp>
      <p:graphicFrame>
        <p:nvGraphicFramePr>
          <p:cNvPr id="10" name="object 5">
            <a:extLst>
              <a:ext uri="{FF2B5EF4-FFF2-40B4-BE49-F238E27FC236}">
                <a16:creationId xmlns:a16="http://schemas.microsoft.com/office/drawing/2014/main" id="{6C0946C0-3D7F-4A3B-948D-7453442BCEF2}"/>
              </a:ext>
            </a:extLst>
          </p:cNvPr>
          <p:cNvGraphicFramePr>
            <a:graphicFrameLocks noGrp="1"/>
          </p:cNvGraphicFramePr>
          <p:nvPr>
            <p:extLst/>
          </p:nvPr>
        </p:nvGraphicFramePr>
        <p:xfrm>
          <a:off x="1090195" y="4453842"/>
          <a:ext cx="10805588" cy="1834308"/>
        </p:xfrm>
        <a:graphic>
          <a:graphicData uri="http://schemas.openxmlformats.org/drawingml/2006/table">
            <a:tbl>
              <a:tblPr firstRow="1" bandRow="1">
                <a:tableStyleId>{2D5ABB26-0587-4C30-8999-92F81FD0307C}</a:tableStyleId>
              </a:tblPr>
              <a:tblGrid>
                <a:gridCol w="6421420">
                  <a:extLst>
                    <a:ext uri="{9D8B030D-6E8A-4147-A177-3AD203B41FA5}">
                      <a16:colId xmlns:a16="http://schemas.microsoft.com/office/drawing/2014/main" val="20000"/>
                    </a:ext>
                  </a:extLst>
                </a:gridCol>
                <a:gridCol w="4384168">
                  <a:extLst>
                    <a:ext uri="{9D8B030D-6E8A-4147-A177-3AD203B41FA5}">
                      <a16:colId xmlns:a16="http://schemas.microsoft.com/office/drawing/2014/main" val="20001"/>
                    </a:ext>
                  </a:extLst>
                </a:gridCol>
              </a:tblGrid>
              <a:tr h="448075">
                <a:tc>
                  <a:txBody>
                    <a:bodyPr/>
                    <a:lstStyle/>
                    <a:p>
                      <a:pPr marL="74930">
                        <a:lnSpc>
                          <a:spcPts val="2960"/>
                        </a:lnSpc>
                      </a:pPr>
                      <a:r>
                        <a:rPr sz="2600" dirty="0">
                          <a:solidFill>
                            <a:srgbClr val="000099"/>
                          </a:solidFill>
                          <a:latin typeface="Calibri"/>
                          <a:cs typeface="Calibri"/>
                        </a:rPr>
                        <a:t>It is</a:t>
                      </a:r>
                      <a:r>
                        <a:rPr sz="2600" spc="-20" dirty="0">
                          <a:solidFill>
                            <a:srgbClr val="000099"/>
                          </a:solidFill>
                          <a:latin typeface="Calibri"/>
                          <a:cs typeface="Calibri"/>
                        </a:rPr>
                        <a:t> </a:t>
                      </a:r>
                      <a:r>
                        <a:rPr sz="2600" dirty="0">
                          <a:solidFill>
                            <a:srgbClr val="000099"/>
                          </a:solidFill>
                          <a:latin typeface="Calibri"/>
                          <a:cs typeface="Calibri"/>
                        </a:rPr>
                        <a:t>raining</a:t>
                      </a:r>
                      <a:endParaRPr sz="2600" dirty="0">
                        <a:latin typeface="Calibri"/>
                        <a:cs typeface="Calibri"/>
                      </a:endParaRPr>
                    </a:p>
                  </a:txBody>
                  <a:tcPr marL="0" marR="0" marT="0" marB="0">
                    <a:lnL w="381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83185">
                        <a:lnSpc>
                          <a:spcPts val="2960"/>
                        </a:lnSpc>
                      </a:pPr>
                      <a:r>
                        <a:rPr sz="2600" dirty="0">
                          <a:solidFill>
                            <a:srgbClr val="000099"/>
                          </a:solidFill>
                          <a:latin typeface="Calibri"/>
                          <a:cs typeface="Calibri"/>
                        </a:rPr>
                        <a:t>RAINING</a:t>
                      </a:r>
                      <a:endParaRPr sz="2600">
                        <a:latin typeface="Calibri"/>
                        <a:cs typeface="Calibri"/>
                      </a:endParaRPr>
                    </a:p>
                  </a:txBody>
                  <a:tcPr marL="0" marR="0" marT="0" marB="0">
                    <a:lnL w="127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48075">
                <a:tc>
                  <a:txBody>
                    <a:bodyPr/>
                    <a:lstStyle/>
                    <a:p>
                      <a:pPr marL="74930">
                        <a:lnSpc>
                          <a:spcPts val="2965"/>
                        </a:lnSpc>
                      </a:pPr>
                      <a:r>
                        <a:rPr sz="2600" dirty="0">
                          <a:solidFill>
                            <a:srgbClr val="000099"/>
                          </a:solidFill>
                          <a:latin typeface="Calibri"/>
                          <a:cs typeface="Calibri"/>
                        </a:rPr>
                        <a:t>It is</a:t>
                      </a:r>
                      <a:r>
                        <a:rPr sz="2600" spc="-20" dirty="0">
                          <a:solidFill>
                            <a:srgbClr val="000099"/>
                          </a:solidFill>
                          <a:latin typeface="Calibri"/>
                          <a:cs typeface="Calibri"/>
                        </a:rPr>
                        <a:t> </a:t>
                      </a:r>
                      <a:r>
                        <a:rPr sz="2600" spc="-5" dirty="0">
                          <a:solidFill>
                            <a:srgbClr val="000099"/>
                          </a:solidFill>
                          <a:latin typeface="Calibri"/>
                          <a:cs typeface="Calibri"/>
                        </a:rPr>
                        <a:t>sunny</a:t>
                      </a:r>
                      <a:endParaRPr sz="2600">
                        <a:latin typeface="Calibri"/>
                        <a:cs typeface="Calibri"/>
                      </a:endParaRPr>
                    </a:p>
                  </a:txBody>
                  <a:tcPr marL="0" marR="0" marT="0" marB="0">
                    <a:lnL w="381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83185">
                        <a:lnSpc>
                          <a:spcPts val="2965"/>
                        </a:lnSpc>
                      </a:pPr>
                      <a:r>
                        <a:rPr sz="2600" spc="-5" dirty="0">
                          <a:solidFill>
                            <a:srgbClr val="000099"/>
                          </a:solidFill>
                          <a:latin typeface="Calibri"/>
                          <a:cs typeface="Calibri"/>
                        </a:rPr>
                        <a:t>SUNNY</a:t>
                      </a:r>
                      <a:endParaRPr sz="2600">
                        <a:latin typeface="Calibri"/>
                        <a:cs typeface="Calibri"/>
                      </a:endParaRPr>
                    </a:p>
                  </a:txBody>
                  <a:tcPr marL="0" marR="0" marT="0" marB="0">
                    <a:lnL w="127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448075">
                <a:tc>
                  <a:txBody>
                    <a:bodyPr/>
                    <a:lstStyle/>
                    <a:p>
                      <a:pPr marL="74930">
                        <a:lnSpc>
                          <a:spcPts val="2965"/>
                        </a:lnSpc>
                      </a:pPr>
                      <a:r>
                        <a:rPr sz="2600" dirty="0">
                          <a:solidFill>
                            <a:srgbClr val="000099"/>
                          </a:solidFill>
                          <a:latin typeface="Calibri"/>
                          <a:cs typeface="Calibri"/>
                        </a:rPr>
                        <a:t>It is</a:t>
                      </a:r>
                      <a:r>
                        <a:rPr sz="2600" spc="-20" dirty="0">
                          <a:solidFill>
                            <a:srgbClr val="000099"/>
                          </a:solidFill>
                          <a:latin typeface="Calibri"/>
                          <a:cs typeface="Calibri"/>
                        </a:rPr>
                        <a:t> </a:t>
                      </a:r>
                      <a:r>
                        <a:rPr sz="2600" dirty="0">
                          <a:solidFill>
                            <a:srgbClr val="000099"/>
                          </a:solidFill>
                          <a:latin typeface="Calibri"/>
                          <a:cs typeface="Calibri"/>
                        </a:rPr>
                        <a:t>Windy</a:t>
                      </a:r>
                      <a:endParaRPr sz="2600" dirty="0">
                        <a:latin typeface="Calibri"/>
                        <a:cs typeface="Calibri"/>
                      </a:endParaRPr>
                    </a:p>
                  </a:txBody>
                  <a:tcPr marL="0" marR="0" marT="0" marB="0">
                    <a:lnL w="381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83185">
                        <a:lnSpc>
                          <a:spcPts val="2965"/>
                        </a:lnSpc>
                      </a:pPr>
                      <a:r>
                        <a:rPr sz="2600" dirty="0">
                          <a:solidFill>
                            <a:srgbClr val="000099"/>
                          </a:solidFill>
                          <a:latin typeface="Calibri"/>
                          <a:cs typeface="Calibri"/>
                        </a:rPr>
                        <a:t>WINDY</a:t>
                      </a:r>
                      <a:endParaRPr sz="2600">
                        <a:latin typeface="Calibri"/>
                        <a:cs typeface="Calibri"/>
                      </a:endParaRPr>
                    </a:p>
                  </a:txBody>
                  <a:tcPr marL="0" marR="0" marT="0" marB="0">
                    <a:lnL w="127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490083">
                <a:tc>
                  <a:txBody>
                    <a:bodyPr/>
                    <a:lstStyle/>
                    <a:p>
                      <a:pPr marL="74930">
                        <a:lnSpc>
                          <a:spcPts val="2965"/>
                        </a:lnSpc>
                      </a:pPr>
                      <a:r>
                        <a:rPr sz="2600" dirty="0">
                          <a:solidFill>
                            <a:srgbClr val="000099"/>
                          </a:solidFill>
                          <a:latin typeface="Calibri"/>
                          <a:cs typeface="Calibri"/>
                        </a:rPr>
                        <a:t>If it is raining, then it is </a:t>
                      </a:r>
                      <a:r>
                        <a:rPr sz="2600" spc="-5" dirty="0">
                          <a:solidFill>
                            <a:srgbClr val="000099"/>
                          </a:solidFill>
                          <a:latin typeface="Calibri"/>
                          <a:cs typeface="Calibri"/>
                        </a:rPr>
                        <a:t>not</a:t>
                      </a:r>
                      <a:r>
                        <a:rPr sz="2600" spc="-90" dirty="0">
                          <a:solidFill>
                            <a:srgbClr val="000099"/>
                          </a:solidFill>
                          <a:latin typeface="Calibri"/>
                          <a:cs typeface="Calibri"/>
                        </a:rPr>
                        <a:t> </a:t>
                      </a:r>
                      <a:r>
                        <a:rPr sz="2600" spc="-5" dirty="0">
                          <a:solidFill>
                            <a:srgbClr val="000099"/>
                          </a:solidFill>
                          <a:latin typeface="Calibri"/>
                          <a:cs typeface="Calibri"/>
                        </a:rPr>
                        <a:t>sunny</a:t>
                      </a:r>
                      <a:endParaRPr sz="2600" dirty="0">
                        <a:latin typeface="Calibri"/>
                        <a:cs typeface="Calibri"/>
                      </a:endParaRPr>
                    </a:p>
                  </a:txBody>
                  <a:tcPr marL="0" marR="0" marT="0" marB="0">
                    <a:lnL w="38100">
                      <a:solidFill>
                        <a:srgbClr val="000000"/>
                      </a:solidFill>
                      <a:prstDash val="solid"/>
                    </a:lnL>
                    <a:lnR w="12700">
                      <a:solidFill>
                        <a:srgbClr val="000000"/>
                      </a:solidFill>
                      <a:prstDash val="solid"/>
                    </a:lnR>
                    <a:lnT w="28575">
                      <a:solidFill>
                        <a:srgbClr val="000000"/>
                      </a:solidFill>
                      <a:prstDash val="solid"/>
                    </a:lnT>
                    <a:lnB w="38100">
                      <a:solidFill>
                        <a:srgbClr val="000000"/>
                      </a:solidFill>
                      <a:prstDash val="solid"/>
                    </a:lnB>
                  </a:tcPr>
                </a:tc>
                <a:tc>
                  <a:txBody>
                    <a:bodyPr/>
                    <a:lstStyle/>
                    <a:p>
                      <a:pPr marL="83185">
                        <a:lnSpc>
                          <a:spcPts val="2965"/>
                        </a:lnSpc>
                      </a:pPr>
                      <a:r>
                        <a:rPr sz="2600" dirty="0">
                          <a:solidFill>
                            <a:srgbClr val="000099"/>
                          </a:solidFill>
                          <a:latin typeface="Calibri"/>
                          <a:cs typeface="Calibri"/>
                        </a:rPr>
                        <a:t>RAINING </a:t>
                      </a:r>
                      <a:r>
                        <a:rPr sz="2200" spc="-5" dirty="0">
                          <a:solidFill>
                            <a:srgbClr val="000099"/>
                          </a:solidFill>
                          <a:latin typeface="Symbol"/>
                          <a:cs typeface="Symbol"/>
                        </a:rPr>
                        <a:t></a:t>
                      </a:r>
                      <a:r>
                        <a:rPr sz="2200" spc="-50" dirty="0">
                          <a:solidFill>
                            <a:srgbClr val="000099"/>
                          </a:solidFill>
                          <a:latin typeface="Times New Roman"/>
                          <a:cs typeface="Times New Roman"/>
                        </a:rPr>
                        <a:t> </a:t>
                      </a:r>
                      <a:r>
                        <a:rPr sz="2600" spc="-5" dirty="0">
                          <a:solidFill>
                            <a:srgbClr val="000099"/>
                          </a:solidFill>
                          <a:latin typeface="Calibri"/>
                          <a:cs typeface="Calibri"/>
                        </a:rPr>
                        <a:t>¬SUNNY</a:t>
                      </a:r>
                      <a:endParaRPr sz="2600" dirty="0">
                        <a:latin typeface="Calibri"/>
                        <a:cs typeface="Calibri"/>
                      </a:endParaRPr>
                    </a:p>
                  </a:txBody>
                  <a:tcPr marL="0" marR="0" marT="0" marB="0">
                    <a:lnL w="12700">
                      <a:solidFill>
                        <a:srgbClr val="000000"/>
                      </a:solidFill>
                      <a:prstDash val="solid"/>
                    </a:lnL>
                    <a:lnR w="38100">
                      <a:solidFill>
                        <a:srgbClr val="000000"/>
                      </a:solidFill>
                      <a:prstDash val="solid"/>
                    </a:lnR>
                    <a:lnT w="28575">
                      <a:solidFill>
                        <a:srgbClr val="000000"/>
                      </a:solidFill>
                      <a:prstDash val="solid"/>
                    </a:lnT>
                    <a:lnB w="38100">
                      <a:solidFill>
                        <a:srgbClr val="000000"/>
                      </a:solidFill>
                      <a:prstDash val="soli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04835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Representing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7" name="object 3">
            <a:extLst>
              <a:ext uri="{FF2B5EF4-FFF2-40B4-BE49-F238E27FC236}">
                <a16:creationId xmlns:a16="http://schemas.microsoft.com/office/drawing/2014/main" id="{F2194CA9-8113-48F8-9AAA-B0379E38389A}"/>
              </a:ext>
            </a:extLst>
          </p:cNvPr>
          <p:cNvSpPr txBox="1"/>
          <p:nvPr/>
        </p:nvSpPr>
        <p:spPr>
          <a:xfrm>
            <a:off x="680095" y="2209800"/>
            <a:ext cx="2447923" cy="422275"/>
          </a:xfrm>
          <a:prstGeom prst="rect">
            <a:avLst/>
          </a:prstGeom>
        </p:spPr>
        <p:txBody>
          <a:bodyPr vert="horz" wrap="square" lIns="0" tIns="13335" rIns="0" bIns="0" rtlCol="0">
            <a:spAutoFit/>
          </a:bodyPr>
          <a:lstStyle/>
          <a:p>
            <a:pPr marL="12700">
              <a:lnSpc>
                <a:spcPct val="100000"/>
              </a:lnSpc>
              <a:spcBef>
                <a:spcPts val="105"/>
              </a:spcBef>
            </a:pPr>
            <a:r>
              <a:rPr sz="2600" dirty="0">
                <a:latin typeface="Arial"/>
                <a:cs typeface="Arial"/>
              </a:rPr>
              <a:t>Example</a:t>
            </a:r>
            <a:r>
              <a:rPr sz="2600" spc="-95" dirty="0">
                <a:latin typeface="Arial"/>
                <a:cs typeface="Arial"/>
              </a:rPr>
              <a:t> </a:t>
            </a:r>
            <a:r>
              <a:rPr sz="2600" dirty="0">
                <a:latin typeface="Arial"/>
                <a:cs typeface="Arial"/>
              </a:rPr>
              <a:t>2:</a:t>
            </a:r>
          </a:p>
        </p:txBody>
      </p:sp>
      <p:graphicFrame>
        <p:nvGraphicFramePr>
          <p:cNvPr id="8" name="object 5">
            <a:extLst>
              <a:ext uri="{FF2B5EF4-FFF2-40B4-BE49-F238E27FC236}">
                <a16:creationId xmlns:a16="http://schemas.microsoft.com/office/drawing/2014/main" id="{238E2188-8475-47A9-958E-CE2768232A2C}"/>
              </a:ext>
            </a:extLst>
          </p:cNvPr>
          <p:cNvGraphicFramePr>
            <a:graphicFrameLocks noGrp="1"/>
          </p:cNvGraphicFramePr>
          <p:nvPr>
            <p:extLst/>
          </p:nvPr>
        </p:nvGraphicFramePr>
        <p:xfrm>
          <a:off x="1415032" y="2882227"/>
          <a:ext cx="9352689" cy="1927225"/>
        </p:xfrm>
        <a:graphic>
          <a:graphicData uri="http://schemas.openxmlformats.org/drawingml/2006/table">
            <a:tbl>
              <a:tblPr firstRow="1" bandRow="1">
                <a:tableStyleId>{2D5ABB26-0587-4C30-8999-92F81FD0307C}</a:tableStyleId>
              </a:tblPr>
              <a:tblGrid>
                <a:gridCol w="4835404">
                  <a:extLst>
                    <a:ext uri="{9D8B030D-6E8A-4147-A177-3AD203B41FA5}">
                      <a16:colId xmlns:a16="http://schemas.microsoft.com/office/drawing/2014/main" val="20000"/>
                    </a:ext>
                  </a:extLst>
                </a:gridCol>
                <a:gridCol w="4517285">
                  <a:extLst>
                    <a:ext uri="{9D8B030D-6E8A-4147-A177-3AD203B41FA5}">
                      <a16:colId xmlns:a16="http://schemas.microsoft.com/office/drawing/2014/main" val="20001"/>
                    </a:ext>
                  </a:extLst>
                </a:gridCol>
              </a:tblGrid>
              <a:tr h="654050">
                <a:tc>
                  <a:txBody>
                    <a:bodyPr/>
                    <a:lstStyle/>
                    <a:p>
                      <a:pPr marL="76200">
                        <a:lnSpc>
                          <a:spcPts val="2960"/>
                        </a:lnSpc>
                      </a:pPr>
                      <a:r>
                        <a:rPr sz="2600" spc="-5" dirty="0">
                          <a:solidFill>
                            <a:srgbClr val="000099"/>
                          </a:solidFill>
                          <a:latin typeface="Calibri"/>
                          <a:cs typeface="Calibri"/>
                        </a:rPr>
                        <a:t>Socrates </a:t>
                      </a:r>
                      <a:r>
                        <a:rPr sz="2600" dirty="0">
                          <a:solidFill>
                            <a:srgbClr val="000099"/>
                          </a:solidFill>
                          <a:latin typeface="Calibri"/>
                          <a:cs typeface="Calibri"/>
                        </a:rPr>
                        <a:t>is a</a:t>
                      </a:r>
                      <a:r>
                        <a:rPr sz="2600" spc="-30" dirty="0">
                          <a:solidFill>
                            <a:srgbClr val="000099"/>
                          </a:solidFill>
                          <a:latin typeface="Calibri"/>
                          <a:cs typeface="Calibri"/>
                        </a:rPr>
                        <a:t> </a:t>
                      </a:r>
                      <a:r>
                        <a:rPr sz="2600" dirty="0">
                          <a:solidFill>
                            <a:srgbClr val="000099"/>
                          </a:solidFill>
                          <a:latin typeface="Calibri"/>
                          <a:cs typeface="Calibri"/>
                        </a:rPr>
                        <a:t>man</a:t>
                      </a:r>
                      <a:endParaRPr sz="2600" dirty="0">
                        <a:latin typeface="Calibri"/>
                        <a:cs typeface="Calibri"/>
                      </a:endParaRPr>
                    </a:p>
                  </a:txBody>
                  <a:tcPr marL="0" marR="0" marT="0" marB="0">
                    <a:lnL w="381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82550">
                        <a:lnSpc>
                          <a:spcPts val="2960"/>
                        </a:lnSpc>
                      </a:pPr>
                      <a:r>
                        <a:rPr sz="2600" dirty="0">
                          <a:solidFill>
                            <a:srgbClr val="000099"/>
                          </a:solidFill>
                          <a:latin typeface="Calibri"/>
                          <a:cs typeface="Calibri"/>
                        </a:rPr>
                        <a:t>SOCRATESMAN</a:t>
                      </a:r>
                      <a:endParaRPr sz="2600">
                        <a:latin typeface="Calibri"/>
                        <a:cs typeface="Calibri"/>
                      </a:endParaRPr>
                    </a:p>
                  </a:txBody>
                  <a:tcPr marL="0" marR="0" marT="0" marB="0">
                    <a:lnL w="127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654050">
                <a:tc>
                  <a:txBody>
                    <a:bodyPr/>
                    <a:lstStyle/>
                    <a:p>
                      <a:pPr marL="76200">
                        <a:lnSpc>
                          <a:spcPts val="2960"/>
                        </a:lnSpc>
                      </a:pPr>
                      <a:r>
                        <a:rPr sz="2600" dirty="0">
                          <a:solidFill>
                            <a:srgbClr val="000099"/>
                          </a:solidFill>
                          <a:latin typeface="Calibri"/>
                          <a:cs typeface="Calibri"/>
                        </a:rPr>
                        <a:t>Plato is a</a:t>
                      </a:r>
                      <a:r>
                        <a:rPr sz="2600" spc="-10" dirty="0">
                          <a:solidFill>
                            <a:srgbClr val="000099"/>
                          </a:solidFill>
                          <a:latin typeface="Calibri"/>
                          <a:cs typeface="Calibri"/>
                        </a:rPr>
                        <a:t> </a:t>
                      </a:r>
                      <a:r>
                        <a:rPr sz="2600" dirty="0">
                          <a:solidFill>
                            <a:srgbClr val="000099"/>
                          </a:solidFill>
                          <a:latin typeface="Calibri"/>
                          <a:cs typeface="Calibri"/>
                        </a:rPr>
                        <a:t>man</a:t>
                      </a:r>
                      <a:endParaRPr sz="2600">
                        <a:latin typeface="Calibri"/>
                        <a:cs typeface="Calibri"/>
                      </a:endParaRPr>
                    </a:p>
                  </a:txBody>
                  <a:tcPr marL="0" marR="0" marT="0" marB="0">
                    <a:lnL w="38100">
                      <a:solidFill>
                        <a:srgbClr val="000000"/>
                      </a:solidFill>
                      <a:prstDash val="solid"/>
                    </a:lnL>
                    <a:lnR w="12700">
                      <a:solidFill>
                        <a:srgbClr val="000000"/>
                      </a:solidFill>
                      <a:prstDash val="solid"/>
                    </a:lnR>
                    <a:lnT w="28575">
                      <a:solidFill>
                        <a:srgbClr val="000000"/>
                      </a:solidFill>
                      <a:prstDash val="solid"/>
                    </a:lnT>
                    <a:lnB w="38100">
                      <a:solidFill>
                        <a:srgbClr val="000000"/>
                      </a:solidFill>
                      <a:prstDash val="solid"/>
                    </a:lnB>
                  </a:tcPr>
                </a:tc>
                <a:tc>
                  <a:txBody>
                    <a:bodyPr/>
                    <a:lstStyle/>
                    <a:p>
                      <a:pPr marL="82550">
                        <a:lnSpc>
                          <a:spcPts val="2960"/>
                        </a:lnSpc>
                      </a:pPr>
                      <a:r>
                        <a:rPr sz="2600" dirty="0">
                          <a:solidFill>
                            <a:srgbClr val="000099"/>
                          </a:solidFill>
                          <a:latin typeface="Calibri"/>
                          <a:cs typeface="Calibri"/>
                        </a:rPr>
                        <a:t>PLATOMAN</a:t>
                      </a:r>
                      <a:endParaRPr sz="2600">
                        <a:latin typeface="Calibri"/>
                        <a:cs typeface="Calibri"/>
                      </a:endParaRPr>
                    </a:p>
                  </a:txBody>
                  <a:tcPr marL="0" marR="0" marT="0" marB="0">
                    <a:lnL w="12700">
                      <a:solidFill>
                        <a:srgbClr val="000000"/>
                      </a:solidFill>
                      <a:prstDash val="solid"/>
                    </a:lnL>
                    <a:lnR w="38100">
                      <a:solidFill>
                        <a:srgbClr val="000000"/>
                      </a:solidFill>
                      <a:prstDash val="solid"/>
                    </a:lnR>
                    <a:lnT w="28575">
                      <a:solidFill>
                        <a:srgbClr val="000000"/>
                      </a:solidFill>
                      <a:prstDash val="solid"/>
                    </a:lnT>
                    <a:lnB w="38100">
                      <a:solidFill>
                        <a:srgbClr val="000000"/>
                      </a:solidFill>
                      <a:prstDash val="solid"/>
                    </a:lnB>
                  </a:tcPr>
                </a:tc>
                <a:extLst>
                  <a:ext uri="{0D108BD9-81ED-4DB2-BD59-A6C34878D82A}">
                    <a16:rowId xmlns:a16="http://schemas.microsoft.com/office/drawing/2014/main" val="10001"/>
                  </a:ext>
                </a:extLst>
              </a:tr>
              <a:tr h="619125">
                <a:tc>
                  <a:txBody>
                    <a:bodyPr/>
                    <a:lstStyle/>
                    <a:p>
                      <a:pPr marL="76200">
                        <a:lnSpc>
                          <a:spcPts val="2960"/>
                        </a:lnSpc>
                      </a:pPr>
                      <a:r>
                        <a:rPr sz="2600" dirty="0">
                          <a:solidFill>
                            <a:srgbClr val="000099"/>
                          </a:solidFill>
                          <a:latin typeface="Calibri"/>
                          <a:cs typeface="Calibri"/>
                        </a:rPr>
                        <a:t>All </a:t>
                      </a:r>
                      <a:r>
                        <a:rPr sz="2600" spc="-5" dirty="0">
                          <a:solidFill>
                            <a:srgbClr val="000099"/>
                          </a:solidFill>
                          <a:latin typeface="Calibri"/>
                          <a:cs typeface="Calibri"/>
                        </a:rPr>
                        <a:t>men </a:t>
                      </a:r>
                      <a:r>
                        <a:rPr sz="2600" dirty="0">
                          <a:solidFill>
                            <a:srgbClr val="000099"/>
                          </a:solidFill>
                          <a:latin typeface="Calibri"/>
                          <a:cs typeface="Calibri"/>
                        </a:rPr>
                        <a:t>are</a:t>
                      </a:r>
                      <a:r>
                        <a:rPr sz="2600" spc="-30" dirty="0">
                          <a:solidFill>
                            <a:srgbClr val="000099"/>
                          </a:solidFill>
                          <a:latin typeface="Calibri"/>
                          <a:cs typeface="Calibri"/>
                        </a:rPr>
                        <a:t> </a:t>
                      </a:r>
                      <a:r>
                        <a:rPr sz="2600" dirty="0">
                          <a:solidFill>
                            <a:srgbClr val="000099"/>
                          </a:solidFill>
                          <a:latin typeface="Calibri"/>
                          <a:cs typeface="Calibri"/>
                        </a:rPr>
                        <a:t>mortal</a:t>
                      </a:r>
                      <a:endParaRPr sz="2600" dirty="0">
                        <a:latin typeface="Calibri"/>
                        <a:cs typeface="Calibri"/>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38100">
                      <a:solidFill>
                        <a:srgbClr val="000000"/>
                      </a:solidFill>
                      <a:prstDash val="solid"/>
                    </a:lnB>
                  </a:tcPr>
                </a:tc>
                <a:tc>
                  <a:txBody>
                    <a:bodyPr/>
                    <a:lstStyle/>
                    <a:p>
                      <a:pPr marL="82550">
                        <a:lnSpc>
                          <a:spcPts val="2960"/>
                        </a:lnSpc>
                      </a:pPr>
                      <a:r>
                        <a:rPr sz="2600" dirty="0">
                          <a:solidFill>
                            <a:srgbClr val="000099"/>
                          </a:solidFill>
                          <a:latin typeface="Calibri"/>
                          <a:cs typeface="Calibri"/>
                        </a:rPr>
                        <a:t>MORTALMAN</a:t>
                      </a:r>
                      <a:endParaRPr sz="2600" dirty="0">
                        <a:latin typeface="Calibri"/>
                        <a:cs typeface="Calibri"/>
                      </a:endParaRPr>
                    </a:p>
                  </a:txBody>
                  <a:tcPr marL="0" marR="0" marT="0" marB="0">
                    <a:lnL w="127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2"/>
                  </a:ext>
                </a:extLst>
              </a:tr>
            </a:tbl>
          </a:graphicData>
        </a:graphic>
      </p:graphicFrame>
      <p:sp>
        <p:nvSpPr>
          <p:cNvPr id="11" name="object 6">
            <a:extLst>
              <a:ext uri="{FF2B5EF4-FFF2-40B4-BE49-F238E27FC236}">
                <a16:creationId xmlns:a16="http://schemas.microsoft.com/office/drawing/2014/main" id="{C01D0CB2-E4D7-4AE8-8DAA-C1D0E5E498B9}"/>
              </a:ext>
            </a:extLst>
          </p:cNvPr>
          <p:cNvSpPr txBox="1"/>
          <p:nvPr/>
        </p:nvSpPr>
        <p:spPr>
          <a:xfrm>
            <a:off x="671131" y="5257800"/>
            <a:ext cx="11216069" cy="813684"/>
          </a:xfrm>
          <a:prstGeom prst="rect">
            <a:avLst/>
          </a:prstGeom>
        </p:spPr>
        <p:txBody>
          <a:bodyPr vert="horz" wrap="square" lIns="0" tIns="13335" rIns="0" bIns="0" rtlCol="0">
            <a:spAutoFit/>
          </a:bodyPr>
          <a:lstStyle/>
          <a:p>
            <a:pPr marL="12700" marR="5080" algn="just">
              <a:lnSpc>
                <a:spcPct val="100000"/>
              </a:lnSpc>
              <a:spcBef>
                <a:spcPts val="105"/>
              </a:spcBef>
            </a:pPr>
            <a:r>
              <a:rPr sz="2600" dirty="0">
                <a:latin typeface="Arial"/>
                <a:cs typeface="Arial"/>
              </a:rPr>
              <a:t>=&gt; Since the assertions are separate, </a:t>
            </a:r>
            <a:r>
              <a:rPr sz="2600" spc="-5" dirty="0">
                <a:latin typeface="Arial"/>
                <a:cs typeface="Arial"/>
              </a:rPr>
              <a:t>it </a:t>
            </a:r>
            <a:r>
              <a:rPr sz="2600" dirty="0">
                <a:latin typeface="Arial"/>
                <a:cs typeface="Arial"/>
              </a:rPr>
              <a:t>is not possible to dra  w any conclusion about similarities between Socrates and</a:t>
            </a:r>
            <a:r>
              <a:rPr sz="2600" spc="-50" dirty="0">
                <a:latin typeface="Arial"/>
                <a:cs typeface="Arial"/>
              </a:rPr>
              <a:t> </a:t>
            </a:r>
            <a:r>
              <a:rPr sz="2600" dirty="0">
                <a:latin typeface="Arial"/>
                <a:cs typeface="Arial"/>
              </a:rPr>
              <a:t>Pl  ato.</a:t>
            </a:r>
          </a:p>
        </p:txBody>
      </p:sp>
    </p:spTree>
    <p:extLst>
      <p:ext uri="{BB962C8B-B14F-4D97-AF65-F5344CB8AC3E}">
        <p14:creationId xmlns:p14="http://schemas.microsoft.com/office/powerpoint/2010/main" val="4091852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Representing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9" name="object 3">
            <a:extLst>
              <a:ext uri="{FF2B5EF4-FFF2-40B4-BE49-F238E27FC236}">
                <a16:creationId xmlns:a16="http://schemas.microsoft.com/office/drawing/2014/main" id="{DAA0542A-FE2D-42EB-85DE-B20114A42F58}"/>
              </a:ext>
            </a:extLst>
          </p:cNvPr>
          <p:cNvSpPr txBox="1"/>
          <p:nvPr/>
        </p:nvSpPr>
        <p:spPr>
          <a:xfrm>
            <a:off x="1326781" y="2289725"/>
            <a:ext cx="9146337" cy="422275"/>
          </a:xfrm>
          <a:prstGeom prst="rect">
            <a:avLst/>
          </a:prstGeom>
        </p:spPr>
        <p:txBody>
          <a:bodyPr vert="horz" wrap="square" lIns="0" tIns="13335" rIns="0" bIns="0" rtlCol="0">
            <a:spAutoFit/>
          </a:bodyPr>
          <a:lstStyle/>
          <a:p>
            <a:pPr marL="12700">
              <a:lnSpc>
                <a:spcPct val="100000"/>
              </a:lnSpc>
              <a:spcBef>
                <a:spcPts val="105"/>
              </a:spcBef>
            </a:pPr>
            <a:r>
              <a:rPr sz="2600" dirty="0">
                <a:latin typeface="+mj-lt"/>
                <a:cs typeface="Arial"/>
              </a:rPr>
              <a:t>It would be much better to represent these facts</a:t>
            </a:r>
            <a:r>
              <a:rPr sz="2600" spc="-45" dirty="0">
                <a:latin typeface="+mj-lt"/>
                <a:cs typeface="Arial"/>
              </a:rPr>
              <a:t> </a:t>
            </a:r>
            <a:r>
              <a:rPr sz="2600" dirty="0">
                <a:latin typeface="+mj-lt"/>
                <a:cs typeface="Arial"/>
              </a:rPr>
              <a:t>as</a:t>
            </a:r>
          </a:p>
        </p:txBody>
      </p:sp>
      <p:sp>
        <p:nvSpPr>
          <p:cNvPr id="10" name="object 4">
            <a:extLst>
              <a:ext uri="{FF2B5EF4-FFF2-40B4-BE49-F238E27FC236}">
                <a16:creationId xmlns:a16="http://schemas.microsoft.com/office/drawing/2014/main" id="{BFF91912-DB6A-44B6-B62B-E46F9F45DE36}"/>
              </a:ext>
            </a:extLst>
          </p:cNvPr>
          <p:cNvSpPr txBox="1"/>
          <p:nvPr/>
        </p:nvSpPr>
        <p:spPr>
          <a:xfrm>
            <a:off x="175217" y="4839755"/>
            <a:ext cx="11841565" cy="1812419"/>
          </a:xfrm>
          <a:prstGeom prst="rect">
            <a:avLst/>
          </a:prstGeom>
        </p:spPr>
        <p:txBody>
          <a:bodyPr vert="horz" wrap="square" lIns="0" tIns="13335" rIns="0" bIns="0" rtlCol="0">
            <a:spAutoFit/>
          </a:bodyPr>
          <a:lstStyle/>
          <a:p>
            <a:pPr marL="355600" marR="8890" indent="-342900" algn="just">
              <a:lnSpc>
                <a:spcPct val="150000"/>
              </a:lnSpc>
              <a:spcBef>
                <a:spcPts val="105"/>
              </a:spcBef>
              <a:buSzPct val="96153"/>
              <a:buFont typeface="Arial" panose="020B0604020202020204" pitchFamily="34" charset="0"/>
              <a:buChar char="•"/>
              <a:tabLst>
                <a:tab pos="129539" algn="l"/>
              </a:tabLst>
            </a:pPr>
            <a:r>
              <a:rPr sz="2000" spc="-5" dirty="0">
                <a:latin typeface="+mj-lt"/>
                <a:cs typeface="Arial"/>
              </a:rPr>
              <a:t>This </a:t>
            </a:r>
            <a:r>
              <a:rPr sz="2000" dirty="0">
                <a:latin typeface="+mj-lt"/>
                <a:cs typeface="Arial"/>
              </a:rPr>
              <a:t>fails </a:t>
            </a:r>
            <a:r>
              <a:rPr sz="2000" spc="-5" dirty="0">
                <a:latin typeface="+mj-lt"/>
                <a:cs typeface="Arial"/>
              </a:rPr>
              <a:t>to </a:t>
            </a:r>
            <a:r>
              <a:rPr sz="2000" dirty="0">
                <a:latin typeface="+mj-lt"/>
                <a:cs typeface="Arial"/>
              </a:rPr>
              <a:t>capture the relationship between any individual being  a man </a:t>
            </a:r>
            <a:r>
              <a:rPr sz="2000" spc="5" dirty="0">
                <a:latin typeface="+mj-lt"/>
                <a:cs typeface="Arial"/>
              </a:rPr>
              <a:t>and </a:t>
            </a:r>
            <a:r>
              <a:rPr sz="2000" dirty="0">
                <a:latin typeface="+mj-lt"/>
                <a:cs typeface="Arial"/>
              </a:rPr>
              <a:t>that individual being a</a:t>
            </a:r>
            <a:r>
              <a:rPr sz="2000" spc="-15" dirty="0">
                <a:latin typeface="+mj-lt"/>
                <a:cs typeface="Arial"/>
              </a:rPr>
              <a:t> </a:t>
            </a:r>
            <a:r>
              <a:rPr sz="2000" dirty="0">
                <a:latin typeface="+mj-lt"/>
                <a:cs typeface="Arial"/>
              </a:rPr>
              <a:t>mortal.</a:t>
            </a:r>
          </a:p>
          <a:p>
            <a:pPr marL="355600" marR="5080" indent="-342900" algn="just">
              <a:lnSpc>
                <a:spcPct val="150000"/>
              </a:lnSpc>
              <a:buSzPct val="96153"/>
              <a:buFont typeface="Arial" panose="020B0604020202020204" pitchFamily="34" charset="0"/>
              <a:buChar char="•"/>
              <a:tabLst>
                <a:tab pos="129539" algn="l"/>
              </a:tabLst>
            </a:pPr>
            <a:r>
              <a:rPr sz="2000" dirty="0">
                <a:latin typeface="+mj-lt"/>
                <a:cs typeface="Arial"/>
              </a:rPr>
              <a:t>Therefore </a:t>
            </a:r>
            <a:r>
              <a:rPr sz="2000" spc="-5" dirty="0">
                <a:latin typeface="+mj-lt"/>
                <a:cs typeface="Arial"/>
              </a:rPr>
              <a:t>it is necessary to move to first </a:t>
            </a:r>
            <a:r>
              <a:rPr sz="2000" dirty="0">
                <a:latin typeface="+mj-lt"/>
                <a:cs typeface="Arial"/>
              </a:rPr>
              <a:t>order predicate </a:t>
            </a:r>
            <a:r>
              <a:rPr sz="2000" spc="-5" dirty="0">
                <a:latin typeface="+mj-lt"/>
                <a:cs typeface="Arial"/>
              </a:rPr>
              <a:t>logic </a:t>
            </a:r>
            <a:r>
              <a:rPr sz="2000" dirty="0">
                <a:latin typeface="+mj-lt"/>
                <a:cs typeface="Arial"/>
              </a:rPr>
              <a:t>as a  way of representing knowledge because </a:t>
            </a:r>
            <a:r>
              <a:rPr sz="2000" spc="-5" dirty="0">
                <a:latin typeface="+mj-lt"/>
                <a:cs typeface="Arial"/>
              </a:rPr>
              <a:t>it </a:t>
            </a:r>
            <a:r>
              <a:rPr sz="2000" dirty="0">
                <a:latin typeface="+mj-lt"/>
                <a:cs typeface="Arial"/>
              </a:rPr>
              <a:t>permits representation o   f things that cannot reasonably be </a:t>
            </a:r>
            <a:r>
              <a:rPr sz="2000" spc="-5" dirty="0">
                <a:latin typeface="+mj-lt"/>
                <a:cs typeface="Arial"/>
              </a:rPr>
              <a:t>represented in </a:t>
            </a:r>
            <a:r>
              <a:rPr sz="2000" dirty="0">
                <a:latin typeface="+mj-lt"/>
                <a:cs typeface="Arial"/>
              </a:rPr>
              <a:t>prepositional logi  c.</a:t>
            </a:r>
          </a:p>
          <a:p>
            <a:pPr marL="354966" indent="-342900" algn="just">
              <a:lnSpc>
                <a:spcPct val="150000"/>
              </a:lnSpc>
              <a:buSzPct val="96153"/>
              <a:buFont typeface="Arial" panose="020B0604020202020204" pitchFamily="34" charset="0"/>
              <a:buChar char="•"/>
              <a:tabLst>
                <a:tab pos="129539" algn="l"/>
              </a:tabLst>
            </a:pPr>
            <a:r>
              <a:rPr sz="2000" spc="-5" dirty="0">
                <a:latin typeface="+mj-lt"/>
                <a:cs typeface="Arial"/>
              </a:rPr>
              <a:t>In </a:t>
            </a:r>
            <a:r>
              <a:rPr sz="2000" dirty="0">
                <a:latin typeface="+mj-lt"/>
                <a:cs typeface="Arial"/>
              </a:rPr>
              <a:t>predicate logic, real world facts are represented as</a:t>
            </a:r>
            <a:r>
              <a:rPr sz="2000" spc="235" dirty="0">
                <a:latin typeface="+mj-lt"/>
                <a:cs typeface="Arial"/>
              </a:rPr>
              <a:t> </a:t>
            </a:r>
            <a:r>
              <a:rPr sz="2000" dirty="0">
                <a:latin typeface="+mj-lt"/>
                <a:cs typeface="Arial"/>
              </a:rPr>
              <a:t>statements</a:t>
            </a:r>
            <a:r>
              <a:rPr lang="en-IN" sz="2000" dirty="0">
                <a:latin typeface="+mj-lt"/>
                <a:cs typeface="Arial"/>
              </a:rPr>
              <a:t> written as well-formed formula </a:t>
            </a:r>
            <a:r>
              <a:rPr lang="en-IN" sz="2000" spc="-65" dirty="0">
                <a:latin typeface="+mj-lt"/>
                <a:cs typeface="Arial"/>
              </a:rPr>
              <a:t> (</a:t>
            </a:r>
            <a:r>
              <a:rPr lang="en-IN" sz="2000" spc="-5" dirty="0" err="1">
                <a:latin typeface="+mj-lt"/>
                <a:cs typeface="Arial"/>
              </a:rPr>
              <a:t>wff’s</a:t>
            </a:r>
            <a:r>
              <a:rPr lang="en-IN" sz="2000" spc="-5" dirty="0">
                <a:latin typeface="+mj-lt"/>
                <a:cs typeface="Arial"/>
              </a:rPr>
              <a:t>)</a:t>
            </a:r>
            <a:endParaRPr sz="2000" dirty="0">
              <a:latin typeface="+mj-lt"/>
              <a:cs typeface="Arial"/>
            </a:endParaRPr>
          </a:p>
        </p:txBody>
      </p:sp>
      <p:graphicFrame>
        <p:nvGraphicFramePr>
          <p:cNvPr id="12" name="object 6">
            <a:extLst>
              <a:ext uri="{FF2B5EF4-FFF2-40B4-BE49-F238E27FC236}">
                <a16:creationId xmlns:a16="http://schemas.microsoft.com/office/drawing/2014/main" id="{439D4B6D-0B7D-42A8-BFEA-7D3DC74EF4DC}"/>
              </a:ext>
            </a:extLst>
          </p:cNvPr>
          <p:cNvGraphicFramePr>
            <a:graphicFrameLocks noGrp="1"/>
          </p:cNvGraphicFramePr>
          <p:nvPr>
            <p:extLst/>
          </p:nvPr>
        </p:nvGraphicFramePr>
        <p:xfrm>
          <a:off x="873204" y="2826865"/>
          <a:ext cx="10053490" cy="1836674"/>
        </p:xfrm>
        <a:graphic>
          <a:graphicData uri="http://schemas.openxmlformats.org/drawingml/2006/table">
            <a:tbl>
              <a:tblPr firstRow="1" bandRow="1">
                <a:tableStyleId>{2D5ABB26-0587-4C30-8999-92F81FD0307C}</a:tableStyleId>
              </a:tblPr>
              <a:tblGrid>
                <a:gridCol w="4496794">
                  <a:extLst>
                    <a:ext uri="{9D8B030D-6E8A-4147-A177-3AD203B41FA5}">
                      <a16:colId xmlns:a16="http://schemas.microsoft.com/office/drawing/2014/main" val="20000"/>
                    </a:ext>
                  </a:extLst>
                </a:gridCol>
                <a:gridCol w="5556696">
                  <a:extLst>
                    <a:ext uri="{9D8B030D-6E8A-4147-A177-3AD203B41FA5}">
                      <a16:colId xmlns:a16="http://schemas.microsoft.com/office/drawing/2014/main" val="20001"/>
                    </a:ext>
                  </a:extLst>
                </a:gridCol>
              </a:tblGrid>
              <a:tr h="644525">
                <a:tc>
                  <a:txBody>
                    <a:bodyPr/>
                    <a:lstStyle/>
                    <a:p>
                      <a:pPr marL="74930">
                        <a:lnSpc>
                          <a:spcPts val="2960"/>
                        </a:lnSpc>
                      </a:pPr>
                      <a:r>
                        <a:rPr sz="2600" spc="-5" dirty="0">
                          <a:solidFill>
                            <a:srgbClr val="000099"/>
                          </a:solidFill>
                          <a:latin typeface="Calibri"/>
                          <a:cs typeface="Calibri"/>
                        </a:rPr>
                        <a:t>Socrates </a:t>
                      </a:r>
                      <a:r>
                        <a:rPr sz="2600" dirty="0">
                          <a:solidFill>
                            <a:srgbClr val="000099"/>
                          </a:solidFill>
                          <a:latin typeface="Calibri"/>
                          <a:cs typeface="Calibri"/>
                        </a:rPr>
                        <a:t>is a</a:t>
                      </a:r>
                      <a:r>
                        <a:rPr sz="2600" spc="-30" dirty="0">
                          <a:solidFill>
                            <a:srgbClr val="000099"/>
                          </a:solidFill>
                          <a:latin typeface="Calibri"/>
                          <a:cs typeface="Calibri"/>
                        </a:rPr>
                        <a:t> </a:t>
                      </a:r>
                      <a:r>
                        <a:rPr sz="2600" dirty="0">
                          <a:solidFill>
                            <a:srgbClr val="000099"/>
                          </a:solidFill>
                          <a:latin typeface="Calibri"/>
                          <a:cs typeface="Calibri"/>
                        </a:rPr>
                        <a:t>man</a:t>
                      </a:r>
                      <a:endParaRPr sz="2600" dirty="0">
                        <a:latin typeface="Calibri"/>
                        <a:cs typeface="Calibri"/>
                      </a:endParaRPr>
                    </a:p>
                  </a:txBody>
                  <a:tcPr marL="0" marR="0" marT="0" marB="0">
                    <a:lnL w="38100">
                      <a:solidFill>
                        <a:srgbClr val="000000"/>
                      </a:solidFill>
                      <a:prstDash val="solid"/>
                    </a:lnL>
                    <a:lnR w="19050">
                      <a:solidFill>
                        <a:srgbClr val="000000"/>
                      </a:solidFill>
                      <a:prstDash val="solid"/>
                    </a:lnR>
                    <a:lnT w="38100">
                      <a:solidFill>
                        <a:srgbClr val="000000"/>
                      </a:solidFill>
                      <a:prstDash val="solid"/>
                    </a:lnT>
                    <a:lnB w="38100">
                      <a:solidFill>
                        <a:srgbClr val="000000"/>
                      </a:solidFill>
                      <a:prstDash val="solid"/>
                    </a:lnB>
                  </a:tcPr>
                </a:tc>
                <a:tc>
                  <a:txBody>
                    <a:bodyPr/>
                    <a:lstStyle/>
                    <a:p>
                      <a:pPr marL="82550">
                        <a:lnSpc>
                          <a:spcPts val="2960"/>
                        </a:lnSpc>
                      </a:pPr>
                      <a:r>
                        <a:rPr sz="2600" dirty="0">
                          <a:solidFill>
                            <a:srgbClr val="000099"/>
                          </a:solidFill>
                          <a:latin typeface="Calibri"/>
                          <a:cs typeface="Calibri"/>
                        </a:rPr>
                        <a:t>man(socrates)</a:t>
                      </a:r>
                      <a:endParaRPr sz="2600">
                        <a:latin typeface="Calibri"/>
                        <a:cs typeface="Calibri"/>
                      </a:endParaRPr>
                    </a:p>
                  </a:txBody>
                  <a:tcPr marL="0" marR="0" marT="0" marB="0">
                    <a:lnL w="1905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668274">
                <a:tc>
                  <a:txBody>
                    <a:bodyPr/>
                    <a:lstStyle/>
                    <a:p>
                      <a:pPr marL="74930">
                        <a:lnSpc>
                          <a:spcPts val="2960"/>
                        </a:lnSpc>
                      </a:pPr>
                      <a:r>
                        <a:rPr sz="2600" dirty="0">
                          <a:solidFill>
                            <a:srgbClr val="000099"/>
                          </a:solidFill>
                          <a:latin typeface="Calibri"/>
                          <a:cs typeface="Calibri"/>
                        </a:rPr>
                        <a:t>Plato is a</a:t>
                      </a:r>
                      <a:r>
                        <a:rPr sz="2600" spc="-20" dirty="0">
                          <a:solidFill>
                            <a:srgbClr val="000099"/>
                          </a:solidFill>
                          <a:latin typeface="Calibri"/>
                          <a:cs typeface="Calibri"/>
                        </a:rPr>
                        <a:t> </a:t>
                      </a:r>
                      <a:r>
                        <a:rPr sz="2600" dirty="0">
                          <a:solidFill>
                            <a:srgbClr val="000099"/>
                          </a:solidFill>
                          <a:latin typeface="Calibri"/>
                          <a:cs typeface="Calibri"/>
                        </a:rPr>
                        <a:t>man</a:t>
                      </a:r>
                      <a:endParaRPr sz="2600" dirty="0">
                        <a:latin typeface="Calibri"/>
                        <a:cs typeface="Calibri"/>
                      </a:endParaRPr>
                    </a:p>
                  </a:txBody>
                  <a:tcPr marL="0" marR="0" marT="0" marB="0">
                    <a:lnL w="38100">
                      <a:solidFill>
                        <a:srgbClr val="000000"/>
                      </a:solidFill>
                      <a:prstDash val="solid"/>
                    </a:lnL>
                    <a:lnR w="19050">
                      <a:solidFill>
                        <a:srgbClr val="000000"/>
                      </a:solidFill>
                      <a:prstDash val="solid"/>
                    </a:lnR>
                    <a:lnT w="38100">
                      <a:solidFill>
                        <a:srgbClr val="000000"/>
                      </a:solidFill>
                      <a:prstDash val="solid"/>
                    </a:lnT>
                    <a:lnB w="38100">
                      <a:solidFill>
                        <a:srgbClr val="000000"/>
                      </a:solidFill>
                      <a:prstDash val="solid"/>
                    </a:lnB>
                  </a:tcPr>
                </a:tc>
                <a:tc>
                  <a:txBody>
                    <a:bodyPr/>
                    <a:lstStyle/>
                    <a:p>
                      <a:pPr marL="82550">
                        <a:lnSpc>
                          <a:spcPts val="2960"/>
                        </a:lnSpc>
                      </a:pPr>
                      <a:r>
                        <a:rPr sz="2600" dirty="0">
                          <a:solidFill>
                            <a:srgbClr val="000099"/>
                          </a:solidFill>
                          <a:latin typeface="Calibri"/>
                          <a:cs typeface="Calibri"/>
                        </a:rPr>
                        <a:t>man(plato)</a:t>
                      </a:r>
                      <a:endParaRPr sz="2600">
                        <a:latin typeface="Calibri"/>
                        <a:cs typeface="Calibri"/>
                      </a:endParaRPr>
                    </a:p>
                  </a:txBody>
                  <a:tcPr marL="0" marR="0" marT="0" marB="0">
                    <a:lnL w="1905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1"/>
                  </a:ext>
                </a:extLst>
              </a:tr>
              <a:tr h="523875">
                <a:tc>
                  <a:txBody>
                    <a:bodyPr/>
                    <a:lstStyle/>
                    <a:p>
                      <a:pPr marL="74930">
                        <a:lnSpc>
                          <a:spcPts val="2965"/>
                        </a:lnSpc>
                      </a:pPr>
                      <a:r>
                        <a:rPr sz="2600" dirty="0">
                          <a:solidFill>
                            <a:srgbClr val="000099"/>
                          </a:solidFill>
                          <a:latin typeface="Calibri"/>
                          <a:cs typeface="Calibri"/>
                        </a:rPr>
                        <a:t>All </a:t>
                      </a:r>
                      <a:r>
                        <a:rPr sz="2600" spc="-5" dirty="0">
                          <a:solidFill>
                            <a:srgbClr val="000099"/>
                          </a:solidFill>
                          <a:latin typeface="Calibri"/>
                          <a:cs typeface="Calibri"/>
                        </a:rPr>
                        <a:t>men </a:t>
                      </a:r>
                      <a:r>
                        <a:rPr sz="2600" dirty="0">
                          <a:solidFill>
                            <a:srgbClr val="000099"/>
                          </a:solidFill>
                          <a:latin typeface="Calibri"/>
                          <a:cs typeface="Calibri"/>
                        </a:rPr>
                        <a:t>are</a:t>
                      </a:r>
                      <a:r>
                        <a:rPr sz="2600" spc="-30" dirty="0">
                          <a:solidFill>
                            <a:srgbClr val="000099"/>
                          </a:solidFill>
                          <a:latin typeface="Calibri"/>
                          <a:cs typeface="Calibri"/>
                        </a:rPr>
                        <a:t> </a:t>
                      </a:r>
                      <a:r>
                        <a:rPr sz="2600" dirty="0">
                          <a:solidFill>
                            <a:srgbClr val="000099"/>
                          </a:solidFill>
                          <a:latin typeface="Calibri"/>
                          <a:cs typeface="Calibri"/>
                        </a:rPr>
                        <a:t>mortal</a:t>
                      </a:r>
                      <a:endParaRPr sz="2600" dirty="0">
                        <a:latin typeface="Calibri"/>
                        <a:cs typeface="Calibri"/>
                      </a:endParaRPr>
                    </a:p>
                  </a:txBody>
                  <a:tcPr marL="0" marR="0" marT="0" marB="0">
                    <a:lnL w="38100">
                      <a:solidFill>
                        <a:srgbClr val="000000"/>
                      </a:solidFill>
                      <a:prstDash val="solid"/>
                    </a:lnL>
                    <a:lnR w="19050">
                      <a:solidFill>
                        <a:srgbClr val="000000"/>
                      </a:solidFill>
                      <a:prstDash val="solid"/>
                    </a:lnR>
                    <a:lnT w="38100">
                      <a:solidFill>
                        <a:srgbClr val="000000"/>
                      </a:solidFill>
                      <a:prstDash val="solid"/>
                    </a:lnT>
                    <a:lnB w="38100">
                      <a:solidFill>
                        <a:srgbClr val="000000"/>
                      </a:solidFill>
                      <a:prstDash val="solid"/>
                    </a:lnB>
                  </a:tcPr>
                </a:tc>
                <a:tc>
                  <a:txBody>
                    <a:bodyPr/>
                    <a:lstStyle/>
                    <a:p>
                      <a:pPr marL="82550">
                        <a:lnSpc>
                          <a:spcPts val="2965"/>
                        </a:lnSpc>
                      </a:pPr>
                      <a:r>
                        <a:rPr sz="2600" dirty="0">
                          <a:solidFill>
                            <a:srgbClr val="000099"/>
                          </a:solidFill>
                          <a:latin typeface="Calibri"/>
                          <a:cs typeface="Calibri"/>
                        </a:rPr>
                        <a:t>mortalman</a:t>
                      </a:r>
                      <a:endParaRPr sz="2600" dirty="0">
                        <a:latin typeface="Calibri"/>
                        <a:cs typeface="Calibri"/>
                      </a:endParaRPr>
                    </a:p>
                  </a:txBody>
                  <a:tcPr marL="0" marR="0" marT="0" marB="0">
                    <a:lnL w="1905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91908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332942" y="1697227"/>
            <a:ext cx="9344457" cy="996427"/>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a:t>
            </a:r>
            <a:br>
              <a:rPr lang="en-US" sz="3200" spc="-10" dirty="0">
                <a:solidFill>
                  <a:srgbClr val="FFFFFF"/>
                </a:solidFill>
              </a:rPr>
            </a:b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078745"/>
          </a:xfrm>
          <a:prstGeom prst="rect">
            <a:avLst/>
          </a:prstGeom>
        </p:spPr>
        <p:txBody>
          <a:bodyPr vert="horz" wrap="square" lIns="0" tIns="11430" rIns="0" bIns="0" rtlCol="0">
            <a:spAutoFit/>
          </a:bodyPr>
          <a:lstStyle/>
          <a:p>
            <a:r>
              <a:rPr lang="en-US" sz="2400" b="1" dirty="0"/>
              <a:t>Representation of Simple Facts in</a:t>
            </a:r>
          </a:p>
          <a:p>
            <a:r>
              <a:rPr lang="en-US" sz="2400" dirty="0"/>
              <a:t>Propositional logic is useful because it is simple to deal with and a decision procedure for it exists.</a:t>
            </a:r>
          </a:p>
          <a:p>
            <a:r>
              <a:rPr lang="en-US" sz="2400" dirty="0"/>
              <a:t>Also, In order to draw conclusions, facts are represented in a more convenient way as,</a:t>
            </a:r>
          </a:p>
          <a:p>
            <a:pPr marL="342900" lvl="0" indent="-342900">
              <a:buFont typeface="+mj-lt"/>
              <a:buAutoNum type="arabicPeriod"/>
            </a:pPr>
            <a:r>
              <a:rPr lang="en-US" sz="2400" dirty="0"/>
              <a:t>Marcus is a man.</a:t>
            </a:r>
          </a:p>
          <a:p>
            <a:pPr marL="738188" lvl="0" indent="-339725">
              <a:buFont typeface="Arial" panose="020B0604020202020204" pitchFamily="34" charset="0"/>
              <a:buChar char="•"/>
            </a:pPr>
            <a:r>
              <a:rPr lang="en-US" sz="2400" dirty="0"/>
              <a:t>man(Marcus)</a:t>
            </a:r>
          </a:p>
          <a:p>
            <a:pPr lvl="0"/>
            <a:r>
              <a:rPr lang="en-US" sz="2400" dirty="0"/>
              <a:t>2.   Plato is a man.</a:t>
            </a:r>
          </a:p>
          <a:p>
            <a:pPr marL="742950" lvl="1" indent="-285750">
              <a:buFont typeface="Arial" panose="020B0604020202020204" pitchFamily="34" charset="0"/>
              <a:buChar char="•"/>
            </a:pPr>
            <a:r>
              <a:rPr lang="en-US" sz="2400" dirty="0"/>
              <a:t>man(Plato)</a:t>
            </a:r>
          </a:p>
          <a:p>
            <a:pPr lvl="0"/>
            <a:r>
              <a:rPr lang="en-US" sz="2400" dirty="0"/>
              <a:t>3.   All men are mortal.</a:t>
            </a:r>
          </a:p>
          <a:p>
            <a:pPr marL="742950" lvl="1" indent="-285750">
              <a:buFont typeface="Arial" panose="020B0604020202020204" pitchFamily="34" charset="0"/>
              <a:buChar char="•"/>
            </a:pPr>
            <a:r>
              <a:rPr lang="en-US" sz="2400" dirty="0"/>
              <a:t>mortal(men)</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23603614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817409"/>
          </a:xfrm>
          <a:prstGeom prst="rect">
            <a:avLst/>
          </a:prstGeom>
        </p:spPr>
        <p:txBody>
          <a:bodyPr vert="horz" wrap="square" lIns="0" tIns="11430" rIns="0" bIns="0" rtlCol="0">
            <a:spAutoFit/>
          </a:bodyPr>
          <a:lstStyle/>
          <a:p>
            <a:r>
              <a:rPr lang="en-US" sz="2400" dirty="0"/>
              <a:t>A well-formed formula (</a:t>
            </a:r>
            <a:r>
              <a:rPr lang="en-US" sz="2400" i="1" dirty="0" err="1"/>
              <a:t>wff</a:t>
            </a:r>
            <a:r>
              <a:rPr lang="en-US" sz="2400" dirty="0"/>
              <a:t>) is a sentence containing no “free” variables. So, That is, all variables are “bound” by universal or existential quantifiers.</a:t>
            </a:r>
          </a:p>
          <a:p>
            <a:r>
              <a:rPr lang="en-US" sz="2400" dirty="0"/>
              <a:t>(∀x)P(x, y) has x bound as a universally quantified variable, but y is free.</a:t>
            </a:r>
          </a:p>
          <a:p>
            <a:r>
              <a:rPr lang="en-US" sz="2400" b="1" dirty="0"/>
              <a:t>Quantifiers</a:t>
            </a:r>
          </a:p>
          <a:p>
            <a:r>
              <a:rPr lang="en-US" sz="2400" b="1" dirty="0"/>
              <a:t>Universal quantification</a:t>
            </a:r>
          </a:p>
          <a:p>
            <a:pPr marL="742950" lvl="1" indent="-285750">
              <a:buFont typeface="Arial" panose="020B0604020202020204" pitchFamily="34" charset="0"/>
              <a:buChar char="•"/>
            </a:pPr>
            <a:r>
              <a:rPr lang="en-US" sz="2400" dirty="0"/>
              <a:t>(∀x)P(x) means that P holds for all values of x in the domain associated with that variable</a:t>
            </a:r>
          </a:p>
          <a:p>
            <a:pPr marL="742950" lvl="1" indent="-285750">
              <a:buFont typeface="Arial" panose="020B0604020202020204" pitchFamily="34" charset="0"/>
              <a:buChar char="•"/>
            </a:pPr>
            <a:r>
              <a:rPr lang="en-US" sz="2400" dirty="0"/>
              <a:t>E.g., (∀x) dolphin(x) → mammal(x) </a:t>
            </a:r>
          </a:p>
          <a:p>
            <a:pPr marL="0" lvl="1"/>
            <a:r>
              <a:rPr lang="en-US" sz="2400" b="1" dirty="0"/>
              <a:t>Existential quantification</a:t>
            </a:r>
          </a:p>
          <a:p>
            <a:pPr marL="742950" lvl="1" indent="-285750">
              <a:buFont typeface="Arial" panose="020B0604020202020204" pitchFamily="34" charset="0"/>
              <a:buChar char="•"/>
            </a:pPr>
            <a:r>
              <a:rPr lang="en-US" sz="2400" dirty="0"/>
              <a:t>(∃ x)P(x) means that P holds for some value of x in the domain associated with that variable</a:t>
            </a:r>
          </a:p>
          <a:p>
            <a:pPr marL="742950" lvl="1" indent="-285750">
              <a:buFont typeface="Arial" panose="020B0604020202020204" pitchFamily="34" charset="0"/>
              <a:buChar char="•"/>
            </a:pPr>
            <a:r>
              <a:rPr lang="en-US" sz="2400" dirty="0"/>
              <a:t>E.g., (∃ x) mammal(x) 𝖠 lays-eggs(x)</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7018059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706658"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 		Cont..</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078745"/>
          </a:xfrm>
          <a:prstGeom prst="rect">
            <a:avLst/>
          </a:prstGeom>
        </p:spPr>
        <p:txBody>
          <a:bodyPr vert="horz" wrap="square" lIns="0" tIns="11430" rIns="0" bIns="0" rtlCol="0">
            <a:spAutoFit/>
          </a:bodyPr>
          <a:lstStyle/>
          <a:p>
            <a:r>
              <a:rPr lang="en-US" sz="2400" dirty="0"/>
              <a:t>Also, Consider the following example that shows the use of predicate logic as a way of representing knowledge.</a:t>
            </a:r>
          </a:p>
          <a:p>
            <a:pPr marL="457200" indent="-457200">
              <a:buFont typeface="+mj-lt"/>
              <a:buAutoNum type="arabicPeriod"/>
            </a:pPr>
            <a:r>
              <a:rPr lang="en-US" sz="2400" dirty="0"/>
              <a:t>Marcus was a man.</a:t>
            </a:r>
          </a:p>
          <a:p>
            <a:pPr marL="457200" indent="-457200">
              <a:buFont typeface="+mj-lt"/>
              <a:buAutoNum type="arabicPeriod"/>
            </a:pPr>
            <a:r>
              <a:rPr lang="en-US" sz="2400" dirty="0"/>
              <a:t>Marcus was a Pompeian.</a:t>
            </a:r>
          </a:p>
          <a:p>
            <a:pPr marL="457200" indent="-457200">
              <a:buFont typeface="+mj-lt"/>
              <a:buAutoNum type="arabicPeriod"/>
            </a:pPr>
            <a:r>
              <a:rPr lang="en-US" sz="2400" dirty="0"/>
              <a:t>All </a:t>
            </a:r>
            <a:r>
              <a:rPr lang="en-US" sz="2400" dirty="0" err="1"/>
              <a:t>Pompeians</a:t>
            </a:r>
            <a:r>
              <a:rPr lang="en-US" sz="2400" dirty="0"/>
              <a:t> were Romans.</a:t>
            </a:r>
          </a:p>
          <a:p>
            <a:pPr marL="457200" indent="-457200">
              <a:buFont typeface="+mj-lt"/>
              <a:buAutoNum type="arabicPeriod"/>
            </a:pPr>
            <a:r>
              <a:rPr lang="en-US" sz="2400" dirty="0"/>
              <a:t>Caesar was a ruler.</a:t>
            </a:r>
          </a:p>
          <a:p>
            <a:pPr marL="457200" indent="-457200">
              <a:buFont typeface="+mj-lt"/>
              <a:buAutoNum type="arabicPeriod"/>
            </a:pPr>
            <a:r>
              <a:rPr lang="en-US" sz="2400" dirty="0"/>
              <a:t>Also, All </a:t>
            </a:r>
            <a:r>
              <a:rPr lang="en-US" sz="2400" dirty="0" err="1"/>
              <a:t>Pompeians</a:t>
            </a:r>
            <a:r>
              <a:rPr lang="en-US" sz="2400" dirty="0"/>
              <a:t> were either loyal to Caesar or hated him</a:t>
            </a:r>
          </a:p>
          <a:p>
            <a:pPr marL="457200" indent="-457200">
              <a:buFont typeface="+mj-lt"/>
              <a:buAutoNum type="arabicPeriod"/>
            </a:pPr>
            <a:r>
              <a:rPr lang="en-US" sz="2400" dirty="0"/>
              <a:t>Everyone is loyal to someone.</a:t>
            </a:r>
          </a:p>
          <a:p>
            <a:pPr marL="457200" indent="-457200">
              <a:buFont typeface="+mj-lt"/>
              <a:buAutoNum type="arabicPeriod"/>
            </a:pPr>
            <a:r>
              <a:rPr lang="en-US" sz="2400" dirty="0"/>
              <a:t>People only try to assassinate rulers they are not loyal to.</a:t>
            </a:r>
          </a:p>
          <a:p>
            <a:pPr marL="457200" indent="-457200">
              <a:buFont typeface="+mj-lt"/>
              <a:buAutoNum type="arabicPeriod"/>
            </a:pPr>
            <a:r>
              <a:rPr lang="en-US" sz="2400" dirty="0"/>
              <a:t>Marcus tried to assassinate Caesar.</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9744344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dirty="0"/>
          </a:p>
        </p:txBody>
      </p:sp>
      <p:sp>
        <p:nvSpPr>
          <p:cNvPr id="3" name="object 3"/>
          <p:cNvSpPr txBox="1">
            <a:spLocks noGrp="1"/>
          </p:cNvSpPr>
          <p:nvPr>
            <p:ph type="title"/>
          </p:nvPr>
        </p:nvSpPr>
        <p:spPr>
          <a:xfrm>
            <a:off x="332942" y="1697227"/>
            <a:ext cx="12087658"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540410"/>
          </a:xfrm>
          <a:prstGeom prst="rect">
            <a:avLst/>
          </a:prstGeom>
        </p:spPr>
        <p:txBody>
          <a:bodyPr vert="horz" wrap="square" lIns="0" tIns="11430" rIns="0" bIns="0" rtlCol="0">
            <a:spAutoFit/>
          </a:bodyPr>
          <a:lstStyle/>
          <a:p>
            <a:r>
              <a:rPr lang="en-US" dirty="0"/>
              <a:t>The facts described by these sentences can be represented as a set of well-formed formulas (</a:t>
            </a:r>
            <a:r>
              <a:rPr lang="en-US" dirty="0" err="1"/>
              <a:t>wffs</a:t>
            </a:r>
            <a:r>
              <a:rPr lang="en-US" dirty="0"/>
              <a:t>) as follows:</a:t>
            </a:r>
          </a:p>
          <a:p>
            <a:r>
              <a:rPr lang="en-US" dirty="0"/>
              <a:t>1.Marcus was a man.</a:t>
            </a:r>
          </a:p>
          <a:p>
            <a:r>
              <a:rPr lang="en-US" dirty="0"/>
              <a:t>	•man(Marcus)</a:t>
            </a:r>
          </a:p>
          <a:p>
            <a:r>
              <a:rPr lang="en-US" dirty="0"/>
              <a:t>2.Marcus was a Pompeian.</a:t>
            </a:r>
          </a:p>
          <a:p>
            <a:r>
              <a:rPr lang="en-US" dirty="0"/>
              <a:t>	•Pompeian(Marcus)</a:t>
            </a:r>
          </a:p>
          <a:p>
            <a:r>
              <a:rPr lang="en-US" dirty="0"/>
              <a:t>3.All </a:t>
            </a:r>
            <a:r>
              <a:rPr lang="en-US" dirty="0" err="1"/>
              <a:t>Pompeians</a:t>
            </a:r>
            <a:r>
              <a:rPr lang="en-US" dirty="0"/>
              <a:t> were Romans.</a:t>
            </a:r>
          </a:p>
          <a:p>
            <a:r>
              <a:rPr lang="en-US" dirty="0"/>
              <a:t>	•∀x: Pompeian(x) → Roman(x)</a:t>
            </a:r>
          </a:p>
          <a:p>
            <a:r>
              <a:rPr lang="en-US" dirty="0"/>
              <a:t>4.Caesar was a ruler.</a:t>
            </a:r>
          </a:p>
          <a:p>
            <a:r>
              <a:rPr lang="en-US" dirty="0"/>
              <a:t>	•ruler(Caesar)</a:t>
            </a:r>
          </a:p>
          <a:p>
            <a:r>
              <a:rPr lang="en-US" dirty="0"/>
              <a:t>5.All </a:t>
            </a:r>
            <a:r>
              <a:rPr lang="en-US" dirty="0" err="1"/>
              <a:t>Pompeians</a:t>
            </a:r>
            <a:r>
              <a:rPr lang="en-US" dirty="0"/>
              <a:t> were either loyal to Caesar or hated him.</a:t>
            </a:r>
          </a:p>
          <a:p>
            <a:r>
              <a:rPr lang="en-US" dirty="0"/>
              <a:t>	•inclusive-or</a:t>
            </a:r>
          </a:p>
          <a:p>
            <a:r>
              <a:rPr lang="en-US" dirty="0"/>
              <a:t>	•∀x: Roman(x) → </a:t>
            </a:r>
            <a:r>
              <a:rPr lang="en-US" dirty="0" err="1"/>
              <a:t>loyalto</a:t>
            </a:r>
            <a:r>
              <a:rPr lang="en-US" dirty="0"/>
              <a:t>(x, Caesar) ∨ hate(x, Caesar)</a:t>
            </a:r>
          </a:p>
          <a:p>
            <a:r>
              <a:rPr lang="en-US" dirty="0"/>
              <a:t>	•exclusive-or</a:t>
            </a:r>
          </a:p>
          <a:p>
            <a:r>
              <a:rPr lang="en-US" dirty="0"/>
              <a:t>	•∀x: Roman(x) → (</a:t>
            </a:r>
            <a:r>
              <a:rPr lang="en-US" dirty="0" err="1"/>
              <a:t>loyalto</a:t>
            </a:r>
            <a:r>
              <a:rPr lang="en-US" dirty="0"/>
              <a:t>(x, Caesar) 𝖠¬ hate(x, Caesar)) ∨	</a:t>
            </a:r>
          </a:p>
          <a:p>
            <a:r>
              <a:rPr lang="en-US" dirty="0"/>
              <a:t>	•(</a:t>
            </a:r>
            <a:r>
              <a:rPr lang="en-US" dirty="0" err="1"/>
              <a:t>loyalto</a:t>
            </a:r>
            <a:r>
              <a:rPr lang="en-US" dirty="0"/>
              <a:t>(x, Caesar) 𝖠 hate(x, Caesar))</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18597042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3933064"/>
          </a:xfrm>
          <a:prstGeom prst="rect">
            <a:avLst/>
          </a:prstGeom>
        </p:spPr>
        <p:txBody>
          <a:bodyPr vert="horz" wrap="square" lIns="0" tIns="11430" rIns="0" bIns="0" rtlCol="0">
            <a:spAutoFit/>
          </a:bodyPr>
          <a:lstStyle/>
          <a:p>
            <a:pPr marL="12065" marR="567690" lvl="0">
              <a:lnSpc>
                <a:spcPct val="101400"/>
              </a:lnSpc>
              <a:spcBef>
                <a:spcPts val="85"/>
              </a:spcBef>
              <a:tabLst>
                <a:tab pos="310515" algn="l"/>
              </a:tabLst>
            </a:pPr>
            <a:r>
              <a:rPr lang="en-US" sz="2000" kern="0" dirty="0">
                <a:solidFill>
                  <a:sysClr val="windowText" lastClr="000000"/>
                </a:solidFill>
                <a:latin typeface="+mj-lt"/>
                <a:cs typeface="Microsoft Sans Serif"/>
              </a:rPr>
              <a:t>6.	Everyone is loyal to someone.</a:t>
            </a:r>
          </a:p>
          <a:p>
            <a:pPr marL="515938" marR="567690" lvl="0" indent="-234950">
              <a:lnSpc>
                <a:spcPct val="101400"/>
              </a:lnSpc>
              <a:spcBef>
                <a:spcPts val="85"/>
              </a:spcBef>
              <a:buFont typeface="Arial" panose="020B0604020202020204" pitchFamily="34" charset="0"/>
              <a:buChar char="•"/>
              <a:tabLst>
                <a:tab pos="693738" algn="l"/>
              </a:tabLst>
            </a:pPr>
            <a:r>
              <a:rPr lang="en-US" sz="2000" kern="0" dirty="0">
                <a:solidFill>
                  <a:sysClr val="windowText" lastClr="000000"/>
                </a:solidFill>
                <a:latin typeface="+mj-lt"/>
                <a:cs typeface="Microsoft Sans Serif"/>
              </a:rPr>
              <a:t>∀x: ∃y: </a:t>
            </a:r>
            <a:r>
              <a:rPr lang="en-US" sz="2000" kern="0" dirty="0" err="1">
                <a:solidFill>
                  <a:sysClr val="windowText" lastClr="000000"/>
                </a:solidFill>
                <a:latin typeface="+mj-lt"/>
                <a:cs typeface="Microsoft Sans Serif"/>
              </a:rPr>
              <a:t>loyalto</a:t>
            </a:r>
            <a:r>
              <a:rPr lang="en-US" sz="2000" kern="0" dirty="0">
                <a:solidFill>
                  <a:sysClr val="windowText" lastClr="000000"/>
                </a:solidFill>
                <a:latin typeface="+mj-lt"/>
                <a:cs typeface="Microsoft Sans Serif"/>
              </a:rPr>
              <a:t>(x, y)</a:t>
            </a:r>
          </a:p>
          <a:p>
            <a:pPr marL="12065" marR="567690" lvl="0">
              <a:lnSpc>
                <a:spcPct val="101400"/>
              </a:lnSpc>
              <a:spcBef>
                <a:spcPts val="85"/>
              </a:spcBef>
              <a:tabLst>
                <a:tab pos="310515" algn="l"/>
              </a:tabLst>
            </a:pPr>
            <a:endParaRPr lang="en-US"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r>
              <a:rPr lang="en-US" sz="2000" kern="0" dirty="0">
                <a:solidFill>
                  <a:sysClr val="windowText" lastClr="000000"/>
                </a:solidFill>
                <a:latin typeface="+mj-lt"/>
                <a:cs typeface="Microsoft Sans Serif"/>
              </a:rPr>
              <a:t>7.	People only try to assassinate rulers they are not loyal to.</a:t>
            </a:r>
          </a:p>
          <a:p>
            <a:pPr marL="800100"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∀x: ∀y: person(x) 𝖠 ruler(y) 𝖠 </a:t>
            </a:r>
            <a:r>
              <a:rPr lang="en-US" sz="2000" kern="0" dirty="0" err="1">
                <a:solidFill>
                  <a:sysClr val="windowText" lastClr="000000"/>
                </a:solidFill>
                <a:latin typeface="+mj-lt"/>
                <a:cs typeface="Microsoft Sans Serif"/>
              </a:rPr>
              <a:t>tryassassinate</a:t>
            </a:r>
            <a:r>
              <a:rPr lang="en-US" sz="2000" kern="0" dirty="0">
                <a:solidFill>
                  <a:sysClr val="windowText" lastClr="000000"/>
                </a:solidFill>
                <a:latin typeface="+mj-lt"/>
                <a:cs typeface="Microsoft Sans Serif"/>
              </a:rPr>
              <a:t>(x, y)</a:t>
            </a:r>
          </a:p>
          <a:p>
            <a:pPr marL="515938" marR="567690" lvl="0">
              <a:lnSpc>
                <a:spcPct val="101400"/>
              </a:lnSpc>
              <a:spcBef>
                <a:spcPts val="85"/>
              </a:spcBef>
              <a:tabLst>
                <a:tab pos="310515" algn="l"/>
              </a:tabLst>
            </a:pPr>
            <a:r>
              <a:rPr lang="en-US" sz="2000" kern="0" dirty="0" err="1">
                <a:solidFill>
                  <a:sysClr val="windowText" lastClr="000000"/>
                </a:solidFill>
                <a:latin typeface="+mj-lt"/>
                <a:cs typeface="Microsoft Sans Serif"/>
              </a:rPr>
              <a:t>loyalto</a:t>
            </a:r>
            <a:r>
              <a:rPr lang="en-US" sz="2000" kern="0" dirty="0">
                <a:solidFill>
                  <a:sysClr val="windowText" lastClr="000000"/>
                </a:solidFill>
                <a:latin typeface="+mj-lt"/>
                <a:cs typeface="Microsoft Sans Serif"/>
              </a:rPr>
              <a:t>(x, y)</a:t>
            </a:r>
          </a:p>
          <a:p>
            <a:pPr marL="12065" marR="567690" lvl="0">
              <a:lnSpc>
                <a:spcPct val="101400"/>
              </a:lnSpc>
              <a:spcBef>
                <a:spcPts val="85"/>
              </a:spcBef>
              <a:tabLst>
                <a:tab pos="310515" algn="l"/>
              </a:tabLst>
            </a:pPr>
            <a:endParaRPr lang="en-US"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r>
              <a:rPr lang="en-US" sz="2000" kern="0" dirty="0">
                <a:solidFill>
                  <a:sysClr val="windowText" lastClr="000000"/>
                </a:solidFill>
                <a:latin typeface="+mj-lt"/>
                <a:cs typeface="Microsoft Sans Serif"/>
              </a:rPr>
              <a:t>8.	Marcus tried to assassinate Caesar.</a:t>
            </a:r>
          </a:p>
          <a:p>
            <a:pPr marL="973138" marR="567690" lvl="0" indent="-342900">
              <a:lnSpc>
                <a:spcPct val="101400"/>
              </a:lnSpc>
              <a:spcBef>
                <a:spcPts val="85"/>
              </a:spcBef>
              <a:buFont typeface="Arial" panose="020B0604020202020204" pitchFamily="34" charset="0"/>
              <a:buChar char="•"/>
              <a:tabLst>
                <a:tab pos="914400" algn="l"/>
              </a:tabLst>
            </a:pPr>
            <a:r>
              <a:rPr lang="en-US" sz="2000" kern="0" dirty="0" err="1">
                <a:solidFill>
                  <a:sysClr val="windowText" lastClr="000000"/>
                </a:solidFill>
                <a:latin typeface="+mj-lt"/>
                <a:cs typeface="Microsoft Sans Serif"/>
              </a:rPr>
              <a:t>tryassassinate</a:t>
            </a:r>
            <a:r>
              <a:rPr lang="en-US" sz="2000" kern="0" dirty="0">
                <a:solidFill>
                  <a:sysClr val="windowText" lastClr="000000"/>
                </a:solidFill>
                <a:latin typeface="+mj-lt"/>
                <a:cs typeface="Microsoft Sans Serif"/>
              </a:rPr>
              <a:t>(Marcus, Caesar)</a:t>
            </a:r>
          </a:p>
          <a:p>
            <a:pPr marL="12065" marR="567690" lvl="0">
              <a:lnSpc>
                <a:spcPct val="101400"/>
              </a:lnSpc>
              <a:spcBef>
                <a:spcPts val="85"/>
              </a:spcBef>
              <a:tabLst>
                <a:tab pos="310515" algn="l"/>
              </a:tabLst>
            </a:pPr>
            <a:endParaRPr lang="en-US"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r>
              <a:rPr lang="en-US" sz="2000" kern="0" dirty="0">
                <a:solidFill>
                  <a:sysClr val="windowText" lastClr="000000"/>
                </a:solidFill>
                <a:latin typeface="+mj-lt"/>
                <a:cs typeface="Microsoft Sans Serif"/>
              </a:rPr>
              <a:t>Now suppose if we want to use these statements to answer the question: Was Marcus loyal to Caesar?</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37048840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11706658"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397357" y="2306474"/>
            <a:ext cx="11397286" cy="1216423"/>
          </a:xfrm>
          <a:prstGeom prst="rect">
            <a:avLst/>
          </a:prstGeom>
        </p:spPr>
        <p:txBody>
          <a:bodyPr vert="horz" wrap="square" lIns="0" tIns="11430" rIns="0" bIns="0" rtlCol="0">
            <a:spAutoFit/>
          </a:bodyPr>
          <a:lstStyle/>
          <a:p>
            <a:pPr marL="285750" indent="-285750">
              <a:buFont typeface="Wingdings" panose="05000000000000000000" pitchFamily="2" charset="2"/>
              <a:buChar char="Ø"/>
            </a:pPr>
            <a:r>
              <a:rPr lang="en-US" dirty="0"/>
              <a:t>Also, Now let’s try to produce a formal proof, reasoning backward from the desired goal: </a:t>
            </a:r>
            <a:r>
              <a:rPr lang="en-US" dirty="0" err="1"/>
              <a:t>Ioyalto</a:t>
            </a:r>
            <a:r>
              <a:rPr lang="en-US" dirty="0"/>
              <a:t> (Marcus, Caesar)</a:t>
            </a:r>
          </a:p>
          <a:p>
            <a:pPr marL="285750" indent="-285750">
              <a:buFont typeface="Wingdings" panose="05000000000000000000" pitchFamily="2" charset="2"/>
              <a:buChar char="Ø"/>
            </a:pPr>
            <a:r>
              <a:rPr lang="en-US" dirty="0"/>
              <a:t>In order to prove the goal, we need to use the rules of inference to transform it into another goal (or possibly a set of goals) that can, in turn, transformed, and so on, until there are no unsatisfied goals remaining.</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pic>
        <p:nvPicPr>
          <p:cNvPr id="6" name="image2.jpeg">
            <a:extLst>
              <a:ext uri="{FF2B5EF4-FFF2-40B4-BE49-F238E27FC236}">
                <a16:creationId xmlns:a16="http://schemas.microsoft.com/office/drawing/2014/main" id="{ABFC813C-3002-427B-A367-779130FC52D2}"/>
              </a:ext>
            </a:extLst>
          </p:cNvPr>
          <p:cNvPicPr/>
          <p:nvPr/>
        </p:nvPicPr>
        <p:blipFill>
          <a:blip r:embed="rId2" cstate="print"/>
          <a:stretch>
            <a:fillRect/>
          </a:stretch>
        </p:blipFill>
        <p:spPr>
          <a:xfrm>
            <a:off x="4267200" y="3310497"/>
            <a:ext cx="3048000" cy="3027596"/>
          </a:xfrm>
          <a:prstGeom prst="rect">
            <a:avLst/>
          </a:prstGeom>
        </p:spPr>
      </p:pic>
      <p:sp>
        <p:nvSpPr>
          <p:cNvPr id="10" name="TextBox 9">
            <a:extLst>
              <a:ext uri="{FF2B5EF4-FFF2-40B4-BE49-F238E27FC236}">
                <a16:creationId xmlns:a16="http://schemas.microsoft.com/office/drawing/2014/main" id="{1C3E6D18-E867-45C0-9B99-97F35917D916}"/>
              </a:ext>
            </a:extLst>
          </p:cNvPr>
          <p:cNvSpPr txBox="1"/>
          <p:nvPr/>
        </p:nvSpPr>
        <p:spPr>
          <a:xfrm>
            <a:off x="3181863" y="6338093"/>
            <a:ext cx="5218673" cy="369332"/>
          </a:xfrm>
          <a:prstGeom prst="rect">
            <a:avLst/>
          </a:prstGeom>
          <a:noFill/>
        </p:spPr>
        <p:txBody>
          <a:bodyPr wrap="none" rtlCol="0">
            <a:spAutoFit/>
          </a:bodyPr>
          <a:lstStyle/>
          <a:p>
            <a:r>
              <a:rPr lang="en-US" dirty="0"/>
              <a:t>Figure: An attempt to prove </a:t>
            </a:r>
            <a:r>
              <a:rPr lang="en-US" dirty="0" err="1"/>
              <a:t>loyalto</a:t>
            </a:r>
            <a:r>
              <a:rPr lang="en-US" dirty="0"/>
              <a:t> (Marcus, Caesar).</a:t>
            </a:r>
          </a:p>
        </p:txBody>
      </p:sp>
    </p:spTree>
    <p:extLst>
      <p:ext uri="{BB962C8B-B14F-4D97-AF65-F5344CB8AC3E}">
        <p14:creationId xmlns:p14="http://schemas.microsoft.com/office/powerpoint/2010/main" val="36580717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Examples to Representation of Simple Facts in Logic</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76200" y="2340483"/>
            <a:ext cx="11963400" cy="4658711"/>
          </a:xfrm>
          <a:prstGeom prst="rect">
            <a:avLst/>
          </a:prstGeom>
        </p:spPr>
        <p:txBody>
          <a:bodyPr vert="horz" wrap="square" lIns="0" tIns="11430" rIns="0" bIns="0" rtlCol="0">
            <a:spAutoFit/>
          </a:bodyPr>
          <a:lstStyle/>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The problem is that, although we know that Marcus was a man, we do not have any way to conclude from that that Marcus was a person. Also, We need to add the representation  of another fact to our system, namely: ∀ man(x) → person(x)</a:t>
            </a:r>
          </a:p>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Now we can satisfy the last goal and produce a proof that Marcus was not loyal to Caesar.</a:t>
            </a:r>
          </a:p>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Moreover, From this simple example, we see that three important issues must be addressed in the process of converting English sentences into logical statements and then using those statements to deduce new ones:</a:t>
            </a:r>
          </a:p>
          <a:p>
            <a:pPr marL="354965" marR="567690" lvl="0" indent="-342900">
              <a:lnSpc>
                <a:spcPct val="101400"/>
              </a:lnSpc>
              <a:spcBef>
                <a:spcPts val="85"/>
              </a:spcBef>
              <a:buFont typeface="Arial" panose="020B0604020202020204" pitchFamily="34" charset="0"/>
              <a:buChar char="•"/>
              <a:tabLst>
                <a:tab pos="310515" algn="l"/>
              </a:tabLst>
            </a:pPr>
            <a:endParaRPr lang="en-US" kern="0" dirty="0">
              <a:solidFill>
                <a:sysClr val="windowText" lastClr="000000"/>
              </a:solidFill>
              <a:latin typeface="+mj-lt"/>
              <a:cs typeface="Microsoft Sans Serif"/>
            </a:endParaRPr>
          </a:p>
          <a:p>
            <a:pPr marL="469265" marR="567690" lvl="0" indent="-457200">
              <a:lnSpc>
                <a:spcPct val="101400"/>
              </a:lnSpc>
              <a:spcBef>
                <a:spcPts val="85"/>
              </a:spcBef>
              <a:buFont typeface="+mj-lt"/>
              <a:buAutoNum type="arabicPeriod"/>
              <a:tabLst>
                <a:tab pos="310515" algn="l"/>
              </a:tabLst>
            </a:pPr>
            <a:r>
              <a:rPr lang="en-US" kern="0" dirty="0">
                <a:solidFill>
                  <a:sysClr val="windowText" lastClr="000000"/>
                </a:solidFill>
                <a:latin typeface="+mj-lt"/>
                <a:cs typeface="Microsoft Sans Serif"/>
              </a:rPr>
              <a:t>Many English sentences are ambiguous (for example, 5, 6, and 7 above). Choosing the correct interpretation may be difficult.</a:t>
            </a:r>
          </a:p>
          <a:p>
            <a:pPr marL="469265" marR="567690" lvl="0" indent="-457200">
              <a:lnSpc>
                <a:spcPct val="101400"/>
              </a:lnSpc>
              <a:spcBef>
                <a:spcPts val="85"/>
              </a:spcBef>
              <a:buFont typeface="+mj-lt"/>
              <a:buAutoNum type="arabicPeriod"/>
              <a:tabLst>
                <a:tab pos="310515" algn="l"/>
              </a:tabLst>
            </a:pPr>
            <a:r>
              <a:rPr lang="en-US" kern="0" dirty="0">
                <a:solidFill>
                  <a:sysClr val="windowText" lastClr="000000"/>
                </a:solidFill>
                <a:latin typeface="+mj-lt"/>
                <a:cs typeface="Microsoft Sans Serif"/>
              </a:rPr>
              <a:t>Also, There is often a choice of how to represent the knowledge. Simple representations are desirable, but they may exclude certain kinds of reasoning.</a:t>
            </a:r>
          </a:p>
          <a:p>
            <a:pPr marL="469265" marR="567690" lvl="0" indent="-457200">
              <a:lnSpc>
                <a:spcPct val="101400"/>
              </a:lnSpc>
              <a:spcBef>
                <a:spcPts val="85"/>
              </a:spcBef>
              <a:buFont typeface="+mj-lt"/>
              <a:buAutoNum type="arabicPeriod"/>
              <a:tabLst>
                <a:tab pos="310515" algn="l"/>
              </a:tabLst>
            </a:pPr>
            <a:r>
              <a:rPr lang="en-US" kern="0" dirty="0" err="1">
                <a:solidFill>
                  <a:sysClr val="windowText" lastClr="000000"/>
                </a:solidFill>
                <a:latin typeface="+mj-lt"/>
                <a:cs typeface="Microsoft Sans Serif"/>
              </a:rPr>
              <a:t>Similalry</a:t>
            </a:r>
            <a:r>
              <a:rPr lang="en-US" kern="0" dirty="0">
                <a:solidFill>
                  <a:sysClr val="windowText" lastClr="000000"/>
                </a:solidFill>
                <a:latin typeface="+mj-lt"/>
                <a:cs typeface="Microsoft Sans Serif"/>
              </a:rPr>
              <a:t>, Even in very simple situations, a set of sentences is unlikely to contain all the information necessary to reason about the topic at hand. In order to be able to use a set of statements effectively. Moreover, It is usually necessary to have access to another set of statements that represent facts that people consider too obvious to mention.</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4092086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7"/>
            <a:chOff x="0" y="0"/>
            <a:chExt cx="12192000" cy="6857997"/>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2478023" y="2572511"/>
              <a:ext cx="7239000" cy="2804160"/>
            </a:xfrm>
            <a:prstGeom prst="rect">
              <a:avLst/>
            </a:prstGeom>
          </p:spPr>
        </p:pic>
        <p:sp>
          <p:nvSpPr>
            <p:cNvPr id="5" name="object 5"/>
            <p:cNvSpPr/>
            <p:nvPr/>
          </p:nvSpPr>
          <p:spPr>
            <a:xfrm>
              <a:off x="0" y="3715510"/>
              <a:ext cx="12192000" cy="2075690"/>
            </a:xfrm>
            <a:custGeom>
              <a:avLst/>
              <a:gdLst/>
              <a:ahLst/>
              <a:cxnLst/>
              <a:rect l="l" t="t" r="r" b="b"/>
              <a:pathLst>
                <a:path w="12192000" h="713739">
                  <a:moveTo>
                    <a:pt x="12192000" y="0"/>
                  </a:moveTo>
                  <a:lnTo>
                    <a:pt x="0" y="0"/>
                  </a:lnTo>
                  <a:lnTo>
                    <a:pt x="0" y="713232"/>
                  </a:lnTo>
                  <a:lnTo>
                    <a:pt x="12192000" y="713232"/>
                  </a:lnTo>
                  <a:lnTo>
                    <a:pt x="12192000" y="0"/>
                  </a:lnTo>
                  <a:close/>
                </a:path>
              </a:pathLst>
            </a:custGeom>
            <a:solidFill>
              <a:srgbClr val="1F487C"/>
            </a:solidFill>
          </p:spPr>
          <p:txBody>
            <a:bodyPr wrap="square" lIns="0" tIns="0" rIns="0" bIns="0" rtlCol="0"/>
            <a:lstStyle/>
            <a:p>
              <a:endParaRPr/>
            </a:p>
          </p:txBody>
        </p:sp>
      </p:grpSp>
      <p:sp>
        <p:nvSpPr>
          <p:cNvPr id="6" name="object 6"/>
          <p:cNvSpPr txBox="1"/>
          <p:nvPr/>
        </p:nvSpPr>
        <p:spPr>
          <a:xfrm>
            <a:off x="76200" y="3715510"/>
            <a:ext cx="11887200" cy="1103507"/>
          </a:xfrm>
          <a:prstGeom prst="rect">
            <a:avLst/>
          </a:prstGeom>
        </p:spPr>
        <p:txBody>
          <a:bodyPr vert="horz" wrap="square" lIns="0" tIns="13335" rIns="0" bIns="0" rtlCol="0">
            <a:spAutoFit/>
          </a:bodyPr>
          <a:lstStyle/>
          <a:p>
            <a:pPr marL="12700" algn="ctr">
              <a:lnSpc>
                <a:spcPct val="100000"/>
              </a:lnSpc>
              <a:spcBef>
                <a:spcPts val="105"/>
              </a:spcBef>
            </a:pPr>
            <a:r>
              <a:rPr lang="en-US" sz="3500" b="1" spc="-5" dirty="0">
                <a:solidFill>
                  <a:srgbClr val="FFFFFF"/>
                </a:solidFill>
                <a:cs typeface="Calibri"/>
              </a:rPr>
              <a:t>Topic-3.3</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Representing Instance and Isa Relationships Representation</a:t>
            </a:r>
            <a:endParaRPr lang="en-IN" sz="3500" dirty="0">
              <a:latin typeface="Calibri"/>
              <a:cs typeface="Calibri"/>
            </a:endParaRPr>
          </a:p>
        </p:txBody>
      </p:sp>
      <p:sp>
        <p:nvSpPr>
          <p:cNvPr id="9" name="object 7">
            <a:extLst>
              <a:ext uri="{FF2B5EF4-FFF2-40B4-BE49-F238E27FC236}">
                <a16:creationId xmlns:a16="http://schemas.microsoft.com/office/drawing/2014/main" id="{A4085080-0372-4AC3-B41F-7B3F1635256A}"/>
              </a:ext>
            </a:extLst>
          </p:cNvPr>
          <p:cNvSpPr txBox="1">
            <a:spLocks/>
          </p:cNvSpPr>
          <p:nvPr/>
        </p:nvSpPr>
        <p:spPr>
          <a:xfrm>
            <a:off x="3124200" y="1857622"/>
            <a:ext cx="5562600" cy="995785"/>
          </a:xfrm>
          <a:prstGeom prst="rect">
            <a:avLst/>
          </a:prstGeom>
        </p:spPr>
        <p:txBody>
          <a:bodyPr vert="horz" wrap="square" lIns="0" tIns="13335" rIns="0" bIns="0" rtlCol="0">
            <a:spAutoFit/>
          </a:bodyPr>
          <a:lstStyle>
            <a:lvl1pPr>
              <a:defRPr sz="3500" b="1" i="0">
                <a:solidFill>
                  <a:schemeClr val="tx1"/>
                </a:solidFill>
                <a:latin typeface="Calibri"/>
                <a:ea typeface="+mj-ea"/>
                <a:cs typeface="Calibri"/>
              </a:defRPr>
            </a:lvl1pPr>
          </a:lstStyle>
          <a:p>
            <a:pPr marL="13970" algn="ctr">
              <a:spcBef>
                <a:spcPts val="105"/>
              </a:spcBef>
            </a:pPr>
            <a:r>
              <a:rPr lang="en-US" sz="2800" kern="0" spc="-5" dirty="0"/>
              <a:t>CHAPTER-3</a:t>
            </a:r>
          </a:p>
          <a:p>
            <a:pPr marL="13970" algn="ctr">
              <a:spcBef>
                <a:spcPts val="105"/>
              </a:spcBef>
            </a:pPr>
            <a:r>
              <a:rPr lang="en-US" kern="0" spc="-5" dirty="0"/>
              <a:t> Knowledge Representation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2943" y="2243250"/>
            <a:ext cx="7096125" cy="1150956"/>
          </a:xfrm>
          <a:prstGeom prst="rect">
            <a:avLst/>
          </a:prstGeom>
        </p:spPr>
        <p:txBody>
          <a:bodyPr vert="horz" wrap="square" lIns="0" tIns="73025" rIns="0" bIns="0" rtlCol="0">
            <a:spAutoFit/>
          </a:bodyPr>
          <a:lstStyle/>
          <a:p>
            <a:pPr marL="101600" indent="-89535">
              <a:lnSpc>
                <a:spcPct val="100000"/>
              </a:lnSpc>
              <a:spcBef>
                <a:spcPts val="575"/>
              </a:spcBef>
              <a:buSzPct val="95000"/>
              <a:buFont typeface="Arial MT"/>
              <a:buChar char="•"/>
              <a:tabLst>
                <a:tab pos="102235" algn="l"/>
              </a:tabLst>
            </a:pPr>
            <a:r>
              <a:rPr lang="en-IN" sz="2000" b="1" spc="-10" dirty="0">
                <a:cs typeface="Calibri"/>
              </a:rPr>
              <a:t>Representing Instance &amp; Isa Relationships</a:t>
            </a:r>
          </a:p>
          <a:p>
            <a:pPr marL="101600" indent="-89535">
              <a:lnSpc>
                <a:spcPct val="100000"/>
              </a:lnSpc>
              <a:spcBef>
                <a:spcPts val="575"/>
              </a:spcBef>
              <a:buSzPct val="95000"/>
              <a:buFont typeface="Arial MT"/>
              <a:buChar char="•"/>
              <a:tabLst>
                <a:tab pos="102235" algn="l"/>
              </a:tabLst>
            </a:pPr>
            <a:r>
              <a:rPr lang="en-IN" sz="2000" b="1" spc="-10" dirty="0">
                <a:cs typeface="Calibri"/>
              </a:rPr>
              <a:t>Instances </a:t>
            </a:r>
            <a:endParaRPr lang="en-IN" sz="2000" b="1" spc="-10" dirty="0">
              <a:latin typeface="Calibri"/>
              <a:cs typeface="Calibri"/>
            </a:endParaRPr>
          </a:p>
          <a:p>
            <a:pPr marL="101600" indent="-89535">
              <a:lnSpc>
                <a:spcPct val="100000"/>
              </a:lnSpc>
              <a:spcBef>
                <a:spcPts val="575"/>
              </a:spcBef>
              <a:buSzPct val="95000"/>
              <a:buFont typeface="Arial MT"/>
              <a:buChar char="•"/>
              <a:tabLst>
                <a:tab pos="102235" algn="l"/>
              </a:tabLst>
            </a:pPr>
            <a:endParaRPr lang="en-IN" sz="2000" b="1" spc="-10" dirty="0">
              <a:cs typeface="Calibri"/>
            </a:endParaRPr>
          </a:p>
        </p:txBody>
      </p:sp>
      <p:sp>
        <p:nvSpPr>
          <p:cNvPr id="3" name="object 3"/>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4" name="object 4"/>
          <p:cNvSpPr txBox="1">
            <a:spLocks noGrp="1"/>
          </p:cNvSpPr>
          <p:nvPr>
            <p:ph type="title"/>
          </p:nvPr>
        </p:nvSpPr>
        <p:spPr>
          <a:xfrm>
            <a:off x="332943" y="1697227"/>
            <a:ext cx="1525270" cy="512445"/>
          </a:xfrm>
          <a:prstGeom prst="rect">
            <a:avLst/>
          </a:prstGeom>
        </p:spPr>
        <p:txBody>
          <a:bodyPr vert="horz" wrap="square" lIns="0" tIns="11430" rIns="0" bIns="0" rtlCol="0">
            <a:spAutoFit/>
          </a:bodyPr>
          <a:lstStyle/>
          <a:p>
            <a:pPr marL="12700">
              <a:lnSpc>
                <a:spcPct val="100000"/>
              </a:lnSpc>
              <a:spcBef>
                <a:spcPts val="90"/>
              </a:spcBef>
            </a:pPr>
            <a:r>
              <a:rPr sz="3200" spc="-25" dirty="0">
                <a:solidFill>
                  <a:srgbClr val="FFFFFF"/>
                </a:solidFill>
              </a:rPr>
              <a:t>Contents</a:t>
            </a:r>
            <a:endParaRPr sz="3200"/>
          </a:p>
        </p:txBody>
      </p:sp>
      <p:sp>
        <p:nvSpPr>
          <p:cNvPr id="5" name="object 5"/>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Instances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object 4">
            <a:extLst>
              <a:ext uri="{FF2B5EF4-FFF2-40B4-BE49-F238E27FC236}">
                <a16:creationId xmlns:a16="http://schemas.microsoft.com/office/drawing/2014/main" id="{F59C7165-9D80-4DDE-9785-0DFBD5FECD22}"/>
              </a:ext>
            </a:extLst>
          </p:cNvPr>
          <p:cNvSpPr txBox="1"/>
          <p:nvPr/>
        </p:nvSpPr>
        <p:spPr>
          <a:xfrm>
            <a:off x="334009" y="2364130"/>
            <a:ext cx="11523981" cy="3055324"/>
          </a:xfrm>
          <a:prstGeom prst="rect">
            <a:avLst/>
          </a:prstGeom>
        </p:spPr>
        <p:txBody>
          <a:bodyPr vert="horz" wrap="square" lIns="0" tIns="13335" rIns="0" bIns="0" rtlCol="0">
            <a:spAutoFit/>
          </a:bodyPr>
          <a:lstStyle/>
          <a:p>
            <a:pPr marL="12700" marR="7620" algn="just">
              <a:lnSpc>
                <a:spcPct val="100000"/>
              </a:lnSpc>
              <a:spcBef>
                <a:spcPts val="105"/>
              </a:spcBef>
              <a:buSzPct val="96153"/>
              <a:tabLst>
                <a:tab pos="129539" algn="l"/>
              </a:tabLst>
            </a:pPr>
            <a:r>
              <a:rPr lang="en-US" sz="2800" dirty="0">
                <a:latin typeface="+mj-lt"/>
                <a:cs typeface="Arial"/>
              </a:rPr>
              <a:t>An instance is a specific entity that belongs to a more general class. It represents a particular occurrence or member of a class, which can be a person, object, event, etc.</a:t>
            </a:r>
          </a:p>
          <a:p>
            <a:pPr marL="12700" marR="7620" algn="just">
              <a:lnSpc>
                <a:spcPct val="100000"/>
              </a:lnSpc>
              <a:spcBef>
                <a:spcPts val="105"/>
              </a:spcBef>
              <a:buSzPct val="96153"/>
              <a:tabLst>
                <a:tab pos="129539" algn="l"/>
              </a:tabLst>
            </a:pPr>
            <a:endParaRPr lang="en-US" sz="2800" dirty="0">
              <a:latin typeface="+mj-lt"/>
              <a:cs typeface="Arial"/>
            </a:endParaRPr>
          </a:p>
          <a:p>
            <a:pPr marL="12700" marR="7620" algn="just">
              <a:lnSpc>
                <a:spcPct val="100000"/>
              </a:lnSpc>
              <a:spcBef>
                <a:spcPts val="105"/>
              </a:spcBef>
              <a:buSzPct val="96153"/>
              <a:tabLst>
                <a:tab pos="129539" algn="l"/>
              </a:tabLst>
            </a:pPr>
            <a:r>
              <a:rPr lang="en-US" sz="2800" b="1" dirty="0">
                <a:latin typeface="+mj-lt"/>
                <a:cs typeface="Arial"/>
              </a:rPr>
              <a:t>Example- </a:t>
            </a:r>
            <a:r>
              <a:rPr lang="en-US" sz="2800" dirty="0">
                <a:latin typeface="+mj-lt"/>
                <a:cs typeface="Arial"/>
              </a:rPr>
              <a:t>Consider a class called "Animal." An instance of this class could be "Fido," who is a specific dog. In this case, "Fido" is an instance of the class "Dog," which is itself a subclass of the class "Animal."</a:t>
            </a:r>
            <a:endParaRPr sz="2800" dirty="0">
              <a:latin typeface="+mj-lt"/>
              <a:cs typeface="Arial"/>
            </a:endParaRPr>
          </a:p>
        </p:txBody>
      </p:sp>
    </p:spTree>
    <p:extLst>
      <p:ext uri="{BB962C8B-B14F-4D97-AF65-F5344CB8AC3E}">
        <p14:creationId xmlns:p14="http://schemas.microsoft.com/office/powerpoint/2010/main" val="28478469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Instances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object 4">
            <a:extLst>
              <a:ext uri="{FF2B5EF4-FFF2-40B4-BE49-F238E27FC236}">
                <a16:creationId xmlns:a16="http://schemas.microsoft.com/office/drawing/2014/main" id="{F59C7165-9D80-4DDE-9785-0DFBD5FECD22}"/>
              </a:ext>
            </a:extLst>
          </p:cNvPr>
          <p:cNvSpPr txBox="1"/>
          <p:nvPr/>
        </p:nvSpPr>
        <p:spPr>
          <a:xfrm>
            <a:off x="197071" y="2173304"/>
            <a:ext cx="5791199" cy="3898311"/>
          </a:xfrm>
          <a:prstGeom prst="rect">
            <a:avLst/>
          </a:prstGeom>
        </p:spPr>
        <p:txBody>
          <a:bodyPr vert="horz" wrap="square" lIns="0" tIns="13335" rIns="0" bIns="0" rtlCol="0">
            <a:spAutoFit/>
          </a:bodyPr>
          <a:lstStyle/>
          <a:p>
            <a:pPr marL="12700" marR="7620" algn="just">
              <a:lnSpc>
                <a:spcPct val="150000"/>
              </a:lnSpc>
              <a:spcBef>
                <a:spcPts val="105"/>
              </a:spcBef>
              <a:buSzPct val="96153"/>
              <a:tabLst>
                <a:tab pos="129539" algn="l"/>
              </a:tabLst>
            </a:pPr>
            <a:r>
              <a:rPr lang="en-US" sz="2400" b="1" dirty="0">
                <a:latin typeface="+mj-lt"/>
                <a:cs typeface="Arial"/>
              </a:rPr>
              <a:t>Hierarchical Structure</a:t>
            </a:r>
          </a:p>
          <a:p>
            <a:pPr marL="12700" marR="7620" algn="just">
              <a:spcBef>
                <a:spcPts val="105"/>
              </a:spcBef>
              <a:buSzPct val="96153"/>
              <a:tabLst>
                <a:tab pos="129539" algn="l"/>
              </a:tabLst>
            </a:pPr>
            <a:r>
              <a:rPr lang="en-US" sz="2400" dirty="0">
                <a:latin typeface="+mj-lt"/>
                <a:cs typeface="Arial"/>
              </a:rPr>
              <a:t>To illustrate how instances fit within a hierarchical structure, here’s a simple </a:t>
            </a:r>
            <a:r>
              <a:rPr lang="en-US" sz="2400" b="1" dirty="0">
                <a:latin typeface="+mj-lt"/>
                <a:cs typeface="Arial"/>
              </a:rPr>
              <a:t>example1:</a:t>
            </a:r>
          </a:p>
          <a:p>
            <a:pPr marL="12700" marR="7620" algn="just">
              <a:lnSpc>
                <a:spcPct val="150000"/>
              </a:lnSpc>
              <a:spcBef>
                <a:spcPts val="105"/>
              </a:spcBef>
              <a:buSzPct val="96153"/>
              <a:tabLst>
                <a:tab pos="129539" algn="l"/>
              </a:tabLst>
            </a:pPr>
            <a:r>
              <a:rPr lang="en-US" sz="2400" dirty="0">
                <a:latin typeface="+mj-lt"/>
                <a:cs typeface="Arial"/>
              </a:rPr>
              <a:t>Class: Animal</a:t>
            </a:r>
          </a:p>
          <a:p>
            <a:pPr marL="12700" marR="7620" algn="just">
              <a:lnSpc>
                <a:spcPct val="150000"/>
              </a:lnSpc>
              <a:spcBef>
                <a:spcPts val="105"/>
              </a:spcBef>
              <a:buSzPct val="96153"/>
              <a:tabLst>
                <a:tab pos="129539" algn="l"/>
              </a:tabLst>
            </a:pPr>
            <a:r>
              <a:rPr lang="en-US" sz="2400" dirty="0">
                <a:latin typeface="+mj-lt"/>
                <a:cs typeface="Arial"/>
              </a:rPr>
              <a:t>Subclass: Mammal</a:t>
            </a:r>
          </a:p>
          <a:p>
            <a:pPr marL="12700" marR="7620" algn="just">
              <a:lnSpc>
                <a:spcPct val="150000"/>
              </a:lnSpc>
              <a:spcBef>
                <a:spcPts val="105"/>
              </a:spcBef>
              <a:buSzPct val="96153"/>
              <a:tabLst>
                <a:tab pos="129539" algn="l"/>
              </a:tabLst>
            </a:pPr>
            <a:r>
              <a:rPr lang="en-US" sz="2400" dirty="0">
                <a:latin typeface="+mj-lt"/>
                <a:cs typeface="Arial"/>
              </a:rPr>
              <a:t>Subclass: Dog</a:t>
            </a:r>
          </a:p>
          <a:p>
            <a:pPr marL="12700" marR="7620" algn="just">
              <a:lnSpc>
                <a:spcPct val="150000"/>
              </a:lnSpc>
              <a:spcBef>
                <a:spcPts val="105"/>
              </a:spcBef>
              <a:buSzPct val="96153"/>
              <a:tabLst>
                <a:tab pos="129539" algn="l"/>
              </a:tabLst>
            </a:pPr>
            <a:r>
              <a:rPr lang="en-US" sz="2400" dirty="0">
                <a:latin typeface="+mj-lt"/>
                <a:cs typeface="Arial"/>
              </a:rPr>
              <a:t>Instance: Fido (specific dog)</a:t>
            </a:r>
          </a:p>
        </p:txBody>
      </p:sp>
      <p:sp>
        <p:nvSpPr>
          <p:cNvPr id="7" name="object 4">
            <a:extLst>
              <a:ext uri="{FF2B5EF4-FFF2-40B4-BE49-F238E27FC236}">
                <a16:creationId xmlns:a16="http://schemas.microsoft.com/office/drawing/2014/main" id="{22752322-A026-4C27-A4F0-FC4B8FC57F10}"/>
              </a:ext>
            </a:extLst>
          </p:cNvPr>
          <p:cNvSpPr txBox="1"/>
          <p:nvPr/>
        </p:nvSpPr>
        <p:spPr>
          <a:xfrm>
            <a:off x="6240518" y="2374641"/>
            <a:ext cx="5791197" cy="2592826"/>
          </a:xfrm>
          <a:prstGeom prst="rect">
            <a:avLst/>
          </a:prstGeom>
        </p:spPr>
        <p:txBody>
          <a:bodyPr vert="horz" wrap="square" lIns="0" tIns="13335" rIns="0" bIns="0" rtlCol="0">
            <a:spAutoFit/>
          </a:bodyPr>
          <a:lstStyle/>
          <a:p>
            <a:pPr marL="12700" marR="7620" algn="just">
              <a:spcBef>
                <a:spcPts val="105"/>
              </a:spcBef>
              <a:buSzPct val="96153"/>
              <a:tabLst>
                <a:tab pos="129539" algn="l"/>
              </a:tabLst>
            </a:pPr>
            <a:r>
              <a:rPr lang="en-US" sz="2400" b="1" dirty="0">
                <a:latin typeface="+mj-lt"/>
                <a:cs typeface="Arial"/>
              </a:rPr>
              <a:t>example2:</a:t>
            </a:r>
          </a:p>
          <a:p>
            <a:pPr marL="12700" marR="7620" algn="just">
              <a:lnSpc>
                <a:spcPct val="150000"/>
              </a:lnSpc>
              <a:spcBef>
                <a:spcPts val="105"/>
              </a:spcBef>
              <a:buSzPct val="96153"/>
              <a:tabLst>
                <a:tab pos="129539" algn="l"/>
              </a:tabLst>
            </a:pPr>
            <a:r>
              <a:rPr lang="en-US" sz="2400" dirty="0">
                <a:latin typeface="+mj-lt"/>
                <a:cs typeface="Arial"/>
              </a:rPr>
              <a:t>Subclass: Cat</a:t>
            </a:r>
          </a:p>
          <a:p>
            <a:pPr marL="12700" marR="7620" algn="just">
              <a:lnSpc>
                <a:spcPct val="150000"/>
              </a:lnSpc>
              <a:spcBef>
                <a:spcPts val="105"/>
              </a:spcBef>
              <a:buSzPct val="96153"/>
              <a:tabLst>
                <a:tab pos="129539" algn="l"/>
              </a:tabLst>
            </a:pPr>
            <a:r>
              <a:rPr lang="en-US" sz="2400" dirty="0">
                <a:latin typeface="+mj-lt"/>
                <a:cs typeface="Arial"/>
              </a:rPr>
              <a:t>Instance: Whiskers (specific cat)</a:t>
            </a:r>
          </a:p>
          <a:p>
            <a:pPr marL="12700" marR="7620" algn="just">
              <a:lnSpc>
                <a:spcPct val="150000"/>
              </a:lnSpc>
              <a:spcBef>
                <a:spcPts val="105"/>
              </a:spcBef>
              <a:buSzPct val="96153"/>
              <a:tabLst>
                <a:tab pos="129539" algn="l"/>
              </a:tabLst>
            </a:pPr>
            <a:r>
              <a:rPr lang="en-US" sz="2400" dirty="0">
                <a:latin typeface="+mj-lt"/>
                <a:cs typeface="Arial"/>
              </a:rPr>
              <a:t>Subclass: Bird</a:t>
            </a:r>
          </a:p>
          <a:p>
            <a:pPr marL="12700" marR="7620" algn="just">
              <a:lnSpc>
                <a:spcPct val="150000"/>
              </a:lnSpc>
              <a:spcBef>
                <a:spcPts val="105"/>
              </a:spcBef>
              <a:buSzPct val="96153"/>
              <a:tabLst>
                <a:tab pos="129539" algn="l"/>
              </a:tabLst>
            </a:pPr>
            <a:r>
              <a:rPr lang="en-US" sz="2400" dirty="0">
                <a:latin typeface="+mj-lt"/>
                <a:cs typeface="Arial"/>
              </a:rPr>
              <a:t>Instance: </a:t>
            </a:r>
            <a:r>
              <a:rPr lang="en-US" sz="2400" dirty="0" err="1">
                <a:latin typeface="+mj-lt"/>
                <a:cs typeface="Arial"/>
              </a:rPr>
              <a:t>Tweety</a:t>
            </a:r>
            <a:r>
              <a:rPr lang="en-US" sz="2400" dirty="0">
                <a:latin typeface="+mj-lt"/>
                <a:cs typeface="Arial"/>
              </a:rPr>
              <a:t> (specific bird)</a:t>
            </a:r>
            <a:endParaRPr sz="2400" dirty="0">
              <a:latin typeface="+mj-lt"/>
              <a:cs typeface="Arial"/>
            </a:endParaRPr>
          </a:p>
        </p:txBody>
      </p:sp>
    </p:spTree>
    <p:extLst>
      <p:ext uri="{BB962C8B-B14F-4D97-AF65-F5344CB8AC3E}">
        <p14:creationId xmlns:p14="http://schemas.microsoft.com/office/powerpoint/2010/main" val="31594011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Isa Relationships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object 4">
            <a:extLst>
              <a:ext uri="{FF2B5EF4-FFF2-40B4-BE49-F238E27FC236}">
                <a16:creationId xmlns:a16="http://schemas.microsoft.com/office/drawing/2014/main" id="{F59C7165-9D80-4DDE-9785-0DFBD5FECD22}"/>
              </a:ext>
            </a:extLst>
          </p:cNvPr>
          <p:cNvSpPr txBox="1"/>
          <p:nvPr/>
        </p:nvSpPr>
        <p:spPr>
          <a:xfrm>
            <a:off x="334009" y="2364130"/>
            <a:ext cx="11523981" cy="4758354"/>
          </a:xfrm>
          <a:prstGeom prst="rect">
            <a:avLst/>
          </a:prstGeom>
        </p:spPr>
        <p:txBody>
          <a:bodyPr vert="horz" wrap="square" lIns="0" tIns="13335" rIns="0" bIns="0" rtlCol="0">
            <a:spAutoFit/>
          </a:bodyPr>
          <a:lstStyle/>
          <a:p>
            <a:pPr marL="12700" marR="7620" algn="just">
              <a:lnSpc>
                <a:spcPct val="100000"/>
              </a:lnSpc>
              <a:spcBef>
                <a:spcPts val="105"/>
              </a:spcBef>
              <a:buSzPct val="96153"/>
              <a:tabLst>
                <a:tab pos="129539" algn="l"/>
              </a:tabLst>
            </a:pPr>
            <a:r>
              <a:rPr lang="en-US" sz="2000" dirty="0">
                <a:latin typeface="+mj-lt"/>
                <a:cs typeface="Arial"/>
              </a:rPr>
              <a:t>In artificial intelligence, particularly in knowledge representation and ontology, "Representing Instance &amp; Isa Relationships" refers to the way entities and their relationships are modeled in a knowledge base. Let's break down these concepts:</a:t>
            </a:r>
          </a:p>
          <a:p>
            <a:pPr marL="12700" marR="7620" algn="just">
              <a:lnSpc>
                <a:spcPct val="100000"/>
              </a:lnSpc>
              <a:spcBef>
                <a:spcPts val="105"/>
              </a:spcBef>
              <a:buSzPct val="96153"/>
              <a:tabLst>
                <a:tab pos="129539" algn="l"/>
              </a:tabLst>
            </a:pPr>
            <a:endParaRPr lang="en-US" sz="2000" dirty="0">
              <a:latin typeface="+mj-lt"/>
              <a:cs typeface="Arial"/>
            </a:endParaRPr>
          </a:p>
          <a:p>
            <a:pPr marL="12700" marR="7620" algn="just">
              <a:lnSpc>
                <a:spcPct val="100000"/>
              </a:lnSpc>
              <a:spcBef>
                <a:spcPts val="105"/>
              </a:spcBef>
              <a:buSzPct val="96153"/>
              <a:tabLst>
                <a:tab pos="129539" algn="l"/>
              </a:tabLst>
            </a:pPr>
            <a:r>
              <a:rPr lang="en-US" sz="2000" b="1" dirty="0">
                <a:latin typeface="+mj-lt"/>
                <a:cs typeface="Arial"/>
              </a:rPr>
              <a:t>Instance Relationships: </a:t>
            </a:r>
            <a:r>
              <a:rPr lang="en-US" sz="2000" dirty="0">
                <a:latin typeface="+mj-lt"/>
                <a:cs typeface="Arial"/>
              </a:rPr>
              <a:t>These relationships define specific instances of a general concept. For example, if you have a general concept "Dog," an instance relationship would be a specific dog, like "</a:t>
            </a:r>
            <a:r>
              <a:rPr lang="en-US" sz="2000" dirty="0" err="1">
                <a:latin typeface="+mj-lt"/>
                <a:cs typeface="Arial"/>
              </a:rPr>
              <a:t>Fido."In</a:t>
            </a:r>
            <a:r>
              <a:rPr lang="en-US" sz="2000" dirty="0">
                <a:latin typeface="+mj-lt"/>
                <a:cs typeface="Arial"/>
              </a:rPr>
              <a:t> a structured format, you might see something like:</a:t>
            </a:r>
          </a:p>
          <a:p>
            <a:pPr marL="12700" marR="7620" algn="just">
              <a:lnSpc>
                <a:spcPct val="100000"/>
              </a:lnSpc>
              <a:spcBef>
                <a:spcPts val="105"/>
              </a:spcBef>
              <a:buSzPct val="96153"/>
              <a:tabLst>
                <a:tab pos="129539" algn="l"/>
              </a:tabLst>
            </a:pPr>
            <a:endParaRPr lang="en-US" sz="2000" dirty="0">
              <a:latin typeface="+mj-lt"/>
              <a:cs typeface="Arial"/>
            </a:endParaRPr>
          </a:p>
          <a:p>
            <a:pPr marL="12700" marR="7620" algn="just">
              <a:lnSpc>
                <a:spcPct val="100000"/>
              </a:lnSpc>
              <a:spcBef>
                <a:spcPts val="105"/>
              </a:spcBef>
              <a:buSzPct val="96153"/>
              <a:tabLst>
                <a:tab pos="129539" algn="l"/>
              </a:tabLst>
            </a:pPr>
            <a:r>
              <a:rPr lang="en-US" sz="2000" dirty="0">
                <a:latin typeface="+mj-lt"/>
                <a:cs typeface="Arial"/>
              </a:rPr>
              <a:t>In a structured format, you might see something like:</a:t>
            </a:r>
          </a:p>
          <a:p>
            <a:pPr marL="12700" marR="7620" algn="just">
              <a:lnSpc>
                <a:spcPct val="100000"/>
              </a:lnSpc>
              <a:spcBef>
                <a:spcPts val="105"/>
              </a:spcBef>
              <a:buSzPct val="96153"/>
              <a:tabLst>
                <a:tab pos="129539" algn="l"/>
              </a:tabLst>
            </a:pPr>
            <a:endParaRPr lang="en-US" sz="2000" dirty="0">
              <a:latin typeface="+mj-lt"/>
              <a:cs typeface="Arial"/>
            </a:endParaRPr>
          </a:p>
          <a:p>
            <a:pPr marL="12700" marR="7620" algn="just">
              <a:lnSpc>
                <a:spcPct val="100000"/>
              </a:lnSpc>
              <a:spcBef>
                <a:spcPts val="105"/>
              </a:spcBef>
              <a:buSzPct val="96153"/>
              <a:tabLst>
                <a:tab pos="129539" algn="l"/>
              </a:tabLst>
            </a:pPr>
            <a:r>
              <a:rPr lang="en-US" sz="2000" i="1" dirty="0">
                <a:latin typeface="+mj-lt"/>
                <a:cs typeface="Arial"/>
              </a:rPr>
              <a:t>Instance: Fido</a:t>
            </a:r>
          </a:p>
          <a:p>
            <a:pPr marL="12700" marR="7620" algn="just">
              <a:lnSpc>
                <a:spcPct val="100000"/>
              </a:lnSpc>
              <a:spcBef>
                <a:spcPts val="105"/>
              </a:spcBef>
              <a:buSzPct val="96153"/>
              <a:tabLst>
                <a:tab pos="129539" algn="l"/>
              </a:tabLst>
            </a:pPr>
            <a:r>
              <a:rPr lang="en-US" sz="2000" i="1" dirty="0">
                <a:latin typeface="+mj-lt"/>
                <a:cs typeface="Arial"/>
              </a:rPr>
              <a:t>Type: Dog</a:t>
            </a:r>
          </a:p>
          <a:p>
            <a:pPr marL="12700" marR="7620" algn="just">
              <a:lnSpc>
                <a:spcPct val="100000"/>
              </a:lnSpc>
              <a:spcBef>
                <a:spcPts val="105"/>
              </a:spcBef>
              <a:buSzPct val="96153"/>
              <a:tabLst>
                <a:tab pos="129539" algn="l"/>
              </a:tabLst>
            </a:pPr>
            <a:endParaRPr lang="en-US" sz="2000" dirty="0">
              <a:latin typeface="+mj-lt"/>
              <a:cs typeface="Arial"/>
            </a:endParaRPr>
          </a:p>
          <a:p>
            <a:pPr marL="12700" marR="7620" algn="just">
              <a:lnSpc>
                <a:spcPct val="100000"/>
              </a:lnSpc>
              <a:spcBef>
                <a:spcPts val="105"/>
              </a:spcBef>
              <a:buSzPct val="96153"/>
              <a:tabLst>
                <a:tab pos="129539" algn="l"/>
              </a:tabLst>
            </a:pPr>
            <a:r>
              <a:rPr lang="en-US" sz="2000" dirty="0"/>
              <a:t>This tells the system that Fido is an instance of the broader category "Dog."</a:t>
            </a:r>
            <a:endParaRPr lang="en-US" sz="2000" dirty="0">
              <a:latin typeface="+mj-lt"/>
              <a:cs typeface="Arial"/>
            </a:endParaRPr>
          </a:p>
          <a:p>
            <a:pPr marL="12700" marR="7620" algn="just">
              <a:lnSpc>
                <a:spcPct val="100000"/>
              </a:lnSpc>
              <a:spcBef>
                <a:spcPts val="105"/>
              </a:spcBef>
              <a:buSzPct val="96153"/>
              <a:tabLst>
                <a:tab pos="129539" algn="l"/>
              </a:tabLst>
            </a:pPr>
            <a:endParaRPr sz="2000" dirty="0">
              <a:latin typeface="+mj-lt"/>
              <a:cs typeface="Arial"/>
            </a:endParaRPr>
          </a:p>
        </p:txBody>
      </p:sp>
    </p:spTree>
    <p:extLst>
      <p:ext uri="{BB962C8B-B14F-4D97-AF65-F5344CB8AC3E}">
        <p14:creationId xmlns:p14="http://schemas.microsoft.com/office/powerpoint/2010/main" val="8334736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996427"/>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Representing Instance &amp; Isa Relationships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object 4">
            <a:extLst>
              <a:ext uri="{FF2B5EF4-FFF2-40B4-BE49-F238E27FC236}">
                <a16:creationId xmlns:a16="http://schemas.microsoft.com/office/drawing/2014/main" id="{F59C7165-9D80-4DDE-9785-0DFBD5FECD22}"/>
              </a:ext>
            </a:extLst>
          </p:cNvPr>
          <p:cNvSpPr txBox="1"/>
          <p:nvPr/>
        </p:nvSpPr>
        <p:spPr>
          <a:xfrm>
            <a:off x="439418" y="2492054"/>
            <a:ext cx="11523981" cy="4150495"/>
          </a:xfrm>
          <a:prstGeom prst="rect">
            <a:avLst/>
          </a:prstGeom>
        </p:spPr>
        <p:txBody>
          <a:bodyPr vert="horz" wrap="square" lIns="0" tIns="13335" rIns="0" bIns="0" rtlCol="0">
            <a:spAutoFit/>
          </a:bodyPr>
          <a:lstStyle/>
          <a:p>
            <a:pPr marL="12700" marR="7620" algn="just">
              <a:lnSpc>
                <a:spcPct val="100000"/>
              </a:lnSpc>
              <a:spcBef>
                <a:spcPts val="105"/>
              </a:spcBef>
              <a:buSzPct val="96153"/>
              <a:tabLst>
                <a:tab pos="129539" algn="l"/>
              </a:tabLst>
            </a:pPr>
            <a:r>
              <a:rPr sz="2400" dirty="0">
                <a:latin typeface="+mj-lt"/>
                <a:cs typeface="Arial"/>
              </a:rPr>
              <a:t>Attributes “ IsA ” </a:t>
            </a:r>
            <a:r>
              <a:rPr sz="2400" spc="5" dirty="0">
                <a:latin typeface="+mj-lt"/>
                <a:cs typeface="Arial"/>
              </a:rPr>
              <a:t>and </a:t>
            </a:r>
            <a:r>
              <a:rPr sz="2400" dirty="0">
                <a:latin typeface="+mj-lt"/>
                <a:cs typeface="Arial"/>
              </a:rPr>
              <a:t>“ Instance ” support property inheritance  and play important role </a:t>
            </a:r>
            <a:r>
              <a:rPr sz="2400" spc="-5" dirty="0">
                <a:latin typeface="+mj-lt"/>
                <a:cs typeface="Arial"/>
              </a:rPr>
              <a:t>in </a:t>
            </a:r>
            <a:r>
              <a:rPr sz="2400" dirty="0">
                <a:latin typeface="+mj-lt"/>
                <a:cs typeface="Arial"/>
              </a:rPr>
              <a:t>knowledge representation.</a:t>
            </a:r>
            <a:endParaRPr lang="en-IN" sz="2400" dirty="0">
              <a:latin typeface="+mj-lt"/>
              <a:cs typeface="Arial"/>
            </a:endParaRPr>
          </a:p>
          <a:p>
            <a:pPr marL="12700" marR="7620" algn="just">
              <a:lnSpc>
                <a:spcPct val="100000"/>
              </a:lnSpc>
              <a:spcBef>
                <a:spcPts val="105"/>
              </a:spcBef>
              <a:buSzPct val="96153"/>
              <a:tabLst>
                <a:tab pos="129539" algn="l"/>
              </a:tabLst>
            </a:pPr>
            <a:r>
              <a:rPr sz="2400" dirty="0">
                <a:latin typeface="+mj-lt"/>
                <a:cs typeface="Arial"/>
              </a:rPr>
              <a:t>The </a:t>
            </a:r>
            <a:r>
              <a:rPr sz="2400" spc="-5" dirty="0">
                <a:latin typeface="+mj-lt"/>
                <a:cs typeface="Arial"/>
              </a:rPr>
              <a:t>ways  </a:t>
            </a:r>
            <a:r>
              <a:rPr sz="2400" dirty="0">
                <a:latin typeface="+mj-lt"/>
                <a:cs typeface="Arial"/>
              </a:rPr>
              <a:t>these two attributes "instance" and "isa", are logically expresse  d are shown </a:t>
            </a:r>
            <a:r>
              <a:rPr sz="2400" spc="-5" dirty="0">
                <a:latin typeface="+mj-lt"/>
                <a:cs typeface="Arial"/>
              </a:rPr>
              <a:t>in </a:t>
            </a:r>
            <a:r>
              <a:rPr sz="2400" dirty="0">
                <a:latin typeface="+mj-lt"/>
                <a:cs typeface="Arial"/>
              </a:rPr>
              <a:t>the example below</a:t>
            </a:r>
            <a:r>
              <a:rPr sz="2400" spc="-15" dirty="0">
                <a:latin typeface="+mj-lt"/>
                <a:cs typeface="Arial"/>
              </a:rPr>
              <a:t> </a:t>
            </a:r>
            <a:r>
              <a:rPr sz="2400" dirty="0">
                <a:latin typeface="+mj-lt"/>
                <a:cs typeface="Arial"/>
              </a:rPr>
              <a:t>:</a:t>
            </a:r>
          </a:p>
          <a:p>
            <a:pPr marL="103505" algn="just">
              <a:lnSpc>
                <a:spcPct val="100000"/>
              </a:lnSpc>
            </a:pPr>
            <a:r>
              <a:rPr sz="2400" b="1" dirty="0">
                <a:latin typeface="+mj-lt"/>
                <a:cs typeface="Arial"/>
              </a:rPr>
              <a:t>Example: </a:t>
            </a:r>
            <a:r>
              <a:rPr sz="2400" dirty="0">
                <a:latin typeface="+mj-lt"/>
                <a:cs typeface="Arial"/>
              </a:rPr>
              <a:t>A simple sentence like "</a:t>
            </a:r>
            <a:r>
              <a:rPr sz="2400" b="1" dirty="0">
                <a:latin typeface="+mj-lt"/>
                <a:cs typeface="Arial"/>
              </a:rPr>
              <a:t>Joe </a:t>
            </a:r>
            <a:r>
              <a:rPr sz="2400" b="1" spc="-5" dirty="0">
                <a:latin typeface="+mj-lt"/>
                <a:cs typeface="Arial"/>
              </a:rPr>
              <a:t>is </a:t>
            </a:r>
            <a:r>
              <a:rPr sz="2400" b="1" dirty="0">
                <a:latin typeface="+mj-lt"/>
                <a:cs typeface="Arial"/>
              </a:rPr>
              <a:t>a</a:t>
            </a:r>
            <a:r>
              <a:rPr sz="2400" b="1" spc="15" dirty="0">
                <a:latin typeface="+mj-lt"/>
                <a:cs typeface="Arial"/>
              </a:rPr>
              <a:t> </a:t>
            </a:r>
            <a:r>
              <a:rPr sz="2400" b="1" dirty="0">
                <a:latin typeface="+mj-lt"/>
                <a:cs typeface="Arial"/>
              </a:rPr>
              <a:t>musician</a:t>
            </a:r>
            <a:r>
              <a:rPr sz="2400" dirty="0">
                <a:latin typeface="+mj-lt"/>
                <a:cs typeface="Arial"/>
              </a:rPr>
              <a:t>"</a:t>
            </a:r>
            <a:r>
              <a:rPr lang="en-US" sz="2400" dirty="0">
                <a:latin typeface="+mj-lt"/>
                <a:cs typeface="Arial"/>
              </a:rPr>
              <a:t> </a:t>
            </a:r>
            <a:r>
              <a:rPr sz="2400" dirty="0">
                <a:latin typeface="+mj-lt"/>
                <a:cs typeface="Arial"/>
              </a:rPr>
              <a:t>Here </a:t>
            </a:r>
            <a:r>
              <a:rPr sz="2400" spc="-5" dirty="0">
                <a:latin typeface="+mj-lt"/>
                <a:cs typeface="Arial"/>
              </a:rPr>
              <a:t>"</a:t>
            </a:r>
            <a:r>
              <a:rPr sz="2400" b="1" spc="-5" dirty="0">
                <a:latin typeface="+mj-lt"/>
                <a:cs typeface="Arial"/>
              </a:rPr>
              <a:t>is a</a:t>
            </a:r>
            <a:r>
              <a:rPr sz="2400" spc="-5" dirty="0">
                <a:latin typeface="+mj-lt"/>
                <a:cs typeface="Arial"/>
              </a:rPr>
              <a:t>" </a:t>
            </a:r>
            <a:r>
              <a:rPr sz="2400" dirty="0">
                <a:latin typeface="+mj-lt"/>
                <a:cs typeface="Arial"/>
              </a:rPr>
              <a:t>(called IsA) </a:t>
            </a:r>
            <a:r>
              <a:rPr sz="2400" spc="-5" dirty="0">
                <a:latin typeface="+mj-lt"/>
                <a:cs typeface="Arial"/>
              </a:rPr>
              <a:t>is </a:t>
            </a:r>
            <a:r>
              <a:rPr sz="2400" dirty="0">
                <a:latin typeface="+mj-lt"/>
                <a:cs typeface="Arial"/>
              </a:rPr>
              <a:t>a way of expressing what  logically </a:t>
            </a:r>
            <a:r>
              <a:rPr sz="2400" spc="-10" dirty="0">
                <a:latin typeface="+mj-lt"/>
                <a:cs typeface="Arial"/>
              </a:rPr>
              <a:t>is </a:t>
            </a:r>
            <a:r>
              <a:rPr sz="2400" dirty="0">
                <a:latin typeface="+mj-lt"/>
                <a:cs typeface="Arial"/>
              </a:rPr>
              <a:t>called a </a:t>
            </a:r>
            <a:r>
              <a:rPr sz="2400" b="1" spc="-5" dirty="0">
                <a:solidFill>
                  <a:srgbClr val="FF0000"/>
                </a:solidFill>
                <a:latin typeface="+mj-lt"/>
                <a:cs typeface="Arial"/>
              </a:rPr>
              <a:t>class-instance </a:t>
            </a:r>
            <a:r>
              <a:rPr sz="2400" b="1" dirty="0">
                <a:solidFill>
                  <a:srgbClr val="FF0000"/>
                </a:solidFill>
                <a:latin typeface="+mj-lt"/>
                <a:cs typeface="Arial"/>
              </a:rPr>
              <a:t>relationship </a:t>
            </a:r>
            <a:r>
              <a:rPr sz="2400" dirty="0">
                <a:latin typeface="+mj-lt"/>
                <a:cs typeface="Arial"/>
              </a:rPr>
              <a:t>between the </a:t>
            </a:r>
            <a:r>
              <a:rPr sz="2400" spc="5" dirty="0">
                <a:latin typeface="+mj-lt"/>
                <a:cs typeface="Arial"/>
              </a:rPr>
              <a:t>su  </a:t>
            </a:r>
            <a:r>
              <a:rPr sz="2400" dirty="0">
                <a:latin typeface="+mj-lt"/>
                <a:cs typeface="Arial"/>
              </a:rPr>
              <a:t>bjects represented by the terms "</a:t>
            </a:r>
            <a:r>
              <a:rPr sz="2400" b="1" dirty="0">
                <a:latin typeface="+mj-lt"/>
                <a:cs typeface="Arial"/>
              </a:rPr>
              <a:t>Joe</a:t>
            </a:r>
            <a:r>
              <a:rPr sz="2400" dirty="0">
                <a:latin typeface="+mj-lt"/>
                <a:cs typeface="Arial"/>
              </a:rPr>
              <a:t>" and</a:t>
            </a:r>
            <a:r>
              <a:rPr sz="2400" spc="10" dirty="0">
                <a:latin typeface="+mj-lt"/>
                <a:cs typeface="Arial"/>
              </a:rPr>
              <a:t> </a:t>
            </a:r>
            <a:r>
              <a:rPr sz="2400" dirty="0">
                <a:latin typeface="+mj-lt"/>
                <a:cs typeface="Arial"/>
              </a:rPr>
              <a:t>"musician".</a:t>
            </a:r>
          </a:p>
          <a:p>
            <a:pPr marL="12700" marR="6350" algn="just">
              <a:lnSpc>
                <a:spcPct val="100000"/>
              </a:lnSpc>
              <a:spcBef>
                <a:spcPts val="5"/>
              </a:spcBef>
            </a:pPr>
            <a:r>
              <a:rPr sz="2400" dirty="0">
                <a:latin typeface="+mj-lt"/>
                <a:cs typeface="Arial"/>
              </a:rPr>
              <a:t>◊ "Joe" </a:t>
            </a:r>
            <a:r>
              <a:rPr sz="2400" spc="-5" dirty="0">
                <a:latin typeface="+mj-lt"/>
                <a:cs typeface="Arial"/>
              </a:rPr>
              <a:t>is </a:t>
            </a:r>
            <a:r>
              <a:rPr sz="2400" dirty="0">
                <a:latin typeface="+mj-lt"/>
                <a:cs typeface="Arial"/>
              </a:rPr>
              <a:t>an </a:t>
            </a:r>
            <a:r>
              <a:rPr sz="2800" b="1" dirty="0">
                <a:latin typeface="+mj-lt"/>
                <a:cs typeface="Arial"/>
              </a:rPr>
              <a:t>instance</a:t>
            </a:r>
            <a:r>
              <a:rPr sz="2400" dirty="0">
                <a:latin typeface="+mj-lt"/>
                <a:cs typeface="Arial"/>
              </a:rPr>
              <a:t> of the class of things </a:t>
            </a:r>
            <a:r>
              <a:rPr sz="2400" spc="-5" dirty="0">
                <a:latin typeface="+mj-lt"/>
                <a:cs typeface="Arial"/>
              </a:rPr>
              <a:t>called </a:t>
            </a:r>
            <a:r>
              <a:rPr sz="2400" dirty="0">
                <a:latin typeface="+mj-lt"/>
                <a:cs typeface="Arial"/>
              </a:rPr>
              <a:t>"musician". "  Joe" plays the role of</a:t>
            </a:r>
            <a:r>
              <a:rPr sz="2400" spc="-25" dirty="0">
                <a:latin typeface="+mj-lt"/>
                <a:cs typeface="Arial"/>
              </a:rPr>
              <a:t> </a:t>
            </a:r>
            <a:r>
              <a:rPr sz="2400" dirty="0">
                <a:latin typeface="+mj-lt"/>
                <a:cs typeface="Arial"/>
              </a:rPr>
              <a:t>instance,</a:t>
            </a:r>
            <a:r>
              <a:rPr lang="en-IN" sz="2400" dirty="0">
                <a:latin typeface="+mj-lt"/>
                <a:cs typeface="Arial"/>
              </a:rPr>
              <a:t> </a:t>
            </a:r>
            <a:r>
              <a:rPr sz="2400" dirty="0">
                <a:latin typeface="+mj-lt"/>
                <a:cs typeface="Arial"/>
              </a:rPr>
              <a:t>"musician" plays the role of class </a:t>
            </a:r>
            <a:r>
              <a:rPr sz="2400" spc="-5" dirty="0">
                <a:latin typeface="+mj-lt"/>
                <a:cs typeface="Arial"/>
              </a:rPr>
              <a:t>in </a:t>
            </a:r>
            <a:r>
              <a:rPr sz="2400" dirty="0">
                <a:latin typeface="+mj-lt"/>
                <a:cs typeface="Arial"/>
              </a:rPr>
              <a:t>that</a:t>
            </a:r>
            <a:r>
              <a:rPr sz="2400" spc="-15" dirty="0">
                <a:latin typeface="+mj-lt"/>
                <a:cs typeface="Arial"/>
              </a:rPr>
              <a:t> </a:t>
            </a:r>
            <a:r>
              <a:rPr sz="2400" dirty="0">
                <a:latin typeface="+mj-lt"/>
                <a:cs typeface="Arial"/>
              </a:rPr>
              <a:t>sentence.</a:t>
            </a:r>
          </a:p>
          <a:p>
            <a:pPr marL="12700" marR="8890" indent="93980" algn="just">
              <a:lnSpc>
                <a:spcPct val="100000"/>
              </a:lnSpc>
            </a:pPr>
            <a:r>
              <a:rPr sz="2400" dirty="0">
                <a:latin typeface="+mj-lt"/>
                <a:cs typeface="Arial"/>
              </a:rPr>
              <a:t>◊ Note : In such a sentence, while for a human there </a:t>
            </a:r>
            <a:r>
              <a:rPr sz="2400" spc="-5" dirty="0">
                <a:latin typeface="+mj-lt"/>
                <a:cs typeface="Arial"/>
              </a:rPr>
              <a:t>is </a:t>
            </a:r>
            <a:r>
              <a:rPr sz="2400" dirty="0">
                <a:latin typeface="+mj-lt"/>
                <a:cs typeface="Arial"/>
              </a:rPr>
              <a:t>no con  fusion, but for computers </a:t>
            </a:r>
            <a:r>
              <a:rPr sz="2400" spc="-5" dirty="0">
                <a:latin typeface="+mj-lt"/>
                <a:cs typeface="Arial"/>
              </a:rPr>
              <a:t>each </a:t>
            </a:r>
            <a:r>
              <a:rPr sz="2400" dirty="0">
                <a:latin typeface="+mj-lt"/>
                <a:cs typeface="Arial"/>
              </a:rPr>
              <a:t>relationship have </a:t>
            </a:r>
            <a:r>
              <a:rPr sz="2400" spc="-5" dirty="0">
                <a:latin typeface="+mj-lt"/>
                <a:cs typeface="Arial"/>
              </a:rPr>
              <a:t>to </a:t>
            </a:r>
            <a:r>
              <a:rPr sz="2400" dirty="0">
                <a:latin typeface="+mj-lt"/>
                <a:cs typeface="Arial"/>
              </a:rPr>
              <a:t>be defined  explicitly.</a:t>
            </a:r>
          </a:p>
        </p:txBody>
      </p:sp>
    </p:spTree>
    <p:extLst>
      <p:ext uri="{BB962C8B-B14F-4D97-AF65-F5344CB8AC3E}">
        <p14:creationId xmlns:p14="http://schemas.microsoft.com/office/powerpoint/2010/main" val="1507435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996427"/>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Representing Instance &amp; Isa Relationships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pic>
        <p:nvPicPr>
          <p:cNvPr id="6" name="Picture 5">
            <a:extLst>
              <a:ext uri="{FF2B5EF4-FFF2-40B4-BE49-F238E27FC236}">
                <a16:creationId xmlns:a16="http://schemas.microsoft.com/office/drawing/2014/main" id="{95EBB381-EAF3-4C3A-9A9F-215E7E441C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309" y="2374641"/>
            <a:ext cx="5383491" cy="4298698"/>
          </a:xfrm>
          <a:prstGeom prst="rect">
            <a:avLst/>
          </a:prstGeom>
        </p:spPr>
      </p:pic>
      <p:sp>
        <p:nvSpPr>
          <p:cNvPr id="8" name="object 4">
            <a:extLst>
              <a:ext uri="{FF2B5EF4-FFF2-40B4-BE49-F238E27FC236}">
                <a16:creationId xmlns:a16="http://schemas.microsoft.com/office/drawing/2014/main" id="{96EACEDE-1E75-468F-84D0-0A8BC3A31A6E}"/>
              </a:ext>
            </a:extLst>
          </p:cNvPr>
          <p:cNvSpPr txBox="1"/>
          <p:nvPr/>
        </p:nvSpPr>
        <p:spPr>
          <a:xfrm>
            <a:off x="6096000" y="2340482"/>
            <a:ext cx="5763058" cy="2611612"/>
          </a:xfrm>
          <a:prstGeom prst="rect">
            <a:avLst/>
          </a:prstGeom>
        </p:spPr>
        <p:txBody>
          <a:bodyPr vert="horz" wrap="square" lIns="0" tIns="13335" rIns="0" bIns="0" rtlCol="0">
            <a:spAutoFit/>
          </a:bodyPr>
          <a:lstStyle/>
          <a:p>
            <a:pPr marL="355600" marR="5080" indent="-342900" algn="just">
              <a:lnSpc>
                <a:spcPct val="100000"/>
              </a:lnSpc>
              <a:spcBef>
                <a:spcPts val="105"/>
              </a:spcBef>
              <a:buSzPct val="96153"/>
              <a:buFont typeface="Arial" panose="020B0604020202020204" pitchFamily="34" charset="0"/>
              <a:buChar char="•"/>
              <a:tabLst>
                <a:tab pos="129539" algn="l"/>
              </a:tabLst>
            </a:pPr>
            <a:r>
              <a:rPr sz="2400" dirty="0">
                <a:latin typeface="+mj-lt"/>
                <a:cs typeface="Arial"/>
              </a:rPr>
              <a:t>The </a:t>
            </a:r>
            <a:r>
              <a:rPr sz="2400" spc="-5" dirty="0">
                <a:latin typeface="+mj-lt"/>
                <a:cs typeface="Arial"/>
              </a:rPr>
              <a:t>first part </a:t>
            </a:r>
            <a:r>
              <a:rPr sz="2400" dirty="0">
                <a:latin typeface="+mj-lt"/>
                <a:cs typeface="Arial"/>
              </a:rPr>
              <a:t>of the figure contains the representations, </a:t>
            </a:r>
            <a:r>
              <a:rPr sz="2400" spc="-5" dirty="0">
                <a:latin typeface="+mj-lt"/>
                <a:cs typeface="Arial"/>
              </a:rPr>
              <a:t>in whic</a:t>
            </a:r>
            <a:r>
              <a:rPr sz="2400" dirty="0">
                <a:latin typeface="+mj-lt"/>
                <a:cs typeface="Arial"/>
              </a:rPr>
              <a:t>h the class membership </a:t>
            </a:r>
            <a:r>
              <a:rPr sz="2400" spc="-5" dirty="0">
                <a:latin typeface="+mj-lt"/>
                <a:cs typeface="Arial"/>
              </a:rPr>
              <a:t>is </a:t>
            </a:r>
            <a:r>
              <a:rPr sz="2400" dirty="0">
                <a:latin typeface="+mj-lt"/>
                <a:cs typeface="Arial"/>
              </a:rPr>
              <a:t>represented with unary predicates,  each corresponding </a:t>
            </a:r>
            <a:r>
              <a:rPr sz="2400" spc="-5" dirty="0">
                <a:latin typeface="+mj-lt"/>
                <a:cs typeface="Arial"/>
              </a:rPr>
              <a:t>to </a:t>
            </a:r>
            <a:r>
              <a:rPr sz="2400" dirty="0">
                <a:latin typeface="+mj-lt"/>
                <a:cs typeface="Arial"/>
              </a:rPr>
              <a:t>a class. Asserting that p(x) </a:t>
            </a:r>
            <a:r>
              <a:rPr sz="2400" spc="-5" dirty="0">
                <a:latin typeface="+mj-lt"/>
                <a:cs typeface="Arial"/>
              </a:rPr>
              <a:t>is </a:t>
            </a:r>
            <a:r>
              <a:rPr sz="2400" dirty="0">
                <a:latin typeface="+mj-lt"/>
                <a:cs typeface="Arial"/>
              </a:rPr>
              <a:t>true </a:t>
            </a:r>
            <a:r>
              <a:rPr sz="2400" spc="-5" dirty="0">
                <a:latin typeface="+mj-lt"/>
                <a:cs typeface="Arial"/>
              </a:rPr>
              <a:t>is </a:t>
            </a:r>
            <a:r>
              <a:rPr sz="2400" dirty="0">
                <a:latin typeface="+mj-lt"/>
                <a:cs typeface="Arial"/>
              </a:rPr>
              <a:t>equi  valent </a:t>
            </a:r>
            <a:r>
              <a:rPr sz="2400" spc="-5" dirty="0">
                <a:latin typeface="+mj-lt"/>
                <a:cs typeface="Arial"/>
              </a:rPr>
              <a:t>to </a:t>
            </a:r>
            <a:r>
              <a:rPr sz="2400" dirty="0">
                <a:latin typeface="+mj-lt"/>
                <a:cs typeface="Arial"/>
              </a:rPr>
              <a:t>asserting that X </a:t>
            </a:r>
            <a:r>
              <a:rPr sz="2400" spc="-5" dirty="0">
                <a:latin typeface="+mj-lt"/>
                <a:cs typeface="Arial"/>
              </a:rPr>
              <a:t>is </a:t>
            </a:r>
            <a:r>
              <a:rPr sz="2400" dirty="0">
                <a:latin typeface="+mj-lt"/>
                <a:cs typeface="Arial"/>
              </a:rPr>
              <a:t>an instance of p.</a:t>
            </a:r>
            <a:endParaRPr lang="en-US" sz="2400" dirty="0">
              <a:latin typeface="+mj-lt"/>
              <a:cs typeface="Arial"/>
            </a:endParaRPr>
          </a:p>
          <a:p>
            <a:pPr marL="12700" marR="5080" algn="just">
              <a:lnSpc>
                <a:spcPct val="100000"/>
              </a:lnSpc>
              <a:spcBef>
                <a:spcPts val="105"/>
              </a:spcBef>
              <a:buSzPct val="96153"/>
              <a:tabLst>
                <a:tab pos="129539" algn="l"/>
              </a:tabLst>
            </a:pPr>
            <a:endParaRPr sz="2400" dirty="0">
              <a:latin typeface="+mj-lt"/>
              <a:cs typeface="Arial"/>
            </a:endParaRPr>
          </a:p>
        </p:txBody>
      </p:sp>
    </p:spTree>
    <p:extLst>
      <p:ext uri="{BB962C8B-B14F-4D97-AF65-F5344CB8AC3E}">
        <p14:creationId xmlns:p14="http://schemas.microsoft.com/office/powerpoint/2010/main" val="35266695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996427"/>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Representing Instance &amp; Isa Relationships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Rectangle 4">
            <a:extLst>
              <a:ext uri="{FF2B5EF4-FFF2-40B4-BE49-F238E27FC236}">
                <a16:creationId xmlns:a16="http://schemas.microsoft.com/office/drawing/2014/main" id="{8E5D7E90-4B22-456A-8A67-144C06F01E6D}"/>
              </a:ext>
            </a:extLst>
          </p:cNvPr>
          <p:cNvSpPr/>
          <p:nvPr/>
        </p:nvSpPr>
        <p:spPr>
          <a:xfrm>
            <a:off x="332942" y="2693653"/>
            <a:ext cx="11401858" cy="3724096"/>
          </a:xfrm>
          <a:prstGeom prst="rect">
            <a:avLst/>
          </a:prstGeom>
        </p:spPr>
        <p:txBody>
          <a:bodyPr wrap="square">
            <a:spAutoFit/>
          </a:bodyPr>
          <a:lstStyle/>
          <a:p>
            <a:pPr marL="355600" marR="5715" indent="-342900" algn="just">
              <a:lnSpc>
                <a:spcPct val="100000"/>
              </a:lnSpc>
              <a:buSzPct val="96153"/>
              <a:buFont typeface="Arial" panose="020B0604020202020204" pitchFamily="34" charset="0"/>
              <a:buChar char="•"/>
              <a:tabLst>
                <a:tab pos="129539" algn="l"/>
              </a:tabLst>
            </a:pPr>
            <a:r>
              <a:rPr lang="en-US" sz="2400" dirty="0">
                <a:cs typeface="Arial"/>
              </a:rPr>
              <a:t>The second part uses the instance </a:t>
            </a:r>
            <a:r>
              <a:rPr lang="en-US" sz="2400" spc="-5" dirty="0">
                <a:cs typeface="Arial"/>
              </a:rPr>
              <a:t>predicate </a:t>
            </a:r>
            <a:r>
              <a:rPr lang="en-US" sz="2400" dirty="0">
                <a:cs typeface="Arial"/>
              </a:rPr>
              <a:t>explicitly. It </a:t>
            </a:r>
            <a:r>
              <a:rPr lang="en-US" sz="2400" spc="-5" dirty="0">
                <a:cs typeface="Arial"/>
              </a:rPr>
              <a:t>is </a:t>
            </a:r>
            <a:r>
              <a:rPr lang="en-US" sz="2400" dirty="0">
                <a:cs typeface="Arial"/>
              </a:rPr>
              <a:t>a binary one, whose </a:t>
            </a:r>
            <a:r>
              <a:rPr lang="en-US" sz="2400" spc="-5" dirty="0">
                <a:cs typeface="Arial"/>
              </a:rPr>
              <a:t>first </a:t>
            </a:r>
            <a:r>
              <a:rPr lang="en-US" sz="2400" dirty="0">
                <a:cs typeface="Arial"/>
              </a:rPr>
              <a:t>argument </a:t>
            </a:r>
            <a:r>
              <a:rPr lang="en-US" sz="2400" spc="-5" dirty="0">
                <a:cs typeface="Arial"/>
              </a:rPr>
              <a:t>is </a:t>
            </a:r>
            <a:r>
              <a:rPr lang="en-US" sz="2400" dirty="0">
                <a:cs typeface="Arial"/>
              </a:rPr>
              <a:t>an object and whose second  argument </a:t>
            </a:r>
            <a:r>
              <a:rPr lang="en-US" sz="2400" spc="-5" dirty="0">
                <a:cs typeface="Arial"/>
              </a:rPr>
              <a:t>is </a:t>
            </a:r>
            <a:r>
              <a:rPr lang="en-US" sz="2400" dirty="0">
                <a:cs typeface="Arial"/>
              </a:rPr>
              <a:t>a class </a:t>
            </a:r>
            <a:r>
              <a:rPr lang="en-US" sz="2400" spc="-5" dirty="0">
                <a:cs typeface="Arial"/>
              </a:rPr>
              <a:t>to </a:t>
            </a:r>
            <a:r>
              <a:rPr lang="en-US" sz="2400" dirty="0">
                <a:cs typeface="Arial"/>
              </a:rPr>
              <a:t>which the object belongs. </a:t>
            </a:r>
            <a:r>
              <a:rPr lang="en-US" sz="2400" spc="5" dirty="0">
                <a:cs typeface="Arial"/>
              </a:rPr>
              <a:t>The </a:t>
            </a:r>
            <a:r>
              <a:rPr lang="en-US" sz="2400" spc="-5" dirty="0">
                <a:cs typeface="Arial"/>
              </a:rPr>
              <a:t>implicatio</a:t>
            </a:r>
            <a:r>
              <a:rPr lang="en-US" sz="2400" dirty="0">
                <a:cs typeface="Arial"/>
              </a:rPr>
              <a:t>n rule </a:t>
            </a:r>
            <a:r>
              <a:rPr lang="en-US" sz="2400" spc="-5" dirty="0">
                <a:cs typeface="Arial"/>
              </a:rPr>
              <a:t>in </a:t>
            </a:r>
            <a:r>
              <a:rPr lang="en-US" sz="2400" dirty="0">
                <a:cs typeface="Arial"/>
              </a:rPr>
              <a:t>statement 3 states that object </a:t>
            </a:r>
            <a:r>
              <a:rPr lang="en-US" sz="2400" spc="-5" dirty="0">
                <a:cs typeface="Arial"/>
              </a:rPr>
              <a:t>is </a:t>
            </a:r>
            <a:r>
              <a:rPr lang="en-US" sz="2400" dirty="0">
                <a:cs typeface="Arial"/>
              </a:rPr>
              <a:t>an instance of the sub  class </a:t>
            </a:r>
            <a:r>
              <a:rPr lang="en-US" sz="2400" dirty="0" err="1">
                <a:cs typeface="Arial"/>
              </a:rPr>
              <a:t>pompeian</a:t>
            </a:r>
            <a:r>
              <a:rPr lang="en-US" sz="2400" dirty="0">
                <a:cs typeface="Arial"/>
              </a:rPr>
              <a:t> then </a:t>
            </a:r>
            <a:r>
              <a:rPr lang="en-US" sz="2400" spc="-5" dirty="0">
                <a:cs typeface="Arial"/>
              </a:rPr>
              <a:t>it is </a:t>
            </a:r>
            <a:r>
              <a:rPr lang="en-US" sz="2400" dirty="0">
                <a:cs typeface="Arial"/>
              </a:rPr>
              <a:t>an instance of the superclass</a:t>
            </a:r>
            <a:r>
              <a:rPr lang="en-US" sz="2400" spc="-5" dirty="0">
                <a:cs typeface="Arial"/>
              </a:rPr>
              <a:t> </a:t>
            </a:r>
            <a:r>
              <a:rPr lang="en-US" sz="2400" spc="5" dirty="0">
                <a:cs typeface="Arial"/>
              </a:rPr>
              <a:t>Roman.</a:t>
            </a:r>
          </a:p>
          <a:p>
            <a:pPr marL="355600" marR="5715" indent="-342900" algn="just">
              <a:lnSpc>
                <a:spcPct val="100000"/>
              </a:lnSpc>
              <a:buSzPct val="96153"/>
              <a:buFont typeface="Arial" panose="020B0604020202020204" pitchFamily="34" charset="0"/>
              <a:buChar char="•"/>
              <a:tabLst>
                <a:tab pos="129539" algn="l"/>
              </a:tabLst>
            </a:pPr>
            <a:endParaRPr lang="en-US" sz="2400" spc="5" dirty="0">
              <a:cs typeface="Arial"/>
            </a:endParaRPr>
          </a:p>
          <a:p>
            <a:pPr marL="355600" marR="5715" indent="-342900" algn="just">
              <a:buSzPct val="96153"/>
              <a:buFont typeface="Arial" panose="020B0604020202020204" pitchFamily="34" charset="0"/>
              <a:buChar char="•"/>
              <a:tabLst>
                <a:tab pos="129539" algn="l"/>
              </a:tabLst>
            </a:pPr>
            <a:r>
              <a:rPr lang="en-US" sz="2400" spc="5" dirty="0">
                <a:cs typeface="Arial"/>
              </a:rPr>
              <a:t>The </a:t>
            </a:r>
            <a:r>
              <a:rPr lang="en-US" sz="2400" dirty="0">
                <a:cs typeface="Arial"/>
              </a:rPr>
              <a:t>third part contains representations that use both the instance and </a:t>
            </a:r>
            <a:r>
              <a:rPr lang="en-US" sz="2400" spc="-5" dirty="0" err="1">
                <a:cs typeface="Arial"/>
              </a:rPr>
              <a:t>isa</a:t>
            </a:r>
            <a:r>
              <a:rPr lang="en-US" sz="2400" spc="-5" dirty="0">
                <a:cs typeface="Arial"/>
              </a:rPr>
              <a:t> </a:t>
            </a:r>
            <a:r>
              <a:rPr lang="en-US" sz="2400" dirty="0">
                <a:cs typeface="Arial"/>
              </a:rPr>
              <a:t>predicates </a:t>
            </a:r>
            <a:r>
              <a:rPr lang="en-US" sz="2400" spc="-5" dirty="0">
                <a:cs typeface="Arial"/>
              </a:rPr>
              <a:t>explicitly. </a:t>
            </a:r>
            <a:r>
              <a:rPr lang="en-US" sz="2400" dirty="0">
                <a:cs typeface="Arial"/>
              </a:rPr>
              <a:t>Use of </a:t>
            </a:r>
            <a:r>
              <a:rPr lang="en-US" sz="2400" spc="-5" dirty="0" err="1">
                <a:cs typeface="Arial"/>
              </a:rPr>
              <a:t>isa</a:t>
            </a:r>
            <a:r>
              <a:rPr lang="en-US" sz="2400" spc="-5" dirty="0">
                <a:cs typeface="Arial"/>
              </a:rPr>
              <a:t> simplifies </a:t>
            </a:r>
            <a:r>
              <a:rPr lang="en-US" sz="2400" dirty="0">
                <a:cs typeface="Arial"/>
              </a:rPr>
              <a:t>the </a:t>
            </a:r>
            <a:r>
              <a:rPr lang="en-US" sz="2400" spc="-5" dirty="0">
                <a:cs typeface="Arial"/>
              </a:rPr>
              <a:t>repres</a:t>
            </a:r>
            <a:r>
              <a:rPr lang="en-US" sz="2400" dirty="0">
                <a:cs typeface="Arial"/>
              </a:rPr>
              <a:t>entation of sentence 3 but requires one additional </a:t>
            </a:r>
            <a:r>
              <a:rPr lang="en-US" sz="2400" spc="-5" dirty="0">
                <a:cs typeface="Arial"/>
              </a:rPr>
              <a:t>axiom. It </a:t>
            </a:r>
            <a:r>
              <a:rPr lang="en-US" sz="2400" spc="5" dirty="0">
                <a:cs typeface="Arial"/>
              </a:rPr>
              <a:t>desc</a:t>
            </a:r>
            <a:r>
              <a:rPr lang="en-US" sz="2400" dirty="0">
                <a:cs typeface="Arial"/>
              </a:rPr>
              <a:t>ribes how an instance relation and an </a:t>
            </a:r>
            <a:r>
              <a:rPr lang="en-US" sz="2400" dirty="0" err="1">
                <a:cs typeface="Arial"/>
              </a:rPr>
              <a:t>isa</a:t>
            </a:r>
            <a:r>
              <a:rPr lang="en-US" sz="2400" dirty="0">
                <a:cs typeface="Arial"/>
              </a:rPr>
              <a:t> relation combined </a:t>
            </a:r>
            <a:r>
              <a:rPr lang="en-US" sz="2400" spc="-5" dirty="0">
                <a:cs typeface="Arial"/>
              </a:rPr>
              <a:t>to  </a:t>
            </a:r>
            <a:r>
              <a:rPr lang="en-US" sz="2400" dirty="0">
                <a:cs typeface="Arial"/>
              </a:rPr>
              <a:t>derive a new instance</a:t>
            </a:r>
            <a:r>
              <a:rPr lang="en-US" sz="2400" spc="-25" dirty="0">
                <a:cs typeface="Arial"/>
              </a:rPr>
              <a:t> </a:t>
            </a:r>
            <a:r>
              <a:rPr lang="en-US" sz="2400" dirty="0">
                <a:cs typeface="Arial"/>
              </a:rPr>
              <a:t>relation.</a:t>
            </a:r>
          </a:p>
          <a:p>
            <a:pPr marL="355600" marR="5715" indent="-342900" algn="just">
              <a:lnSpc>
                <a:spcPct val="100000"/>
              </a:lnSpc>
              <a:buSzPct val="96153"/>
              <a:buFont typeface="Arial" panose="020B0604020202020204" pitchFamily="34" charset="0"/>
              <a:buChar char="•"/>
              <a:tabLst>
                <a:tab pos="129539" algn="l"/>
              </a:tabLst>
            </a:pPr>
            <a:endParaRPr lang="en-US" sz="2000" dirty="0">
              <a:cs typeface="Arial"/>
            </a:endParaRPr>
          </a:p>
        </p:txBody>
      </p:sp>
    </p:spTree>
    <p:extLst>
      <p:ext uri="{BB962C8B-B14F-4D97-AF65-F5344CB8AC3E}">
        <p14:creationId xmlns:p14="http://schemas.microsoft.com/office/powerpoint/2010/main" val="38316004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7"/>
            <a:chOff x="0" y="0"/>
            <a:chExt cx="12192000" cy="6857997"/>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2478023" y="2572511"/>
              <a:ext cx="7239000" cy="2804160"/>
            </a:xfrm>
            <a:prstGeom prst="rect">
              <a:avLst/>
            </a:prstGeom>
          </p:spPr>
        </p:pic>
        <p:sp>
          <p:nvSpPr>
            <p:cNvPr id="5" name="object 5"/>
            <p:cNvSpPr/>
            <p:nvPr/>
          </p:nvSpPr>
          <p:spPr>
            <a:xfrm>
              <a:off x="0" y="3715510"/>
              <a:ext cx="12192000" cy="2075690"/>
            </a:xfrm>
            <a:custGeom>
              <a:avLst/>
              <a:gdLst/>
              <a:ahLst/>
              <a:cxnLst/>
              <a:rect l="l" t="t" r="r" b="b"/>
              <a:pathLst>
                <a:path w="12192000" h="713739">
                  <a:moveTo>
                    <a:pt x="12192000" y="0"/>
                  </a:moveTo>
                  <a:lnTo>
                    <a:pt x="0" y="0"/>
                  </a:lnTo>
                  <a:lnTo>
                    <a:pt x="0" y="713232"/>
                  </a:lnTo>
                  <a:lnTo>
                    <a:pt x="12192000" y="713232"/>
                  </a:lnTo>
                  <a:lnTo>
                    <a:pt x="12192000" y="0"/>
                  </a:lnTo>
                  <a:close/>
                </a:path>
              </a:pathLst>
            </a:custGeom>
            <a:solidFill>
              <a:srgbClr val="1F487C"/>
            </a:solidFill>
          </p:spPr>
          <p:txBody>
            <a:bodyPr wrap="square" lIns="0" tIns="0" rIns="0" bIns="0" rtlCol="0"/>
            <a:lstStyle/>
            <a:p>
              <a:endParaRPr/>
            </a:p>
          </p:txBody>
        </p:sp>
      </p:grpSp>
      <p:sp>
        <p:nvSpPr>
          <p:cNvPr id="6" name="object 6"/>
          <p:cNvSpPr txBox="1"/>
          <p:nvPr/>
        </p:nvSpPr>
        <p:spPr>
          <a:xfrm>
            <a:off x="1049422" y="3715510"/>
            <a:ext cx="7789778" cy="1654940"/>
          </a:xfrm>
          <a:prstGeom prst="rect">
            <a:avLst/>
          </a:prstGeom>
        </p:spPr>
        <p:txBody>
          <a:bodyPr vert="horz" wrap="square" lIns="0" tIns="13335" rIns="0" bIns="0" rtlCol="0">
            <a:spAutoFit/>
          </a:bodyPr>
          <a:lstStyle/>
          <a:p>
            <a:pPr marL="12700" algn="ctr">
              <a:lnSpc>
                <a:spcPct val="100000"/>
              </a:lnSpc>
              <a:spcBef>
                <a:spcPts val="105"/>
              </a:spcBef>
            </a:pPr>
            <a:r>
              <a:rPr lang="en-US" sz="3500" b="1" spc="-5" dirty="0">
                <a:solidFill>
                  <a:srgbClr val="FFFFFF"/>
                </a:solidFill>
                <a:cs typeface="Calibri"/>
              </a:rPr>
              <a:t>Topic-3.3</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Computable Functions</a:t>
            </a:r>
          </a:p>
          <a:p>
            <a:pPr marL="469900" indent="-457200">
              <a:lnSpc>
                <a:spcPct val="100000"/>
              </a:lnSpc>
              <a:spcBef>
                <a:spcPts val="105"/>
              </a:spcBef>
              <a:buFont typeface="Wingdings" panose="05000000000000000000" pitchFamily="2" charset="2"/>
              <a:buChar char="§"/>
            </a:pPr>
            <a:r>
              <a:rPr lang="en-US" sz="3500" b="1" spc="-5" dirty="0">
                <a:solidFill>
                  <a:srgbClr val="FFFFFF"/>
                </a:solidFill>
                <a:cs typeface="Calibri"/>
              </a:rPr>
              <a:t>And Predicates, Resolution</a:t>
            </a:r>
            <a:endParaRPr lang="en-IN" sz="3500" dirty="0">
              <a:latin typeface="Calibri"/>
              <a:cs typeface="Calibri"/>
            </a:endParaRPr>
          </a:p>
        </p:txBody>
      </p:sp>
      <p:sp>
        <p:nvSpPr>
          <p:cNvPr id="9" name="object 7">
            <a:extLst>
              <a:ext uri="{FF2B5EF4-FFF2-40B4-BE49-F238E27FC236}">
                <a16:creationId xmlns:a16="http://schemas.microsoft.com/office/drawing/2014/main" id="{A4085080-0372-4AC3-B41F-7B3F1635256A}"/>
              </a:ext>
            </a:extLst>
          </p:cNvPr>
          <p:cNvSpPr txBox="1">
            <a:spLocks/>
          </p:cNvSpPr>
          <p:nvPr/>
        </p:nvSpPr>
        <p:spPr>
          <a:xfrm>
            <a:off x="3124200" y="1857622"/>
            <a:ext cx="5562600" cy="995785"/>
          </a:xfrm>
          <a:prstGeom prst="rect">
            <a:avLst/>
          </a:prstGeom>
        </p:spPr>
        <p:txBody>
          <a:bodyPr vert="horz" wrap="square" lIns="0" tIns="13335" rIns="0" bIns="0" rtlCol="0">
            <a:spAutoFit/>
          </a:bodyPr>
          <a:lstStyle>
            <a:lvl1pPr>
              <a:defRPr sz="3500" b="1" i="0">
                <a:solidFill>
                  <a:schemeClr val="tx1"/>
                </a:solidFill>
                <a:latin typeface="Calibri"/>
                <a:ea typeface="+mj-ea"/>
                <a:cs typeface="Calibri"/>
              </a:defRPr>
            </a:lvl1pPr>
          </a:lstStyle>
          <a:p>
            <a:pPr marL="13970" algn="ctr">
              <a:spcBef>
                <a:spcPts val="105"/>
              </a:spcBef>
            </a:pPr>
            <a:r>
              <a:rPr lang="en-US" sz="2800" kern="0" spc="-5" dirty="0"/>
              <a:t>CHAPTER-3</a:t>
            </a:r>
          </a:p>
          <a:p>
            <a:pPr marL="13970" algn="ctr">
              <a:spcBef>
                <a:spcPts val="105"/>
              </a:spcBef>
            </a:pPr>
            <a:r>
              <a:rPr lang="en-US" kern="0" spc="-5" dirty="0"/>
              <a:t> Knowledge Representation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2943" y="2243250"/>
            <a:ext cx="7096125" cy="1150956"/>
          </a:xfrm>
          <a:prstGeom prst="rect">
            <a:avLst/>
          </a:prstGeom>
        </p:spPr>
        <p:txBody>
          <a:bodyPr vert="horz" wrap="square" lIns="0" tIns="73025" rIns="0" bIns="0" rtlCol="0">
            <a:spAutoFit/>
          </a:bodyPr>
          <a:lstStyle/>
          <a:p>
            <a:pPr marL="354965" indent="-342900">
              <a:lnSpc>
                <a:spcPct val="100000"/>
              </a:lnSpc>
              <a:spcBef>
                <a:spcPts val="575"/>
              </a:spcBef>
              <a:buSzPct val="95000"/>
              <a:buFont typeface="Arial" panose="020B0604020202020204" pitchFamily="34" charset="0"/>
              <a:buChar char="•"/>
              <a:tabLst>
                <a:tab pos="102235" algn="l"/>
              </a:tabLst>
            </a:pPr>
            <a:r>
              <a:rPr lang="en-IN" sz="2000" b="1" spc="-10" dirty="0">
                <a:cs typeface="Calibri"/>
              </a:rPr>
              <a:t>Computable Functions</a:t>
            </a:r>
          </a:p>
          <a:p>
            <a:pPr marL="354965" indent="-342900">
              <a:lnSpc>
                <a:spcPct val="100000"/>
              </a:lnSpc>
              <a:spcBef>
                <a:spcPts val="575"/>
              </a:spcBef>
              <a:buSzPct val="95000"/>
              <a:buFont typeface="Arial" panose="020B0604020202020204" pitchFamily="34" charset="0"/>
              <a:buChar char="•"/>
              <a:tabLst>
                <a:tab pos="102235" algn="l"/>
              </a:tabLst>
            </a:pPr>
            <a:r>
              <a:rPr lang="en-IN" sz="2000" b="1" spc="-10" dirty="0">
                <a:cs typeface="Calibri"/>
              </a:rPr>
              <a:t>Predicates</a:t>
            </a:r>
          </a:p>
          <a:p>
            <a:pPr marL="354965" indent="-342900">
              <a:lnSpc>
                <a:spcPct val="100000"/>
              </a:lnSpc>
              <a:spcBef>
                <a:spcPts val="575"/>
              </a:spcBef>
              <a:buSzPct val="95000"/>
              <a:buFont typeface="Arial" panose="020B0604020202020204" pitchFamily="34" charset="0"/>
              <a:buChar char="•"/>
              <a:tabLst>
                <a:tab pos="102235" algn="l"/>
              </a:tabLst>
            </a:pPr>
            <a:r>
              <a:rPr lang="en-IN" sz="2000" b="1" spc="-10" dirty="0">
                <a:cs typeface="Calibri"/>
              </a:rPr>
              <a:t>Resolution in AI</a:t>
            </a:r>
            <a:endParaRPr lang="en-IN" sz="2000" b="1" spc="-10" dirty="0">
              <a:latin typeface="Calibri"/>
              <a:cs typeface="Calibri"/>
            </a:endParaRPr>
          </a:p>
        </p:txBody>
      </p:sp>
      <p:sp>
        <p:nvSpPr>
          <p:cNvPr id="3" name="object 3"/>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4" name="object 4"/>
          <p:cNvSpPr txBox="1">
            <a:spLocks noGrp="1"/>
          </p:cNvSpPr>
          <p:nvPr>
            <p:ph type="title"/>
          </p:nvPr>
        </p:nvSpPr>
        <p:spPr>
          <a:xfrm>
            <a:off x="332943" y="1697227"/>
            <a:ext cx="1525270" cy="512445"/>
          </a:xfrm>
          <a:prstGeom prst="rect">
            <a:avLst/>
          </a:prstGeom>
        </p:spPr>
        <p:txBody>
          <a:bodyPr vert="horz" wrap="square" lIns="0" tIns="11430" rIns="0" bIns="0" rtlCol="0">
            <a:spAutoFit/>
          </a:bodyPr>
          <a:lstStyle/>
          <a:p>
            <a:pPr marL="12700">
              <a:lnSpc>
                <a:spcPct val="100000"/>
              </a:lnSpc>
              <a:spcBef>
                <a:spcPts val="90"/>
              </a:spcBef>
            </a:pPr>
            <a:r>
              <a:rPr sz="3200" spc="-25" dirty="0">
                <a:solidFill>
                  <a:srgbClr val="FFFFFF"/>
                </a:solidFill>
              </a:rPr>
              <a:t>Contents</a:t>
            </a:r>
            <a:endParaRPr sz="3200"/>
          </a:p>
        </p:txBody>
      </p:sp>
      <p:sp>
        <p:nvSpPr>
          <p:cNvPr id="5" name="object 5"/>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Computable Functions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8" name="Rectangle 7">
            <a:extLst>
              <a:ext uri="{FF2B5EF4-FFF2-40B4-BE49-F238E27FC236}">
                <a16:creationId xmlns:a16="http://schemas.microsoft.com/office/drawing/2014/main" id="{DDA26008-BB98-41B0-8A14-CA0377BBFC82}"/>
              </a:ext>
            </a:extLst>
          </p:cNvPr>
          <p:cNvSpPr/>
          <p:nvPr/>
        </p:nvSpPr>
        <p:spPr>
          <a:xfrm>
            <a:off x="152400" y="2340482"/>
            <a:ext cx="11811000" cy="4493538"/>
          </a:xfrm>
          <a:prstGeom prst="rect">
            <a:avLst/>
          </a:prstGeom>
        </p:spPr>
        <p:txBody>
          <a:bodyPr wrap="square">
            <a:spAutoFit/>
          </a:bodyPr>
          <a:lstStyle/>
          <a:p>
            <a:r>
              <a:rPr lang="en-US" sz="2800" b="1" dirty="0"/>
              <a:t>Definition: </a:t>
            </a:r>
            <a:r>
              <a:rPr lang="en-US" sz="2400" dirty="0"/>
              <a:t>A computable function is a function for which there exists an algorithm that can compute the function's value for any valid input within a finite amount of time.</a:t>
            </a:r>
          </a:p>
          <a:p>
            <a:endParaRPr lang="en-US" sz="2400" dirty="0"/>
          </a:p>
          <a:p>
            <a:r>
              <a:rPr lang="en-US" sz="2400" b="1" dirty="0"/>
              <a:t>Example 1: </a:t>
            </a:r>
            <a:r>
              <a:rPr lang="en-US" sz="2400" dirty="0"/>
              <a:t>Arithmetic Function</a:t>
            </a:r>
          </a:p>
          <a:p>
            <a:r>
              <a:rPr lang="en-US" sz="2400" b="1" dirty="0"/>
              <a:t>Python code</a:t>
            </a:r>
            <a:endParaRPr lang="en-US" sz="2400" dirty="0"/>
          </a:p>
          <a:p>
            <a:r>
              <a:rPr lang="en-US" sz="2400" dirty="0"/>
              <a:t>def add(a, b):</a:t>
            </a:r>
          </a:p>
          <a:p>
            <a:r>
              <a:rPr lang="en-US" sz="2400" dirty="0"/>
              <a:t>    return a + b</a:t>
            </a:r>
          </a:p>
          <a:p>
            <a:endParaRPr lang="en-US" sz="2400" dirty="0"/>
          </a:p>
          <a:p>
            <a:r>
              <a:rPr lang="en-US" sz="2400" dirty="0"/>
              <a:t>print(add(3, 5))  </a:t>
            </a:r>
          </a:p>
          <a:p>
            <a:endParaRPr lang="en-US" sz="2400" dirty="0"/>
          </a:p>
          <a:p>
            <a:r>
              <a:rPr lang="en-US" sz="2400" dirty="0"/>
              <a:t># Output: 8</a:t>
            </a:r>
          </a:p>
          <a:p>
            <a:endParaRPr lang="en-US" dirty="0"/>
          </a:p>
        </p:txBody>
      </p:sp>
      <p:sp>
        <p:nvSpPr>
          <p:cNvPr id="11" name="TextBox 10">
            <a:extLst>
              <a:ext uri="{FF2B5EF4-FFF2-40B4-BE49-F238E27FC236}">
                <a16:creationId xmlns:a16="http://schemas.microsoft.com/office/drawing/2014/main" id="{61560884-BD49-43EB-836B-ADC7FF1B4755}"/>
              </a:ext>
            </a:extLst>
          </p:cNvPr>
          <p:cNvSpPr txBox="1"/>
          <p:nvPr/>
        </p:nvSpPr>
        <p:spPr>
          <a:xfrm>
            <a:off x="5653550" y="3429000"/>
            <a:ext cx="6200612" cy="3046988"/>
          </a:xfrm>
          <a:prstGeom prst="rect">
            <a:avLst/>
          </a:prstGeom>
          <a:noFill/>
        </p:spPr>
        <p:txBody>
          <a:bodyPr wrap="square" rtlCol="0">
            <a:spAutoFit/>
          </a:bodyPr>
          <a:lstStyle/>
          <a:p>
            <a:r>
              <a:rPr lang="en-US" sz="2400" b="1" dirty="0"/>
              <a:t>Example 2: String Manipulation</a:t>
            </a:r>
          </a:p>
          <a:p>
            <a:r>
              <a:rPr lang="en-US" sz="2400" b="1" dirty="0"/>
              <a:t>python code</a:t>
            </a:r>
            <a:endParaRPr lang="en-US" sz="2400" dirty="0"/>
          </a:p>
          <a:p>
            <a:r>
              <a:rPr lang="en-US" sz="2400" dirty="0"/>
              <a:t>def concatenate(str1, str2):</a:t>
            </a:r>
          </a:p>
          <a:p>
            <a:r>
              <a:rPr lang="en-US" sz="2400" dirty="0"/>
              <a:t>    return str1 + str2</a:t>
            </a:r>
          </a:p>
          <a:p>
            <a:endParaRPr lang="en-US" sz="2400" dirty="0"/>
          </a:p>
          <a:p>
            <a:r>
              <a:rPr lang="en-US" sz="2400" dirty="0"/>
              <a:t>print(concatenate("Hello, ", "world!"))  </a:t>
            </a:r>
          </a:p>
          <a:p>
            <a:endParaRPr lang="en-US" sz="2400" dirty="0"/>
          </a:p>
          <a:p>
            <a:r>
              <a:rPr lang="en-US" sz="2400" dirty="0"/>
              <a:t># Output: "Hello, world!“</a:t>
            </a:r>
            <a:endParaRPr lang="en-US" sz="2000" dirty="0"/>
          </a:p>
        </p:txBody>
      </p:sp>
    </p:spTree>
    <p:extLst>
      <p:ext uri="{BB962C8B-B14F-4D97-AF65-F5344CB8AC3E}">
        <p14:creationId xmlns:p14="http://schemas.microsoft.com/office/powerpoint/2010/main" val="39613468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Computable Functions</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TextBox 4">
            <a:extLst>
              <a:ext uri="{FF2B5EF4-FFF2-40B4-BE49-F238E27FC236}">
                <a16:creationId xmlns:a16="http://schemas.microsoft.com/office/drawing/2014/main" id="{FA42D88B-4EF3-41BA-8552-E540005280A8}"/>
              </a:ext>
            </a:extLst>
          </p:cNvPr>
          <p:cNvSpPr txBox="1"/>
          <p:nvPr/>
        </p:nvSpPr>
        <p:spPr>
          <a:xfrm>
            <a:off x="0" y="2340482"/>
            <a:ext cx="11963399" cy="4247317"/>
          </a:xfrm>
          <a:prstGeom prst="rect">
            <a:avLst/>
          </a:prstGeom>
          <a:noFill/>
        </p:spPr>
        <p:txBody>
          <a:bodyPr wrap="square" rtlCol="0">
            <a:spAutoFit/>
          </a:bodyPr>
          <a:lstStyle/>
          <a:p>
            <a:pPr>
              <a:lnSpc>
                <a:spcPct val="150000"/>
              </a:lnSpc>
            </a:pPr>
            <a:r>
              <a:rPr lang="en-US" sz="2400" b="1" dirty="0">
                <a:latin typeface="+mj-lt"/>
              </a:rPr>
              <a:t>Characteristics:</a:t>
            </a:r>
          </a:p>
          <a:p>
            <a:pPr>
              <a:lnSpc>
                <a:spcPct val="150000"/>
              </a:lnSpc>
            </a:pPr>
            <a:r>
              <a:rPr lang="en-US" sz="2400" b="1" dirty="0">
                <a:latin typeface="+mj-lt"/>
              </a:rPr>
              <a:t>Deterministic: </a:t>
            </a:r>
            <a:r>
              <a:rPr lang="en-US" sz="2400" dirty="0">
                <a:latin typeface="+mj-lt"/>
              </a:rPr>
              <a:t>Same input always gives the same output. </a:t>
            </a:r>
          </a:p>
          <a:p>
            <a:pPr>
              <a:lnSpc>
                <a:spcPct val="150000"/>
              </a:lnSpc>
            </a:pPr>
            <a:r>
              <a:rPr lang="en-US" sz="2400" b="1" dirty="0">
                <a:latin typeface="+mj-lt"/>
              </a:rPr>
              <a:t>Effective Method: </a:t>
            </a:r>
            <a:r>
              <a:rPr lang="en-US" sz="2400" dirty="0">
                <a:latin typeface="+mj-lt"/>
              </a:rPr>
              <a:t>There's a clear algorithm to compute it. </a:t>
            </a:r>
          </a:p>
          <a:p>
            <a:pPr>
              <a:lnSpc>
                <a:spcPct val="150000"/>
              </a:lnSpc>
            </a:pPr>
            <a:r>
              <a:rPr lang="en-US" sz="2400" b="1" dirty="0">
                <a:latin typeface="+mj-lt"/>
              </a:rPr>
              <a:t>Finite Time: </a:t>
            </a:r>
            <a:r>
              <a:rPr lang="en-US" sz="2400" dirty="0">
                <a:latin typeface="+mj-lt"/>
              </a:rPr>
              <a:t>Completes in a finite number of steps.</a:t>
            </a:r>
          </a:p>
          <a:p>
            <a:pPr>
              <a:lnSpc>
                <a:spcPct val="150000"/>
              </a:lnSpc>
            </a:pPr>
            <a:endParaRPr lang="en-US" sz="2400" dirty="0">
              <a:latin typeface="+mj-lt"/>
            </a:endParaRPr>
          </a:p>
          <a:p>
            <a:r>
              <a:rPr lang="en-US" sz="2400" b="1" dirty="0">
                <a:latin typeface="+mj-lt"/>
                <a:ea typeface="Times New Roman" panose="02020603050405020304" pitchFamily="18" charset="0"/>
              </a:rPr>
              <a:t>Usage in Logic: </a:t>
            </a:r>
          </a:p>
          <a:p>
            <a:endParaRPr lang="en-US" sz="2400" dirty="0">
              <a:latin typeface="+mj-lt"/>
              <a:ea typeface="Calibri" panose="020F0502020204030204" pitchFamily="34" charset="0"/>
            </a:endParaRPr>
          </a:p>
          <a:p>
            <a:r>
              <a:rPr lang="en-US" sz="2400" dirty="0">
                <a:latin typeface="+mj-lt"/>
                <a:ea typeface="Times New Roman" panose="02020603050405020304" pitchFamily="18" charset="0"/>
              </a:rPr>
              <a:t>Predicates are used in logical expressions to form more complex conditions and rules.</a:t>
            </a:r>
            <a:endParaRPr lang="en-US" sz="2400" dirty="0">
              <a:latin typeface="+mj-lt"/>
              <a:ea typeface="Calibri" panose="020F0502020204030204" pitchFamily="34" charset="0"/>
            </a:endParaRPr>
          </a:p>
          <a:p>
            <a:endParaRPr lang="en-US" dirty="0"/>
          </a:p>
        </p:txBody>
      </p:sp>
    </p:spTree>
    <p:extLst>
      <p:ext uri="{BB962C8B-B14F-4D97-AF65-F5344CB8AC3E}">
        <p14:creationId xmlns:p14="http://schemas.microsoft.com/office/powerpoint/2010/main" val="24963338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7" name="Rectangle 6">
            <a:extLst>
              <a:ext uri="{FF2B5EF4-FFF2-40B4-BE49-F238E27FC236}">
                <a16:creationId xmlns:a16="http://schemas.microsoft.com/office/drawing/2014/main" id="{7630DD64-9050-4CCE-9C24-7F73459CD3F9}"/>
              </a:ext>
            </a:extLst>
          </p:cNvPr>
          <p:cNvSpPr/>
          <p:nvPr/>
        </p:nvSpPr>
        <p:spPr>
          <a:xfrm>
            <a:off x="332942" y="2340482"/>
            <a:ext cx="11630458" cy="4401205"/>
          </a:xfrm>
          <a:prstGeom prst="rect">
            <a:avLst/>
          </a:prstGeom>
        </p:spPr>
        <p:txBody>
          <a:bodyPr wrap="square">
            <a:spAutoFit/>
          </a:bodyPr>
          <a:lstStyle/>
          <a:p>
            <a:r>
              <a:rPr lang="en-US" sz="2000" b="1" dirty="0">
                <a:latin typeface="+mj-lt"/>
                <a:ea typeface="Times New Roman" panose="02020603050405020304" pitchFamily="18" charset="0"/>
              </a:rPr>
              <a:t>Definition:  </a:t>
            </a:r>
            <a:r>
              <a:rPr lang="en-US" sz="2000" dirty="0">
                <a:latin typeface="+mj-lt"/>
                <a:ea typeface="Times New Roman" panose="02020603050405020304" pitchFamily="18" charset="0"/>
              </a:rPr>
              <a:t>Resolution is a rule of inference used in automated theorem proving and logic programming. It helps deduce new information from given facts and rules. </a:t>
            </a:r>
          </a:p>
          <a:p>
            <a:r>
              <a:rPr lang="en-US" sz="2000" b="1" dirty="0">
                <a:latin typeface="+mj-lt"/>
                <a:ea typeface="Times New Roman" panose="02020603050405020304" pitchFamily="18" charset="0"/>
              </a:rPr>
              <a:t>Steps in Resolution</a:t>
            </a:r>
            <a:endParaRPr lang="en-US" sz="2000" dirty="0">
              <a:latin typeface="+mj-lt"/>
              <a:ea typeface="Calibri" panose="020F0502020204030204" pitchFamily="34" charset="0"/>
            </a:endParaRPr>
          </a:p>
          <a:p>
            <a:pPr>
              <a:lnSpc>
                <a:spcPct val="150000"/>
              </a:lnSpc>
            </a:pPr>
            <a:r>
              <a:rPr lang="en-US" sz="2000" b="1" dirty="0">
                <a:latin typeface="+mj-lt"/>
                <a:ea typeface="Times New Roman" panose="02020603050405020304" pitchFamily="18" charset="0"/>
              </a:rPr>
              <a:t>Step 1: Convert to Clause Form</a:t>
            </a:r>
            <a:endParaRPr lang="en-US" sz="2000" dirty="0">
              <a:latin typeface="+mj-lt"/>
              <a:ea typeface="Calibri" panose="020F0502020204030204" pitchFamily="34" charset="0"/>
            </a:endParaRPr>
          </a:p>
          <a:p>
            <a:pPr>
              <a:lnSpc>
                <a:spcPct val="150000"/>
              </a:lnSpc>
            </a:pPr>
            <a:r>
              <a:rPr lang="en-US" sz="2000" dirty="0">
                <a:latin typeface="+mj-lt"/>
                <a:ea typeface="Times New Roman" panose="02020603050405020304" pitchFamily="18" charset="0"/>
              </a:rPr>
              <a:t>Convert all statements into Conjunctive Normal Form (CNF).</a:t>
            </a:r>
            <a:endParaRPr lang="en-US" sz="2000" dirty="0">
              <a:latin typeface="+mj-lt"/>
              <a:ea typeface="Calibri" panose="020F0502020204030204" pitchFamily="34" charset="0"/>
            </a:endParaRPr>
          </a:p>
          <a:p>
            <a:pPr>
              <a:lnSpc>
                <a:spcPct val="150000"/>
              </a:lnSpc>
            </a:pPr>
            <a:r>
              <a:rPr lang="en-US" sz="2000" b="1" dirty="0">
                <a:latin typeface="+mj-lt"/>
                <a:ea typeface="Times New Roman" panose="02020603050405020304" pitchFamily="18" charset="0"/>
              </a:rPr>
              <a:t>Example</a:t>
            </a:r>
            <a:r>
              <a:rPr lang="en-US" sz="2000" dirty="0">
                <a:latin typeface="+mj-lt"/>
                <a:ea typeface="Times New Roman" panose="02020603050405020304" pitchFamily="18" charset="0"/>
              </a:rPr>
              <a:t>: Convert P → Q to ¬P </a:t>
            </a:r>
            <a:r>
              <a:rPr lang="en-US" sz="2000" dirty="0">
                <a:latin typeface="+mj-lt"/>
                <a:ea typeface="Times New Roman" panose="02020603050405020304" pitchFamily="18" charset="0"/>
                <a:cs typeface="Cambria Math" panose="02040503050406030204" pitchFamily="18" charset="0"/>
              </a:rPr>
              <a:t>∨</a:t>
            </a:r>
            <a:r>
              <a:rPr lang="en-US" sz="2000" dirty="0">
                <a:latin typeface="+mj-lt"/>
                <a:ea typeface="Times New Roman" panose="02020603050405020304" pitchFamily="18" charset="0"/>
              </a:rPr>
              <a:t> Q.</a:t>
            </a:r>
            <a:endParaRPr lang="en-US" sz="2000" dirty="0">
              <a:latin typeface="+mj-lt"/>
              <a:ea typeface="Calibri" panose="020F0502020204030204" pitchFamily="34" charset="0"/>
            </a:endParaRPr>
          </a:p>
          <a:p>
            <a:pPr>
              <a:lnSpc>
                <a:spcPct val="150000"/>
              </a:lnSpc>
            </a:pPr>
            <a:r>
              <a:rPr lang="en-US" sz="2000" b="1" dirty="0">
                <a:latin typeface="+mj-lt"/>
                <a:ea typeface="Times New Roman" panose="02020603050405020304" pitchFamily="18" charset="0"/>
              </a:rPr>
              <a:t>Step 2: Unification</a:t>
            </a:r>
            <a:endParaRPr lang="en-US" sz="2000" dirty="0">
              <a:latin typeface="+mj-lt"/>
              <a:ea typeface="Calibri" panose="020F0502020204030204" pitchFamily="34" charset="0"/>
            </a:endParaRPr>
          </a:p>
          <a:p>
            <a:pPr>
              <a:lnSpc>
                <a:spcPct val="150000"/>
              </a:lnSpc>
            </a:pPr>
            <a:r>
              <a:rPr lang="en-US" sz="2000" dirty="0">
                <a:latin typeface="+mj-lt"/>
                <a:ea typeface="Times New Roman" panose="02020603050405020304" pitchFamily="18" charset="0"/>
              </a:rPr>
              <a:t>Identify pairs of clauses with complementary literals.</a:t>
            </a:r>
            <a:endParaRPr lang="en-US" sz="2000" dirty="0">
              <a:latin typeface="+mj-lt"/>
              <a:ea typeface="Calibri" panose="020F0502020204030204" pitchFamily="34" charset="0"/>
            </a:endParaRPr>
          </a:p>
          <a:p>
            <a:pPr>
              <a:lnSpc>
                <a:spcPct val="150000"/>
              </a:lnSpc>
            </a:pPr>
            <a:r>
              <a:rPr lang="en-US" sz="2000" b="1" dirty="0">
                <a:latin typeface="+mj-lt"/>
                <a:ea typeface="Times New Roman" panose="02020603050405020304" pitchFamily="18" charset="0"/>
              </a:rPr>
              <a:t>Example</a:t>
            </a:r>
            <a:r>
              <a:rPr lang="en-US" sz="2000" dirty="0">
                <a:latin typeface="+mj-lt"/>
                <a:ea typeface="Times New Roman" panose="02020603050405020304" pitchFamily="18" charset="0"/>
              </a:rPr>
              <a:t>:</a:t>
            </a:r>
            <a:endParaRPr lang="en-US" sz="2000" dirty="0">
              <a:latin typeface="+mj-lt"/>
              <a:ea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latin typeface="+mj-lt"/>
                <a:ea typeface="Times New Roman" panose="02020603050405020304" pitchFamily="18" charset="0"/>
              </a:rPr>
              <a:t>Clause 1: ¬P </a:t>
            </a:r>
            <a:r>
              <a:rPr lang="en-US" sz="2000" dirty="0">
                <a:latin typeface="+mj-lt"/>
                <a:ea typeface="Times New Roman" panose="02020603050405020304" pitchFamily="18" charset="0"/>
                <a:cs typeface="Cambria Math" panose="02040503050406030204" pitchFamily="18" charset="0"/>
              </a:rPr>
              <a:t>∨</a:t>
            </a:r>
            <a:r>
              <a:rPr lang="en-US" sz="2000" dirty="0">
                <a:latin typeface="+mj-lt"/>
                <a:ea typeface="Times New Roman" panose="02020603050405020304" pitchFamily="18" charset="0"/>
              </a:rPr>
              <a:t> Q</a:t>
            </a:r>
            <a:endParaRPr lang="en-US" sz="2000" dirty="0">
              <a:latin typeface="+mj-lt"/>
              <a:ea typeface="Calibri" panose="020F050202020403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2000" dirty="0">
                <a:latin typeface="+mj-lt"/>
                <a:ea typeface="Times New Roman" panose="02020603050405020304" pitchFamily="18" charset="0"/>
              </a:rPr>
              <a:t>Clause 2: P </a:t>
            </a:r>
            <a:r>
              <a:rPr lang="en-US" sz="2000" dirty="0">
                <a:latin typeface="+mj-lt"/>
                <a:ea typeface="Times New Roman" panose="02020603050405020304" pitchFamily="18" charset="0"/>
                <a:cs typeface="Cambria Math" panose="02040503050406030204" pitchFamily="18" charset="0"/>
              </a:rPr>
              <a:t>∨</a:t>
            </a:r>
            <a:r>
              <a:rPr lang="en-US" sz="2000" dirty="0">
                <a:latin typeface="+mj-lt"/>
                <a:ea typeface="Times New Roman" panose="02020603050405020304" pitchFamily="18" charset="0"/>
              </a:rPr>
              <a:t> R</a:t>
            </a:r>
          </a:p>
        </p:txBody>
      </p:sp>
    </p:spTree>
    <p:extLst>
      <p:ext uri="{BB962C8B-B14F-4D97-AF65-F5344CB8AC3E}">
        <p14:creationId xmlns:p14="http://schemas.microsoft.com/office/powerpoint/2010/main" val="37934545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7" name="Rectangle 6">
            <a:extLst>
              <a:ext uri="{FF2B5EF4-FFF2-40B4-BE49-F238E27FC236}">
                <a16:creationId xmlns:a16="http://schemas.microsoft.com/office/drawing/2014/main" id="{7630DD64-9050-4CCE-9C24-7F73459CD3F9}"/>
              </a:ext>
            </a:extLst>
          </p:cNvPr>
          <p:cNvSpPr/>
          <p:nvPr/>
        </p:nvSpPr>
        <p:spPr>
          <a:xfrm>
            <a:off x="332942" y="2340482"/>
            <a:ext cx="11630458" cy="3903954"/>
          </a:xfrm>
          <a:prstGeom prst="rect">
            <a:avLst/>
          </a:prstGeom>
        </p:spPr>
        <p:txBody>
          <a:bodyPr wrap="square">
            <a:spAutoFit/>
          </a:bodyPr>
          <a:lstStyle/>
          <a:p>
            <a:pPr>
              <a:lnSpc>
                <a:spcPct val="150000"/>
              </a:lnSpc>
            </a:pPr>
            <a:r>
              <a:rPr lang="en-US" sz="2400" b="1" dirty="0">
                <a:latin typeface="Times New Roman" panose="02020603050405020304" pitchFamily="18" charset="0"/>
                <a:ea typeface="Times New Roman" panose="02020603050405020304" pitchFamily="18" charset="0"/>
              </a:rPr>
              <a:t>Step 3: Resolution Step</a:t>
            </a:r>
            <a:endParaRPr lang="en-US" sz="2400" dirty="0">
              <a:latin typeface="Times New Roman" panose="02020603050405020304" pitchFamily="18" charset="0"/>
              <a:ea typeface="Calibri" panose="020F0502020204030204" pitchFamily="34" charset="0"/>
            </a:endParaRPr>
          </a:p>
          <a:p>
            <a:pPr>
              <a:lnSpc>
                <a:spcPct val="150000"/>
              </a:lnSpc>
            </a:pPr>
            <a:r>
              <a:rPr lang="en-US" sz="2400" dirty="0">
                <a:latin typeface="Times New Roman" panose="02020603050405020304" pitchFamily="18" charset="0"/>
                <a:ea typeface="Times New Roman" panose="02020603050405020304" pitchFamily="18" charset="0"/>
              </a:rPr>
              <a:t>Combine pairs to produce a new clause, excluding the complementary literals.</a:t>
            </a:r>
            <a:endParaRPr lang="en-US" sz="2400" dirty="0">
              <a:latin typeface="Times New Roman" panose="02020603050405020304" pitchFamily="18" charset="0"/>
              <a:ea typeface="Calibri" panose="020F0502020204030204" pitchFamily="34" charset="0"/>
            </a:endParaRPr>
          </a:p>
          <a:p>
            <a:pPr>
              <a:lnSpc>
                <a:spcPct val="150000"/>
              </a:lnSpc>
            </a:pPr>
            <a:r>
              <a:rPr lang="en-US" sz="2400" b="1" dirty="0">
                <a:latin typeface="Times New Roman" panose="02020603050405020304" pitchFamily="18" charset="0"/>
                <a:ea typeface="Times New Roman" panose="02020603050405020304" pitchFamily="18" charset="0"/>
              </a:rPr>
              <a:t>Resolution</a:t>
            </a:r>
            <a:r>
              <a:rPr lang="en-US"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Calibri" panose="020F0502020204030204" pitchFamily="34"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2400" dirty="0">
                <a:latin typeface="Times New Roman" panose="02020603050405020304" pitchFamily="18" charset="0"/>
                <a:ea typeface="Times New Roman" panose="02020603050405020304" pitchFamily="18" charset="0"/>
              </a:rPr>
              <a:t>From </a:t>
            </a:r>
            <a:r>
              <a:rPr lang="en-US" sz="2400" dirty="0">
                <a:latin typeface="Courier New" panose="02070309020205020404" pitchFamily="49" charset="0"/>
                <a:ea typeface="Times New Roman" panose="02020603050405020304" pitchFamily="18" charset="0"/>
              </a:rPr>
              <a:t>¬P </a:t>
            </a:r>
            <a:r>
              <a:rPr lang="en-US" sz="2400" dirty="0">
                <a:latin typeface="Cambria Math" panose="02040503050406030204" pitchFamily="18" charset="0"/>
                <a:ea typeface="Times New Roman" panose="02020603050405020304" pitchFamily="18" charset="0"/>
                <a:cs typeface="Cambria Math" panose="02040503050406030204" pitchFamily="18" charset="0"/>
              </a:rPr>
              <a:t>∨</a:t>
            </a:r>
            <a:r>
              <a:rPr lang="en-US" sz="2400" dirty="0">
                <a:latin typeface="Courier New" panose="02070309020205020404" pitchFamily="49" charset="0"/>
                <a:ea typeface="Times New Roman" panose="02020603050405020304" pitchFamily="18" charset="0"/>
              </a:rPr>
              <a:t> Q</a:t>
            </a:r>
            <a:r>
              <a:rPr lang="en-US" sz="2400" dirty="0">
                <a:latin typeface="Times New Roman" panose="02020603050405020304" pitchFamily="18" charset="0"/>
                <a:ea typeface="Times New Roman" panose="02020603050405020304" pitchFamily="18" charset="0"/>
              </a:rPr>
              <a:t> and </a:t>
            </a:r>
            <a:r>
              <a:rPr lang="en-US" sz="2400" dirty="0">
                <a:latin typeface="Courier New" panose="02070309020205020404" pitchFamily="49" charset="0"/>
                <a:ea typeface="Times New Roman" panose="02020603050405020304" pitchFamily="18" charset="0"/>
              </a:rPr>
              <a:t>P </a:t>
            </a:r>
            <a:r>
              <a:rPr lang="en-US" sz="2400" dirty="0">
                <a:latin typeface="Cambria Math" panose="02040503050406030204" pitchFamily="18" charset="0"/>
                <a:ea typeface="Times New Roman" panose="02020603050405020304" pitchFamily="18" charset="0"/>
                <a:cs typeface="Cambria Math" panose="02040503050406030204" pitchFamily="18" charset="0"/>
              </a:rPr>
              <a:t>∨</a:t>
            </a:r>
            <a:r>
              <a:rPr lang="en-US" sz="2400" dirty="0">
                <a:latin typeface="Courier New" panose="02070309020205020404" pitchFamily="49" charset="0"/>
                <a:ea typeface="Times New Roman" panose="02020603050405020304" pitchFamily="18" charset="0"/>
              </a:rPr>
              <a:t> R</a:t>
            </a:r>
            <a:r>
              <a:rPr lang="en-US" sz="2400" dirty="0">
                <a:latin typeface="Times New Roman" panose="02020603050405020304" pitchFamily="18" charset="0"/>
                <a:ea typeface="Times New Roman" panose="02020603050405020304" pitchFamily="18" charset="0"/>
              </a:rPr>
              <a:t>, resolve </a:t>
            </a:r>
            <a:r>
              <a:rPr lang="en-US" sz="2400" dirty="0">
                <a:latin typeface="Courier New" panose="02070309020205020404" pitchFamily="49" charset="0"/>
                <a:ea typeface="Times New Roman" panose="02020603050405020304" pitchFamily="18" charset="0"/>
              </a:rPr>
              <a:t>P</a:t>
            </a:r>
            <a:r>
              <a:rPr lang="en-US" sz="2400" dirty="0">
                <a:latin typeface="Times New Roman" panose="02020603050405020304" pitchFamily="18" charset="0"/>
                <a:ea typeface="Times New Roman" panose="02020603050405020304" pitchFamily="18" charset="0"/>
              </a:rPr>
              <a:t> and </a:t>
            </a:r>
            <a:r>
              <a:rPr lang="en-US" sz="2400" dirty="0">
                <a:latin typeface="Courier New" panose="02070309020205020404" pitchFamily="49" charset="0"/>
                <a:ea typeface="Times New Roman" panose="02020603050405020304" pitchFamily="18" charset="0"/>
              </a:rPr>
              <a:t>¬P</a:t>
            </a:r>
            <a:r>
              <a:rPr lang="en-US" sz="2400" dirty="0">
                <a:latin typeface="Times New Roman" panose="02020603050405020304" pitchFamily="18" charset="0"/>
                <a:ea typeface="Times New Roman" panose="02020603050405020304" pitchFamily="18" charset="0"/>
              </a:rPr>
              <a:t> to get </a:t>
            </a:r>
            <a:r>
              <a:rPr lang="en-US" sz="2400" dirty="0">
                <a:latin typeface="Courier New" panose="02070309020205020404" pitchFamily="49" charset="0"/>
                <a:ea typeface="Times New Roman" panose="02020603050405020304" pitchFamily="18" charset="0"/>
              </a:rPr>
              <a:t>Q </a:t>
            </a:r>
            <a:r>
              <a:rPr lang="en-US" sz="2400" dirty="0">
                <a:latin typeface="Cambria Math" panose="02040503050406030204" pitchFamily="18" charset="0"/>
                <a:ea typeface="Times New Roman" panose="02020603050405020304" pitchFamily="18" charset="0"/>
                <a:cs typeface="Cambria Math" panose="02040503050406030204" pitchFamily="18" charset="0"/>
              </a:rPr>
              <a:t>∨</a:t>
            </a:r>
            <a:r>
              <a:rPr lang="en-US" sz="2400" dirty="0">
                <a:latin typeface="Courier New" panose="02070309020205020404" pitchFamily="49" charset="0"/>
                <a:ea typeface="Times New Roman" panose="02020603050405020304" pitchFamily="18" charset="0"/>
              </a:rPr>
              <a:t> R</a:t>
            </a:r>
            <a:r>
              <a:rPr lang="en-US"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Calibri" panose="020F0502020204030204" pitchFamily="34" charset="0"/>
            </a:endParaRPr>
          </a:p>
          <a:p>
            <a:pPr>
              <a:lnSpc>
                <a:spcPct val="150000"/>
              </a:lnSpc>
            </a:pPr>
            <a:r>
              <a:rPr lang="en-US" sz="2400" b="1" dirty="0">
                <a:latin typeface="Times New Roman" panose="02020603050405020304" pitchFamily="18" charset="0"/>
                <a:ea typeface="Times New Roman" panose="02020603050405020304" pitchFamily="18" charset="0"/>
              </a:rPr>
              <a:t>Step 4: Iterate</a:t>
            </a:r>
            <a:endParaRPr lang="en-US" sz="2400" dirty="0">
              <a:latin typeface="Times New Roman" panose="02020603050405020304" pitchFamily="18" charset="0"/>
              <a:ea typeface="Calibri" panose="020F0502020204030204" pitchFamily="34" charset="0"/>
            </a:endParaRPr>
          </a:p>
          <a:p>
            <a:pPr>
              <a:lnSpc>
                <a:spcPct val="150000"/>
              </a:lnSpc>
            </a:pPr>
            <a:r>
              <a:rPr lang="en-US" sz="2400" dirty="0">
                <a:latin typeface="Times New Roman" panose="02020603050405020304" pitchFamily="18" charset="0"/>
                <a:ea typeface="Times New Roman" panose="02020603050405020304" pitchFamily="18" charset="0"/>
              </a:rPr>
              <a:t>Repeat the process until a contradiction is found (an empty clause) or no new clauses can be generated.</a:t>
            </a:r>
            <a:endParaRPr lang="en-US" sz="24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7045755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in AI</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6" name="Rectangle 5">
            <a:extLst>
              <a:ext uri="{FF2B5EF4-FFF2-40B4-BE49-F238E27FC236}">
                <a16:creationId xmlns:a16="http://schemas.microsoft.com/office/drawing/2014/main" id="{622E2741-5619-46C2-BBA1-BEF332174C2B}"/>
              </a:ext>
            </a:extLst>
          </p:cNvPr>
          <p:cNvSpPr/>
          <p:nvPr/>
        </p:nvSpPr>
        <p:spPr>
          <a:xfrm>
            <a:off x="0" y="2353416"/>
            <a:ext cx="12039600" cy="4632037"/>
          </a:xfrm>
          <a:prstGeom prst="rect">
            <a:avLst/>
          </a:prstGeom>
        </p:spPr>
        <p:txBody>
          <a:bodyPr wrap="square">
            <a:spAutoFit/>
          </a:bodyPr>
          <a:lstStyle/>
          <a:p>
            <a:r>
              <a:rPr lang="en-US" sz="2000" b="1" dirty="0">
                <a:latin typeface="Times New Roman" panose="02020603050405020304" pitchFamily="18" charset="0"/>
                <a:ea typeface="Times New Roman" panose="02020603050405020304" pitchFamily="18" charset="0"/>
              </a:rPr>
              <a:t>Application Example: Automated Theorem Proving</a:t>
            </a:r>
            <a:r>
              <a:rPr lang="en-US" sz="2000" dirty="0">
                <a:latin typeface="Times New Roman" panose="02020603050405020304" pitchFamily="18" charset="0"/>
                <a:ea typeface="Times New Roman" panose="02020603050405020304" pitchFamily="18" charset="0"/>
              </a:rPr>
              <a:t> </a:t>
            </a:r>
          </a:p>
          <a:p>
            <a:r>
              <a:rPr lang="en-US" sz="2000" b="1" dirty="0">
                <a:latin typeface="Times New Roman" panose="02020603050405020304" pitchFamily="18" charset="0"/>
                <a:ea typeface="Times New Roman" panose="02020603050405020304" pitchFamily="18" charset="0"/>
              </a:rPr>
              <a:t>Problem:</a:t>
            </a:r>
            <a:endParaRPr lang="en-US" sz="2000" dirty="0">
              <a:latin typeface="Times New Roman" panose="02020603050405020304" pitchFamily="18" charset="0"/>
              <a:ea typeface="Calibri" panose="020F0502020204030204" pitchFamily="34" charset="0"/>
            </a:endParaRPr>
          </a:p>
          <a:p>
            <a:r>
              <a:rPr lang="en-US" sz="2000" dirty="0">
                <a:latin typeface="Times New Roman" panose="02020603050405020304" pitchFamily="18" charset="0"/>
                <a:ea typeface="Times New Roman" panose="02020603050405020304" pitchFamily="18" charset="0"/>
              </a:rPr>
              <a:t>Prove </a:t>
            </a:r>
            <a:r>
              <a:rPr lang="en-US" sz="2000" dirty="0">
                <a:latin typeface="Courier New" panose="02070309020205020404" pitchFamily="49" charset="0"/>
                <a:ea typeface="Times New Roman" panose="02020603050405020304" pitchFamily="18" charset="0"/>
              </a:rPr>
              <a:t>S</a:t>
            </a:r>
            <a:r>
              <a:rPr lang="en-US" sz="2000" dirty="0">
                <a:latin typeface="Times New Roman" panose="02020603050405020304" pitchFamily="18" charset="0"/>
                <a:ea typeface="Times New Roman" panose="02020603050405020304" pitchFamily="18" charset="0"/>
              </a:rPr>
              <a:t> from the following clauses:</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Courier New" panose="02070309020205020404" pitchFamily="49" charset="0"/>
                <a:ea typeface="Times New Roman" panose="02020603050405020304" pitchFamily="18" charset="0"/>
              </a:rPr>
              <a:t>P </a:t>
            </a:r>
            <a:r>
              <a:rPr lang="en-US" sz="2000" dirty="0">
                <a:latin typeface="Cambria Math" panose="02040503050406030204" pitchFamily="18" charset="0"/>
                <a:ea typeface="Times New Roman" panose="02020603050405020304" pitchFamily="18" charset="0"/>
                <a:cs typeface="Cambria Math" panose="02040503050406030204" pitchFamily="18" charset="0"/>
              </a:rPr>
              <a:t>∨</a:t>
            </a:r>
            <a:r>
              <a:rPr lang="en-US" sz="2000" dirty="0">
                <a:latin typeface="Courier New" panose="02070309020205020404" pitchFamily="49" charset="0"/>
                <a:ea typeface="Times New Roman" panose="02020603050405020304" pitchFamily="18" charset="0"/>
              </a:rPr>
              <a:t> Q</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Courier New" panose="02070309020205020404" pitchFamily="49" charset="0"/>
                <a:ea typeface="Times New Roman" panose="02020603050405020304" pitchFamily="18" charset="0"/>
              </a:rPr>
              <a:t>¬P </a:t>
            </a:r>
            <a:r>
              <a:rPr lang="en-US" sz="2000" dirty="0">
                <a:latin typeface="Cambria Math" panose="02040503050406030204" pitchFamily="18" charset="0"/>
                <a:ea typeface="Times New Roman" panose="02020603050405020304" pitchFamily="18" charset="0"/>
                <a:cs typeface="Cambria Math" panose="02040503050406030204" pitchFamily="18" charset="0"/>
              </a:rPr>
              <a:t>∨</a:t>
            </a:r>
            <a:r>
              <a:rPr lang="en-US" sz="2000" dirty="0">
                <a:latin typeface="Courier New" panose="02070309020205020404" pitchFamily="49" charset="0"/>
                <a:ea typeface="Times New Roman" panose="02020603050405020304" pitchFamily="18" charset="0"/>
              </a:rPr>
              <a:t> R</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Courier New" panose="02070309020205020404" pitchFamily="49" charset="0"/>
                <a:ea typeface="Times New Roman" panose="02020603050405020304" pitchFamily="18" charset="0"/>
              </a:rPr>
              <a:t>¬Q</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Courier New" panose="02070309020205020404" pitchFamily="49" charset="0"/>
                <a:ea typeface="Times New Roman" panose="02020603050405020304" pitchFamily="18" charset="0"/>
              </a:rPr>
              <a:t>¬R </a:t>
            </a:r>
            <a:r>
              <a:rPr lang="en-US" sz="2000" dirty="0">
                <a:latin typeface="Cambria Math" panose="02040503050406030204" pitchFamily="18" charset="0"/>
                <a:ea typeface="Times New Roman" panose="02020603050405020304" pitchFamily="18" charset="0"/>
                <a:cs typeface="Cambria Math" panose="02040503050406030204" pitchFamily="18" charset="0"/>
              </a:rPr>
              <a:t>∨</a:t>
            </a:r>
            <a:r>
              <a:rPr lang="en-US" sz="2000" dirty="0">
                <a:latin typeface="Courier New" panose="02070309020205020404" pitchFamily="49" charset="0"/>
                <a:ea typeface="Times New Roman" panose="02020603050405020304" pitchFamily="18" charset="0"/>
              </a:rPr>
              <a:t> S</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Courier New" panose="02070309020205020404" pitchFamily="49" charset="0"/>
                <a:ea typeface="Times New Roman" panose="02020603050405020304" pitchFamily="18" charset="0"/>
              </a:rPr>
              <a:t>¬S</a:t>
            </a:r>
            <a:endParaRPr lang="en-US" sz="2000" dirty="0">
              <a:latin typeface="Times New Roman" panose="02020603050405020304" pitchFamily="18" charset="0"/>
              <a:ea typeface="Calibri" panose="020F0502020204030204" pitchFamily="34" charset="0"/>
            </a:endParaRPr>
          </a:p>
          <a:p>
            <a:r>
              <a:rPr lang="en-US" sz="2400" b="1" dirty="0">
                <a:latin typeface="Times New Roman" panose="02020603050405020304" pitchFamily="18" charset="0"/>
                <a:ea typeface="Times New Roman" panose="02020603050405020304" pitchFamily="18" charset="0"/>
              </a:rPr>
              <a:t>Resolution Process</a:t>
            </a:r>
            <a:r>
              <a:rPr lang="en-US"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rPr>
              <a:t>Resolve (1) and (3) to get </a:t>
            </a:r>
            <a:r>
              <a:rPr lang="en-US" sz="2000" dirty="0">
                <a:latin typeface="Courier New" panose="02070309020205020404" pitchFamily="49" charset="0"/>
                <a:ea typeface="Times New Roman" panose="02020603050405020304" pitchFamily="18" charset="0"/>
              </a:rPr>
              <a:t>P</a:t>
            </a:r>
            <a:r>
              <a:rPr lang="en-US" sz="2000" dirty="0">
                <a:latin typeface="Times New Roman" panose="02020603050405020304" pitchFamily="18" charset="0"/>
                <a:ea typeface="Times New Roman" panose="02020603050405020304" pitchFamily="18" charset="0"/>
              </a:rPr>
              <a:t> (since </a:t>
            </a:r>
            <a:r>
              <a:rPr lang="en-US" sz="2000" dirty="0">
                <a:latin typeface="Courier New" panose="02070309020205020404" pitchFamily="49" charset="0"/>
                <a:ea typeface="Times New Roman" panose="02020603050405020304" pitchFamily="18" charset="0"/>
              </a:rPr>
              <a:t>¬Q</a:t>
            </a:r>
            <a:r>
              <a:rPr lang="en-US" sz="2000" dirty="0">
                <a:latin typeface="Times New Roman" panose="02020603050405020304" pitchFamily="18" charset="0"/>
                <a:ea typeface="Times New Roman" panose="02020603050405020304" pitchFamily="18" charset="0"/>
              </a:rPr>
              <a:t> cancels out </a:t>
            </a:r>
            <a:r>
              <a:rPr lang="en-US" sz="2000" dirty="0">
                <a:latin typeface="Courier New" panose="02070309020205020404" pitchFamily="49" charset="0"/>
                <a:ea typeface="Times New Roman" panose="02020603050405020304" pitchFamily="18" charset="0"/>
              </a:rPr>
              <a:t>Q</a:t>
            </a:r>
            <a:r>
              <a:rPr lang="en-US" sz="2000" dirty="0">
                <a:latin typeface="Times New Roman" panose="02020603050405020304" pitchFamily="18" charset="0"/>
                <a:ea typeface="Times New Roman" panose="02020603050405020304" pitchFamily="18" charset="0"/>
              </a:rPr>
              <a:t>).</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rPr>
              <a:t>Resolve </a:t>
            </a:r>
            <a:r>
              <a:rPr lang="en-US" sz="2000" dirty="0">
                <a:latin typeface="Courier New" panose="02070309020205020404" pitchFamily="49" charset="0"/>
                <a:ea typeface="Times New Roman" panose="02020603050405020304" pitchFamily="18" charset="0"/>
              </a:rPr>
              <a:t>P</a:t>
            </a:r>
            <a:r>
              <a:rPr lang="en-US" sz="2000" dirty="0">
                <a:latin typeface="Times New Roman" panose="02020603050405020304" pitchFamily="18" charset="0"/>
                <a:ea typeface="Times New Roman" panose="02020603050405020304" pitchFamily="18" charset="0"/>
              </a:rPr>
              <a:t> with (2) to get </a:t>
            </a:r>
            <a:r>
              <a:rPr lang="en-US" sz="2000" dirty="0">
                <a:latin typeface="Courier New" panose="02070309020205020404" pitchFamily="49" charset="0"/>
                <a:ea typeface="Times New Roman" panose="02020603050405020304" pitchFamily="18" charset="0"/>
              </a:rPr>
              <a:t>R</a:t>
            </a:r>
            <a:r>
              <a:rPr lang="en-US" sz="2000" dirty="0">
                <a:latin typeface="Times New Roman" panose="02020603050405020304" pitchFamily="18" charset="0"/>
                <a:ea typeface="Times New Roman" panose="02020603050405020304" pitchFamily="18" charset="0"/>
              </a:rPr>
              <a:t> (since </a:t>
            </a:r>
            <a:r>
              <a:rPr lang="en-US" sz="2000" dirty="0">
                <a:latin typeface="Courier New" panose="02070309020205020404" pitchFamily="49" charset="0"/>
                <a:ea typeface="Times New Roman" panose="02020603050405020304" pitchFamily="18" charset="0"/>
              </a:rPr>
              <a:t>¬P</a:t>
            </a:r>
            <a:r>
              <a:rPr lang="en-US" sz="2000" dirty="0">
                <a:latin typeface="Times New Roman" panose="02020603050405020304" pitchFamily="18" charset="0"/>
                <a:ea typeface="Times New Roman" panose="02020603050405020304" pitchFamily="18" charset="0"/>
              </a:rPr>
              <a:t> cancels out </a:t>
            </a:r>
            <a:r>
              <a:rPr lang="en-US" sz="2000" dirty="0">
                <a:latin typeface="Courier New" panose="02070309020205020404" pitchFamily="49" charset="0"/>
                <a:ea typeface="Times New Roman" panose="02020603050405020304" pitchFamily="18" charset="0"/>
              </a:rPr>
              <a:t>P</a:t>
            </a:r>
            <a:r>
              <a:rPr lang="en-US" sz="2000" dirty="0">
                <a:latin typeface="Times New Roman" panose="02020603050405020304" pitchFamily="18" charset="0"/>
                <a:ea typeface="Times New Roman" panose="02020603050405020304" pitchFamily="18" charset="0"/>
              </a:rPr>
              <a:t>).</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rPr>
              <a:t>Resolve </a:t>
            </a:r>
            <a:r>
              <a:rPr lang="en-US" sz="2000" dirty="0">
                <a:latin typeface="Courier New" panose="02070309020205020404" pitchFamily="49" charset="0"/>
                <a:ea typeface="Times New Roman" panose="02020603050405020304" pitchFamily="18" charset="0"/>
              </a:rPr>
              <a:t>R</a:t>
            </a:r>
            <a:r>
              <a:rPr lang="en-US" sz="2000" dirty="0">
                <a:latin typeface="Times New Roman" panose="02020603050405020304" pitchFamily="18" charset="0"/>
                <a:ea typeface="Times New Roman" panose="02020603050405020304" pitchFamily="18" charset="0"/>
              </a:rPr>
              <a:t> with (4) to get </a:t>
            </a:r>
            <a:r>
              <a:rPr lang="en-US" sz="2000" dirty="0">
                <a:latin typeface="Courier New" panose="02070309020205020404" pitchFamily="49" charset="0"/>
                <a:ea typeface="Times New Roman" panose="02020603050405020304" pitchFamily="18" charset="0"/>
              </a:rPr>
              <a:t>S</a:t>
            </a:r>
            <a:r>
              <a:rPr lang="en-US" sz="2000" dirty="0">
                <a:latin typeface="Times New Roman" panose="02020603050405020304" pitchFamily="18" charset="0"/>
                <a:ea typeface="Times New Roman" panose="02020603050405020304" pitchFamily="18" charset="0"/>
              </a:rPr>
              <a:t> (since </a:t>
            </a:r>
            <a:r>
              <a:rPr lang="en-US" sz="2000" dirty="0">
                <a:latin typeface="Courier New" panose="02070309020205020404" pitchFamily="49" charset="0"/>
                <a:ea typeface="Times New Roman" panose="02020603050405020304" pitchFamily="18" charset="0"/>
              </a:rPr>
              <a:t>¬R</a:t>
            </a:r>
            <a:r>
              <a:rPr lang="en-US" sz="2000" dirty="0">
                <a:latin typeface="Times New Roman" panose="02020603050405020304" pitchFamily="18" charset="0"/>
                <a:ea typeface="Times New Roman" panose="02020603050405020304" pitchFamily="18" charset="0"/>
              </a:rPr>
              <a:t> cancels out </a:t>
            </a:r>
            <a:r>
              <a:rPr lang="en-US" sz="2000" dirty="0">
                <a:latin typeface="Courier New" panose="02070309020205020404" pitchFamily="49" charset="0"/>
                <a:ea typeface="Times New Roman" panose="02020603050405020304" pitchFamily="18" charset="0"/>
              </a:rPr>
              <a:t>R</a:t>
            </a:r>
            <a:r>
              <a:rPr lang="en-US" sz="2000" dirty="0">
                <a:latin typeface="Times New Roman" panose="02020603050405020304" pitchFamily="18" charset="0"/>
                <a:ea typeface="Times New Roman" panose="02020603050405020304" pitchFamily="18" charset="0"/>
              </a:rPr>
              <a:t>).</a:t>
            </a:r>
            <a:endParaRPr lang="en-US" sz="2000" dirty="0">
              <a:latin typeface="Times New Roman" panose="02020603050405020304" pitchFamily="18" charset="0"/>
              <a:ea typeface="Calibri" panose="020F0502020204030204" pitchFamily="34" charset="0"/>
            </a:endParaRPr>
          </a:p>
          <a:p>
            <a:pPr marL="342900" marR="0" lvl="0" indent="-342900">
              <a:spcBef>
                <a:spcPts val="0"/>
              </a:spcBef>
              <a:spcAft>
                <a:spcPts val="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rPr>
              <a:t>Resolve </a:t>
            </a:r>
            <a:r>
              <a:rPr lang="en-US" sz="2000" dirty="0">
                <a:latin typeface="Courier New" panose="02070309020205020404" pitchFamily="49" charset="0"/>
                <a:ea typeface="Times New Roman" panose="02020603050405020304" pitchFamily="18" charset="0"/>
              </a:rPr>
              <a:t>S</a:t>
            </a:r>
            <a:r>
              <a:rPr lang="en-US" sz="2000" dirty="0">
                <a:latin typeface="Times New Roman" panose="02020603050405020304" pitchFamily="18" charset="0"/>
                <a:ea typeface="Times New Roman" panose="02020603050405020304" pitchFamily="18" charset="0"/>
              </a:rPr>
              <a:t> with (5) to get an empty clause, indicating a contradiction.</a:t>
            </a:r>
            <a:endParaRPr lang="en-US" sz="2000" dirty="0">
              <a:latin typeface="Times New Roman" panose="02020603050405020304" pitchFamily="18" charset="0"/>
              <a:ea typeface="Calibri" panose="020F0502020204030204" pitchFamily="34" charset="0"/>
            </a:endParaRPr>
          </a:p>
          <a:p>
            <a:r>
              <a:rPr lang="en-US" sz="2000" dirty="0">
                <a:latin typeface="Times New Roman" panose="02020603050405020304" pitchFamily="18" charset="0"/>
                <a:ea typeface="Times New Roman" panose="02020603050405020304" pitchFamily="18" charset="0"/>
              </a:rPr>
              <a:t>Thus, </a:t>
            </a:r>
            <a:r>
              <a:rPr lang="en-US" sz="2000" dirty="0">
                <a:latin typeface="Courier New" panose="02070309020205020404" pitchFamily="49" charset="0"/>
                <a:ea typeface="Times New Roman" panose="02020603050405020304" pitchFamily="18" charset="0"/>
              </a:rPr>
              <a:t>S</a:t>
            </a:r>
            <a:r>
              <a:rPr lang="en-US" sz="2000" dirty="0">
                <a:latin typeface="Times New Roman" panose="02020603050405020304" pitchFamily="18" charset="0"/>
                <a:ea typeface="Times New Roman" panose="02020603050405020304" pitchFamily="18" charset="0"/>
              </a:rPr>
              <a:t> is proven by resolution.</a:t>
            </a:r>
            <a:endParaRPr lang="en-US" sz="2000" dirty="0">
              <a:latin typeface="Times New Roman" panose="02020603050405020304" pitchFamily="18" charset="0"/>
              <a:ea typeface="Calibri" panose="020F0502020204030204" pitchFamily="34" charset="0"/>
            </a:endParaRPr>
          </a:p>
          <a:p>
            <a:r>
              <a:rPr lang="en-US" sz="1100" dirty="0">
                <a:latin typeface="Times New Roman" panose="02020603050405020304" pitchFamily="18" charset="0"/>
                <a:ea typeface="Calibri" panose="020F0502020204030204" pitchFamily="34" charset="0"/>
              </a:rPr>
              <a:t> </a:t>
            </a:r>
            <a:endParaRPr lang="en-US" sz="11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989210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Procedure						</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152400" y="2340483"/>
            <a:ext cx="11887200" cy="4907754"/>
          </a:xfrm>
          <a:prstGeom prst="rect">
            <a:avLst/>
          </a:prstGeom>
        </p:spPr>
        <p:txBody>
          <a:bodyPr vert="horz" wrap="square" lIns="0" tIns="11430" rIns="0" bIns="0" rtlCol="0">
            <a:spAutoFit/>
          </a:bodyPr>
          <a:lstStyle/>
          <a:p>
            <a:pPr marL="354965" marR="567690" lvl="0" indent="-342900">
              <a:lnSpc>
                <a:spcPct val="101400"/>
              </a:lnSpc>
              <a:spcBef>
                <a:spcPts val="85"/>
              </a:spcBef>
              <a:buFont typeface="Arial" panose="020B0604020202020204" pitchFamily="34" charset="0"/>
              <a:buChar char="•"/>
              <a:tabLst>
                <a:tab pos="310515" algn="l"/>
              </a:tabLst>
            </a:pPr>
            <a:r>
              <a:rPr lang="en-US" sz="2200" kern="0" dirty="0">
                <a:solidFill>
                  <a:sysClr val="windowText" lastClr="000000"/>
                </a:solidFill>
                <a:latin typeface="+mj-lt"/>
                <a:cs typeface="Microsoft Sans Serif"/>
              </a:rPr>
              <a:t>Resolution is a procedure, which gains its efficiency from the fact that it operates on statements that have been converted to a very convenient standard form.</a:t>
            </a:r>
          </a:p>
          <a:p>
            <a:pPr marL="354965" marR="567690" lvl="0" indent="-342900">
              <a:lnSpc>
                <a:spcPct val="101400"/>
              </a:lnSpc>
              <a:spcBef>
                <a:spcPts val="85"/>
              </a:spcBef>
              <a:buFont typeface="Arial" panose="020B0604020202020204" pitchFamily="34" charset="0"/>
              <a:buChar char="•"/>
              <a:tabLst>
                <a:tab pos="310515" algn="l"/>
              </a:tabLst>
            </a:pPr>
            <a:endParaRPr lang="en-US" sz="2200" kern="0" dirty="0">
              <a:solidFill>
                <a:sysClr val="windowText" lastClr="000000"/>
              </a:solidFill>
              <a:latin typeface="+mj-lt"/>
              <a:cs typeface="Microsoft Sans Serif"/>
            </a:endParaRPr>
          </a:p>
          <a:p>
            <a:pPr marL="354965" marR="567690" lvl="0" indent="-342900">
              <a:lnSpc>
                <a:spcPct val="101400"/>
              </a:lnSpc>
              <a:spcBef>
                <a:spcPts val="85"/>
              </a:spcBef>
              <a:buFont typeface="Arial" panose="020B0604020202020204" pitchFamily="34" charset="0"/>
              <a:buChar char="•"/>
              <a:tabLst>
                <a:tab pos="310515" algn="l"/>
              </a:tabLst>
            </a:pPr>
            <a:r>
              <a:rPr lang="en-US" sz="2200" kern="0" dirty="0">
                <a:solidFill>
                  <a:sysClr val="windowText" lastClr="000000"/>
                </a:solidFill>
                <a:latin typeface="+mj-lt"/>
                <a:cs typeface="Microsoft Sans Serif"/>
              </a:rPr>
              <a:t>Resolution produces proofs by refutation.</a:t>
            </a:r>
          </a:p>
          <a:p>
            <a:pPr marL="12065" marR="567690" lvl="0">
              <a:lnSpc>
                <a:spcPct val="101400"/>
              </a:lnSpc>
              <a:spcBef>
                <a:spcPts val="85"/>
              </a:spcBef>
              <a:tabLst>
                <a:tab pos="310515" algn="l"/>
              </a:tabLst>
            </a:pPr>
            <a:endParaRPr lang="en-US" sz="2200" kern="0" dirty="0">
              <a:solidFill>
                <a:sysClr val="windowText" lastClr="000000"/>
              </a:solidFill>
              <a:latin typeface="+mj-lt"/>
              <a:cs typeface="Microsoft Sans Serif"/>
            </a:endParaRPr>
          </a:p>
          <a:p>
            <a:pPr marL="354965" marR="567690" lvl="0" indent="-342900">
              <a:lnSpc>
                <a:spcPct val="101400"/>
              </a:lnSpc>
              <a:spcBef>
                <a:spcPts val="85"/>
              </a:spcBef>
              <a:buFont typeface="Arial" panose="020B0604020202020204" pitchFamily="34" charset="0"/>
              <a:buChar char="•"/>
              <a:tabLst>
                <a:tab pos="310515" algn="l"/>
              </a:tabLst>
            </a:pPr>
            <a:r>
              <a:rPr lang="en-US" sz="2200" kern="0" dirty="0">
                <a:solidFill>
                  <a:sysClr val="windowText" lastClr="000000"/>
                </a:solidFill>
                <a:latin typeface="+mj-lt"/>
                <a:cs typeface="Microsoft Sans Serif"/>
              </a:rPr>
              <a:t>In other words, to prove a statement (i.e., to show that it is valid), resolution attempts to show that the negation of the statement produces a contradiction with the known statements (i.e., that it is unsatisfiable).</a:t>
            </a:r>
          </a:p>
          <a:p>
            <a:pPr marL="354965" marR="567690" lvl="0" indent="-342900">
              <a:lnSpc>
                <a:spcPct val="101400"/>
              </a:lnSpc>
              <a:spcBef>
                <a:spcPts val="85"/>
              </a:spcBef>
              <a:buFont typeface="Arial" panose="020B0604020202020204" pitchFamily="34" charset="0"/>
              <a:buChar char="•"/>
              <a:tabLst>
                <a:tab pos="310515" algn="l"/>
              </a:tabLst>
            </a:pPr>
            <a:endParaRPr lang="en-US" sz="2200" kern="0" dirty="0">
              <a:solidFill>
                <a:sysClr val="windowText" lastClr="000000"/>
              </a:solidFill>
              <a:latin typeface="+mj-lt"/>
              <a:cs typeface="Microsoft Sans Serif"/>
            </a:endParaRPr>
          </a:p>
          <a:p>
            <a:pPr marL="354965" marR="567690" lvl="0" indent="-342900">
              <a:lnSpc>
                <a:spcPct val="101400"/>
              </a:lnSpc>
              <a:spcBef>
                <a:spcPts val="85"/>
              </a:spcBef>
              <a:buFont typeface="Arial" panose="020B0604020202020204" pitchFamily="34" charset="0"/>
              <a:buChar char="•"/>
              <a:tabLst>
                <a:tab pos="310515" algn="l"/>
              </a:tabLst>
            </a:pPr>
            <a:r>
              <a:rPr lang="en-US" sz="2200" kern="0" dirty="0">
                <a:solidFill>
                  <a:sysClr val="windowText" lastClr="000000"/>
                </a:solidFill>
                <a:latin typeface="+mj-lt"/>
                <a:cs typeface="Microsoft Sans Serif"/>
              </a:rPr>
              <a:t>The resolution procedure is a simple iterative process: at each step, two clauses, called the parent clauses, are compared (resolved), resulting in a new clause that has inferred from them. The new clause represents ways that the two parent clauses interact with each other. Suppose that there are two clauses in the system:</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299647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Procedure						 Cont..</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671535"/>
          </a:xfrm>
          <a:prstGeom prst="rect">
            <a:avLst/>
          </a:prstGeom>
        </p:spPr>
        <p:txBody>
          <a:bodyPr vert="horz" wrap="square" lIns="0" tIns="11430" rIns="0" bIns="0" rtlCol="0">
            <a:spAutoFit/>
          </a:bodyPr>
          <a:lstStyle/>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The problem is that, although we know that Marcus was a man, we do not have any way to conclude from that that Marcus was a person. Also, We need to add the representation</a:t>
            </a:r>
          </a:p>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of another fact to our system, namely: ∀ man(x) → person(x)</a:t>
            </a:r>
          </a:p>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Now we can satisfy the last goal and produce a proof that Marcus was not loyal to</a:t>
            </a:r>
          </a:p>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Caesar.</a:t>
            </a:r>
          </a:p>
          <a:p>
            <a:pPr marL="354965" marR="567690" lvl="0" indent="-342900">
              <a:lnSpc>
                <a:spcPct val="101400"/>
              </a:lnSpc>
              <a:spcBef>
                <a:spcPts val="85"/>
              </a:spcBef>
              <a:buFont typeface="Arial" panose="020B0604020202020204" pitchFamily="34" charset="0"/>
              <a:buChar char="•"/>
              <a:tabLst>
                <a:tab pos="310515" algn="l"/>
              </a:tabLst>
            </a:pPr>
            <a:r>
              <a:rPr lang="en-US" kern="0" dirty="0">
                <a:solidFill>
                  <a:sysClr val="windowText" lastClr="000000"/>
                </a:solidFill>
                <a:latin typeface="+mj-lt"/>
                <a:cs typeface="Microsoft Sans Serif"/>
              </a:rPr>
              <a:t>Moreover, From this simple example, we see that three important issues must be addressed in the process of converting English sentences into logical statements and then using those statements to deduce new ones:</a:t>
            </a:r>
          </a:p>
          <a:p>
            <a:pPr marL="469265" marR="567690" lvl="0" indent="-457200">
              <a:lnSpc>
                <a:spcPct val="101400"/>
              </a:lnSpc>
              <a:spcBef>
                <a:spcPts val="85"/>
              </a:spcBef>
              <a:buFont typeface="+mj-lt"/>
              <a:buAutoNum type="arabicPeriod"/>
              <a:tabLst>
                <a:tab pos="310515" algn="l"/>
              </a:tabLst>
            </a:pPr>
            <a:r>
              <a:rPr lang="en-US" kern="0" dirty="0">
                <a:solidFill>
                  <a:sysClr val="windowText" lastClr="000000"/>
                </a:solidFill>
                <a:latin typeface="+mj-lt"/>
                <a:cs typeface="Microsoft Sans Serif"/>
              </a:rPr>
              <a:t>Many English sentences are ambiguous (for example, 5, 6, and 7 above). Choosing the correct interpretation may be difficult.</a:t>
            </a:r>
          </a:p>
          <a:p>
            <a:pPr marL="469265" marR="567690" lvl="0" indent="-457200">
              <a:lnSpc>
                <a:spcPct val="101400"/>
              </a:lnSpc>
              <a:spcBef>
                <a:spcPts val="85"/>
              </a:spcBef>
              <a:buFont typeface="+mj-lt"/>
              <a:buAutoNum type="arabicPeriod"/>
              <a:tabLst>
                <a:tab pos="310515" algn="l"/>
              </a:tabLst>
            </a:pPr>
            <a:r>
              <a:rPr lang="en-US" kern="0" dirty="0">
                <a:solidFill>
                  <a:sysClr val="windowText" lastClr="000000"/>
                </a:solidFill>
                <a:latin typeface="+mj-lt"/>
                <a:cs typeface="Microsoft Sans Serif"/>
              </a:rPr>
              <a:t>Also, There is often a choice of how to represent the knowledge. Simple representations are desirable, but they may exclude certain kinds of reasoning.</a:t>
            </a:r>
          </a:p>
          <a:p>
            <a:pPr marL="469265" marR="567690" lvl="0" indent="-457200">
              <a:lnSpc>
                <a:spcPct val="101400"/>
              </a:lnSpc>
              <a:spcBef>
                <a:spcPts val="85"/>
              </a:spcBef>
              <a:buFont typeface="+mj-lt"/>
              <a:buAutoNum type="arabicPeriod"/>
              <a:tabLst>
                <a:tab pos="310515" algn="l"/>
              </a:tabLst>
            </a:pPr>
            <a:r>
              <a:rPr lang="en-US" kern="0" dirty="0" err="1">
                <a:solidFill>
                  <a:sysClr val="windowText" lastClr="000000"/>
                </a:solidFill>
                <a:latin typeface="+mj-lt"/>
                <a:cs typeface="Microsoft Sans Serif"/>
              </a:rPr>
              <a:t>Similalry</a:t>
            </a:r>
            <a:r>
              <a:rPr lang="en-US" kern="0" dirty="0">
                <a:solidFill>
                  <a:sysClr val="windowText" lastClr="000000"/>
                </a:solidFill>
                <a:latin typeface="+mj-lt"/>
                <a:cs typeface="Microsoft Sans Serif"/>
              </a:rPr>
              <a:t>, Even in very simple situations, a set of sentences is unlikely to contain all the information necessary to reason about the topic at hand. In order to be able to use a set of statements effectively. Moreover, It is usually necessary to have access to another set of statements that represent facts that people consider too obvious to mention.</a:t>
            </a:r>
          </a:p>
          <a:p>
            <a:pPr marL="354965" marR="567690" lvl="0" indent="-342900">
              <a:lnSpc>
                <a:spcPct val="101400"/>
              </a:lnSpc>
              <a:spcBef>
                <a:spcPts val="85"/>
              </a:spcBef>
              <a:buFont typeface="Wingdings" panose="05000000000000000000" pitchFamily="2" charset="2"/>
              <a:buChar char="Ø"/>
              <a:tabLst>
                <a:tab pos="310515" algn="l"/>
              </a:tabLst>
            </a:pPr>
            <a:endParaRPr lang="en-US" sz="2400"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13048535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Procedure						 Cont..</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642314" y="2429637"/>
            <a:ext cx="11397286" cy="4852803"/>
          </a:xfrm>
          <a:prstGeom prst="rect">
            <a:avLst/>
          </a:prstGeom>
        </p:spPr>
        <p:txBody>
          <a:bodyPr vert="horz" wrap="square" lIns="0" tIns="11430" rIns="0" bIns="0" rtlCol="0">
            <a:spAutoFit/>
          </a:bodyPr>
          <a:lstStyle/>
          <a:p>
            <a:pPr marL="354965" marR="567690" lvl="0" indent="-342900">
              <a:lnSpc>
                <a:spcPct val="101400"/>
              </a:lnSpc>
              <a:spcBef>
                <a:spcPts val="85"/>
              </a:spcBef>
              <a:buFont typeface="Wingdings" panose="05000000000000000000" pitchFamily="2" charset="2"/>
              <a:buChar char="Ø"/>
              <a:tabLst>
                <a:tab pos="310515" algn="l"/>
              </a:tabLst>
            </a:pPr>
            <a:r>
              <a:rPr lang="en-US" sz="2000" b="1" kern="0" dirty="0">
                <a:solidFill>
                  <a:sysClr val="windowText" lastClr="000000"/>
                </a:solidFill>
                <a:latin typeface="+mj-lt"/>
                <a:cs typeface="Microsoft Sans Serif"/>
              </a:rPr>
              <a:t>winter V summer</a:t>
            </a:r>
          </a:p>
          <a:p>
            <a:pPr marL="354965" marR="567690" lvl="0" indent="-342900">
              <a:lnSpc>
                <a:spcPct val="101400"/>
              </a:lnSpc>
              <a:spcBef>
                <a:spcPts val="85"/>
              </a:spcBef>
              <a:buFont typeface="Wingdings" panose="05000000000000000000" pitchFamily="2" charset="2"/>
              <a:buChar char="Ø"/>
              <a:tabLst>
                <a:tab pos="310515" algn="l"/>
              </a:tabLst>
            </a:pPr>
            <a:r>
              <a:rPr lang="en-US" sz="2000" b="1" kern="0" dirty="0">
                <a:solidFill>
                  <a:sysClr val="windowText" lastClr="000000"/>
                </a:solidFill>
                <a:latin typeface="+mj-lt"/>
                <a:cs typeface="Microsoft Sans Serif"/>
              </a:rPr>
              <a:t>¬ winter V cold</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Now we observe that precisely one of winter and ¬ winter will be true at any point.</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If winter is true, then cold must be true to guarantee the truth of the second clause. If ¬ winter is true, then summer must be true to guarantee the truth of the first clause.</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Thus we see that from these two clauses we can deduce summer V cold</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This is the deduction that the resolution procedure will make.</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Resolution operates by taking two clauses that each contains the same literal, in this example, winter.</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Moreover, The literal must occur in the positive form in one clause and in negative form in the other. The resolvent obtained by combining all of the literals of the two parent clauses except the ones that cancel.</a:t>
            </a:r>
          </a:p>
          <a:p>
            <a:pPr marL="354965" marR="567690" lvl="0" indent="-342900">
              <a:lnSpc>
                <a:spcPct val="101400"/>
              </a:lnSpc>
              <a:spcBef>
                <a:spcPts val="85"/>
              </a:spcBef>
              <a:buFont typeface="Arial" panose="020B0604020202020204" pitchFamily="34" charset="0"/>
              <a:buChar char="•"/>
              <a:tabLst>
                <a:tab pos="310515" algn="l"/>
              </a:tabLst>
            </a:pPr>
            <a:r>
              <a:rPr lang="en-US" sz="2000" kern="0" dirty="0">
                <a:solidFill>
                  <a:sysClr val="windowText" lastClr="000000"/>
                </a:solidFill>
                <a:latin typeface="+mj-lt"/>
                <a:cs typeface="Microsoft Sans Serif"/>
              </a:rPr>
              <a:t>If the clause that produced is the empty clause, then a contradiction has found.</a:t>
            </a:r>
          </a:p>
          <a:p>
            <a:pPr marL="354965" marR="567690" lvl="0" indent="-342900">
              <a:lnSpc>
                <a:spcPct val="101400"/>
              </a:lnSpc>
              <a:spcBef>
                <a:spcPts val="85"/>
              </a:spcBef>
              <a:buFont typeface="Wingdings" panose="05000000000000000000" pitchFamily="2" charset="2"/>
              <a:buChar char="Ø"/>
              <a:tabLst>
                <a:tab pos="310515" algn="l"/>
              </a:tabLst>
            </a:pPr>
            <a:endParaRPr lang="en-US" sz="2000" b="1" kern="0" dirty="0">
              <a:solidFill>
                <a:sysClr val="windowText" lastClr="000000"/>
              </a:solidFill>
              <a:latin typeface="+mj-lt"/>
              <a:cs typeface="Microsoft Sans Serif"/>
            </a:endParaRPr>
          </a:p>
          <a:p>
            <a:pPr marL="354965" marR="567690" lvl="0" indent="-342900">
              <a:lnSpc>
                <a:spcPct val="101400"/>
              </a:lnSpc>
              <a:spcBef>
                <a:spcPts val="85"/>
              </a:spcBef>
              <a:buFont typeface="Wingdings" panose="05000000000000000000" pitchFamily="2" charset="2"/>
              <a:buChar char="Ø"/>
              <a:tabLst>
                <a:tab pos="310515" algn="l"/>
              </a:tabLst>
            </a:pPr>
            <a:endParaRPr lang="en-US" sz="2400" b="1" kern="0" dirty="0">
              <a:solidFill>
                <a:sysClr val="windowText" lastClr="000000"/>
              </a:solidFill>
              <a:latin typeface="+mj-lt"/>
              <a:cs typeface="Microsoft Sans Serif"/>
            </a:endParaRPr>
          </a:p>
        </p:txBody>
      </p:sp>
    </p:spTree>
    <p:extLst>
      <p:ext uri="{BB962C8B-B14F-4D97-AF65-F5344CB8AC3E}">
        <p14:creationId xmlns:p14="http://schemas.microsoft.com/office/powerpoint/2010/main" val="5967240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3" name="object 3"/>
          <p:cNvSpPr txBox="1">
            <a:spLocks noGrp="1"/>
          </p:cNvSpPr>
          <p:nvPr>
            <p:ph type="title"/>
          </p:nvPr>
        </p:nvSpPr>
        <p:spPr>
          <a:xfrm>
            <a:off x="332942" y="1697227"/>
            <a:ext cx="9344457" cy="503984"/>
          </a:xfrm>
          <a:prstGeom prst="rect">
            <a:avLst/>
          </a:prstGeom>
        </p:spPr>
        <p:txBody>
          <a:bodyPr vert="horz" wrap="square" lIns="0" tIns="11430" rIns="0" bIns="0" rtlCol="0">
            <a:spAutoFit/>
          </a:bodyPr>
          <a:lstStyle/>
          <a:p>
            <a:pPr marL="12700">
              <a:lnSpc>
                <a:spcPct val="100000"/>
              </a:lnSpc>
              <a:spcBef>
                <a:spcPts val="90"/>
              </a:spcBef>
            </a:pPr>
            <a:r>
              <a:rPr lang="en-US" sz="3200" spc="-10" dirty="0">
                <a:solidFill>
                  <a:srgbClr val="FFFFFF"/>
                </a:solidFill>
              </a:rPr>
              <a:t>Resolution Procedure						 Cont..</a:t>
            </a:r>
            <a:endParaRPr lang="en-IN" sz="3200" dirty="0"/>
          </a:p>
        </p:txBody>
      </p:sp>
      <p:sp>
        <p:nvSpPr>
          <p:cNvPr id="4" name="object 4"/>
          <p:cNvSpPr/>
          <p:nvPr/>
        </p:nvSpPr>
        <p:spPr>
          <a:xfrm>
            <a:off x="8753856" y="6071615"/>
            <a:ext cx="3438525" cy="216535"/>
          </a:xfrm>
          <a:custGeom>
            <a:avLst/>
            <a:gdLst/>
            <a:ahLst/>
            <a:cxnLst/>
            <a:rect l="l" t="t" r="r" b="b"/>
            <a:pathLst>
              <a:path w="3438525" h="216535">
                <a:moveTo>
                  <a:pt x="60947" y="0"/>
                </a:moveTo>
                <a:lnTo>
                  <a:pt x="0" y="0"/>
                </a:lnTo>
                <a:lnTo>
                  <a:pt x="0" y="216408"/>
                </a:lnTo>
                <a:lnTo>
                  <a:pt x="60947" y="216408"/>
                </a:lnTo>
                <a:lnTo>
                  <a:pt x="60947" y="0"/>
                </a:lnTo>
                <a:close/>
              </a:path>
              <a:path w="3438525" h="216535">
                <a:moveTo>
                  <a:pt x="3438144" y="3048"/>
                </a:moveTo>
                <a:lnTo>
                  <a:pt x="103632" y="3048"/>
                </a:lnTo>
                <a:lnTo>
                  <a:pt x="103632" y="216408"/>
                </a:lnTo>
                <a:lnTo>
                  <a:pt x="3438144" y="216408"/>
                </a:lnTo>
                <a:lnTo>
                  <a:pt x="3438144" y="3048"/>
                </a:lnTo>
                <a:close/>
              </a:path>
            </a:pathLst>
          </a:custGeom>
          <a:solidFill>
            <a:srgbClr val="F1F1F1"/>
          </a:solidFill>
        </p:spPr>
        <p:txBody>
          <a:bodyPr wrap="square" lIns="0" tIns="0" rIns="0" bIns="0" rtlCol="0"/>
          <a:lstStyle/>
          <a:p>
            <a:endParaRPr/>
          </a:p>
        </p:txBody>
      </p:sp>
      <p:sp>
        <p:nvSpPr>
          <p:cNvPr id="5" name="object 5"/>
          <p:cNvSpPr txBox="1"/>
          <p:nvPr/>
        </p:nvSpPr>
        <p:spPr>
          <a:xfrm>
            <a:off x="228600" y="2313443"/>
            <a:ext cx="5305858" cy="4520212"/>
          </a:xfrm>
          <a:prstGeom prst="rect">
            <a:avLst/>
          </a:prstGeom>
        </p:spPr>
        <p:txBody>
          <a:bodyPr vert="horz" wrap="square" lIns="0" tIns="11430" rIns="0" bIns="0" rtlCol="0">
            <a:spAutoFit/>
          </a:bodyPr>
          <a:lstStyle/>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For</a:t>
            </a:r>
          </a:p>
          <a:p>
            <a:pPr marL="12065" marR="567690" lvl="0">
              <a:lnSpc>
                <a:spcPct val="101400"/>
              </a:lnSpc>
              <a:spcBef>
                <a:spcPts val="85"/>
              </a:spcBef>
              <a:tabLst>
                <a:tab pos="310515" algn="l"/>
              </a:tabLst>
            </a:pPr>
            <a:endParaRPr lang="pt-BR"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e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x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a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m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p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l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E</a:t>
            </a:r>
          </a:p>
          <a:p>
            <a:pPr marL="12065" marR="567690" lvl="0">
              <a:lnSpc>
                <a:spcPct val="101400"/>
              </a:lnSpc>
              <a:spcBef>
                <a:spcPts val="85"/>
              </a:spcBef>
              <a:tabLst>
                <a:tab pos="310515" algn="l"/>
              </a:tabLst>
            </a:pPr>
            <a:endParaRPr lang="pt-BR"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t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H</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 e</a:t>
            </a:r>
            <a:endParaRPr lang="en-US" sz="2000" kern="0" dirty="0">
              <a:solidFill>
                <a:sysClr val="windowText" lastClr="000000"/>
              </a:solidFill>
              <a:latin typeface="+mj-lt"/>
              <a:cs typeface="Microsoft Sans Serif"/>
            </a:endParaRPr>
          </a:p>
        </p:txBody>
      </p:sp>
      <p:sp>
        <p:nvSpPr>
          <p:cNvPr id="6" name="object 5">
            <a:extLst>
              <a:ext uri="{FF2B5EF4-FFF2-40B4-BE49-F238E27FC236}">
                <a16:creationId xmlns:a16="http://schemas.microsoft.com/office/drawing/2014/main" id="{D21638D1-7CB1-4B4B-80BC-135DBB5DF34C}"/>
              </a:ext>
            </a:extLst>
          </p:cNvPr>
          <p:cNvSpPr txBox="1"/>
          <p:nvPr/>
        </p:nvSpPr>
        <p:spPr>
          <a:xfrm>
            <a:off x="3438145" y="2313443"/>
            <a:ext cx="5305858" cy="4196533"/>
          </a:xfrm>
          <a:prstGeom prst="rect">
            <a:avLst/>
          </a:prstGeom>
        </p:spPr>
        <p:txBody>
          <a:bodyPr vert="horz" wrap="square" lIns="0" tIns="11430" rIns="0" bIns="0" rtlCol="0">
            <a:spAutoFit/>
          </a:bodyPr>
          <a:lstStyle/>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T</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 w</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 o</a:t>
            </a:r>
          </a:p>
          <a:p>
            <a:pPr marL="12065" marR="567690" lvl="0">
              <a:lnSpc>
                <a:spcPct val="101400"/>
              </a:lnSpc>
              <a:spcBef>
                <a:spcPts val="85"/>
              </a:spcBef>
              <a:tabLst>
                <a:tab pos="310515" algn="l"/>
              </a:tabLst>
            </a:pPr>
            <a:endParaRPr lang="pt-BR"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endParaRPr lang="pt-BR"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endParaRPr lang="pt-BR" sz="2000" kern="0" dirty="0">
              <a:solidFill>
                <a:sysClr val="windowText" lastClr="000000"/>
              </a:solidFill>
              <a:latin typeface="+mj-lt"/>
              <a:cs typeface="Microsoft Sans Serif"/>
            </a:endParaRP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C</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 l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a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u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s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e </a:t>
            </a:r>
          </a:p>
          <a:p>
            <a:pPr marL="12065" marR="567690" lvl="0">
              <a:lnSpc>
                <a:spcPct val="101400"/>
              </a:lnSpc>
              <a:spcBef>
                <a:spcPts val="85"/>
              </a:spcBef>
              <a:tabLst>
                <a:tab pos="310515" algn="l"/>
              </a:tabLst>
            </a:pPr>
            <a:r>
              <a:rPr lang="pt-BR" sz="2000" kern="0" dirty="0">
                <a:solidFill>
                  <a:sysClr val="windowText" lastClr="000000"/>
                </a:solidFill>
                <a:latin typeface="+mj-lt"/>
                <a:cs typeface="Microsoft Sans Serif"/>
              </a:rPr>
              <a:t>s</a:t>
            </a:r>
          </a:p>
        </p:txBody>
      </p:sp>
      <p:sp>
        <p:nvSpPr>
          <p:cNvPr id="7" name="object 5">
            <a:extLst>
              <a:ext uri="{FF2B5EF4-FFF2-40B4-BE49-F238E27FC236}">
                <a16:creationId xmlns:a16="http://schemas.microsoft.com/office/drawing/2014/main" id="{719EF442-4B44-4DAE-BA97-00FADAFD35AB}"/>
              </a:ext>
            </a:extLst>
          </p:cNvPr>
          <p:cNvSpPr txBox="1"/>
          <p:nvPr/>
        </p:nvSpPr>
        <p:spPr>
          <a:xfrm>
            <a:off x="7848601" y="2196976"/>
            <a:ext cx="4114800" cy="4520212"/>
          </a:xfrm>
          <a:prstGeom prst="rect">
            <a:avLst/>
          </a:prstGeom>
        </p:spPr>
        <p:txBody>
          <a:bodyPr vert="horz" wrap="square" lIns="0" tIns="11430" rIns="0" bIns="0" rtlCol="0">
            <a:spAutoFit/>
          </a:bodyPr>
          <a:lstStyle/>
          <a:p>
            <a:pPr marL="12065" marR="567690" lvl="0">
              <a:lnSpc>
                <a:spcPct val="101400"/>
              </a:lnSpc>
              <a:spcBef>
                <a:spcPts val="85"/>
              </a:spcBef>
              <a:tabLst>
                <a:tab pos="310515" algn="l"/>
              </a:tabLst>
            </a:pPr>
            <a:r>
              <a:rPr lang="pt-BR" sz="2000" kern="0" dirty="0">
                <a:solidFill>
                  <a:sysClr val="windowText" lastClr="000000"/>
                </a:solidFill>
                <a:cs typeface="Microsoft Sans Serif"/>
              </a:rPr>
              <a:t>w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i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n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t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E</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 r</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w</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 i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n</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 t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e </a:t>
            </a:r>
          </a:p>
          <a:p>
            <a:pPr marL="12065" marR="567690" lvl="0">
              <a:lnSpc>
                <a:spcPct val="101400"/>
              </a:lnSpc>
              <a:spcBef>
                <a:spcPts val="85"/>
              </a:spcBef>
              <a:tabLst>
                <a:tab pos="310515" algn="l"/>
              </a:tabLst>
            </a:pPr>
            <a:r>
              <a:rPr lang="pt-BR" sz="2000" kern="0" dirty="0">
                <a:solidFill>
                  <a:sysClr val="windowText" lastClr="000000"/>
                </a:solidFill>
                <a:cs typeface="Microsoft Sans Serif"/>
              </a:rPr>
              <a:t>R</a:t>
            </a:r>
          </a:p>
          <a:p>
            <a:pPr marL="12065" marR="567690" lvl="0">
              <a:lnSpc>
                <a:spcPct val="101400"/>
              </a:lnSpc>
              <a:spcBef>
                <a:spcPts val="85"/>
              </a:spcBef>
              <a:tabLst>
                <a:tab pos="310515" algn="l"/>
              </a:tabLst>
            </a:pPr>
            <a:r>
              <a:rPr lang="en-US" sz="2000" kern="0" dirty="0">
                <a:solidFill>
                  <a:sysClr val="windowText" lastClr="000000"/>
                </a:solidFill>
                <a:cs typeface="Microsoft Sans Serif"/>
              </a:rPr>
              <a:t>will produce the empty clause.</a:t>
            </a:r>
            <a:endParaRPr lang="pt-BR" sz="2000" kern="0" dirty="0">
              <a:solidFill>
                <a:sysClr val="windowText" lastClr="000000"/>
              </a:solidFill>
              <a:cs typeface="Microsoft Sans Serif"/>
            </a:endParaRPr>
          </a:p>
        </p:txBody>
      </p:sp>
    </p:spTree>
    <p:extLst>
      <p:ext uri="{BB962C8B-B14F-4D97-AF65-F5344CB8AC3E}">
        <p14:creationId xmlns:p14="http://schemas.microsoft.com/office/powerpoint/2010/main" val="31118308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87848" y="6018377"/>
            <a:ext cx="2418715"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44536A"/>
                </a:solidFill>
                <a:latin typeface="Calibri"/>
                <a:cs typeface="Calibri"/>
                <a:hlinkClick r:id="rId2"/>
              </a:rPr>
              <a:t>www.paruluniversity.ac.in</a:t>
            </a:r>
            <a:endParaRPr sz="1800">
              <a:latin typeface="Calibri"/>
              <a:cs typeface="Calibri"/>
            </a:endParaRPr>
          </a:p>
        </p:txBody>
      </p:sp>
      <p:pic>
        <p:nvPicPr>
          <p:cNvPr id="3" name="object 3"/>
          <p:cNvPicPr/>
          <p:nvPr/>
        </p:nvPicPr>
        <p:blipFill>
          <a:blip r:embed="rId3" cstate="print"/>
          <a:stretch>
            <a:fillRect/>
          </a:stretch>
        </p:blipFill>
        <p:spPr>
          <a:xfrm>
            <a:off x="9841992" y="6031991"/>
            <a:ext cx="609600" cy="6095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4536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463</TotalTime>
  <Words>5966</Words>
  <Application>Microsoft Office PowerPoint</Application>
  <PresentationFormat>Widescreen</PresentationFormat>
  <Paragraphs>634</Paragraphs>
  <Slides>79</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79</vt:i4>
      </vt:variant>
    </vt:vector>
  </HeadingPairs>
  <TitlesOfParts>
    <vt:vector size="89" baseType="lpstr">
      <vt:lpstr>Arial</vt:lpstr>
      <vt:lpstr>Arial MT</vt:lpstr>
      <vt:lpstr>Calibri</vt:lpstr>
      <vt:lpstr>Cambria Math</vt:lpstr>
      <vt:lpstr>Courier New</vt:lpstr>
      <vt:lpstr>Microsoft Sans Serif</vt:lpstr>
      <vt:lpstr>Symbol</vt:lpstr>
      <vt:lpstr>Times New Roman</vt:lpstr>
      <vt:lpstr>Wingdings</vt:lpstr>
      <vt:lpstr>Office Theme</vt:lpstr>
      <vt:lpstr>Artificial Intelligence 303105307</vt:lpstr>
      <vt:lpstr>PowerPoint Presentation</vt:lpstr>
      <vt:lpstr>Contents</vt:lpstr>
      <vt:lpstr>Basic concepts</vt:lpstr>
      <vt:lpstr>Different Types of Knowledge</vt:lpstr>
      <vt:lpstr>Different Types of Knowledge</vt:lpstr>
      <vt:lpstr>Representation Requirements</vt:lpstr>
      <vt:lpstr>Cycle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Techniques of Knowledge Representation in AI</vt:lpstr>
      <vt:lpstr>Representations and Mappings</vt:lpstr>
      <vt:lpstr>Representations and Mappings</vt:lpstr>
      <vt:lpstr>Representations and Mappings</vt:lpstr>
      <vt:lpstr>Representations and Mappings</vt:lpstr>
      <vt:lpstr>Representations and Mappings</vt:lpstr>
      <vt:lpstr>PowerPoint Presentation</vt:lpstr>
      <vt:lpstr>Contents</vt:lpstr>
      <vt:lpstr>Approaches to Knowledge Representation in AI</vt:lpstr>
      <vt:lpstr>Approaches to Knowledge Representation in AI</vt:lpstr>
      <vt:lpstr>Approaches to Knowledge Representation in AI</vt:lpstr>
      <vt:lpstr>Approaches to Knowledge Representation in AI</vt:lpstr>
      <vt:lpstr>Approaches to Knowledge Representation in AI</vt:lpstr>
      <vt:lpstr>Issues in Knowledge Representation</vt:lpstr>
      <vt:lpstr>Issues in Knowledge Representation</vt:lpstr>
      <vt:lpstr>Issues in Knowledge Representation</vt:lpstr>
      <vt:lpstr>Issues in Knowledge Representation</vt:lpstr>
      <vt:lpstr>Issues in Knowledge Representation</vt:lpstr>
      <vt:lpstr>Issues in Knowledge Representation</vt:lpstr>
      <vt:lpstr>Issues in Knowledge Representation</vt:lpstr>
      <vt:lpstr>Issues in Knowledge Representation</vt:lpstr>
      <vt:lpstr>Issues in Knowledge Representation</vt:lpstr>
      <vt:lpstr>Issues in Knowledge Representation</vt:lpstr>
      <vt:lpstr>Issues in Knowledge Representation</vt:lpstr>
      <vt:lpstr>Artificial Intelligence 303105307</vt:lpstr>
      <vt:lpstr>PowerPoint Presentation</vt:lpstr>
      <vt:lpstr>Contents</vt:lpstr>
      <vt:lpstr>Predicate Logic </vt:lpstr>
      <vt:lpstr>Predicate Logic </vt:lpstr>
      <vt:lpstr>Predicate Logic </vt:lpstr>
      <vt:lpstr>Use of Predicate Logic</vt:lpstr>
      <vt:lpstr>Use of Predicate Logic </vt:lpstr>
      <vt:lpstr>Representing Simple Facts in Logic</vt:lpstr>
      <vt:lpstr>Representing Simple Facts in Logic</vt:lpstr>
      <vt:lpstr>Representing Simple Facts in Logic</vt:lpstr>
      <vt:lpstr>Examples to Representation of Simple Facts in Logic </vt:lpstr>
      <vt:lpstr>Examples to Representation of Simple Facts in Logic</vt:lpstr>
      <vt:lpstr>Examples to Representation of Simple Facts in Logic   Cont..</vt:lpstr>
      <vt:lpstr>Examples to Representation of Simple Facts in Logic</vt:lpstr>
      <vt:lpstr>Examples to Representation of Simple Facts in Logic</vt:lpstr>
      <vt:lpstr>Examples to Representation of Simple Facts in Logic</vt:lpstr>
      <vt:lpstr>Examples to Representation of Simple Facts in Logic</vt:lpstr>
      <vt:lpstr>PowerPoint Presentation</vt:lpstr>
      <vt:lpstr>Contents</vt:lpstr>
      <vt:lpstr>Instances     </vt:lpstr>
      <vt:lpstr>Instances     </vt:lpstr>
      <vt:lpstr>Isa Relationships     </vt:lpstr>
      <vt:lpstr>Representing Instance &amp; Isa Relationships     </vt:lpstr>
      <vt:lpstr>Representing Instance &amp; Isa Relationships     </vt:lpstr>
      <vt:lpstr>Representing Instance &amp; Isa Relationships     </vt:lpstr>
      <vt:lpstr>PowerPoint Presentation</vt:lpstr>
      <vt:lpstr>Contents</vt:lpstr>
      <vt:lpstr>Computable Functions</vt:lpstr>
      <vt:lpstr>Computable Functions</vt:lpstr>
      <vt:lpstr>Resolution in AI</vt:lpstr>
      <vt:lpstr>Resolution in AI</vt:lpstr>
      <vt:lpstr>Resolution in AI</vt:lpstr>
      <vt:lpstr>Resolution Procedure      </vt:lpstr>
      <vt:lpstr>Resolution Procedure       Cont..</vt:lpstr>
      <vt:lpstr>Resolution Procedure       Cont..</vt:lpstr>
      <vt:lpstr>Resolution Procedure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compilation</dc:title>
  <dc:creator>Shivangi</dc:creator>
  <cp:lastModifiedBy>NANDKISHOR JOSHI</cp:lastModifiedBy>
  <cp:revision>54</cp:revision>
  <dcterms:created xsi:type="dcterms:W3CDTF">2023-03-28T07:44:42Z</dcterms:created>
  <dcterms:modified xsi:type="dcterms:W3CDTF">2024-07-02T16:18:42Z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2021-11-17T00:00:00Z</vt:filetime>
  </property>
  <property fmtid="{D5CDD505-2E9C-101B-9397-08002B2CF9AE}" pid="3" name="Creator">
    <vt:lpwstr>Microsoft® PowerPoint® 2016</vt:lpwstr>
  </property>
  <property fmtid="{D5CDD505-2E9C-101B-9397-08002B2CF9AE}" pid="4" name="LastSaved">
    <vt:filetime>2023-03-28T00:00:00Z</vt:filetime>
  </property>
</Properties>
</file>