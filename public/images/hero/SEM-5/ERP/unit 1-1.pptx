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 /><Relationship Id="rId2" Type="http://schemas.openxmlformats.org/package/2006/relationships/metadata/core-properties" Target="docProps/core.xml" /><Relationship Id="rId1" Type="http://schemas.openxmlformats.org/officeDocument/2006/relationships/officeDocument" Target="ppt/presentation.xml" /><Relationship Id="rId4" Type="http://schemas.openxmlformats.org/officeDocument/2006/relationships/custom-properties" Target="docProps/custom.xml" /></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386" r:id="rId3"/>
    <p:sldId id="259" r:id="rId4"/>
    <p:sldId id="382" r:id="rId5"/>
    <p:sldId id="260" r:id="rId6"/>
    <p:sldId id="261" r:id="rId7"/>
    <p:sldId id="394" r:id="rId8"/>
    <p:sldId id="391" r:id="rId9"/>
    <p:sldId id="392" r:id="rId10"/>
    <p:sldId id="262" r:id="rId11"/>
    <p:sldId id="387" r:id="rId12"/>
    <p:sldId id="384" r:id="rId13"/>
    <p:sldId id="388" r:id="rId14"/>
    <p:sldId id="263" r:id="rId15"/>
    <p:sldId id="385" r:id="rId16"/>
    <p:sldId id="389" r:id="rId17"/>
    <p:sldId id="264"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3" r:id="rId31"/>
    <p:sldId id="284" r:id="rId32"/>
    <p:sldId id="285" r:id="rId33"/>
    <p:sldId id="286" r:id="rId34"/>
    <p:sldId id="287" r:id="rId35"/>
    <p:sldId id="373" r:id="rId36"/>
    <p:sldId id="396" r:id="rId37"/>
    <p:sldId id="397" r:id="rId38"/>
    <p:sldId id="398" r:id="rId39"/>
    <p:sldId id="399" r:id="rId40"/>
    <p:sldId id="400" r:id="rId41"/>
    <p:sldId id="401" r:id="rId42"/>
    <p:sldId id="409" r:id="rId43"/>
    <p:sldId id="402" r:id="rId44"/>
    <p:sldId id="403" r:id="rId45"/>
    <p:sldId id="404" r:id="rId46"/>
    <p:sldId id="407" r:id="rId47"/>
    <p:sldId id="410" r:id="rId48"/>
    <p:sldId id="415" r:id="rId49"/>
    <p:sldId id="411" r:id="rId50"/>
    <p:sldId id="412" r:id="rId51"/>
    <p:sldId id="413" r:id="rId52"/>
    <p:sldId id="414" r:id="rId53"/>
    <p:sldId id="406" r:id="rId54"/>
    <p:sldId id="408" r:id="rId55"/>
    <p:sldId id="405" r:id="rId56"/>
    <p:sldId id="381" r:id="rId57"/>
  </p:sldIdLst>
  <p:sldSz cx="9144000" cy="6858000" type="screen4x3"/>
  <p:notesSz cx="9144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CC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1" d="100"/>
          <a:sy n="81" d="100"/>
        </p:scale>
        <p:origin x="1498" y="53"/>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 /><Relationship Id="rId18" Type="http://schemas.openxmlformats.org/officeDocument/2006/relationships/slide" Target="slides/slide17.xml" /><Relationship Id="rId26" Type="http://schemas.openxmlformats.org/officeDocument/2006/relationships/slide" Target="slides/slide25.xml" /><Relationship Id="rId39" Type="http://schemas.openxmlformats.org/officeDocument/2006/relationships/slide" Target="slides/slide38.xml" /><Relationship Id="rId21" Type="http://schemas.openxmlformats.org/officeDocument/2006/relationships/slide" Target="slides/slide20.xml" /><Relationship Id="rId34" Type="http://schemas.openxmlformats.org/officeDocument/2006/relationships/slide" Target="slides/slide33.xml" /><Relationship Id="rId42" Type="http://schemas.openxmlformats.org/officeDocument/2006/relationships/slide" Target="slides/slide41.xml" /><Relationship Id="rId47" Type="http://schemas.openxmlformats.org/officeDocument/2006/relationships/slide" Target="slides/slide46.xml" /><Relationship Id="rId50" Type="http://schemas.openxmlformats.org/officeDocument/2006/relationships/slide" Target="slides/slide49.xml" /><Relationship Id="rId55" Type="http://schemas.openxmlformats.org/officeDocument/2006/relationships/slide" Target="slides/slide54.xml" /><Relationship Id="rId7" Type="http://schemas.openxmlformats.org/officeDocument/2006/relationships/slide" Target="slides/slide6.xml"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slide" Target="slides/slide19.xml" /><Relationship Id="rId29" Type="http://schemas.openxmlformats.org/officeDocument/2006/relationships/slide" Target="slides/slide28.xml" /><Relationship Id="rId41" Type="http://schemas.openxmlformats.org/officeDocument/2006/relationships/slide" Target="slides/slide40.xml" /><Relationship Id="rId54" Type="http://schemas.openxmlformats.org/officeDocument/2006/relationships/slide" Target="slides/slide53.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24" Type="http://schemas.openxmlformats.org/officeDocument/2006/relationships/slide" Target="slides/slide23.xml" /><Relationship Id="rId32" Type="http://schemas.openxmlformats.org/officeDocument/2006/relationships/slide" Target="slides/slide31.xml" /><Relationship Id="rId37" Type="http://schemas.openxmlformats.org/officeDocument/2006/relationships/slide" Target="slides/slide36.xml" /><Relationship Id="rId40" Type="http://schemas.openxmlformats.org/officeDocument/2006/relationships/slide" Target="slides/slide39.xml" /><Relationship Id="rId45" Type="http://schemas.openxmlformats.org/officeDocument/2006/relationships/slide" Target="slides/slide44.xml" /><Relationship Id="rId53" Type="http://schemas.openxmlformats.org/officeDocument/2006/relationships/slide" Target="slides/slide52.xml" /><Relationship Id="rId58" Type="http://schemas.openxmlformats.org/officeDocument/2006/relationships/presProps" Target="presProps.xml" /><Relationship Id="rId5" Type="http://schemas.openxmlformats.org/officeDocument/2006/relationships/slide" Target="slides/slide4.xml" /><Relationship Id="rId15" Type="http://schemas.openxmlformats.org/officeDocument/2006/relationships/slide" Target="slides/slide14.xml" /><Relationship Id="rId23" Type="http://schemas.openxmlformats.org/officeDocument/2006/relationships/slide" Target="slides/slide22.xml" /><Relationship Id="rId28" Type="http://schemas.openxmlformats.org/officeDocument/2006/relationships/slide" Target="slides/slide27.xml" /><Relationship Id="rId36" Type="http://schemas.openxmlformats.org/officeDocument/2006/relationships/slide" Target="slides/slide35.xml" /><Relationship Id="rId49" Type="http://schemas.openxmlformats.org/officeDocument/2006/relationships/slide" Target="slides/slide48.xml" /><Relationship Id="rId57" Type="http://schemas.openxmlformats.org/officeDocument/2006/relationships/slide" Target="slides/slide56.xml" /><Relationship Id="rId61" Type="http://schemas.openxmlformats.org/officeDocument/2006/relationships/tableStyles" Target="tableStyles.xml" /><Relationship Id="rId10" Type="http://schemas.openxmlformats.org/officeDocument/2006/relationships/slide" Target="slides/slide9.xml" /><Relationship Id="rId19" Type="http://schemas.openxmlformats.org/officeDocument/2006/relationships/slide" Target="slides/slide18.xml" /><Relationship Id="rId31" Type="http://schemas.openxmlformats.org/officeDocument/2006/relationships/slide" Target="slides/slide30.xml" /><Relationship Id="rId44" Type="http://schemas.openxmlformats.org/officeDocument/2006/relationships/slide" Target="slides/slide43.xml" /><Relationship Id="rId52" Type="http://schemas.openxmlformats.org/officeDocument/2006/relationships/slide" Target="slides/slide51.xml" /><Relationship Id="rId60" Type="http://schemas.openxmlformats.org/officeDocument/2006/relationships/theme" Target="theme/theme1.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slide" Target="slides/slide21.xml" /><Relationship Id="rId27" Type="http://schemas.openxmlformats.org/officeDocument/2006/relationships/slide" Target="slides/slide26.xml" /><Relationship Id="rId30" Type="http://schemas.openxmlformats.org/officeDocument/2006/relationships/slide" Target="slides/slide29.xml" /><Relationship Id="rId35" Type="http://schemas.openxmlformats.org/officeDocument/2006/relationships/slide" Target="slides/slide34.xml" /><Relationship Id="rId43" Type="http://schemas.openxmlformats.org/officeDocument/2006/relationships/slide" Target="slides/slide42.xml" /><Relationship Id="rId48" Type="http://schemas.openxmlformats.org/officeDocument/2006/relationships/slide" Target="slides/slide47.xml" /><Relationship Id="rId56" Type="http://schemas.openxmlformats.org/officeDocument/2006/relationships/slide" Target="slides/slide55.xml" /><Relationship Id="rId8" Type="http://schemas.openxmlformats.org/officeDocument/2006/relationships/slide" Target="slides/slide7.xml" /><Relationship Id="rId51" Type="http://schemas.openxmlformats.org/officeDocument/2006/relationships/slide" Target="slides/slide50.xml" /><Relationship Id="rId3" Type="http://schemas.openxmlformats.org/officeDocument/2006/relationships/slide" Target="slides/slide2.xml" /><Relationship Id="rId12" Type="http://schemas.openxmlformats.org/officeDocument/2006/relationships/slide" Target="slides/slide11.xml" /><Relationship Id="rId17" Type="http://schemas.openxmlformats.org/officeDocument/2006/relationships/slide" Target="slides/slide16.xml" /><Relationship Id="rId25" Type="http://schemas.openxmlformats.org/officeDocument/2006/relationships/slide" Target="slides/slide24.xml" /><Relationship Id="rId33" Type="http://schemas.openxmlformats.org/officeDocument/2006/relationships/slide" Target="slides/slide32.xml" /><Relationship Id="rId38" Type="http://schemas.openxmlformats.org/officeDocument/2006/relationships/slide" Target="slides/slide37.xml" /><Relationship Id="rId46" Type="http://schemas.openxmlformats.org/officeDocument/2006/relationships/slide" Target="slides/slide45.xml" /><Relationship Id="rId59" Type="http://schemas.openxmlformats.org/officeDocument/2006/relationships/viewProps" Target="viewProps.xml" /></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g" /><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g" /><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image" Target="../media/image1.jpg" /><Relationship Id="rId1" Type="http://schemas.openxmlformats.org/officeDocument/2006/relationships/slideMaster" Target="../slideMasters/slideMaster1.xml" /><Relationship Id="rId4" Type="http://schemas.openxmlformats.org/officeDocument/2006/relationships/image" Target="../media/image3.png" /></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obj" preserve="1">
  <p:cSld name="Title Slide">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0" y="0"/>
            <a:ext cx="9143999" cy="6857998"/>
          </a:xfrm>
          <a:prstGeom prst="rect">
            <a:avLst/>
          </a:prstGeom>
        </p:spPr>
      </p:pic>
      <p:sp>
        <p:nvSpPr>
          <p:cNvPr id="2" name="Holder 2"/>
          <p:cNvSpPr>
            <a:spLocks noGrp="1"/>
          </p:cNvSpPr>
          <p:nvPr>
            <p:ph type="ctrTitle"/>
          </p:nvPr>
        </p:nvSpPr>
        <p:spPr>
          <a:xfrm>
            <a:off x="1379854" y="1477771"/>
            <a:ext cx="6384290" cy="734060"/>
          </a:xfrm>
          <a:prstGeom prst="rect">
            <a:avLst/>
          </a:prstGeom>
        </p:spPr>
        <p:txBody>
          <a:bodyPr wrap="square" lIns="0" tIns="0" rIns="0" bIns="0">
            <a:spAutoFit/>
          </a:bodyPr>
          <a:lstStyle>
            <a:lvl1pPr>
              <a:defRPr sz="2800" b="0" i="0">
                <a:solidFill>
                  <a:schemeClr val="tx1"/>
                </a:solidFill>
                <a:latin typeface="Calibri Light"/>
                <a:cs typeface="Calibri Light"/>
              </a:defRPr>
            </a:lvl1pPr>
          </a:lstStyle>
          <a:p>
            <a:endParaRPr/>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sz="2400" b="0" i="0">
                <a:solidFill>
                  <a:schemeClr val="tx1"/>
                </a:solidFill>
                <a:latin typeface="Arial MT"/>
                <a:cs typeface="Arial MT"/>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6/25/2024</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0" i="0">
                <a:solidFill>
                  <a:schemeClr val="tx1"/>
                </a:solidFill>
                <a:latin typeface="Calibri Light"/>
                <a:cs typeface="Calibri Light"/>
              </a:defRPr>
            </a:lvl1pPr>
          </a:lstStyle>
          <a:p>
            <a:endParaRPr/>
          </a:p>
        </p:txBody>
      </p:sp>
      <p:sp>
        <p:nvSpPr>
          <p:cNvPr id="3" name="Holder 3"/>
          <p:cNvSpPr>
            <a:spLocks noGrp="1"/>
          </p:cNvSpPr>
          <p:nvPr>
            <p:ph type="body" idx="1"/>
          </p:nvPr>
        </p:nvSpPr>
        <p:spPr/>
        <p:txBody>
          <a:bodyPr lIns="0" tIns="0" rIns="0" bIns="0"/>
          <a:lstStyle>
            <a:lvl1pPr>
              <a:defRPr sz="2400" b="0" i="0">
                <a:solidFill>
                  <a:schemeClr val="tx1"/>
                </a:solidFill>
                <a:latin typeface="Arial MT"/>
                <a:cs typeface="Arial MT"/>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6/25/2024</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0" i="0">
                <a:solidFill>
                  <a:schemeClr val="tx1"/>
                </a:solidFill>
                <a:latin typeface="Calibri Light"/>
                <a:cs typeface="Calibri Light"/>
              </a:defRPr>
            </a:lvl1pPr>
          </a:lstStyle>
          <a:p>
            <a:endParaRPr/>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6/25/2024</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0" y="0"/>
            <a:ext cx="9143999" cy="6857998"/>
          </a:xfrm>
          <a:prstGeom prst="rect">
            <a:avLst/>
          </a:prstGeom>
        </p:spPr>
      </p:pic>
      <p:sp>
        <p:nvSpPr>
          <p:cNvPr id="2" name="Holder 2"/>
          <p:cNvSpPr>
            <a:spLocks noGrp="1"/>
          </p:cNvSpPr>
          <p:nvPr>
            <p:ph type="title"/>
          </p:nvPr>
        </p:nvSpPr>
        <p:spPr/>
        <p:txBody>
          <a:bodyPr lIns="0" tIns="0" rIns="0" bIns="0"/>
          <a:lstStyle>
            <a:lvl1pPr>
              <a:defRPr sz="2800" b="0" i="0">
                <a:solidFill>
                  <a:schemeClr val="tx1"/>
                </a:solidFill>
                <a:latin typeface="Calibri Light"/>
                <a:cs typeface="Calibri Light"/>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6/25/2024</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0" y="0"/>
            <a:ext cx="9143999" cy="6857998"/>
          </a:xfrm>
          <a:prstGeom prst="rect">
            <a:avLst/>
          </a:prstGeom>
        </p:spPr>
      </p:pic>
      <p:pic>
        <p:nvPicPr>
          <p:cNvPr id="17" name="bg object 17"/>
          <p:cNvPicPr/>
          <p:nvPr/>
        </p:nvPicPr>
        <p:blipFill>
          <a:blip r:embed="rId3" cstate="print"/>
          <a:stretch>
            <a:fillRect/>
          </a:stretch>
        </p:blipFill>
        <p:spPr>
          <a:xfrm>
            <a:off x="1857755" y="3072383"/>
            <a:ext cx="5430012" cy="2802636"/>
          </a:xfrm>
          <a:prstGeom prst="rect">
            <a:avLst/>
          </a:prstGeom>
        </p:spPr>
      </p:pic>
      <p:sp>
        <p:nvSpPr>
          <p:cNvPr id="18" name="bg object 18"/>
          <p:cNvSpPr/>
          <p:nvPr/>
        </p:nvSpPr>
        <p:spPr>
          <a:xfrm>
            <a:off x="0" y="1642872"/>
            <a:ext cx="9144000" cy="643255"/>
          </a:xfrm>
          <a:custGeom>
            <a:avLst/>
            <a:gdLst/>
            <a:ahLst/>
            <a:cxnLst/>
            <a:rect l="l" t="t" r="r" b="b"/>
            <a:pathLst>
              <a:path w="9144000" h="643255">
                <a:moveTo>
                  <a:pt x="9144000" y="0"/>
                </a:moveTo>
                <a:lnTo>
                  <a:pt x="0" y="0"/>
                </a:lnTo>
                <a:lnTo>
                  <a:pt x="0" y="643127"/>
                </a:lnTo>
                <a:lnTo>
                  <a:pt x="9144000" y="643127"/>
                </a:lnTo>
                <a:lnTo>
                  <a:pt x="9144000" y="0"/>
                </a:lnTo>
                <a:close/>
              </a:path>
            </a:pathLst>
          </a:custGeom>
          <a:solidFill>
            <a:srgbClr val="1F487C"/>
          </a:solidFill>
        </p:spPr>
        <p:txBody>
          <a:bodyPr wrap="square" lIns="0" tIns="0" rIns="0" bIns="0" rtlCol="0"/>
          <a:lstStyle/>
          <a:p>
            <a:endParaRPr/>
          </a:p>
        </p:txBody>
      </p:sp>
      <p:pic>
        <p:nvPicPr>
          <p:cNvPr id="19" name="bg object 19"/>
          <p:cNvPicPr/>
          <p:nvPr/>
        </p:nvPicPr>
        <p:blipFill>
          <a:blip r:embed="rId4" cstate="print"/>
          <a:stretch>
            <a:fillRect/>
          </a:stretch>
        </p:blipFill>
        <p:spPr>
          <a:xfrm>
            <a:off x="8317992" y="6031991"/>
            <a:ext cx="609600" cy="609599"/>
          </a:xfrm>
          <a:prstGeom prst="rect">
            <a:avLst/>
          </a:prstGeom>
        </p:spPr>
      </p:pic>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6/25/2024</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png" /><Relationship Id="rId3" Type="http://schemas.openxmlformats.org/officeDocument/2006/relationships/slideLayout" Target="../slideLayouts/slideLayout3.xml" /><Relationship Id="rId7" Type="http://schemas.openxmlformats.org/officeDocument/2006/relationships/image" Target="../media/image1.jpg"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theme" Target="../theme/theme1.xml" /><Relationship Id="rId5" Type="http://schemas.openxmlformats.org/officeDocument/2006/relationships/slideLayout" Target="../slideLayouts/slideLayout5.xml" /><Relationship Id="rId4" Type="http://schemas.openxmlformats.org/officeDocument/2006/relationships/slideLayout" Target="../slideLayouts/slideLayout4.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0" y="0"/>
            <a:ext cx="9143999" cy="6857998"/>
          </a:xfrm>
          <a:prstGeom prst="rect">
            <a:avLst/>
          </a:prstGeom>
        </p:spPr>
      </p:pic>
      <p:pic>
        <p:nvPicPr>
          <p:cNvPr id="17" name="bg object 17"/>
          <p:cNvPicPr/>
          <p:nvPr/>
        </p:nvPicPr>
        <p:blipFill>
          <a:blip r:embed="rId8" cstate="print"/>
          <a:stretch>
            <a:fillRect/>
          </a:stretch>
        </p:blipFill>
        <p:spPr>
          <a:xfrm>
            <a:off x="1857755" y="3072383"/>
            <a:ext cx="5430012" cy="2802636"/>
          </a:xfrm>
          <a:prstGeom prst="rect">
            <a:avLst/>
          </a:prstGeom>
        </p:spPr>
      </p:pic>
      <p:sp>
        <p:nvSpPr>
          <p:cNvPr id="18" name="bg object 18"/>
          <p:cNvSpPr/>
          <p:nvPr/>
        </p:nvSpPr>
        <p:spPr>
          <a:xfrm>
            <a:off x="0" y="1642872"/>
            <a:ext cx="9144000" cy="643255"/>
          </a:xfrm>
          <a:custGeom>
            <a:avLst/>
            <a:gdLst/>
            <a:ahLst/>
            <a:cxnLst/>
            <a:rect l="l" t="t" r="r" b="b"/>
            <a:pathLst>
              <a:path w="9144000" h="643255">
                <a:moveTo>
                  <a:pt x="9144000" y="0"/>
                </a:moveTo>
                <a:lnTo>
                  <a:pt x="0" y="0"/>
                </a:lnTo>
                <a:lnTo>
                  <a:pt x="0" y="643127"/>
                </a:lnTo>
                <a:lnTo>
                  <a:pt x="9144000" y="643127"/>
                </a:lnTo>
                <a:lnTo>
                  <a:pt x="9144000" y="0"/>
                </a:lnTo>
                <a:close/>
              </a:path>
            </a:pathLst>
          </a:custGeom>
          <a:solidFill>
            <a:srgbClr val="1F487C"/>
          </a:solidFill>
        </p:spPr>
        <p:txBody>
          <a:bodyPr wrap="square" lIns="0" tIns="0" rIns="0" bIns="0" rtlCol="0"/>
          <a:lstStyle/>
          <a:p>
            <a:endParaRPr/>
          </a:p>
        </p:txBody>
      </p:sp>
      <p:sp>
        <p:nvSpPr>
          <p:cNvPr id="2" name="Holder 2"/>
          <p:cNvSpPr>
            <a:spLocks noGrp="1"/>
          </p:cNvSpPr>
          <p:nvPr>
            <p:ph type="title"/>
          </p:nvPr>
        </p:nvSpPr>
        <p:spPr>
          <a:xfrm>
            <a:off x="269240" y="1696592"/>
            <a:ext cx="8605519" cy="482600"/>
          </a:xfrm>
          <a:prstGeom prst="rect">
            <a:avLst/>
          </a:prstGeom>
        </p:spPr>
        <p:txBody>
          <a:bodyPr wrap="square" lIns="0" tIns="0" rIns="0" bIns="0">
            <a:spAutoFit/>
          </a:bodyPr>
          <a:lstStyle>
            <a:lvl1pPr>
              <a:defRPr sz="2800" b="0" i="0">
                <a:solidFill>
                  <a:schemeClr val="tx1"/>
                </a:solidFill>
                <a:latin typeface="Calibri Light"/>
                <a:cs typeface="Calibri Light"/>
              </a:defRPr>
            </a:lvl1pPr>
          </a:lstStyle>
          <a:p>
            <a:endParaRPr/>
          </a:p>
        </p:txBody>
      </p:sp>
      <p:sp>
        <p:nvSpPr>
          <p:cNvPr id="3" name="Holder 3"/>
          <p:cNvSpPr>
            <a:spLocks noGrp="1"/>
          </p:cNvSpPr>
          <p:nvPr>
            <p:ph type="body" idx="1"/>
          </p:nvPr>
        </p:nvSpPr>
        <p:spPr>
          <a:xfrm>
            <a:off x="489915" y="2522981"/>
            <a:ext cx="7752080" cy="3666490"/>
          </a:xfrm>
          <a:prstGeom prst="rect">
            <a:avLst/>
          </a:prstGeom>
        </p:spPr>
        <p:txBody>
          <a:bodyPr wrap="square" lIns="0" tIns="0" rIns="0" bIns="0">
            <a:spAutoFit/>
          </a:bodyPr>
          <a:lstStyle>
            <a:lvl1pPr>
              <a:defRPr sz="2400" b="0" i="0">
                <a:solidFill>
                  <a:schemeClr val="tx1"/>
                </a:solidFill>
                <a:latin typeface="Arial MT"/>
                <a:cs typeface="Arial MT"/>
              </a:defRPr>
            </a:lvl1pPr>
          </a:lstStyle>
          <a:p>
            <a:endParaRPr/>
          </a:p>
        </p:txBody>
      </p:sp>
      <p:sp>
        <p:nvSpPr>
          <p:cNvPr id="4" name="Holder 4"/>
          <p:cNvSpPr>
            <a:spLocks noGrp="1"/>
          </p:cNvSpPr>
          <p:nvPr>
            <p:ph type="ftr" sz="quarter" idx="5"/>
          </p:nvPr>
        </p:nvSpPr>
        <p:spPr>
          <a:xfrm>
            <a:off x="3108960" y="6377940"/>
            <a:ext cx="292608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6377940"/>
            <a:ext cx="210312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6/25/2024</a:t>
            </a:fld>
            <a:endParaRPr lang="en-US"/>
          </a:p>
        </p:txBody>
      </p:sp>
      <p:sp>
        <p:nvSpPr>
          <p:cNvPr id="6" name="Holder 6"/>
          <p:cNvSpPr>
            <a:spLocks noGrp="1"/>
          </p:cNvSpPr>
          <p:nvPr>
            <p:ph type="sldNum" sz="quarter" idx="7"/>
          </p:nvPr>
        </p:nvSpPr>
        <p:spPr>
          <a:xfrm>
            <a:off x="6583680" y="6377940"/>
            <a:ext cx="210312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 /><Relationship Id="rId2" Type="http://schemas.openxmlformats.org/officeDocument/2006/relationships/image" Target="../media/image4.jpg" /><Relationship Id="rId1" Type="http://schemas.openxmlformats.org/officeDocument/2006/relationships/slideLayout" Target="../slideLayouts/slideLayout1.xml" /><Relationship Id="rId5" Type="http://schemas.openxmlformats.org/officeDocument/2006/relationships/image" Target="../media/image3.png" /><Relationship Id="rId4" Type="http://schemas.openxmlformats.org/officeDocument/2006/relationships/image" Target="../media/image6.png" /></Relationships>
</file>

<file path=ppt/slides/_rels/slide2.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8" Type="http://schemas.openxmlformats.org/officeDocument/2006/relationships/image" Target="../media/image13.png" /><Relationship Id="rId13" Type="http://schemas.openxmlformats.org/officeDocument/2006/relationships/image" Target="../media/image18.png" /><Relationship Id="rId18" Type="http://schemas.openxmlformats.org/officeDocument/2006/relationships/image" Target="../media/image23.png" /><Relationship Id="rId26" Type="http://schemas.openxmlformats.org/officeDocument/2006/relationships/image" Target="../media/image31.png" /><Relationship Id="rId39" Type="http://schemas.openxmlformats.org/officeDocument/2006/relationships/image" Target="../media/image44.png" /><Relationship Id="rId3" Type="http://schemas.openxmlformats.org/officeDocument/2006/relationships/image" Target="../media/image8.png" /><Relationship Id="rId21" Type="http://schemas.openxmlformats.org/officeDocument/2006/relationships/image" Target="../media/image26.png" /><Relationship Id="rId34" Type="http://schemas.openxmlformats.org/officeDocument/2006/relationships/image" Target="../media/image39.png" /><Relationship Id="rId42" Type="http://schemas.openxmlformats.org/officeDocument/2006/relationships/image" Target="../media/image47.png" /><Relationship Id="rId47" Type="http://schemas.openxmlformats.org/officeDocument/2006/relationships/image" Target="../media/image51.png" /><Relationship Id="rId7" Type="http://schemas.openxmlformats.org/officeDocument/2006/relationships/image" Target="../media/image12.png" /><Relationship Id="rId12" Type="http://schemas.openxmlformats.org/officeDocument/2006/relationships/image" Target="../media/image17.png" /><Relationship Id="rId17" Type="http://schemas.openxmlformats.org/officeDocument/2006/relationships/image" Target="../media/image22.png" /><Relationship Id="rId25" Type="http://schemas.openxmlformats.org/officeDocument/2006/relationships/image" Target="../media/image30.png" /><Relationship Id="rId33" Type="http://schemas.openxmlformats.org/officeDocument/2006/relationships/image" Target="../media/image38.png" /><Relationship Id="rId38" Type="http://schemas.openxmlformats.org/officeDocument/2006/relationships/image" Target="../media/image43.png" /><Relationship Id="rId46" Type="http://schemas.openxmlformats.org/officeDocument/2006/relationships/image" Target="../media/image3.png" /><Relationship Id="rId2" Type="http://schemas.openxmlformats.org/officeDocument/2006/relationships/image" Target="../media/image7.png" /><Relationship Id="rId16" Type="http://schemas.openxmlformats.org/officeDocument/2006/relationships/image" Target="../media/image21.png" /><Relationship Id="rId20" Type="http://schemas.openxmlformats.org/officeDocument/2006/relationships/image" Target="../media/image25.png" /><Relationship Id="rId29" Type="http://schemas.openxmlformats.org/officeDocument/2006/relationships/image" Target="../media/image34.png" /><Relationship Id="rId41" Type="http://schemas.openxmlformats.org/officeDocument/2006/relationships/image" Target="../media/image46.png" /><Relationship Id="rId1" Type="http://schemas.openxmlformats.org/officeDocument/2006/relationships/slideLayout" Target="../slideLayouts/slideLayout2.xml" /><Relationship Id="rId6" Type="http://schemas.openxmlformats.org/officeDocument/2006/relationships/image" Target="../media/image11.png" /><Relationship Id="rId11" Type="http://schemas.openxmlformats.org/officeDocument/2006/relationships/image" Target="../media/image16.png" /><Relationship Id="rId24" Type="http://schemas.openxmlformats.org/officeDocument/2006/relationships/image" Target="../media/image29.png" /><Relationship Id="rId32" Type="http://schemas.openxmlformats.org/officeDocument/2006/relationships/image" Target="../media/image37.png" /><Relationship Id="rId37" Type="http://schemas.openxmlformats.org/officeDocument/2006/relationships/image" Target="../media/image42.png" /><Relationship Id="rId40" Type="http://schemas.openxmlformats.org/officeDocument/2006/relationships/image" Target="../media/image45.png" /><Relationship Id="rId45" Type="http://schemas.openxmlformats.org/officeDocument/2006/relationships/image" Target="../media/image50.png" /><Relationship Id="rId5" Type="http://schemas.openxmlformats.org/officeDocument/2006/relationships/image" Target="../media/image10.png" /><Relationship Id="rId15" Type="http://schemas.openxmlformats.org/officeDocument/2006/relationships/image" Target="../media/image20.png" /><Relationship Id="rId23" Type="http://schemas.openxmlformats.org/officeDocument/2006/relationships/image" Target="../media/image28.png" /><Relationship Id="rId28" Type="http://schemas.openxmlformats.org/officeDocument/2006/relationships/image" Target="../media/image33.png" /><Relationship Id="rId36" Type="http://schemas.openxmlformats.org/officeDocument/2006/relationships/image" Target="../media/image41.png" /><Relationship Id="rId10" Type="http://schemas.openxmlformats.org/officeDocument/2006/relationships/image" Target="../media/image15.png" /><Relationship Id="rId19" Type="http://schemas.openxmlformats.org/officeDocument/2006/relationships/image" Target="../media/image24.png" /><Relationship Id="rId31" Type="http://schemas.openxmlformats.org/officeDocument/2006/relationships/image" Target="../media/image36.png" /><Relationship Id="rId44" Type="http://schemas.openxmlformats.org/officeDocument/2006/relationships/image" Target="../media/image49.png" /><Relationship Id="rId4" Type="http://schemas.openxmlformats.org/officeDocument/2006/relationships/image" Target="../media/image9.png" /><Relationship Id="rId9" Type="http://schemas.openxmlformats.org/officeDocument/2006/relationships/image" Target="../media/image14.png" /><Relationship Id="rId14" Type="http://schemas.openxmlformats.org/officeDocument/2006/relationships/image" Target="../media/image19.png" /><Relationship Id="rId22" Type="http://schemas.openxmlformats.org/officeDocument/2006/relationships/image" Target="../media/image27.png" /><Relationship Id="rId27" Type="http://schemas.openxmlformats.org/officeDocument/2006/relationships/image" Target="../media/image32.png" /><Relationship Id="rId30" Type="http://schemas.openxmlformats.org/officeDocument/2006/relationships/image" Target="../media/image35.png" /><Relationship Id="rId35" Type="http://schemas.openxmlformats.org/officeDocument/2006/relationships/image" Target="../media/image40.png" /><Relationship Id="rId43" Type="http://schemas.openxmlformats.org/officeDocument/2006/relationships/image" Target="../media/image48.png" /></Relationships>
</file>

<file path=ppt/slides/_rels/slide4.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2" Type="http://schemas.openxmlformats.org/officeDocument/2006/relationships/image" Target="../media/image52.jpeg" /><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3" Type="http://schemas.openxmlformats.org/officeDocument/2006/relationships/image" Target="../media/image53.jpeg" /><Relationship Id="rId2" Type="http://schemas.openxmlformats.org/officeDocument/2006/relationships/image" Target="../media/image3.png" /><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3" Type="http://schemas.openxmlformats.org/officeDocument/2006/relationships/image" Target="../media/image54.jpeg" /><Relationship Id="rId2" Type="http://schemas.openxmlformats.org/officeDocument/2006/relationships/image" Target="../media/image3.png" /><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Layout" Target="../slideLayouts/slideLayout2.xml" /></Relationships>
</file>

<file path=ppt/slides/_rels/slide9.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Layout" Target="../slideLayouts/slideLayout2.xml" /></Relationships>
</file>

<file path=ppt/slides/_rels/slide10.xml.rels><?xml version="1.0" encoding="UTF-8" standalone="yes"?>
<Relationships xmlns="http://schemas.openxmlformats.org/package/2006/relationships"><Relationship Id="rId8" Type="http://schemas.openxmlformats.org/officeDocument/2006/relationships/image" Target="../media/image61.png" /><Relationship Id="rId13" Type="http://schemas.openxmlformats.org/officeDocument/2006/relationships/image" Target="../media/image66.png" /><Relationship Id="rId18" Type="http://schemas.openxmlformats.org/officeDocument/2006/relationships/image" Target="../media/image71.png" /><Relationship Id="rId3" Type="http://schemas.openxmlformats.org/officeDocument/2006/relationships/image" Target="../media/image56.png" /><Relationship Id="rId7" Type="http://schemas.openxmlformats.org/officeDocument/2006/relationships/image" Target="../media/image60.png" /><Relationship Id="rId12" Type="http://schemas.openxmlformats.org/officeDocument/2006/relationships/image" Target="../media/image65.png" /><Relationship Id="rId17" Type="http://schemas.openxmlformats.org/officeDocument/2006/relationships/image" Target="../media/image70.png" /><Relationship Id="rId2" Type="http://schemas.openxmlformats.org/officeDocument/2006/relationships/image" Target="../media/image55.png" /><Relationship Id="rId16" Type="http://schemas.openxmlformats.org/officeDocument/2006/relationships/image" Target="../media/image69.png" /><Relationship Id="rId20" Type="http://schemas.openxmlformats.org/officeDocument/2006/relationships/image" Target="../media/image72.png" /><Relationship Id="rId1" Type="http://schemas.openxmlformats.org/officeDocument/2006/relationships/slideLayout" Target="../slideLayouts/slideLayout2.xml" /><Relationship Id="rId6" Type="http://schemas.openxmlformats.org/officeDocument/2006/relationships/image" Target="../media/image59.png" /><Relationship Id="rId11" Type="http://schemas.openxmlformats.org/officeDocument/2006/relationships/image" Target="../media/image64.png" /><Relationship Id="rId5" Type="http://schemas.openxmlformats.org/officeDocument/2006/relationships/image" Target="../media/image58.png" /><Relationship Id="rId15" Type="http://schemas.openxmlformats.org/officeDocument/2006/relationships/image" Target="../media/image68.png" /><Relationship Id="rId10" Type="http://schemas.openxmlformats.org/officeDocument/2006/relationships/image" Target="../media/image63.png" /><Relationship Id="rId19" Type="http://schemas.openxmlformats.org/officeDocument/2006/relationships/image" Target="../media/image3.png" /><Relationship Id="rId4" Type="http://schemas.openxmlformats.org/officeDocument/2006/relationships/image" Target="../media/image57.png" /><Relationship Id="rId9" Type="http://schemas.openxmlformats.org/officeDocument/2006/relationships/image" Target="../media/image62.png" /><Relationship Id="rId14" Type="http://schemas.openxmlformats.org/officeDocument/2006/relationships/image" Target="../media/image67.png" /></Relationships>
</file>

<file path=ppt/slides/_rels/slide11.xml.rels><?xml version="1.0" encoding="UTF-8" standalone="yes"?>
<Relationships xmlns="http://schemas.openxmlformats.org/package/2006/relationships"><Relationship Id="rId8" Type="http://schemas.openxmlformats.org/officeDocument/2006/relationships/image" Target="../media/image61.png" /><Relationship Id="rId13" Type="http://schemas.openxmlformats.org/officeDocument/2006/relationships/image" Target="../media/image66.png" /><Relationship Id="rId18" Type="http://schemas.openxmlformats.org/officeDocument/2006/relationships/image" Target="../media/image71.png" /><Relationship Id="rId3" Type="http://schemas.openxmlformats.org/officeDocument/2006/relationships/image" Target="../media/image56.png" /><Relationship Id="rId7" Type="http://schemas.openxmlformats.org/officeDocument/2006/relationships/image" Target="../media/image60.png" /><Relationship Id="rId12" Type="http://schemas.openxmlformats.org/officeDocument/2006/relationships/image" Target="../media/image65.png" /><Relationship Id="rId17" Type="http://schemas.openxmlformats.org/officeDocument/2006/relationships/image" Target="../media/image70.png" /><Relationship Id="rId2" Type="http://schemas.openxmlformats.org/officeDocument/2006/relationships/image" Target="../media/image55.png" /><Relationship Id="rId16" Type="http://schemas.openxmlformats.org/officeDocument/2006/relationships/image" Target="../media/image69.png" /><Relationship Id="rId1" Type="http://schemas.openxmlformats.org/officeDocument/2006/relationships/slideLayout" Target="../slideLayouts/slideLayout2.xml" /><Relationship Id="rId6" Type="http://schemas.openxmlformats.org/officeDocument/2006/relationships/image" Target="../media/image59.png" /><Relationship Id="rId11" Type="http://schemas.openxmlformats.org/officeDocument/2006/relationships/image" Target="../media/image64.png" /><Relationship Id="rId5" Type="http://schemas.openxmlformats.org/officeDocument/2006/relationships/image" Target="../media/image58.png" /><Relationship Id="rId15" Type="http://schemas.openxmlformats.org/officeDocument/2006/relationships/image" Target="../media/image68.png" /><Relationship Id="rId10" Type="http://schemas.openxmlformats.org/officeDocument/2006/relationships/image" Target="../media/image63.png" /><Relationship Id="rId19" Type="http://schemas.openxmlformats.org/officeDocument/2006/relationships/image" Target="../media/image3.png" /><Relationship Id="rId4" Type="http://schemas.openxmlformats.org/officeDocument/2006/relationships/image" Target="../media/image57.png" /><Relationship Id="rId9" Type="http://schemas.openxmlformats.org/officeDocument/2006/relationships/image" Target="../media/image62.png" /><Relationship Id="rId14" Type="http://schemas.openxmlformats.org/officeDocument/2006/relationships/image" Target="../media/image67.png" /></Relationships>
</file>

<file path=ppt/slides/_rels/slide12.xml.rels><?xml version="1.0" encoding="UTF-8" standalone="yes"?>
<Relationships xmlns="http://schemas.openxmlformats.org/package/2006/relationships"><Relationship Id="rId8" Type="http://schemas.openxmlformats.org/officeDocument/2006/relationships/image" Target="../media/image61.png" /><Relationship Id="rId13" Type="http://schemas.openxmlformats.org/officeDocument/2006/relationships/image" Target="../media/image66.png" /><Relationship Id="rId18" Type="http://schemas.openxmlformats.org/officeDocument/2006/relationships/image" Target="../media/image71.png" /><Relationship Id="rId3" Type="http://schemas.openxmlformats.org/officeDocument/2006/relationships/image" Target="../media/image56.png" /><Relationship Id="rId7" Type="http://schemas.openxmlformats.org/officeDocument/2006/relationships/image" Target="../media/image60.png" /><Relationship Id="rId12" Type="http://schemas.openxmlformats.org/officeDocument/2006/relationships/image" Target="../media/image65.png" /><Relationship Id="rId17" Type="http://schemas.openxmlformats.org/officeDocument/2006/relationships/image" Target="../media/image70.png" /><Relationship Id="rId2" Type="http://schemas.openxmlformats.org/officeDocument/2006/relationships/image" Target="../media/image55.png" /><Relationship Id="rId16" Type="http://schemas.openxmlformats.org/officeDocument/2006/relationships/image" Target="../media/image69.png" /><Relationship Id="rId20" Type="http://schemas.openxmlformats.org/officeDocument/2006/relationships/image" Target="../media/image73.png" /><Relationship Id="rId1" Type="http://schemas.openxmlformats.org/officeDocument/2006/relationships/slideLayout" Target="../slideLayouts/slideLayout2.xml" /><Relationship Id="rId6" Type="http://schemas.openxmlformats.org/officeDocument/2006/relationships/image" Target="../media/image59.png" /><Relationship Id="rId11" Type="http://schemas.openxmlformats.org/officeDocument/2006/relationships/image" Target="../media/image64.png" /><Relationship Id="rId5" Type="http://schemas.openxmlformats.org/officeDocument/2006/relationships/image" Target="../media/image58.png" /><Relationship Id="rId15" Type="http://schemas.openxmlformats.org/officeDocument/2006/relationships/image" Target="../media/image68.png" /><Relationship Id="rId10" Type="http://schemas.openxmlformats.org/officeDocument/2006/relationships/image" Target="../media/image63.png" /><Relationship Id="rId19" Type="http://schemas.openxmlformats.org/officeDocument/2006/relationships/image" Target="../media/image3.png" /><Relationship Id="rId4" Type="http://schemas.openxmlformats.org/officeDocument/2006/relationships/image" Target="../media/image57.png" /><Relationship Id="rId9" Type="http://schemas.openxmlformats.org/officeDocument/2006/relationships/image" Target="../media/image62.png" /><Relationship Id="rId14" Type="http://schemas.openxmlformats.org/officeDocument/2006/relationships/image" Target="../media/image67.png" /></Relationships>
</file>

<file path=ppt/slides/_rels/slide13.xml.rels><?xml version="1.0" encoding="UTF-8" standalone="yes"?>
<Relationships xmlns="http://schemas.openxmlformats.org/package/2006/relationships"><Relationship Id="rId8" Type="http://schemas.openxmlformats.org/officeDocument/2006/relationships/image" Target="../media/image61.png" /><Relationship Id="rId13" Type="http://schemas.openxmlformats.org/officeDocument/2006/relationships/image" Target="../media/image66.png" /><Relationship Id="rId18" Type="http://schemas.openxmlformats.org/officeDocument/2006/relationships/image" Target="../media/image71.png" /><Relationship Id="rId3" Type="http://schemas.openxmlformats.org/officeDocument/2006/relationships/image" Target="../media/image56.png" /><Relationship Id="rId7" Type="http://schemas.openxmlformats.org/officeDocument/2006/relationships/image" Target="../media/image60.png" /><Relationship Id="rId12" Type="http://schemas.openxmlformats.org/officeDocument/2006/relationships/image" Target="../media/image65.png" /><Relationship Id="rId17" Type="http://schemas.openxmlformats.org/officeDocument/2006/relationships/image" Target="../media/image70.png" /><Relationship Id="rId2" Type="http://schemas.openxmlformats.org/officeDocument/2006/relationships/image" Target="../media/image55.png" /><Relationship Id="rId16" Type="http://schemas.openxmlformats.org/officeDocument/2006/relationships/image" Target="../media/image69.png" /><Relationship Id="rId1" Type="http://schemas.openxmlformats.org/officeDocument/2006/relationships/slideLayout" Target="../slideLayouts/slideLayout2.xml" /><Relationship Id="rId6" Type="http://schemas.openxmlformats.org/officeDocument/2006/relationships/image" Target="../media/image59.png" /><Relationship Id="rId11" Type="http://schemas.openxmlformats.org/officeDocument/2006/relationships/image" Target="../media/image64.png" /><Relationship Id="rId5" Type="http://schemas.openxmlformats.org/officeDocument/2006/relationships/image" Target="../media/image58.png" /><Relationship Id="rId15" Type="http://schemas.openxmlformats.org/officeDocument/2006/relationships/image" Target="../media/image68.png" /><Relationship Id="rId10" Type="http://schemas.openxmlformats.org/officeDocument/2006/relationships/image" Target="../media/image63.png" /><Relationship Id="rId19" Type="http://schemas.openxmlformats.org/officeDocument/2006/relationships/image" Target="../media/image3.png" /><Relationship Id="rId4" Type="http://schemas.openxmlformats.org/officeDocument/2006/relationships/image" Target="../media/image57.png" /><Relationship Id="rId9" Type="http://schemas.openxmlformats.org/officeDocument/2006/relationships/image" Target="../media/image62.png" /><Relationship Id="rId14" Type="http://schemas.openxmlformats.org/officeDocument/2006/relationships/image" Target="../media/image67.png" /></Relationships>
</file>

<file path=ppt/slides/_rels/slide14.xml.rels><?xml version="1.0" encoding="UTF-8" standalone="yes"?>
<Relationships xmlns="http://schemas.openxmlformats.org/package/2006/relationships"><Relationship Id="rId3" Type="http://schemas.openxmlformats.org/officeDocument/2006/relationships/image" Target="../media/image75.png" /><Relationship Id="rId2" Type="http://schemas.openxmlformats.org/officeDocument/2006/relationships/image" Target="../media/image74.jpg" /><Relationship Id="rId1" Type="http://schemas.openxmlformats.org/officeDocument/2006/relationships/slideLayout" Target="../slideLayouts/slideLayout2.xml" /></Relationships>
</file>

<file path=ppt/slides/_rels/slide15.xml.rels><?xml version="1.0" encoding="UTF-8" standalone="yes"?>
<Relationships xmlns="http://schemas.openxmlformats.org/package/2006/relationships"><Relationship Id="rId3" Type="http://schemas.openxmlformats.org/officeDocument/2006/relationships/image" Target="../media/image76.png" /><Relationship Id="rId2" Type="http://schemas.openxmlformats.org/officeDocument/2006/relationships/image" Target="../media/image74.jpg" /><Relationship Id="rId1" Type="http://schemas.openxmlformats.org/officeDocument/2006/relationships/slideLayout" Target="../slideLayouts/slideLayout2.xml" /></Relationships>
</file>

<file path=ppt/slides/_rels/slide16.xml.rels><?xml version="1.0" encoding="UTF-8" standalone="yes"?>
<Relationships xmlns="http://schemas.openxmlformats.org/package/2006/relationships"><Relationship Id="rId2" Type="http://schemas.openxmlformats.org/officeDocument/2006/relationships/image" Target="../media/image74.jpg" /><Relationship Id="rId1" Type="http://schemas.openxmlformats.org/officeDocument/2006/relationships/slideLayout" Target="../slideLayouts/slideLayout2.xml" /></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 /></Relationships>
</file>

<file path=ppt/slides/_rels/slide18.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Layout" Target="../slideLayouts/slideLayout2.xml" /></Relationships>
</file>

<file path=ppt/slides/_rels/slide19.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Layout" Target="../slideLayouts/slideLayout2.xml" /></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1.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image" Target="../media/image77.jpg" /><Relationship Id="rId1" Type="http://schemas.openxmlformats.org/officeDocument/2006/relationships/slideLayout" Target="../slideLayouts/slideLayout2.xml" /><Relationship Id="rId4" Type="http://schemas.openxmlformats.org/officeDocument/2006/relationships/image" Target="../media/image3.png" /></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4.xml.rels><?xml version="1.0" encoding="UTF-8" standalone="yes"?>
<Relationships xmlns="http://schemas.openxmlformats.org/package/2006/relationships"><Relationship Id="rId2" Type="http://schemas.openxmlformats.org/officeDocument/2006/relationships/image" Target="../media/image1.jpg" /><Relationship Id="rId1" Type="http://schemas.openxmlformats.org/officeDocument/2006/relationships/slideLayout" Target="../slideLayouts/slideLayout2.xml" /></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6.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Layout" Target="../slideLayouts/slideLayout2.xml" /></Relationships>
</file>

<file path=ppt/slides/_rels/slide27.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Layout" Target="../slideLayouts/slideLayout2.xml" /></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9.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image" Target="../media/image1.jpg" /><Relationship Id="rId1" Type="http://schemas.openxmlformats.org/officeDocument/2006/relationships/slideLayout" Target="../slideLayouts/slideLayout2.xml" /></Relationships>
</file>

<file path=ppt/slides/_rels/slide30.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image" Target="../media/image1.jpg" /><Relationship Id="rId1" Type="http://schemas.openxmlformats.org/officeDocument/2006/relationships/slideLayout" Target="../slideLayouts/slideLayout2.xml" /><Relationship Id="rId4" Type="http://schemas.openxmlformats.org/officeDocument/2006/relationships/image" Target="../media/image3.png" /></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2.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Layout" Target="../slideLayouts/slideLayout2.xml" /></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4.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Layout" Target="../slideLayouts/slideLayout2.xml" /></Relationships>
</file>

<file path=ppt/slides/_rels/slide35.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Layout" Target="../slideLayouts/slideLayout2.xml" /></Relationships>
</file>

<file path=ppt/slides/_rels/slide36.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Layout" Target="../slideLayouts/slideLayout2.xml" /></Relationships>
</file>

<file path=ppt/slides/_rels/slide37.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Layout" Target="../slideLayouts/slideLayout2.xml" /></Relationships>
</file>

<file path=ppt/slides/_rels/slide38.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Layout" Target="../slideLayouts/slideLayout2.xml" /></Relationships>
</file>

<file path=ppt/slides/_rels/slide39.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Layout" Target="../slideLayouts/slideLayout2.xml" /></Relationships>
</file>

<file path=ppt/slides/_rels/slide40.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Layout" Target="../slideLayouts/slideLayout2.xml" /></Relationships>
</file>

<file path=ppt/slides/_rels/slide41.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Layout" Target="../slideLayouts/slideLayout2.xml" /></Relationships>
</file>

<file path=ppt/slides/_rels/slide42.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Layout" Target="../slideLayouts/slideLayout2.xml" /></Relationships>
</file>

<file path=ppt/slides/_rels/slide43.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Layout" Target="../slideLayouts/slideLayout2.xml" /></Relationships>
</file>

<file path=ppt/slides/_rels/slide44.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Layout" Target="../slideLayouts/slideLayout2.xml" /></Relationships>
</file>

<file path=ppt/slides/_rels/slide45.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Layout" Target="../slideLayouts/slideLayout2.xml" /></Relationships>
</file>

<file path=ppt/slides/_rels/slide46.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Layout" Target="../slideLayouts/slideLayout2.xml" /></Relationships>
</file>

<file path=ppt/slides/_rels/slide47.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Layout" Target="../slideLayouts/slideLayout2.xml" /></Relationships>
</file>

<file path=ppt/slides/_rels/slide48.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Layout" Target="../slideLayouts/slideLayout2.xml" /></Relationships>
</file>

<file path=ppt/slides/_rels/slide49.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Layout" Target="../slideLayouts/slideLayout2.xml" /></Relationships>
</file>

<file path=ppt/slides/_rels/slide50.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Layout" Target="../slideLayouts/slideLayout2.xml" /></Relationships>
</file>

<file path=ppt/slides/_rels/slide51.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Layout" Target="../slideLayouts/slideLayout2.xml" /></Relationships>
</file>

<file path=ppt/slides/_rels/slide52.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Layout" Target="../slideLayouts/slideLayout2.xml" /></Relationships>
</file>

<file path=ppt/slides/_rels/slide53.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image" Target="../media/image1.jpg" /><Relationship Id="rId1" Type="http://schemas.openxmlformats.org/officeDocument/2006/relationships/slideLayout" Target="../slideLayouts/slideLayout2.xml" /></Relationships>
</file>

<file path=ppt/slides/_rels/slide54.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image" Target="../media/image1.jpg" /><Relationship Id="rId1" Type="http://schemas.openxmlformats.org/officeDocument/2006/relationships/slideLayout" Target="../slideLayouts/slideLayout2.xml" /></Relationships>
</file>

<file path=ppt/slides/_rels/slide55.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image" Target="../media/image1.jpg" /><Relationship Id="rId1" Type="http://schemas.openxmlformats.org/officeDocument/2006/relationships/slideLayout" Target="../slideLayouts/slideLayout2.xml" /></Relationships>
</file>

<file path=ppt/slides/_rels/slide56.xml.rels><?xml version="1.0" encoding="UTF-8" standalone="yes"?>
<Relationships xmlns="http://schemas.openxmlformats.org/package/2006/relationships"><Relationship Id="rId3" Type="http://schemas.openxmlformats.org/officeDocument/2006/relationships/image" Target="../media/image79.png" /><Relationship Id="rId2" Type="http://schemas.openxmlformats.org/officeDocument/2006/relationships/image" Target="../media/image78.png" /><Relationship Id="rId1" Type="http://schemas.openxmlformats.org/officeDocument/2006/relationships/slideLayout" Target="../slideLayouts/slideLayout5.xml" /><Relationship Id="rId6" Type="http://schemas.openxmlformats.org/officeDocument/2006/relationships/image" Target="../media/image3.png" /><Relationship Id="rId5" Type="http://schemas.openxmlformats.org/officeDocument/2006/relationships/hyperlink" Target="http://www.paruluniversity.ac.in/" TargetMode="External" /><Relationship Id="rId4" Type="http://schemas.openxmlformats.org/officeDocument/2006/relationships/image" Target="../media/image80.png" /></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9143999" cy="6857998"/>
          </a:xfrm>
          <a:prstGeom prst="rect">
            <a:avLst/>
          </a:prstGeom>
        </p:spPr>
      </p:pic>
      <p:sp>
        <p:nvSpPr>
          <p:cNvPr id="3" name="object 3"/>
          <p:cNvSpPr txBox="1">
            <a:spLocks noGrp="1"/>
          </p:cNvSpPr>
          <p:nvPr>
            <p:ph type="ctrTitle"/>
          </p:nvPr>
        </p:nvSpPr>
        <p:spPr>
          <a:xfrm>
            <a:off x="1295399" y="1718537"/>
            <a:ext cx="7022591" cy="567463"/>
          </a:xfrm>
          <a:prstGeom prst="rect">
            <a:avLst/>
          </a:prstGeom>
        </p:spPr>
        <p:txBody>
          <a:bodyPr vert="horz" wrap="square" lIns="0" tIns="13335" rIns="0" bIns="0" rtlCol="0">
            <a:spAutoFit/>
          </a:bodyPr>
          <a:lstStyle/>
          <a:p>
            <a:pPr algn="l"/>
            <a:r>
              <a:rPr lang="en-IN" sz="3500" b="1" spc="-10" dirty="0">
                <a:latin typeface="Calibri"/>
                <a:cs typeface="Calibri"/>
              </a:rPr>
              <a:t>Enterprise Programming </a:t>
            </a:r>
            <a:r>
              <a:rPr sz="3500" b="1" spc="-10" dirty="0">
                <a:latin typeface="Calibri"/>
                <a:cs typeface="Calibri"/>
              </a:rPr>
              <a:t>(</a:t>
            </a:r>
            <a:r>
              <a:rPr lang="en-IN" sz="3200" b="1" i="0" u="none" strike="noStrike" baseline="0" dirty="0">
                <a:latin typeface="Calibri" panose="020F0502020204030204" pitchFamily="34" charset="0"/>
              </a:rPr>
              <a:t>303105309</a:t>
            </a:r>
            <a:r>
              <a:rPr sz="3500" b="1" spc="-10" dirty="0">
                <a:latin typeface="Calibri"/>
                <a:cs typeface="Calibri"/>
              </a:rPr>
              <a:t>)</a:t>
            </a:r>
            <a:endParaRPr sz="3500" dirty="0">
              <a:latin typeface="Calibri"/>
              <a:cs typeface="Calibri"/>
            </a:endParaRPr>
          </a:p>
        </p:txBody>
      </p:sp>
      <p:sp>
        <p:nvSpPr>
          <p:cNvPr id="4" name="object 4"/>
          <p:cNvSpPr txBox="1"/>
          <p:nvPr/>
        </p:nvSpPr>
        <p:spPr>
          <a:xfrm>
            <a:off x="2291333" y="2871342"/>
            <a:ext cx="4560570" cy="695960"/>
          </a:xfrm>
          <a:prstGeom prst="rect">
            <a:avLst/>
          </a:prstGeom>
        </p:spPr>
        <p:txBody>
          <a:bodyPr vert="horz" wrap="square" lIns="0" tIns="12065" rIns="0" bIns="0" rtlCol="0">
            <a:spAutoFit/>
          </a:bodyPr>
          <a:lstStyle/>
          <a:p>
            <a:pPr marL="424180" marR="5080" indent="-411480">
              <a:lnSpc>
                <a:spcPct val="100000"/>
              </a:lnSpc>
              <a:spcBef>
                <a:spcPts val="95"/>
              </a:spcBef>
            </a:pPr>
            <a:r>
              <a:rPr sz="2200" b="1" spc="-20" dirty="0">
                <a:latin typeface="Calibri"/>
                <a:cs typeface="Calibri"/>
              </a:rPr>
              <a:t>Prof.</a:t>
            </a:r>
            <a:r>
              <a:rPr sz="2200" b="1" spc="-75" dirty="0">
                <a:latin typeface="Calibri"/>
                <a:cs typeface="Calibri"/>
              </a:rPr>
              <a:t> </a:t>
            </a:r>
            <a:r>
              <a:rPr lang="en-IN" sz="2200" b="1" spc="-25" dirty="0">
                <a:latin typeface="Calibri"/>
                <a:cs typeface="Calibri"/>
              </a:rPr>
              <a:t>Kajal Goswami</a:t>
            </a:r>
            <a:r>
              <a:rPr sz="2200" b="1" dirty="0">
                <a:latin typeface="Calibri"/>
                <a:cs typeface="Calibri"/>
              </a:rPr>
              <a:t>,</a:t>
            </a:r>
            <a:r>
              <a:rPr sz="2200" b="1" spc="-55" dirty="0">
                <a:latin typeface="Calibri"/>
                <a:cs typeface="Calibri"/>
              </a:rPr>
              <a:t> </a:t>
            </a:r>
            <a:r>
              <a:rPr sz="2200" spc="-10" dirty="0">
                <a:latin typeface="Calibri"/>
                <a:cs typeface="Calibri"/>
              </a:rPr>
              <a:t>Assistant</a:t>
            </a:r>
            <a:r>
              <a:rPr sz="2200" spc="-105" dirty="0">
                <a:latin typeface="Calibri"/>
                <a:cs typeface="Calibri"/>
              </a:rPr>
              <a:t> </a:t>
            </a:r>
            <a:r>
              <a:rPr sz="2200" spc="-10" dirty="0">
                <a:latin typeface="Calibri"/>
                <a:cs typeface="Calibri"/>
              </a:rPr>
              <a:t>Professor </a:t>
            </a:r>
            <a:r>
              <a:rPr sz="2200" dirty="0">
                <a:latin typeface="Calibri"/>
                <a:cs typeface="Calibri"/>
              </a:rPr>
              <a:t>Computer</a:t>
            </a:r>
            <a:r>
              <a:rPr sz="2200" spc="-60" dirty="0">
                <a:latin typeface="Calibri"/>
                <a:cs typeface="Calibri"/>
              </a:rPr>
              <a:t> </a:t>
            </a:r>
            <a:r>
              <a:rPr sz="2200" dirty="0">
                <a:latin typeface="Calibri"/>
                <a:cs typeface="Calibri"/>
              </a:rPr>
              <a:t>Science</a:t>
            </a:r>
            <a:r>
              <a:rPr sz="2200" spc="-65" dirty="0">
                <a:latin typeface="Calibri"/>
                <a:cs typeface="Calibri"/>
              </a:rPr>
              <a:t> </a:t>
            </a:r>
            <a:r>
              <a:rPr sz="2200" dirty="0">
                <a:latin typeface="Calibri"/>
                <a:cs typeface="Calibri"/>
              </a:rPr>
              <a:t>&amp;</a:t>
            </a:r>
            <a:r>
              <a:rPr sz="2200" spc="-75" dirty="0">
                <a:latin typeface="Calibri"/>
                <a:cs typeface="Calibri"/>
              </a:rPr>
              <a:t> </a:t>
            </a:r>
            <a:r>
              <a:rPr sz="2200" spc="-10" dirty="0">
                <a:latin typeface="Calibri"/>
                <a:cs typeface="Calibri"/>
              </a:rPr>
              <a:t>Engineering</a:t>
            </a:r>
            <a:endParaRPr sz="2200" dirty="0">
              <a:latin typeface="Calibri"/>
              <a:cs typeface="Calibri"/>
            </a:endParaRPr>
          </a:p>
        </p:txBody>
      </p:sp>
      <p:grpSp>
        <p:nvGrpSpPr>
          <p:cNvPr id="5" name="object 5"/>
          <p:cNvGrpSpPr/>
          <p:nvPr/>
        </p:nvGrpSpPr>
        <p:grpSpPr>
          <a:xfrm>
            <a:off x="1412557" y="499872"/>
            <a:ext cx="7515225" cy="6141720"/>
            <a:chOff x="1412557" y="499872"/>
            <a:chExt cx="7515225" cy="6141720"/>
          </a:xfrm>
        </p:grpSpPr>
        <p:pic>
          <p:nvPicPr>
            <p:cNvPr id="6" name="object 6"/>
            <p:cNvPicPr/>
            <p:nvPr/>
          </p:nvPicPr>
          <p:blipFill>
            <a:blip r:embed="rId3" cstate="print"/>
            <a:stretch>
              <a:fillRect/>
            </a:stretch>
          </p:blipFill>
          <p:spPr>
            <a:xfrm>
              <a:off x="3381755" y="499872"/>
              <a:ext cx="2380488" cy="629412"/>
            </a:xfrm>
            <a:prstGeom prst="rect">
              <a:avLst/>
            </a:prstGeom>
          </p:spPr>
        </p:pic>
        <p:sp>
          <p:nvSpPr>
            <p:cNvPr id="7" name="object 7"/>
            <p:cNvSpPr/>
            <p:nvPr/>
          </p:nvSpPr>
          <p:spPr>
            <a:xfrm>
              <a:off x="1417319" y="2738627"/>
              <a:ext cx="6286500" cy="1905"/>
            </a:xfrm>
            <a:custGeom>
              <a:avLst/>
              <a:gdLst/>
              <a:ahLst/>
              <a:cxnLst/>
              <a:rect l="l" t="t" r="r" b="b"/>
              <a:pathLst>
                <a:path w="6286500" h="1905">
                  <a:moveTo>
                    <a:pt x="0" y="0"/>
                  </a:moveTo>
                  <a:lnTo>
                    <a:pt x="6286500" y="1524"/>
                  </a:lnTo>
                </a:path>
              </a:pathLst>
            </a:custGeom>
            <a:ln w="9525">
              <a:solidFill>
                <a:srgbClr val="000000"/>
              </a:solidFill>
            </a:ln>
          </p:spPr>
          <p:txBody>
            <a:bodyPr wrap="square" lIns="0" tIns="0" rIns="0" bIns="0" rtlCol="0"/>
            <a:lstStyle/>
            <a:p>
              <a:endParaRPr/>
            </a:p>
          </p:txBody>
        </p:sp>
        <p:pic>
          <p:nvPicPr>
            <p:cNvPr id="8" name="object 8"/>
            <p:cNvPicPr/>
            <p:nvPr/>
          </p:nvPicPr>
          <p:blipFill>
            <a:blip r:embed="rId4" cstate="print"/>
            <a:stretch>
              <a:fillRect/>
            </a:stretch>
          </p:blipFill>
          <p:spPr>
            <a:xfrm>
              <a:off x="1417319" y="2692907"/>
              <a:ext cx="94488" cy="92963"/>
            </a:xfrm>
            <a:prstGeom prst="rect">
              <a:avLst/>
            </a:prstGeom>
          </p:spPr>
        </p:pic>
        <p:pic>
          <p:nvPicPr>
            <p:cNvPr id="9" name="object 9"/>
            <p:cNvPicPr/>
            <p:nvPr/>
          </p:nvPicPr>
          <p:blipFill>
            <a:blip r:embed="rId4" cstate="print"/>
            <a:stretch>
              <a:fillRect/>
            </a:stretch>
          </p:blipFill>
          <p:spPr>
            <a:xfrm>
              <a:off x="7632191" y="2692907"/>
              <a:ext cx="94487" cy="92963"/>
            </a:xfrm>
            <a:prstGeom prst="rect">
              <a:avLst/>
            </a:prstGeom>
          </p:spPr>
        </p:pic>
        <p:pic>
          <p:nvPicPr>
            <p:cNvPr id="10" name="object 10"/>
            <p:cNvPicPr/>
            <p:nvPr/>
          </p:nvPicPr>
          <p:blipFill>
            <a:blip r:embed="rId5" cstate="print"/>
            <a:stretch>
              <a:fillRect/>
            </a:stretch>
          </p:blipFill>
          <p:spPr>
            <a:xfrm>
              <a:off x="8317991" y="6031992"/>
              <a:ext cx="609600" cy="609599"/>
            </a:xfrm>
            <a:prstGeom prst="rect">
              <a:avLst/>
            </a:prstGeom>
          </p:spPr>
        </p:pic>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ject 3"/>
          <p:cNvPicPr/>
          <p:nvPr/>
        </p:nvPicPr>
        <p:blipFill>
          <a:blip r:embed="rId2" cstate="print"/>
          <a:stretch>
            <a:fillRect/>
          </a:stretch>
        </p:blipFill>
        <p:spPr>
          <a:xfrm>
            <a:off x="8317992" y="6031991"/>
            <a:ext cx="609600" cy="609599"/>
          </a:xfrm>
          <a:prstGeom prst="rect">
            <a:avLst/>
          </a:prstGeom>
        </p:spPr>
      </p:pic>
      <p:sp>
        <p:nvSpPr>
          <p:cNvPr id="6" name="Title 5">
            <a:extLst>
              <a:ext uri="{FF2B5EF4-FFF2-40B4-BE49-F238E27FC236}">
                <a16:creationId xmlns:a16="http://schemas.microsoft.com/office/drawing/2014/main" id="{7F00EC64-6455-A5F1-3E33-0A251EC9530D}"/>
              </a:ext>
            </a:extLst>
          </p:cNvPr>
          <p:cNvSpPr>
            <a:spLocks noGrp="1"/>
          </p:cNvSpPr>
          <p:nvPr>
            <p:ph type="title"/>
          </p:nvPr>
        </p:nvSpPr>
        <p:spPr>
          <a:xfrm>
            <a:off x="269240" y="1696592"/>
            <a:ext cx="8605519" cy="861774"/>
          </a:xfrm>
        </p:spPr>
        <p:txBody>
          <a:bodyPr/>
          <a:lstStyle/>
          <a:p>
            <a:br>
              <a:rPr lang="en-US" b="0" i="0" dirty="0">
                <a:solidFill>
                  <a:srgbClr val="610B38"/>
                </a:solidFill>
                <a:effectLst/>
                <a:highlight>
                  <a:srgbClr val="FFFFFF"/>
                </a:highlight>
                <a:latin typeface="erdana"/>
              </a:rPr>
            </a:br>
            <a:endParaRPr lang="en-IN" dirty="0"/>
          </a:p>
        </p:txBody>
      </p:sp>
      <p:sp>
        <p:nvSpPr>
          <p:cNvPr id="8" name="TextBox 7">
            <a:extLst>
              <a:ext uri="{FF2B5EF4-FFF2-40B4-BE49-F238E27FC236}">
                <a16:creationId xmlns:a16="http://schemas.microsoft.com/office/drawing/2014/main" id="{49C9CD87-8C01-99DC-AC81-D790B958BB49}"/>
              </a:ext>
            </a:extLst>
          </p:cNvPr>
          <p:cNvSpPr txBox="1"/>
          <p:nvPr/>
        </p:nvSpPr>
        <p:spPr>
          <a:xfrm>
            <a:off x="545591" y="3879680"/>
            <a:ext cx="8077201" cy="830997"/>
          </a:xfrm>
          <a:prstGeom prst="rect">
            <a:avLst/>
          </a:prstGeom>
          <a:noFill/>
        </p:spPr>
        <p:txBody>
          <a:bodyPr wrap="square" rtlCol="0">
            <a:spAutoFit/>
          </a:bodyPr>
          <a:lstStyle/>
          <a:p>
            <a:pPr algn="just"/>
            <a:r>
              <a:rPr lang="en-US" sz="4400" b="1" i="0" dirty="0">
                <a:solidFill>
                  <a:schemeClr val="tx1"/>
                </a:solidFill>
                <a:effectLst/>
                <a:highlight>
                  <a:srgbClr val="C0C0C0"/>
                </a:highlight>
                <a:latin typeface="+mj-lt"/>
              </a:rPr>
              <a:t>J</a:t>
            </a:r>
            <a:r>
              <a:rPr lang="en-IN" sz="4400" b="1" i="0" dirty="0">
                <a:solidFill>
                  <a:schemeClr val="tx1"/>
                </a:solidFill>
                <a:effectLst/>
                <a:highlight>
                  <a:srgbClr val="C0C0C0"/>
                </a:highlight>
                <a:latin typeface="+mj-lt"/>
              </a:rPr>
              <a:t>DBC And</a:t>
            </a:r>
            <a:r>
              <a:rPr lang="en-IN" sz="4400" b="1" dirty="0">
                <a:solidFill>
                  <a:schemeClr val="tx1"/>
                </a:solidFill>
                <a:highlight>
                  <a:srgbClr val="C0C0C0"/>
                </a:highlight>
                <a:latin typeface="+mj-lt"/>
              </a:rPr>
              <a:t> </a:t>
            </a:r>
            <a:r>
              <a:rPr lang="en-US" sz="4800" b="1" i="0" dirty="0">
                <a:solidFill>
                  <a:schemeClr val="tx1"/>
                </a:solidFill>
                <a:effectLst/>
                <a:highlight>
                  <a:srgbClr val="C0C0C0"/>
                </a:highlight>
                <a:latin typeface="+mj-lt"/>
              </a:rPr>
              <a:t>Architecture of JDBC</a:t>
            </a:r>
            <a:endParaRPr lang="en-US" sz="1600" b="1" i="0" dirty="0">
              <a:solidFill>
                <a:schemeClr val="tx1"/>
              </a:solidFill>
              <a:effectLst/>
              <a:highlight>
                <a:srgbClr val="C0C0C0"/>
              </a:highlight>
              <a:latin typeface="+mj-lt"/>
            </a:endParaRPr>
          </a:p>
        </p:txBody>
      </p:sp>
    </p:spTree>
    <p:extLst>
      <p:ext uri="{BB962C8B-B14F-4D97-AF65-F5344CB8AC3E}">
        <p14:creationId xmlns:p14="http://schemas.microsoft.com/office/powerpoint/2010/main" val="2534230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96595" y="1696592"/>
            <a:ext cx="8871205" cy="444352"/>
          </a:xfrm>
          <a:prstGeom prst="rect">
            <a:avLst/>
          </a:prstGeom>
        </p:spPr>
        <p:txBody>
          <a:bodyPr vert="horz" wrap="square" lIns="0" tIns="13335" rIns="0" bIns="0" rtlCol="0">
            <a:spAutoFit/>
          </a:bodyPr>
          <a:lstStyle/>
          <a:p>
            <a:pPr marL="12700">
              <a:lnSpc>
                <a:spcPct val="100000"/>
              </a:lnSpc>
              <a:spcBef>
                <a:spcPts val="105"/>
              </a:spcBef>
            </a:pPr>
            <a:r>
              <a:rPr lang="en-US" b="1" dirty="0">
                <a:latin typeface="Arial MT"/>
                <a:cs typeface="Arial MT"/>
              </a:rPr>
              <a:t>Introduction to JDBC (Java Database Connectivity)</a:t>
            </a:r>
            <a:endParaRPr b="1" dirty="0">
              <a:latin typeface="Arial MT"/>
              <a:cs typeface="Arial MT"/>
            </a:endParaRPr>
          </a:p>
        </p:txBody>
      </p:sp>
      <p:grpSp>
        <p:nvGrpSpPr>
          <p:cNvPr id="3" name="object 3"/>
          <p:cNvGrpSpPr/>
          <p:nvPr/>
        </p:nvGrpSpPr>
        <p:grpSpPr>
          <a:xfrm>
            <a:off x="196595" y="2549664"/>
            <a:ext cx="8767445" cy="2980690"/>
            <a:chOff x="196595" y="2549664"/>
            <a:chExt cx="8767445" cy="2980690"/>
          </a:xfrm>
        </p:grpSpPr>
        <p:pic>
          <p:nvPicPr>
            <p:cNvPr id="4" name="object 4"/>
            <p:cNvPicPr/>
            <p:nvPr/>
          </p:nvPicPr>
          <p:blipFill>
            <a:blip r:embed="rId2" cstate="print"/>
            <a:stretch>
              <a:fillRect/>
            </a:stretch>
          </p:blipFill>
          <p:spPr>
            <a:xfrm>
              <a:off x="196595" y="2549664"/>
              <a:ext cx="700278" cy="511289"/>
            </a:xfrm>
            <a:prstGeom prst="rect">
              <a:avLst/>
            </a:prstGeom>
          </p:spPr>
        </p:pic>
        <p:pic>
          <p:nvPicPr>
            <p:cNvPr id="5" name="object 5"/>
            <p:cNvPicPr/>
            <p:nvPr/>
          </p:nvPicPr>
          <p:blipFill>
            <a:blip r:embed="rId3" cstate="print"/>
            <a:stretch>
              <a:fillRect/>
            </a:stretch>
          </p:blipFill>
          <p:spPr>
            <a:xfrm>
              <a:off x="678179" y="2549664"/>
              <a:ext cx="1497330" cy="511289"/>
            </a:xfrm>
            <a:prstGeom prst="rect">
              <a:avLst/>
            </a:prstGeom>
          </p:spPr>
        </p:pic>
        <p:pic>
          <p:nvPicPr>
            <p:cNvPr id="6" name="object 6"/>
            <p:cNvPicPr/>
            <p:nvPr/>
          </p:nvPicPr>
          <p:blipFill>
            <a:blip r:embed="rId4" cstate="print"/>
            <a:stretch>
              <a:fillRect/>
            </a:stretch>
          </p:blipFill>
          <p:spPr>
            <a:xfrm>
              <a:off x="1956816" y="2549664"/>
              <a:ext cx="470141" cy="511289"/>
            </a:xfrm>
            <a:prstGeom prst="rect">
              <a:avLst/>
            </a:prstGeom>
          </p:spPr>
        </p:pic>
        <p:pic>
          <p:nvPicPr>
            <p:cNvPr id="7" name="object 7"/>
            <p:cNvPicPr/>
            <p:nvPr/>
          </p:nvPicPr>
          <p:blipFill>
            <a:blip r:embed="rId5" cstate="print"/>
            <a:stretch>
              <a:fillRect/>
            </a:stretch>
          </p:blipFill>
          <p:spPr>
            <a:xfrm>
              <a:off x="2208275" y="2549664"/>
              <a:ext cx="622554" cy="511289"/>
            </a:xfrm>
            <a:prstGeom prst="rect">
              <a:avLst/>
            </a:prstGeom>
          </p:spPr>
        </p:pic>
        <p:pic>
          <p:nvPicPr>
            <p:cNvPr id="8" name="object 8"/>
            <p:cNvPicPr/>
            <p:nvPr/>
          </p:nvPicPr>
          <p:blipFill>
            <a:blip r:embed="rId6" cstate="print"/>
            <a:stretch>
              <a:fillRect/>
            </a:stretch>
          </p:blipFill>
          <p:spPr>
            <a:xfrm>
              <a:off x="2612135" y="2549664"/>
              <a:ext cx="622554" cy="511289"/>
            </a:xfrm>
            <a:prstGeom prst="rect">
              <a:avLst/>
            </a:prstGeom>
          </p:spPr>
        </p:pic>
        <p:pic>
          <p:nvPicPr>
            <p:cNvPr id="9" name="object 9"/>
            <p:cNvPicPr/>
            <p:nvPr/>
          </p:nvPicPr>
          <p:blipFill>
            <a:blip r:embed="rId7" cstate="print"/>
            <a:stretch>
              <a:fillRect/>
            </a:stretch>
          </p:blipFill>
          <p:spPr>
            <a:xfrm>
              <a:off x="3015995" y="2549664"/>
              <a:ext cx="1433321" cy="511289"/>
            </a:xfrm>
            <a:prstGeom prst="rect">
              <a:avLst/>
            </a:prstGeom>
          </p:spPr>
        </p:pic>
        <p:pic>
          <p:nvPicPr>
            <p:cNvPr id="10" name="object 10"/>
            <p:cNvPicPr/>
            <p:nvPr/>
          </p:nvPicPr>
          <p:blipFill>
            <a:blip r:embed="rId8" cstate="print"/>
            <a:stretch>
              <a:fillRect/>
            </a:stretch>
          </p:blipFill>
          <p:spPr>
            <a:xfrm>
              <a:off x="4230624" y="2549664"/>
              <a:ext cx="1168146" cy="511289"/>
            </a:xfrm>
            <a:prstGeom prst="rect">
              <a:avLst/>
            </a:prstGeom>
          </p:spPr>
        </p:pic>
        <p:pic>
          <p:nvPicPr>
            <p:cNvPr id="11" name="object 11"/>
            <p:cNvPicPr/>
            <p:nvPr/>
          </p:nvPicPr>
          <p:blipFill>
            <a:blip r:embed="rId9" cstate="print"/>
            <a:stretch>
              <a:fillRect/>
            </a:stretch>
          </p:blipFill>
          <p:spPr>
            <a:xfrm>
              <a:off x="5093207" y="2549664"/>
              <a:ext cx="369557" cy="511289"/>
            </a:xfrm>
            <a:prstGeom prst="rect">
              <a:avLst/>
            </a:prstGeom>
          </p:spPr>
        </p:pic>
        <p:pic>
          <p:nvPicPr>
            <p:cNvPr id="12" name="object 12"/>
            <p:cNvPicPr/>
            <p:nvPr/>
          </p:nvPicPr>
          <p:blipFill>
            <a:blip r:embed="rId10" cstate="print"/>
            <a:stretch>
              <a:fillRect/>
            </a:stretch>
          </p:blipFill>
          <p:spPr>
            <a:xfrm>
              <a:off x="5244084" y="2549664"/>
              <a:ext cx="1041653" cy="511289"/>
            </a:xfrm>
            <a:prstGeom prst="rect">
              <a:avLst/>
            </a:prstGeom>
          </p:spPr>
        </p:pic>
        <p:pic>
          <p:nvPicPr>
            <p:cNvPr id="13" name="object 13"/>
            <p:cNvPicPr/>
            <p:nvPr/>
          </p:nvPicPr>
          <p:blipFill>
            <a:blip r:embed="rId11" cstate="print"/>
            <a:stretch>
              <a:fillRect/>
            </a:stretch>
          </p:blipFill>
          <p:spPr>
            <a:xfrm>
              <a:off x="6067043" y="2549664"/>
              <a:ext cx="419849" cy="511289"/>
            </a:xfrm>
            <a:prstGeom prst="rect">
              <a:avLst/>
            </a:prstGeom>
          </p:spPr>
        </p:pic>
        <p:pic>
          <p:nvPicPr>
            <p:cNvPr id="14" name="object 14"/>
            <p:cNvPicPr/>
            <p:nvPr/>
          </p:nvPicPr>
          <p:blipFill>
            <a:blip r:embed="rId12" cstate="print"/>
            <a:stretch>
              <a:fillRect/>
            </a:stretch>
          </p:blipFill>
          <p:spPr>
            <a:xfrm>
              <a:off x="6268211" y="2549664"/>
              <a:ext cx="468630" cy="511289"/>
            </a:xfrm>
            <a:prstGeom prst="rect">
              <a:avLst/>
            </a:prstGeom>
          </p:spPr>
        </p:pic>
        <p:pic>
          <p:nvPicPr>
            <p:cNvPr id="15" name="object 15"/>
            <p:cNvPicPr/>
            <p:nvPr/>
          </p:nvPicPr>
          <p:blipFill>
            <a:blip r:embed="rId13" cstate="print"/>
            <a:stretch>
              <a:fillRect/>
            </a:stretch>
          </p:blipFill>
          <p:spPr>
            <a:xfrm>
              <a:off x="6518148" y="2549664"/>
              <a:ext cx="432053" cy="511289"/>
            </a:xfrm>
            <a:prstGeom prst="rect">
              <a:avLst/>
            </a:prstGeom>
          </p:spPr>
        </p:pic>
        <p:pic>
          <p:nvPicPr>
            <p:cNvPr id="16" name="object 16"/>
            <p:cNvPicPr/>
            <p:nvPr/>
          </p:nvPicPr>
          <p:blipFill>
            <a:blip r:embed="rId14" cstate="print"/>
            <a:stretch>
              <a:fillRect/>
            </a:stretch>
          </p:blipFill>
          <p:spPr>
            <a:xfrm>
              <a:off x="6731507" y="2549664"/>
              <a:ext cx="1764029" cy="511289"/>
            </a:xfrm>
            <a:prstGeom prst="rect">
              <a:avLst/>
            </a:prstGeom>
          </p:spPr>
        </p:pic>
        <p:pic>
          <p:nvPicPr>
            <p:cNvPr id="17" name="object 17"/>
            <p:cNvPicPr/>
            <p:nvPr/>
          </p:nvPicPr>
          <p:blipFill>
            <a:blip r:embed="rId15" cstate="print"/>
            <a:stretch>
              <a:fillRect/>
            </a:stretch>
          </p:blipFill>
          <p:spPr>
            <a:xfrm>
              <a:off x="8276843" y="2549664"/>
              <a:ext cx="686561" cy="511289"/>
            </a:xfrm>
            <a:prstGeom prst="rect">
              <a:avLst/>
            </a:prstGeom>
          </p:spPr>
        </p:pic>
        <p:pic>
          <p:nvPicPr>
            <p:cNvPr id="18" name="object 18"/>
            <p:cNvPicPr/>
            <p:nvPr/>
          </p:nvPicPr>
          <p:blipFill>
            <a:blip r:embed="rId16" cstate="print"/>
            <a:stretch>
              <a:fillRect/>
            </a:stretch>
          </p:blipFill>
          <p:spPr>
            <a:xfrm>
              <a:off x="196595" y="2961144"/>
              <a:ext cx="1102614" cy="511289"/>
            </a:xfrm>
            <a:prstGeom prst="rect">
              <a:avLst/>
            </a:prstGeom>
          </p:spPr>
        </p:pic>
        <p:pic>
          <p:nvPicPr>
            <p:cNvPr id="19" name="object 19"/>
            <p:cNvPicPr/>
            <p:nvPr/>
          </p:nvPicPr>
          <p:blipFill>
            <a:blip r:embed="rId13" cstate="print"/>
            <a:stretch>
              <a:fillRect/>
            </a:stretch>
          </p:blipFill>
          <p:spPr>
            <a:xfrm>
              <a:off x="1060704" y="2961144"/>
              <a:ext cx="432053" cy="511289"/>
            </a:xfrm>
            <a:prstGeom prst="rect">
              <a:avLst/>
            </a:prstGeom>
          </p:spPr>
        </p:pic>
        <p:pic>
          <p:nvPicPr>
            <p:cNvPr id="20" name="object 20"/>
            <p:cNvPicPr/>
            <p:nvPr/>
          </p:nvPicPr>
          <p:blipFill>
            <a:blip r:embed="rId17" cstate="print"/>
            <a:stretch>
              <a:fillRect/>
            </a:stretch>
          </p:blipFill>
          <p:spPr>
            <a:xfrm>
              <a:off x="1251204" y="2961144"/>
              <a:ext cx="1163573" cy="511289"/>
            </a:xfrm>
            <a:prstGeom prst="rect">
              <a:avLst/>
            </a:prstGeom>
          </p:spPr>
        </p:pic>
        <p:pic>
          <p:nvPicPr>
            <p:cNvPr id="21" name="object 21"/>
            <p:cNvPicPr/>
            <p:nvPr/>
          </p:nvPicPr>
          <p:blipFill>
            <a:blip r:embed="rId18" cstate="print"/>
            <a:stretch>
              <a:fillRect/>
            </a:stretch>
          </p:blipFill>
          <p:spPr>
            <a:xfrm>
              <a:off x="2177795" y="2961144"/>
              <a:ext cx="1191006" cy="511289"/>
            </a:xfrm>
            <a:prstGeom prst="rect">
              <a:avLst/>
            </a:prstGeom>
          </p:spPr>
        </p:pic>
        <p:pic>
          <p:nvPicPr>
            <p:cNvPr id="22" name="object 22"/>
            <p:cNvPicPr/>
            <p:nvPr/>
          </p:nvPicPr>
          <p:blipFill>
            <a:blip r:embed="rId19" cstate="print"/>
            <a:stretch>
              <a:fillRect/>
            </a:stretch>
          </p:blipFill>
          <p:spPr>
            <a:xfrm>
              <a:off x="3130295" y="2961144"/>
              <a:ext cx="496061" cy="511289"/>
            </a:xfrm>
            <a:prstGeom prst="rect">
              <a:avLst/>
            </a:prstGeom>
          </p:spPr>
        </p:pic>
        <p:pic>
          <p:nvPicPr>
            <p:cNvPr id="23" name="object 23"/>
            <p:cNvPicPr/>
            <p:nvPr/>
          </p:nvPicPr>
          <p:blipFill>
            <a:blip r:embed="rId20" cstate="print"/>
            <a:stretch>
              <a:fillRect/>
            </a:stretch>
          </p:blipFill>
          <p:spPr>
            <a:xfrm>
              <a:off x="3320795" y="2961144"/>
              <a:ext cx="369557" cy="511289"/>
            </a:xfrm>
            <a:prstGeom prst="rect">
              <a:avLst/>
            </a:prstGeom>
          </p:spPr>
        </p:pic>
        <p:pic>
          <p:nvPicPr>
            <p:cNvPr id="24" name="object 24"/>
            <p:cNvPicPr/>
            <p:nvPr/>
          </p:nvPicPr>
          <p:blipFill>
            <a:blip r:embed="rId21" cstate="print"/>
            <a:stretch>
              <a:fillRect/>
            </a:stretch>
          </p:blipFill>
          <p:spPr>
            <a:xfrm>
              <a:off x="196595" y="3509784"/>
              <a:ext cx="381762" cy="511289"/>
            </a:xfrm>
            <a:prstGeom prst="rect">
              <a:avLst/>
            </a:prstGeom>
          </p:spPr>
        </p:pic>
        <p:pic>
          <p:nvPicPr>
            <p:cNvPr id="25" name="object 25"/>
            <p:cNvPicPr/>
            <p:nvPr/>
          </p:nvPicPr>
          <p:blipFill>
            <a:blip r:embed="rId22" cstate="print"/>
            <a:stretch>
              <a:fillRect/>
            </a:stretch>
          </p:blipFill>
          <p:spPr>
            <a:xfrm>
              <a:off x="272795" y="3509784"/>
              <a:ext cx="432053" cy="511289"/>
            </a:xfrm>
            <a:prstGeom prst="rect">
              <a:avLst/>
            </a:prstGeom>
          </p:spPr>
        </p:pic>
        <p:pic>
          <p:nvPicPr>
            <p:cNvPr id="26" name="object 26"/>
            <p:cNvPicPr/>
            <p:nvPr/>
          </p:nvPicPr>
          <p:blipFill>
            <a:blip r:embed="rId23" cstate="print"/>
            <a:stretch>
              <a:fillRect/>
            </a:stretch>
          </p:blipFill>
          <p:spPr>
            <a:xfrm>
              <a:off x="399287" y="3509784"/>
              <a:ext cx="381762" cy="511289"/>
            </a:xfrm>
            <a:prstGeom prst="rect">
              <a:avLst/>
            </a:prstGeom>
          </p:spPr>
        </p:pic>
        <p:pic>
          <p:nvPicPr>
            <p:cNvPr id="27" name="object 27"/>
            <p:cNvPicPr/>
            <p:nvPr/>
          </p:nvPicPr>
          <p:blipFill>
            <a:blip r:embed="rId24" cstate="print"/>
            <a:stretch>
              <a:fillRect/>
            </a:stretch>
          </p:blipFill>
          <p:spPr>
            <a:xfrm>
              <a:off x="4535424" y="3509784"/>
              <a:ext cx="482346" cy="511289"/>
            </a:xfrm>
            <a:prstGeom prst="rect">
              <a:avLst/>
            </a:prstGeom>
          </p:spPr>
        </p:pic>
        <p:pic>
          <p:nvPicPr>
            <p:cNvPr id="28" name="object 28"/>
            <p:cNvPicPr/>
            <p:nvPr/>
          </p:nvPicPr>
          <p:blipFill>
            <a:blip r:embed="rId25" cstate="print"/>
            <a:stretch>
              <a:fillRect/>
            </a:stretch>
          </p:blipFill>
          <p:spPr>
            <a:xfrm>
              <a:off x="4777740" y="3509784"/>
              <a:ext cx="1116330" cy="511289"/>
            </a:xfrm>
            <a:prstGeom prst="rect">
              <a:avLst/>
            </a:prstGeom>
          </p:spPr>
        </p:pic>
        <p:pic>
          <p:nvPicPr>
            <p:cNvPr id="29" name="object 29"/>
            <p:cNvPicPr/>
            <p:nvPr/>
          </p:nvPicPr>
          <p:blipFill>
            <a:blip r:embed="rId26" cstate="print"/>
            <a:stretch>
              <a:fillRect/>
            </a:stretch>
          </p:blipFill>
          <p:spPr>
            <a:xfrm>
              <a:off x="5654040" y="3509784"/>
              <a:ext cx="534149" cy="511289"/>
            </a:xfrm>
            <a:prstGeom prst="rect">
              <a:avLst/>
            </a:prstGeom>
          </p:spPr>
        </p:pic>
        <p:pic>
          <p:nvPicPr>
            <p:cNvPr id="30" name="object 30"/>
            <p:cNvPicPr/>
            <p:nvPr/>
          </p:nvPicPr>
          <p:blipFill>
            <a:blip r:embed="rId27" cstate="print"/>
            <a:stretch>
              <a:fillRect/>
            </a:stretch>
          </p:blipFill>
          <p:spPr>
            <a:xfrm>
              <a:off x="5945124" y="3509784"/>
              <a:ext cx="927353" cy="511289"/>
            </a:xfrm>
            <a:prstGeom prst="rect">
              <a:avLst/>
            </a:prstGeom>
          </p:spPr>
        </p:pic>
        <p:pic>
          <p:nvPicPr>
            <p:cNvPr id="31" name="object 31"/>
            <p:cNvPicPr/>
            <p:nvPr/>
          </p:nvPicPr>
          <p:blipFill>
            <a:blip r:embed="rId28" cstate="print"/>
            <a:stretch>
              <a:fillRect/>
            </a:stretch>
          </p:blipFill>
          <p:spPr>
            <a:xfrm>
              <a:off x="6630924" y="3509784"/>
              <a:ext cx="1700022" cy="511289"/>
            </a:xfrm>
            <a:prstGeom prst="rect">
              <a:avLst/>
            </a:prstGeom>
          </p:spPr>
        </p:pic>
        <p:pic>
          <p:nvPicPr>
            <p:cNvPr id="32" name="object 32"/>
            <p:cNvPicPr/>
            <p:nvPr/>
          </p:nvPicPr>
          <p:blipFill>
            <a:blip r:embed="rId21" cstate="print"/>
            <a:stretch>
              <a:fillRect/>
            </a:stretch>
          </p:blipFill>
          <p:spPr>
            <a:xfrm>
              <a:off x="196595" y="4058424"/>
              <a:ext cx="381762" cy="511289"/>
            </a:xfrm>
            <a:prstGeom prst="rect">
              <a:avLst/>
            </a:prstGeom>
          </p:spPr>
        </p:pic>
        <p:pic>
          <p:nvPicPr>
            <p:cNvPr id="33" name="object 33"/>
            <p:cNvPicPr/>
            <p:nvPr/>
          </p:nvPicPr>
          <p:blipFill>
            <a:blip r:embed="rId29" cstate="print"/>
            <a:stretch>
              <a:fillRect/>
            </a:stretch>
          </p:blipFill>
          <p:spPr>
            <a:xfrm>
              <a:off x="272795" y="4058424"/>
              <a:ext cx="432053" cy="511289"/>
            </a:xfrm>
            <a:prstGeom prst="rect">
              <a:avLst/>
            </a:prstGeom>
          </p:spPr>
        </p:pic>
        <p:pic>
          <p:nvPicPr>
            <p:cNvPr id="34" name="object 34"/>
            <p:cNvPicPr/>
            <p:nvPr/>
          </p:nvPicPr>
          <p:blipFill>
            <a:blip r:embed="rId23" cstate="print"/>
            <a:stretch>
              <a:fillRect/>
            </a:stretch>
          </p:blipFill>
          <p:spPr>
            <a:xfrm>
              <a:off x="399287" y="4058424"/>
              <a:ext cx="381762" cy="511289"/>
            </a:xfrm>
            <a:prstGeom prst="rect">
              <a:avLst/>
            </a:prstGeom>
          </p:spPr>
        </p:pic>
        <p:pic>
          <p:nvPicPr>
            <p:cNvPr id="35" name="object 35"/>
            <p:cNvPicPr/>
            <p:nvPr/>
          </p:nvPicPr>
          <p:blipFill>
            <a:blip r:embed="rId30" cstate="print"/>
            <a:stretch>
              <a:fillRect/>
            </a:stretch>
          </p:blipFill>
          <p:spPr>
            <a:xfrm>
              <a:off x="4131563" y="4058424"/>
              <a:ext cx="496062" cy="511289"/>
            </a:xfrm>
            <a:prstGeom prst="rect">
              <a:avLst/>
            </a:prstGeom>
          </p:spPr>
        </p:pic>
        <p:pic>
          <p:nvPicPr>
            <p:cNvPr id="36" name="object 36"/>
            <p:cNvPicPr/>
            <p:nvPr/>
          </p:nvPicPr>
          <p:blipFill>
            <a:blip r:embed="rId13" cstate="print"/>
            <a:stretch>
              <a:fillRect/>
            </a:stretch>
          </p:blipFill>
          <p:spPr>
            <a:xfrm>
              <a:off x="4418075" y="4058424"/>
              <a:ext cx="432053" cy="511289"/>
            </a:xfrm>
            <a:prstGeom prst="rect">
              <a:avLst/>
            </a:prstGeom>
          </p:spPr>
        </p:pic>
        <p:pic>
          <p:nvPicPr>
            <p:cNvPr id="37" name="object 37"/>
            <p:cNvPicPr/>
            <p:nvPr/>
          </p:nvPicPr>
          <p:blipFill>
            <a:blip r:embed="rId31" cstate="print"/>
            <a:stretch>
              <a:fillRect/>
            </a:stretch>
          </p:blipFill>
          <p:spPr>
            <a:xfrm>
              <a:off x="4640580" y="4058424"/>
              <a:ext cx="861822" cy="511289"/>
            </a:xfrm>
            <a:prstGeom prst="rect">
              <a:avLst/>
            </a:prstGeom>
          </p:spPr>
        </p:pic>
        <p:pic>
          <p:nvPicPr>
            <p:cNvPr id="38" name="object 38"/>
            <p:cNvPicPr/>
            <p:nvPr/>
          </p:nvPicPr>
          <p:blipFill>
            <a:blip r:embed="rId32" cstate="print"/>
            <a:stretch>
              <a:fillRect/>
            </a:stretch>
          </p:blipFill>
          <p:spPr>
            <a:xfrm>
              <a:off x="5294375" y="4058424"/>
              <a:ext cx="848105" cy="511289"/>
            </a:xfrm>
            <a:prstGeom prst="rect">
              <a:avLst/>
            </a:prstGeom>
          </p:spPr>
        </p:pic>
        <p:pic>
          <p:nvPicPr>
            <p:cNvPr id="39" name="object 39"/>
            <p:cNvPicPr/>
            <p:nvPr/>
          </p:nvPicPr>
          <p:blipFill>
            <a:blip r:embed="rId33" cstate="print"/>
            <a:stretch>
              <a:fillRect/>
            </a:stretch>
          </p:blipFill>
          <p:spPr>
            <a:xfrm>
              <a:off x="5932931" y="4058424"/>
              <a:ext cx="1041654" cy="511289"/>
            </a:xfrm>
            <a:prstGeom prst="rect">
              <a:avLst/>
            </a:prstGeom>
          </p:spPr>
        </p:pic>
        <p:pic>
          <p:nvPicPr>
            <p:cNvPr id="40" name="object 40"/>
            <p:cNvPicPr/>
            <p:nvPr/>
          </p:nvPicPr>
          <p:blipFill>
            <a:blip r:embed="rId34" cstate="print"/>
            <a:stretch>
              <a:fillRect/>
            </a:stretch>
          </p:blipFill>
          <p:spPr>
            <a:xfrm>
              <a:off x="6765036" y="4058424"/>
              <a:ext cx="977646" cy="511289"/>
            </a:xfrm>
            <a:prstGeom prst="rect">
              <a:avLst/>
            </a:prstGeom>
          </p:spPr>
        </p:pic>
        <p:pic>
          <p:nvPicPr>
            <p:cNvPr id="41" name="object 41"/>
            <p:cNvPicPr/>
            <p:nvPr/>
          </p:nvPicPr>
          <p:blipFill>
            <a:blip r:embed="rId35" cstate="print"/>
            <a:stretch>
              <a:fillRect/>
            </a:stretch>
          </p:blipFill>
          <p:spPr>
            <a:xfrm>
              <a:off x="7533131" y="4058424"/>
              <a:ext cx="1168146" cy="511289"/>
            </a:xfrm>
            <a:prstGeom prst="rect">
              <a:avLst/>
            </a:prstGeom>
          </p:spPr>
        </p:pic>
        <p:pic>
          <p:nvPicPr>
            <p:cNvPr id="42" name="object 42"/>
            <p:cNvPicPr/>
            <p:nvPr/>
          </p:nvPicPr>
          <p:blipFill>
            <a:blip r:embed="rId36" cstate="print"/>
            <a:stretch>
              <a:fillRect/>
            </a:stretch>
          </p:blipFill>
          <p:spPr>
            <a:xfrm>
              <a:off x="8491727" y="4058424"/>
              <a:ext cx="471690" cy="511289"/>
            </a:xfrm>
            <a:prstGeom prst="rect">
              <a:avLst/>
            </a:prstGeom>
          </p:spPr>
        </p:pic>
        <p:pic>
          <p:nvPicPr>
            <p:cNvPr id="43" name="object 43"/>
            <p:cNvPicPr/>
            <p:nvPr/>
          </p:nvPicPr>
          <p:blipFill>
            <a:blip r:embed="rId37" cstate="print"/>
            <a:stretch>
              <a:fillRect/>
            </a:stretch>
          </p:blipFill>
          <p:spPr>
            <a:xfrm>
              <a:off x="196595" y="4469904"/>
              <a:ext cx="634745" cy="511289"/>
            </a:xfrm>
            <a:prstGeom prst="rect">
              <a:avLst/>
            </a:prstGeom>
          </p:spPr>
        </p:pic>
        <p:pic>
          <p:nvPicPr>
            <p:cNvPr id="44" name="object 44"/>
            <p:cNvPicPr/>
            <p:nvPr/>
          </p:nvPicPr>
          <p:blipFill>
            <a:blip r:embed="rId38" cstate="print"/>
            <a:stretch>
              <a:fillRect/>
            </a:stretch>
          </p:blipFill>
          <p:spPr>
            <a:xfrm>
              <a:off x="589787" y="4469904"/>
              <a:ext cx="1201674" cy="511289"/>
            </a:xfrm>
            <a:prstGeom prst="rect">
              <a:avLst/>
            </a:prstGeom>
          </p:spPr>
        </p:pic>
        <p:pic>
          <p:nvPicPr>
            <p:cNvPr id="45" name="object 45"/>
            <p:cNvPicPr/>
            <p:nvPr/>
          </p:nvPicPr>
          <p:blipFill>
            <a:blip r:embed="rId39" cstate="print"/>
            <a:stretch>
              <a:fillRect/>
            </a:stretch>
          </p:blipFill>
          <p:spPr>
            <a:xfrm>
              <a:off x="1556004" y="4469904"/>
              <a:ext cx="831341" cy="511289"/>
            </a:xfrm>
            <a:prstGeom prst="rect">
              <a:avLst/>
            </a:prstGeom>
          </p:spPr>
        </p:pic>
        <p:pic>
          <p:nvPicPr>
            <p:cNvPr id="46" name="object 46"/>
            <p:cNvPicPr/>
            <p:nvPr/>
          </p:nvPicPr>
          <p:blipFill>
            <a:blip r:embed="rId40" cstate="print"/>
            <a:stretch>
              <a:fillRect/>
            </a:stretch>
          </p:blipFill>
          <p:spPr>
            <a:xfrm>
              <a:off x="2148840" y="4469904"/>
              <a:ext cx="685038" cy="511289"/>
            </a:xfrm>
            <a:prstGeom prst="rect">
              <a:avLst/>
            </a:prstGeom>
          </p:spPr>
        </p:pic>
        <p:pic>
          <p:nvPicPr>
            <p:cNvPr id="47" name="object 47"/>
            <p:cNvPicPr/>
            <p:nvPr/>
          </p:nvPicPr>
          <p:blipFill>
            <a:blip r:embed="rId21" cstate="print"/>
            <a:stretch>
              <a:fillRect/>
            </a:stretch>
          </p:blipFill>
          <p:spPr>
            <a:xfrm>
              <a:off x="196595" y="5018544"/>
              <a:ext cx="381762" cy="511289"/>
            </a:xfrm>
            <a:prstGeom prst="rect">
              <a:avLst/>
            </a:prstGeom>
          </p:spPr>
        </p:pic>
        <p:pic>
          <p:nvPicPr>
            <p:cNvPr id="48" name="object 48"/>
            <p:cNvPicPr/>
            <p:nvPr/>
          </p:nvPicPr>
          <p:blipFill>
            <a:blip r:embed="rId41" cstate="print"/>
            <a:stretch>
              <a:fillRect/>
            </a:stretch>
          </p:blipFill>
          <p:spPr>
            <a:xfrm>
              <a:off x="272795" y="5018544"/>
              <a:ext cx="432053" cy="511289"/>
            </a:xfrm>
            <a:prstGeom prst="rect">
              <a:avLst/>
            </a:prstGeom>
          </p:spPr>
        </p:pic>
        <p:pic>
          <p:nvPicPr>
            <p:cNvPr id="49" name="object 49"/>
            <p:cNvPicPr/>
            <p:nvPr/>
          </p:nvPicPr>
          <p:blipFill>
            <a:blip r:embed="rId23" cstate="print"/>
            <a:stretch>
              <a:fillRect/>
            </a:stretch>
          </p:blipFill>
          <p:spPr>
            <a:xfrm>
              <a:off x="399287" y="5018544"/>
              <a:ext cx="381762" cy="511289"/>
            </a:xfrm>
            <a:prstGeom prst="rect">
              <a:avLst/>
            </a:prstGeom>
          </p:spPr>
        </p:pic>
        <p:pic>
          <p:nvPicPr>
            <p:cNvPr id="50" name="object 50"/>
            <p:cNvPicPr/>
            <p:nvPr/>
          </p:nvPicPr>
          <p:blipFill>
            <a:blip r:embed="rId42" cstate="print"/>
            <a:stretch>
              <a:fillRect/>
            </a:stretch>
          </p:blipFill>
          <p:spPr>
            <a:xfrm>
              <a:off x="2215895" y="5018544"/>
              <a:ext cx="1395221" cy="511289"/>
            </a:xfrm>
            <a:prstGeom prst="rect">
              <a:avLst/>
            </a:prstGeom>
          </p:spPr>
        </p:pic>
        <p:pic>
          <p:nvPicPr>
            <p:cNvPr id="51" name="object 51"/>
            <p:cNvPicPr/>
            <p:nvPr/>
          </p:nvPicPr>
          <p:blipFill>
            <a:blip r:embed="rId43" cstate="print"/>
            <a:stretch>
              <a:fillRect/>
            </a:stretch>
          </p:blipFill>
          <p:spPr>
            <a:xfrm>
              <a:off x="3371088" y="5018544"/>
              <a:ext cx="706374" cy="511289"/>
            </a:xfrm>
            <a:prstGeom prst="rect">
              <a:avLst/>
            </a:prstGeom>
          </p:spPr>
        </p:pic>
        <p:pic>
          <p:nvPicPr>
            <p:cNvPr id="52" name="object 52"/>
            <p:cNvPicPr/>
            <p:nvPr/>
          </p:nvPicPr>
          <p:blipFill>
            <a:blip r:embed="rId6" cstate="print"/>
            <a:stretch>
              <a:fillRect/>
            </a:stretch>
          </p:blipFill>
          <p:spPr>
            <a:xfrm>
              <a:off x="3842004" y="5018544"/>
              <a:ext cx="622553" cy="511289"/>
            </a:xfrm>
            <a:prstGeom prst="rect">
              <a:avLst/>
            </a:prstGeom>
          </p:spPr>
        </p:pic>
        <p:pic>
          <p:nvPicPr>
            <p:cNvPr id="53" name="object 53"/>
            <p:cNvPicPr/>
            <p:nvPr/>
          </p:nvPicPr>
          <p:blipFill>
            <a:blip r:embed="rId44" cstate="print"/>
            <a:stretch>
              <a:fillRect/>
            </a:stretch>
          </p:blipFill>
          <p:spPr>
            <a:xfrm>
              <a:off x="4223004" y="5018544"/>
              <a:ext cx="1535429" cy="511289"/>
            </a:xfrm>
            <a:prstGeom prst="rect">
              <a:avLst/>
            </a:prstGeom>
          </p:spPr>
        </p:pic>
        <p:pic>
          <p:nvPicPr>
            <p:cNvPr id="54" name="object 54"/>
            <p:cNvPicPr/>
            <p:nvPr/>
          </p:nvPicPr>
          <p:blipFill>
            <a:blip r:embed="rId45" cstate="print"/>
            <a:stretch>
              <a:fillRect/>
            </a:stretch>
          </p:blipFill>
          <p:spPr>
            <a:xfrm>
              <a:off x="5518404" y="5018544"/>
              <a:ext cx="496062" cy="511289"/>
            </a:xfrm>
            <a:prstGeom prst="rect">
              <a:avLst/>
            </a:prstGeom>
          </p:spPr>
        </p:pic>
        <p:pic>
          <p:nvPicPr>
            <p:cNvPr id="55" name="object 55"/>
            <p:cNvPicPr/>
            <p:nvPr/>
          </p:nvPicPr>
          <p:blipFill>
            <a:blip r:embed="rId6" cstate="print"/>
            <a:stretch>
              <a:fillRect/>
            </a:stretch>
          </p:blipFill>
          <p:spPr>
            <a:xfrm>
              <a:off x="5771387" y="5018544"/>
              <a:ext cx="622553" cy="511289"/>
            </a:xfrm>
            <a:prstGeom prst="rect">
              <a:avLst/>
            </a:prstGeom>
          </p:spPr>
        </p:pic>
        <p:pic>
          <p:nvPicPr>
            <p:cNvPr id="56" name="object 56"/>
            <p:cNvPicPr/>
            <p:nvPr/>
          </p:nvPicPr>
          <p:blipFill>
            <a:blip r:embed="rId17" cstate="print"/>
            <a:stretch>
              <a:fillRect/>
            </a:stretch>
          </p:blipFill>
          <p:spPr>
            <a:xfrm>
              <a:off x="6152387" y="5018544"/>
              <a:ext cx="1163573" cy="511289"/>
            </a:xfrm>
            <a:prstGeom prst="rect">
              <a:avLst/>
            </a:prstGeom>
          </p:spPr>
        </p:pic>
        <p:pic>
          <p:nvPicPr>
            <p:cNvPr id="57" name="object 57"/>
            <p:cNvPicPr/>
            <p:nvPr/>
          </p:nvPicPr>
          <p:blipFill>
            <a:blip r:embed="rId9" cstate="print"/>
            <a:stretch>
              <a:fillRect/>
            </a:stretch>
          </p:blipFill>
          <p:spPr>
            <a:xfrm>
              <a:off x="7010400" y="5018544"/>
              <a:ext cx="369557" cy="511289"/>
            </a:xfrm>
            <a:prstGeom prst="rect">
              <a:avLst/>
            </a:prstGeom>
          </p:spPr>
        </p:pic>
      </p:grpSp>
      <p:sp>
        <p:nvSpPr>
          <p:cNvPr id="58" name="object 58"/>
          <p:cNvSpPr txBox="1"/>
          <p:nvPr/>
        </p:nvSpPr>
        <p:spPr>
          <a:xfrm>
            <a:off x="272795" y="2291502"/>
            <a:ext cx="8487410" cy="2436564"/>
          </a:xfrm>
          <a:prstGeom prst="rect">
            <a:avLst/>
          </a:prstGeom>
        </p:spPr>
        <p:txBody>
          <a:bodyPr vert="horz" wrap="square" lIns="0" tIns="12700" rIns="0" bIns="0" rtlCol="0">
            <a:spAutoFit/>
          </a:bodyPr>
          <a:lstStyle/>
          <a:p>
            <a:pPr marL="298450" marR="5080" indent="-285750">
              <a:spcBef>
                <a:spcPts val="100"/>
              </a:spcBef>
              <a:spcAft>
                <a:spcPts val="600"/>
              </a:spcAft>
              <a:buFont typeface="Arial" panose="020B0604020202020204" pitchFamily="34" charset="0"/>
              <a:buChar char="•"/>
            </a:pPr>
            <a:r>
              <a:rPr lang="en-IN" sz="2000" dirty="0">
                <a:latin typeface="Calibri" panose="020F0502020204030204" pitchFamily="34" charset="0"/>
                <a:ea typeface="Calibri" panose="020F0502020204030204" pitchFamily="34" charset="0"/>
                <a:cs typeface="Calibri" panose="020F0502020204030204" pitchFamily="34" charset="0"/>
              </a:rPr>
              <a:t>JDBC is a Java API to connect and execute the query with the database.</a:t>
            </a:r>
          </a:p>
          <a:p>
            <a:pPr marL="298450" marR="5080" indent="-285750">
              <a:spcBef>
                <a:spcPts val="100"/>
              </a:spcBef>
              <a:spcAft>
                <a:spcPts val="600"/>
              </a:spcAft>
              <a:buFont typeface="Arial" panose="020B0604020202020204" pitchFamily="34" charset="0"/>
              <a:buChar char="•"/>
            </a:pPr>
            <a:r>
              <a:rPr lang="en-IN" sz="2000" dirty="0">
                <a:latin typeface="Calibri" panose="020F0502020204030204" pitchFamily="34" charset="0"/>
                <a:ea typeface="Calibri" panose="020F0502020204030204" pitchFamily="34" charset="0"/>
                <a:cs typeface="Calibri" panose="020F0502020204030204" pitchFamily="34" charset="0"/>
              </a:rPr>
              <a:t>It is a specification from Sun Microsystems that provides an abstraction (API or Protocol) for Java applications to communicate with various databases such as Oracle, MS Access, </a:t>
            </a:r>
            <a:r>
              <a:rPr lang="en-IN" sz="2000" dirty="0" err="1">
                <a:latin typeface="Calibri" panose="020F0502020204030204" pitchFamily="34" charset="0"/>
                <a:ea typeface="Calibri" panose="020F0502020204030204" pitchFamily="34" charset="0"/>
                <a:cs typeface="Calibri" panose="020F0502020204030204" pitchFamily="34" charset="0"/>
              </a:rPr>
              <a:t>Mysql</a:t>
            </a:r>
            <a:r>
              <a:rPr lang="en-IN" sz="2000" dirty="0">
                <a:latin typeface="Calibri" panose="020F0502020204030204" pitchFamily="34" charset="0"/>
                <a:ea typeface="Calibri" panose="020F0502020204030204" pitchFamily="34" charset="0"/>
                <a:cs typeface="Calibri" panose="020F0502020204030204" pitchFamily="34" charset="0"/>
              </a:rPr>
              <a:t>, SQL server database, and many more.</a:t>
            </a:r>
          </a:p>
          <a:p>
            <a:pPr marL="298450" marR="5080" indent="-285750">
              <a:spcBef>
                <a:spcPts val="100"/>
              </a:spcBef>
              <a:spcAft>
                <a:spcPts val="600"/>
              </a:spcAft>
              <a:buFont typeface="Arial" panose="020B0604020202020204" pitchFamily="34" charset="0"/>
              <a:buChar char="•"/>
            </a:pPr>
            <a:r>
              <a:rPr lang="en-IN" sz="2000" dirty="0">
                <a:latin typeface="Calibri" panose="020F0502020204030204" pitchFamily="34" charset="0"/>
                <a:ea typeface="Calibri" panose="020F0502020204030204" pitchFamily="34" charset="0"/>
                <a:cs typeface="Calibri" panose="020F0502020204030204" pitchFamily="34" charset="0"/>
              </a:rPr>
              <a:t>It provides the language with Java database connectivity standards.</a:t>
            </a:r>
          </a:p>
          <a:p>
            <a:pPr marL="298450" marR="5080" indent="-285750">
              <a:spcBef>
                <a:spcPts val="100"/>
              </a:spcBef>
              <a:spcAft>
                <a:spcPts val="600"/>
              </a:spcAft>
              <a:buFont typeface="Arial" panose="020B0604020202020204" pitchFamily="34" charset="0"/>
              <a:buChar char="•"/>
            </a:pPr>
            <a:r>
              <a:rPr lang="en-IN" sz="2000" dirty="0">
                <a:latin typeface="Calibri" panose="020F0502020204030204" pitchFamily="34" charset="0"/>
                <a:ea typeface="Calibri" panose="020F0502020204030204" pitchFamily="34" charset="0"/>
                <a:cs typeface="Calibri" panose="020F0502020204030204" pitchFamily="34" charset="0"/>
              </a:rPr>
              <a:t>JDBC and database drivers work in tandem to access spreadsheets and databases.</a:t>
            </a:r>
            <a:endParaRPr sz="2000" dirty="0">
              <a:latin typeface="Calibri" panose="020F0502020204030204" pitchFamily="34" charset="0"/>
              <a:ea typeface="Calibri" panose="020F0502020204030204" pitchFamily="34" charset="0"/>
              <a:cs typeface="Calibri" panose="020F0502020204030204" pitchFamily="34" charset="0"/>
            </a:endParaRPr>
          </a:p>
        </p:txBody>
      </p:sp>
      <p:pic>
        <p:nvPicPr>
          <p:cNvPr id="59" name="object 59"/>
          <p:cNvPicPr/>
          <p:nvPr/>
        </p:nvPicPr>
        <p:blipFill>
          <a:blip r:embed="rId46" cstate="print"/>
          <a:stretch>
            <a:fillRect/>
          </a:stretch>
        </p:blipFill>
        <p:spPr>
          <a:xfrm>
            <a:off x="8317992" y="6031991"/>
            <a:ext cx="609600" cy="609599"/>
          </a:xfrm>
          <a:prstGeom prst="rect">
            <a:avLst/>
          </a:prstGeom>
        </p:spPr>
      </p:pic>
      <p:pic>
        <p:nvPicPr>
          <p:cNvPr id="61" name="Picture 60">
            <a:extLst>
              <a:ext uri="{FF2B5EF4-FFF2-40B4-BE49-F238E27FC236}">
                <a16:creationId xmlns:a16="http://schemas.microsoft.com/office/drawing/2014/main" id="{F43A3B56-03F1-A2AB-B7E9-B70CF056F30E}"/>
              </a:ext>
            </a:extLst>
          </p:cNvPr>
          <p:cNvPicPr>
            <a:picLocks noChangeAspect="1"/>
          </p:cNvPicPr>
          <p:nvPr/>
        </p:nvPicPr>
        <p:blipFill>
          <a:blip r:embed="rId47">
            <a:extLst>
              <a:ext uri="{28A0092B-C50C-407E-A947-70E740481C1C}">
                <a14:useLocalDpi xmlns:a14="http://schemas.microsoft.com/office/drawing/2010/main" val="0"/>
              </a:ext>
            </a:extLst>
          </a:blip>
          <a:stretch>
            <a:fillRect/>
          </a:stretch>
        </p:blipFill>
        <p:spPr>
          <a:xfrm>
            <a:off x="1791461" y="4419600"/>
            <a:ext cx="6264390" cy="2001392"/>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0" y="1675428"/>
            <a:ext cx="7731760" cy="504625"/>
          </a:xfrm>
          <a:prstGeom prst="rect">
            <a:avLst/>
          </a:prstGeom>
        </p:spPr>
        <p:txBody>
          <a:bodyPr vert="horz" wrap="square" lIns="0" tIns="12065" rIns="0" bIns="0" rtlCol="0">
            <a:spAutoFit/>
          </a:bodyPr>
          <a:lstStyle/>
          <a:p>
            <a:pPr marL="2679065">
              <a:spcBef>
                <a:spcPts val="95"/>
              </a:spcBef>
            </a:pPr>
            <a:r>
              <a:rPr lang="en-US" sz="3200" b="1" i="0" dirty="0">
                <a:effectLst/>
                <a:latin typeface="erdana"/>
              </a:rPr>
              <a:t>Why Should We Use JDBC</a:t>
            </a:r>
            <a:endParaRPr lang="en-IN" sz="3600" b="1" spc="-10" dirty="0">
              <a:latin typeface="Arial MT"/>
              <a:cs typeface="Arial MT"/>
            </a:endParaRPr>
          </a:p>
        </p:txBody>
      </p:sp>
      <p:sp>
        <p:nvSpPr>
          <p:cNvPr id="3" name="object 3"/>
          <p:cNvSpPr txBox="1"/>
          <p:nvPr/>
        </p:nvSpPr>
        <p:spPr>
          <a:xfrm>
            <a:off x="489915" y="2400427"/>
            <a:ext cx="8056245" cy="3411190"/>
          </a:xfrm>
          <a:prstGeom prst="rect">
            <a:avLst/>
          </a:prstGeom>
        </p:spPr>
        <p:txBody>
          <a:bodyPr vert="horz" wrap="square" lIns="0" tIns="12700" rIns="0" bIns="0" rtlCol="0">
            <a:spAutoFit/>
          </a:bodyPr>
          <a:lstStyle/>
          <a:p>
            <a:pPr algn="just"/>
            <a:r>
              <a:rPr lang="en-US" sz="2000" b="0" i="0" dirty="0">
                <a:solidFill>
                  <a:schemeClr val="tx1"/>
                </a:solidFill>
                <a:effectLst/>
                <a:highlight>
                  <a:srgbClr val="FFFFFF"/>
                </a:highlight>
                <a:latin typeface="inter-regular"/>
              </a:rPr>
              <a:t>Before JDBC, ODBC API was the database API to connect and execute the query with the database. But, ODBC API uses ODBC driver which is written in C language (i.e. platform dependent and unsecured). That is why Java has defined its own API (JDBC API) that uses JDBC drivers (written in Java language).</a:t>
            </a:r>
          </a:p>
          <a:p>
            <a:pPr algn="just"/>
            <a:r>
              <a:rPr lang="en-US" sz="2000" b="0" i="0" dirty="0">
                <a:solidFill>
                  <a:schemeClr val="tx1"/>
                </a:solidFill>
                <a:effectLst/>
                <a:highlight>
                  <a:srgbClr val="FFFFFF"/>
                </a:highlight>
                <a:latin typeface="inter-regular"/>
              </a:rPr>
              <a:t>We can use JDBC API to handle database using Java program and can perform the following activities:</a:t>
            </a:r>
          </a:p>
          <a:p>
            <a:pPr algn="just">
              <a:buFont typeface="+mj-lt"/>
              <a:buAutoNum type="arabicPeriod"/>
            </a:pPr>
            <a:r>
              <a:rPr lang="en-US" sz="2000" b="0" i="0" dirty="0">
                <a:solidFill>
                  <a:srgbClr val="000000"/>
                </a:solidFill>
                <a:effectLst/>
                <a:highlight>
                  <a:srgbClr val="FFFFFF"/>
                </a:highlight>
                <a:latin typeface="inter-regular"/>
              </a:rPr>
              <a:t>Connect to the database</a:t>
            </a:r>
          </a:p>
          <a:p>
            <a:pPr algn="just">
              <a:buFont typeface="+mj-lt"/>
              <a:buAutoNum type="arabicPeriod"/>
            </a:pPr>
            <a:r>
              <a:rPr lang="en-US" sz="2000" b="0" i="0" dirty="0">
                <a:solidFill>
                  <a:srgbClr val="000000"/>
                </a:solidFill>
                <a:effectLst/>
                <a:highlight>
                  <a:srgbClr val="FFFFFF"/>
                </a:highlight>
                <a:latin typeface="inter-regular"/>
              </a:rPr>
              <a:t>Execute queries and update statements to the database</a:t>
            </a:r>
          </a:p>
          <a:p>
            <a:pPr algn="just">
              <a:buFont typeface="+mj-lt"/>
              <a:buAutoNum type="arabicPeriod"/>
            </a:pPr>
            <a:r>
              <a:rPr lang="en-US" sz="2000" b="0" i="0" dirty="0">
                <a:solidFill>
                  <a:srgbClr val="000000"/>
                </a:solidFill>
                <a:effectLst/>
                <a:highlight>
                  <a:srgbClr val="FFFFFF"/>
                </a:highlight>
                <a:latin typeface="inter-regular"/>
              </a:rPr>
              <a:t>Retrieve the result received from the database.</a:t>
            </a:r>
          </a:p>
          <a:p>
            <a:pPr marL="12700" algn="just">
              <a:lnSpc>
                <a:spcPct val="100000"/>
              </a:lnSpc>
              <a:spcBef>
                <a:spcPts val="100"/>
              </a:spcBef>
              <a:tabLst>
                <a:tab pos="299085" algn="l"/>
              </a:tabLst>
            </a:pPr>
            <a:endParaRPr lang="en-US" sz="2000" dirty="0">
              <a:latin typeface="Calibri" panose="020F0502020204030204" pitchFamily="34" charset="0"/>
              <a:ea typeface="Calibri" panose="020F0502020204030204" pitchFamily="34" charset="0"/>
              <a:cs typeface="Calibri" panose="020F0502020204030204" pitchFamily="34" charset="0"/>
            </a:endParaRPr>
          </a:p>
        </p:txBody>
      </p:sp>
      <p:pic>
        <p:nvPicPr>
          <p:cNvPr id="4" name="object 4"/>
          <p:cNvPicPr/>
          <p:nvPr/>
        </p:nvPicPr>
        <p:blipFill>
          <a:blip r:embed="rId2" cstate="print"/>
          <a:stretch>
            <a:fillRect/>
          </a:stretch>
        </p:blipFill>
        <p:spPr>
          <a:xfrm>
            <a:off x="8317992" y="6031991"/>
            <a:ext cx="609600" cy="609599"/>
          </a:xfrm>
          <a:prstGeom prst="rect">
            <a:avLst/>
          </a:prstGeom>
        </p:spPr>
      </p:pic>
    </p:spTree>
    <p:extLst>
      <p:ext uri="{BB962C8B-B14F-4D97-AF65-F5344CB8AC3E}">
        <p14:creationId xmlns:p14="http://schemas.microsoft.com/office/powerpoint/2010/main" val="19334252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69240" y="1696592"/>
            <a:ext cx="8605519" cy="567463"/>
          </a:xfrm>
          <a:prstGeom prst="rect">
            <a:avLst/>
          </a:prstGeom>
        </p:spPr>
        <p:txBody>
          <a:bodyPr vert="horz" wrap="square" lIns="0" tIns="13335" rIns="0" bIns="0" rtlCol="0">
            <a:spAutoFit/>
          </a:bodyPr>
          <a:lstStyle/>
          <a:p>
            <a:pPr marL="1538605">
              <a:lnSpc>
                <a:spcPct val="100000"/>
              </a:lnSpc>
              <a:spcBef>
                <a:spcPts val="105"/>
              </a:spcBef>
            </a:pPr>
            <a:r>
              <a:rPr lang="en-IN" sz="3600" b="1" dirty="0">
                <a:latin typeface="Arial MT"/>
                <a:cs typeface="Arial MT"/>
              </a:rPr>
              <a:t>Components of JDBC</a:t>
            </a:r>
            <a:endParaRPr sz="3600" b="1" dirty="0">
              <a:latin typeface="Arial MT"/>
              <a:cs typeface="Arial MT"/>
            </a:endParaRPr>
          </a:p>
        </p:txBody>
      </p:sp>
      <p:pic>
        <p:nvPicPr>
          <p:cNvPr id="1026" name="Picture 2" descr="Architecture of JDBC">
            <a:extLst>
              <a:ext uri="{FF2B5EF4-FFF2-40B4-BE49-F238E27FC236}">
                <a16:creationId xmlns:a16="http://schemas.microsoft.com/office/drawing/2014/main" id="{AF2AFCBF-457B-EEC2-A6BB-DACC7AAA9BC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9200" y="2362200"/>
            <a:ext cx="6087109" cy="440344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371600" y="1752600"/>
            <a:ext cx="9408159" cy="504625"/>
          </a:xfrm>
          <a:prstGeom prst="rect">
            <a:avLst/>
          </a:prstGeom>
        </p:spPr>
        <p:txBody>
          <a:bodyPr vert="horz" wrap="square" lIns="0" tIns="12065" rIns="0" bIns="0" rtlCol="0">
            <a:spAutoFit/>
          </a:bodyPr>
          <a:lstStyle/>
          <a:p>
            <a:pPr marL="2679065">
              <a:spcBef>
                <a:spcPts val="95"/>
              </a:spcBef>
            </a:pPr>
            <a:r>
              <a:rPr lang="en-US" sz="3200" b="1" i="0" dirty="0">
                <a:effectLst/>
                <a:latin typeface="erdana"/>
              </a:rPr>
              <a:t>Different Types of Architecture of JDBC</a:t>
            </a:r>
            <a:endParaRPr sz="3600" b="1" spc="-10" dirty="0">
              <a:latin typeface="Arial MT"/>
              <a:cs typeface="Arial MT"/>
            </a:endParaRPr>
          </a:p>
        </p:txBody>
      </p:sp>
      <p:sp>
        <p:nvSpPr>
          <p:cNvPr id="3" name="object 3"/>
          <p:cNvSpPr txBox="1"/>
          <p:nvPr/>
        </p:nvSpPr>
        <p:spPr>
          <a:xfrm>
            <a:off x="418477" y="2400426"/>
            <a:ext cx="8056245" cy="2875146"/>
          </a:xfrm>
          <a:prstGeom prst="rect">
            <a:avLst/>
          </a:prstGeom>
        </p:spPr>
        <p:txBody>
          <a:bodyPr vert="horz" wrap="square" lIns="0" tIns="12700" rIns="0" bIns="0" rtlCol="0">
            <a:spAutoFit/>
          </a:bodyPr>
          <a:lstStyle/>
          <a:p>
            <a:pPr algn="just"/>
            <a:r>
              <a:rPr lang="en-US" sz="2000" b="0" i="0" dirty="0">
                <a:solidFill>
                  <a:srgbClr val="333333"/>
                </a:solidFill>
                <a:effectLst/>
                <a:highlight>
                  <a:srgbClr val="FFFFFF"/>
                </a:highlight>
                <a:latin typeface="inter-regular"/>
              </a:rPr>
              <a:t>The architecture of the JDBC consists of two and three tiers model in order to access the given database.</a:t>
            </a:r>
          </a:p>
          <a:p>
            <a:pPr algn="l" fontAlgn="base">
              <a:buFont typeface="+mj-lt"/>
              <a:buAutoNum type="arabicPeriod"/>
            </a:pPr>
            <a:r>
              <a:rPr lang="en-US" b="1" i="0" dirty="0">
                <a:solidFill>
                  <a:schemeClr val="tx1"/>
                </a:solidFill>
                <a:effectLst/>
                <a:latin typeface="+mn-lt"/>
              </a:rPr>
              <a:t>Two-tier model:</a:t>
            </a:r>
            <a:r>
              <a:rPr lang="en-US" b="0" i="0" dirty="0">
                <a:solidFill>
                  <a:schemeClr val="tx1"/>
                </a:solidFill>
                <a:effectLst/>
                <a:latin typeface="+mn-lt"/>
              </a:rPr>
              <a:t> A java application communicates directly to the data source. The JDBC driver enables the communication between the application and the data source. When a user sends a query to the data source, the answers for those queries are sent back to the user in the form of results. </a:t>
            </a:r>
            <a:br>
              <a:rPr lang="en-US" b="0" i="0" dirty="0">
                <a:solidFill>
                  <a:schemeClr val="tx1"/>
                </a:solidFill>
                <a:effectLst/>
                <a:latin typeface="+mn-lt"/>
              </a:rPr>
            </a:br>
            <a:r>
              <a:rPr lang="en-US" b="0" i="0" dirty="0">
                <a:solidFill>
                  <a:schemeClr val="tx1"/>
                </a:solidFill>
                <a:effectLst/>
                <a:latin typeface="+mn-lt"/>
              </a:rPr>
              <a:t>The data source can be located on a different machine on a network to which a user is connected. This is known as a </a:t>
            </a:r>
            <a:r>
              <a:rPr lang="en-US" b="1" i="0" dirty="0">
                <a:solidFill>
                  <a:schemeClr val="tx1"/>
                </a:solidFill>
                <a:effectLst/>
                <a:latin typeface="+mn-lt"/>
              </a:rPr>
              <a:t>client/server configuration</a:t>
            </a:r>
            <a:r>
              <a:rPr lang="en-US" b="0" i="0" dirty="0">
                <a:solidFill>
                  <a:schemeClr val="tx1"/>
                </a:solidFill>
                <a:effectLst/>
                <a:latin typeface="+mn-lt"/>
              </a:rPr>
              <a:t>, where the user’s machine acts as a client, and the machine has the data source running acts as the server.</a:t>
            </a:r>
            <a:br>
              <a:rPr lang="en-US" b="0" i="0" dirty="0">
                <a:solidFill>
                  <a:schemeClr val="tx1"/>
                </a:solidFill>
                <a:effectLst/>
                <a:latin typeface="+mn-lt"/>
              </a:rPr>
            </a:br>
            <a:r>
              <a:rPr lang="en-US" b="1" i="0" dirty="0">
                <a:solidFill>
                  <a:schemeClr val="tx1"/>
                </a:solidFill>
                <a:effectLst/>
                <a:latin typeface="+mn-lt"/>
              </a:rPr>
              <a:t> </a:t>
            </a:r>
            <a:endParaRPr sz="2000" dirty="0">
              <a:latin typeface="Calibri" panose="020F0502020204030204" pitchFamily="34" charset="0"/>
              <a:ea typeface="Calibri" panose="020F0502020204030204" pitchFamily="34" charset="0"/>
              <a:cs typeface="Calibri" panose="020F0502020204030204" pitchFamily="34" charset="0"/>
            </a:endParaRPr>
          </a:p>
        </p:txBody>
      </p:sp>
      <p:pic>
        <p:nvPicPr>
          <p:cNvPr id="4" name="object 4"/>
          <p:cNvPicPr/>
          <p:nvPr/>
        </p:nvPicPr>
        <p:blipFill>
          <a:blip r:embed="rId2" cstate="print"/>
          <a:stretch>
            <a:fillRect/>
          </a:stretch>
        </p:blipFill>
        <p:spPr>
          <a:xfrm>
            <a:off x="8317992" y="6031991"/>
            <a:ext cx="609600" cy="609599"/>
          </a:xfrm>
          <a:prstGeom prst="rect">
            <a:avLst/>
          </a:prstGeom>
        </p:spPr>
      </p:pic>
      <p:pic>
        <p:nvPicPr>
          <p:cNvPr id="2050" name="Picture 2" descr="JDBC Tutorial">
            <a:extLst>
              <a:ext uri="{FF2B5EF4-FFF2-40B4-BE49-F238E27FC236}">
                <a16:creationId xmlns:a16="http://schemas.microsoft.com/office/drawing/2014/main" id="{8E37E0CD-A118-B1BF-3435-BB1264448ED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95400" y="5029200"/>
            <a:ext cx="5876925" cy="161239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371600" y="1653627"/>
            <a:ext cx="9331959" cy="504625"/>
          </a:xfrm>
          <a:prstGeom prst="rect">
            <a:avLst/>
          </a:prstGeom>
        </p:spPr>
        <p:txBody>
          <a:bodyPr vert="horz" wrap="square" lIns="0" tIns="12065" rIns="0" bIns="0" rtlCol="0">
            <a:spAutoFit/>
          </a:bodyPr>
          <a:lstStyle/>
          <a:p>
            <a:pPr marL="2679065">
              <a:spcBef>
                <a:spcPts val="95"/>
              </a:spcBef>
            </a:pPr>
            <a:r>
              <a:rPr lang="en-US" sz="3200" b="1" i="0" dirty="0">
                <a:effectLst/>
                <a:latin typeface="erdana"/>
              </a:rPr>
              <a:t>Different Types of Architecture of JDBC</a:t>
            </a:r>
            <a:endParaRPr sz="3600" b="1" spc="-10" dirty="0">
              <a:latin typeface="Arial MT"/>
              <a:cs typeface="Arial MT"/>
            </a:endParaRPr>
          </a:p>
        </p:txBody>
      </p:sp>
      <p:sp>
        <p:nvSpPr>
          <p:cNvPr id="3" name="object 3"/>
          <p:cNvSpPr txBox="1"/>
          <p:nvPr/>
        </p:nvSpPr>
        <p:spPr>
          <a:xfrm>
            <a:off x="489915" y="2400427"/>
            <a:ext cx="7968285" cy="1472198"/>
          </a:xfrm>
          <a:prstGeom prst="rect">
            <a:avLst/>
          </a:prstGeom>
        </p:spPr>
        <p:txBody>
          <a:bodyPr vert="horz" wrap="square" lIns="0" tIns="12700" rIns="0" bIns="0" rtlCol="0">
            <a:spAutoFit/>
          </a:bodyPr>
          <a:lstStyle/>
          <a:p>
            <a:pPr algn="just"/>
            <a:r>
              <a:rPr lang="en-US" b="1" i="0" dirty="0">
                <a:solidFill>
                  <a:schemeClr val="tx1"/>
                </a:solidFill>
                <a:effectLst/>
                <a:latin typeface="+mn-lt"/>
              </a:rPr>
              <a:t>2.Three-tier model:</a:t>
            </a:r>
            <a:r>
              <a:rPr lang="en-US" b="0" i="0" dirty="0">
                <a:solidFill>
                  <a:schemeClr val="tx1"/>
                </a:solidFill>
                <a:effectLst/>
                <a:latin typeface="+mn-lt"/>
              </a:rPr>
              <a:t> In this, the user’s queries are sent to middle-tier services, from which the commands are again sent to the data source. The results are sent back to the middle tier, and from there to the user. </a:t>
            </a:r>
            <a:br>
              <a:rPr lang="en-US" b="0" i="0" dirty="0">
                <a:solidFill>
                  <a:schemeClr val="tx1"/>
                </a:solidFill>
                <a:effectLst/>
                <a:latin typeface="+mn-lt"/>
              </a:rPr>
            </a:br>
            <a:r>
              <a:rPr lang="en-US" b="0" i="0" dirty="0">
                <a:solidFill>
                  <a:schemeClr val="tx1"/>
                </a:solidFill>
                <a:effectLst/>
                <a:latin typeface="+mn-lt"/>
              </a:rPr>
              <a:t>This type of model is found very useful by management information system directors</a:t>
            </a:r>
            <a:r>
              <a:rPr lang="en-US" sz="2000" b="0" i="0" dirty="0">
                <a:solidFill>
                  <a:schemeClr val="tx1"/>
                </a:solidFill>
                <a:effectLst/>
                <a:latin typeface="Nunito" pitchFamily="2" charset="0"/>
              </a:rPr>
              <a:t>.</a:t>
            </a:r>
          </a:p>
          <a:p>
            <a:pPr marL="12700" algn="just">
              <a:lnSpc>
                <a:spcPct val="100000"/>
              </a:lnSpc>
              <a:spcBef>
                <a:spcPts val="100"/>
              </a:spcBef>
              <a:tabLst>
                <a:tab pos="299085" algn="l"/>
              </a:tabLst>
            </a:pPr>
            <a:endParaRPr sz="2000" dirty="0">
              <a:latin typeface="Calibri" panose="020F0502020204030204" pitchFamily="34" charset="0"/>
              <a:ea typeface="Calibri" panose="020F0502020204030204" pitchFamily="34" charset="0"/>
              <a:cs typeface="Calibri" panose="020F0502020204030204" pitchFamily="34" charset="0"/>
            </a:endParaRPr>
          </a:p>
        </p:txBody>
      </p:sp>
      <p:pic>
        <p:nvPicPr>
          <p:cNvPr id="4" name="object 4"/>
          <p:cNvPicPr/>
          <p:nvPr/>
        </p:nvPicPr>
        <p:blipFill>
          <a:blip r:embed="rId2" cstate="print"/>
          <a:stretch>
            <a:fillRect/>
          </a:stretch>
        </p:blipFill>
        <p:spPr>
          <a:xfrm>
            <a:off x="8317992" y="6031991"/>
            <a:ext cx="609600" cy="609599"/>
          </a:xfrm>
          <a:prstGeom prst="rect">
            <a:avLst/>
          </a:prstGeom>
        </p:spPr>
      </p:pic>
      <p:pic>
        <p:nvPicPr>
          <p:cNvPr id="3074" name="Picture 2" descr="JDBC Tutorial">
            <a:extLst>
              <a:ext uri="{FF2B5EF4-FFF2-40B4-BE49-F238E27FC236}">
                <a16:creationId xmlns:a16="http://schemas.microsoft.com/office/drawing/2014/main" id="{D6895BAF-C5E6-17A0-E459-AC91D9794F3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4114800"/>
            <a:ext cx="6172200" cy="19171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095107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object 4"/>
          <p:cNvPicPr/>
          <p:nvPr/>
        </p:nvPicPr>
        <p:blipFill>
          <a:blip r:embed="rId2" cstate="print"/>
          <a:stretch>
            <a:fillRect/>
          </a:stretch>
        </p:blipFill>
        <p:spPr>
          <a:xfrm>
            <a:off x="8317992" y="6031991"/>
            <a:ext cx="609600" cy="609599"/>
          </a:xfrm>
          <a:prstGeom prst="rect">
            <a:avLst/>
          </a:prstGeom>
        </p:spPr>
      </p:pic>
      <p:sp>
        <p:nvSpPr>
          <p:cNvPr id="5" name="TextBox 4">
            <a:extLst>
              <a:ext uri="{FF2B5EF4-FFF2-40B4-BE49-F238E27FC236}">
                <a16:creationId xmlns:a16="http://schemas.microsoft.com/office/drawing/2014/main" id="{7543A286-3940-B62C-29C3-27510A70ABD6}"/>
              </a:ext>
            </a:extLst>
          </p:cNvPr>
          <p:cNvSpPr txBox="1"/>
          <p:nvPr/>
        </p:nvSpPr>
        <p:spPr>
          <a:xfrm>
            <a:off x="2209800" y="3733800"/>
            <a:ext cx="5181600" cy="1015663"/>
          </a:xfrm>
          <a:prstGeom prst="rect">
            <a:avLst/>
          </a:prstGeom>
          <a:noFill/>
        </p:spPr>
        <p:txBody>
          <a:bodyPr wrap="square" rtlCol="0">
            <a:spAutoFit/>
          </a:bodyPr>
          <a:lstStyle/>
          <a:p>
            <a:r>
              <a:rPr lang="en-IN" sz="6000" b="1" spc="-10" dirty="0">
                <a:highlight>
                  <a:srgbClr val="C0C0C0"/>
                </a:highlight>
                <a:latin typeface="Arial MT"/>
                <a:cs typeface="Arial MT"/>
              </a:rPr>
              <a:t>JDBC Drivers</a:t>
            </a:r>
            <a:endParaRPr lang="en-IN" sz="6000" dirty="0">
              <a:highlight>
                <a:srgbClr val="C0C0C0"/>
              </a:highlight>
            </a:endParaRPr>
          </a:p>
        </p:txBody>
      </p:sp>
    </p:spTree>
    <p:extLst>
      <p:ext uri="{BB962C8B-B14F-4D97-AF65-F5344CB8AC3E}">
        <p14:creationId xmlns:p14="http://schemas.microsoft.com/office/powerpoint/2010/main" val="5048241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69240" y="1696592"/>
            <a:ext cx="8605519" cy="566181"/>
          </a:xfrm>
          <a:prstGeom prst="rect">
            <a:avLst/>
          </a:prstGeom>
        </p:spPr>
        <p:txBody>
          <a:bodyPr vert="horz" wrap="square" lIns="0" tIns="12065" rIns="0" bIns="0" rtlCol="0">
            <a:spAutoFit/>
          </a:bodyPr>
          <a:lstStyle/>
          <a:p>
            <a:pPr marL="2679065">
              <a:lnSpc>
                <a:spcPct val="100000"/>
              </a:lnSpc>
              <a:spcBef>
                <a:spcPts val="95"/>
              </a:spcBef>
            </a:pPr>
            <a:r>
              <a:rPr lang="en-IN" sz="3600" b="1" spc="-10" dirty="0">
                <a:latin typeface="Arial MT"/>
                <a:cs typeface="Arial MT"/>
              </a:rPr>
              <a:t>JDBC Drivers</a:t>
            </a:r>
            <a:endParaRPr sz="3600" b="1" spc="-10" dirty="0">
              <a:latin typeface="Arial MT"/>
              <a:cs typeface="Arial MT"/>
            </a:endParaRPr>
          </a:p>
        </p:txBody>
      </p:sp>
      <p:sp>
        <p:nvSpPr>
          <p:cNvPr id="3" name="object 3"/>
          <p:cNvSpPr txBox="1"/>
          <p:nvPr/>
        </p:nvSpPr>
        <p:spPr>
          <a:xfrm>
            <a:off x="489915" y="2400427"/>
            <a:ext cx="8056245" cy="2859757"/>
          </a:xfrm>
          <a:prstGeom prst="rect">
            <a:avLst/>
          </a:prstGeom>
        </p:spPr>
        <p:txBody>
          <a:bodyPr vert="horz" wrap="square" lIns="0" tIns="12700" rIns="0" bIns="0" rtlCol="0">
            <a:spAutoFit/>
          </a:bodyPr>
          <a:lstStyle/>
          <a:p>
            <a:pPr marL="298450" indent="-285750" algn="just">
              <a:lnSpc>
                <a:spcPct val="100000"/>
              </a:lnSpc>
              <a:spcBef>
                <a:spcPts val="100"/>
              </a:spcBef>
              <a:buFont typeface="Arial" panose="020B0604020202020204" pitchFamily="34" charset="0"/>
              <a:buChar char="•"/>
              <a:tabLst>
                <a:tab pos="299085" algn="l"/>
              </a:tabLst>
            </a:pPr>
            <a:r>
              <a:rPr lang="en-US" sz="2000" dirty="0">
                <a:latin typeface="Calibri" panose="020F0502020204030204" pitchFamily="34" charset="0"/>
                <a:ea typeface="Calibri" panose="020F0502020204030204" pitchFamily="34" charset="0"/>
                <a:cs typeface="Calibri" panose="020F0502020204030204" pitchFamily="34" charset="0"/>
              </a:rPr>
              <a:t>JDBC drivers are client-side adapters (installed on the client machine, not on the server) that convert requests from Java programs to a protocol that the database can understand.</a:t>
            </a:r>
          </a:p>
          <a:p>
            <a:pPr marL="298450" indent="-285750" algn="just">
              <a:lnSpc>
                <a:spcPct val="100000"/>
              </a:lnSpc>
              <a:spcBef>
                <a:spcPts val="100"/>
              </a:spcBef>
              <a:buFont typeface="Arial" panose="020B0604020202020204" pitchFamily="34" charset="0"/>
              <a:buChar char="•"/>
              <a:tabLst>
                <a:tab pos="299085" algn="l"/>
              </a:tabLst>
            </a:pPr>
            <a:endParaRPr lang="en-US" sz="2000" dirty="0">
              <a:latin typeface="Calibri" panose="020F0502020204030204" pitchFamily="34" charset="0"/>
              <a:ea typeface="Calibri" panose="020F0502020204030204" pitchFamily="34" charset="0"/>
              <a:cs typeface="Calibri" panose="020F0502020204030204" pitchFamily="34" charset="0"/>
            </a:endParaRPr>
          </a:p>
          <a:p>
            <a:pPr marL="298450" indent="-285750" algn="just">
              <a:lnSpc>
                <a:spcPct val="100000"/>
              </a:lnSpc>
              <a:spcBef>
                <a:spcPts val="100"/>
              </a:spcBef>
              <a:buFont typeface="Arial" panose="020B0604020202020204" pitchFamily="34" charset="0"/>
              <a:buChar char="•"/>
              <a:tabLst>
                <a:tab pos="299085" algn="l"/>
              </a:tabLst>
            </a:pPr>
            <a:r>
              <a:rPr lang="en-US" sz="2000" dirty="0">
                <a:latin typeface="Calibri" panose="020F0502020204030204" pitchFamily="34" charset="0"/>
                <a:ea typeface="Calibri" panose="020F0502020204030204" pitchFamily="34" charset="0"/>
                <a:cs typeface="Calibri" panose="020F0502020204030204" pitchFamily="34" charset="0"/>
              </a:rPr>
              <a:t>There are 4 types of JDBC drivers:</a:t>
            </a:r>
          </a:p>
          <a:p>
            <a:pPr marL="355600" indent="-342900" algn="just">
              <a:lnSpc>
                <a:spcPct val="100000"/>
              </a:lnSpc>
              <a:spcBef>
                <a:spcPts val="100"/>
              </a:spcBef>
              <a:buAutoNum type="arabicPeriod"/>
              <a:tabLst>
                <a:tab pos="299085" algn="l"/>
              </a:tabLst>
            </a:pPr>
            <a:r>
              <a:rPr lang="en-US" sz="2000" dirty="0">
                <a:latin typeface="Calibri" panose="020F0502020204030204" pitchFamily="34" charset="0"/>
                <a:ea typeface="Calibri" panose="020F0502020204030204" pitchFamily="34" charset="0"/>
                <a:cs typeface="Calibri" panose="020F0502020204030204" pitchFamily="34" charset="0"/>
              </a:rPr>
              <a:t>Type-1 driver or JOBC-ODBC bridge driver</a:t>
            </a:r>
          </a:p>
          <a:p>
            <a:pPr marL="355600" indent="-342900" algn="just">
              <a:lnSpc>
                <a:spcPct val="100000"/>
              </a:lnSpc>
              <a:spcBef>
                <a:spcPts val="100"/>
              </a:spcBef>
              <a:buAutoNum type="arabicPeriod"/>
              <a:tabLst>
                <a:tab pos="299085" algn="l"/>
              </a:tabLst>
            </a:pPr>
            <a:r>
              <a:rPr lang="en-US" sz="2000" dirty="0">
                <a:latin typeface="Calibri" panose="020F0502020204030204" pitchFamily="34" charset="0"/>
                <a:ea typeface="Calibri" panose="020F0502020204030204" pitchFamily="34" charset="0"/>
                <a:cs typeface="Calibri" panose="020F0502020204030204" pitchFamily="34" charset="0"/>
              </a:rPr>
              <a:t>Type-2 driver or Native-API driver</a:t>
            </a:r>
          </a:p>
          <a:p>
            <a:pPr marL="355600" indent="-342900" algn="just">
              <a:lnSpc>
                <a:spcPct val="100000"/>
              </a:lnSpc>
              <a:spcBef>
                <a:spcPts val="100"/>
              </a:spcBef>
              <a:buAutoNum type="arabicPeriod"/>
              <a:tabLst>
                <a:tab pos="299085" algn="l"/>
              </a:tabLst>
            </a:pPr>
            <a:r>
              <a:rPr lang="en-US" sz="2000" dirty="0">
                <a:latin typeface="Calibri" panose="020F0502020204030204" pitchFamily="34" charset="0"/>
                <a:ea typeface="Calibri" panose="020F0502020204030204" pitchFamily="34" charset="0"/>
                <a:cs typeface="Calibri" panose="020F0502020204030204" pitchFamily="34" charset="0"/>
              </a:rPr>
              <a:t>Type-3 driver or Network Protocol driver</a:t>
            </a:r>
          </a:p>
          <a:p>
            <a:pPr marL="355600" indent="-342900" algn="just">
              <a:lnSpc>
                <a:spcPct val="100000"/>
              </a:lnSpc>
              <a:spcBef>
                <a:spcPts val="100"/>
              </a:spcBef>
              <a:buAutoNum type="arabicPeriod"/>
              <a:tabLst>
                <a:tab pos="299085" algn="l"/>
              </a:tabLst>
            </a:pPr>
            <a:r>
              <a:rPr lang="en-US" sz="2000" dirty="0">
                <a:latin typeface="Calibri" panose="020F0502020204030204" pitchFamily="34" charset="0"/>
                <a:ea typeface="Calibri" panose="020F0502020204030204" pitchFamily="34" charset="0"/>
                <a:cs typeface="Calibri" panose="020F0502020204030204" pitchFamily="34" charset="0"/>
              </a:rPr>
              <a:t>Type-4 driver or Thin driver</a:t>
            </a:r>
            <a:endParaRPr sz="2000" dirty="0">
              <a:latin typeface="Calibri" panose="020F0502020204030204" pitchFamily="34" charset="0"/>
              <a:ea typeface="Calibri" panose="020F0502020204030204" pitchFamily="34" charset="0"/>
              <a:cs typeface="Calibri" panose="020F0502020204030204" pitchFamily="34" charset="0"/>
            </a:endParaRPr>
          </a:p>
        </p:txBody>
      </p:sp>
      <p:pic>
        <p:nvPicPr>
          <p:cNvPr id="4" name="object 4"/>
          <p:cNvPicPr/>
          <p:nvPr/>
        </p:nvPicPr>
        <p:blipFill>
          <a:blip r:embed="rId2" cstate="print"/>
          <a:stretch>
            <a:fillRect/>
          </a:stretch>
        </p:blipFill>
        <p:spPr>
          <a:xfrm>
            <a:off x="8317992" y="6031991"/>
            <a:ext cx="609600" cy="609599"/>
          </a:xfrm>
          <a:prstGeom prst="rect">
            <a:avLst/>
          </a:prstGeom>
        </p:spPr>
      </p:pic>
    </p:spTree>
    <p:extLst>
      <p:ext uri="{BB962C8B-B14F-4D97-AF65-F5344CB8AC3E}">
        <p14:creationId xmlns:p14="http://schemas.microsoft.com/office/powerpoint/2010/main" val="39791667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69240" y="1696592"/>
            <a:ext cx="8605519" cy="567463"/>
          </a:xfrm>
          <a:prstGeom prst="rect">
            <a:avLst/>
          </a:prstGeom>
        </p:spPr>
        <p:txBody>
          <a:bodyPr vert="horz" wrap="square" lIns="0" tIns="13335" rIns="0" bIns="0" rtlCol="0">
            <a:spAutoFit/>
          </a:bodyPr>
          <a:lstStyle/>
          <a:p>
            <a:pPr marL="2564765">
              <a:lnSpc>
                <a:spcPct val="100000"/>
              </a:lnSpc>
              <a:spcBef>
                <a:spcPts val="105"/>
              </a:spcBef>
            </a:pPr>
            <a:r>
              <a:rPr lang="en-IN" sz="3600" b="1" dirty="0">
                <a:latin typeface="Arial MT"/>
                <a:cs typeface="Arial MT"/>
              </a:rPr>
              <a:t>JDBC Drivers</a:t>
            </a:r>
            <a:endParaRPr sz="3600" b="1" dirty="0">
              <a:latin typeface="Arial MT"/>
              <a:cs typeface="Arial MT"/>
            </a:endParaRPr>
          </a:p>
        </p:txBody>
      </p:sp>
      <p:grpSp>
        <p:nvGrpSpPr>
          <p:cNvPr id="3" name="object 3"/>
          <p:cNvGrpSpPr/>
          <p:nvPr/>
        </p:nvGrpSpPr>
        <p:grpSpPr>
          <a:xfrm>
            <a:off x="359663" y="2628900"/>
            <a:ext cx="8096250" cy="3503295"/>
            <a:chOff x="359663" y="2628900"/>
            <a:chExt cx="8096250" cy="3503295"/>
          </a:xfrm>
        </p:grpSpPr>
        <p:pic>
          <p:nvPicPr>
            <p:cNvPr id="4" name="object 4"/>
            <p:cNvPicPr/>
            <p:nvPr/>
          </p:nvPicPr>
          <p:blipFill>
            <a:blip r:embed="rId2" cstate="print"/>
            <a:stretch>
              <a:fillRect/>
            </a:stretch>
          </p:blipFill>
          <p:spPr>
            <a:xfrm>
              <a:off x="374903" y="2628900"/>
              <a:ext cx="5447538" cy="454913"/>
            </a:xfrm>
            <a:prstGeom prst="rect">
              <a:avLst/>
            </a:prstGeom>
          </p:spPr>
        </p:pic>
        <p:pic>
          <p:nvPicPr>
            <p:cNvPr id="5" name="object 5"/>
            <p:cNvPicPr/>
            <p:nvPr/>
          </p:nvPicPr>
          <p:blipFill>
            <a:blip r:embed="rId3" cstate="print"/>
            <a:stretch>
              <a:fillRect/>
            </a:stretch>
          </p:blipFill>
          <p:spPr>
            <a:xfrm>
              <a:off x="359663" y="3084563"/>
              <a:ext cx="540258" cy="508266"/>
            </a:xfrm>
            <a:prstGeom prst="rect">
              <a:avLst/>
            </a:prstGeom>
          </p:spPr>
        </p:pic>
        <p:pic>
          <p:nvPicPr>
            <p:cNvPr id="6" name="object 6"/>
            <p:cNvPicPr/>
            <p:nvPr/>
          </p:nvPicPr>
          <p:blipFill>
            <a:blip r:embed="rId4" cstate="print"/>
            <a:stretch>
              <a:fillRect/>
            </a:stretch>
          </p:blipFill>
          <p:spPr>
            <a:xfrm>
              <a:off x="717804" y="3116580"/>
              <a:ext cx="470141" cy="454913"/>
            </a:xfrm>
            <a:prstGeom prst="rect">
              <a:avLst/>
            </a:prstGeom>
          </p:spPr>
        </p:pic>
        <p:pic>
          <p:nvPicPr>
            <p:cNvPr id="7" name="object 7"/>
            <p:cNvPicPr/>
            <p:nvPr/>
          </p:nvPicPr>
          <p:blipFill>
            <a:blip r:embed="rId5" cstate="print"/>
            <a:stretch>
              <a:fillRect/>
            </a:stretch>
          </p:blipFill>
          <p:spPr>
            <a:xfrm>
              <a:off x="2650236" y="3116580"/>
              <a:ext cx="339102" cy="454913"/>
            </a:xfrm>
            <a:prstGeom prst="rect">
              <a:avLst/>
            </a:prstGeom>
          </p:spPr>
        </p:pic>
        <p:pic>
          <p:nvPicPr>
            <p:cNvPr id="8" name="object 8"/>
            <p:cNvPicPr/>
            <p:nvPr/>
          </p:nvPicPr>
          <p:blipFill>
            <a:blip r:embed="rId6" cstate="print"/>
            <a:stretch>
              <a:fillRect/>
            </a:stretch>
          </p:blipFill>
          <p:spPr>
            <a:xfrm>
              <a:off x="2717291" y="3116580"/>
              <a:ext cx="625602" cy="454913"/>
            </a:xfrm>
            <a:prstGeom prst="rect">
              <a:avLst/>
            </a:prstGeom>
          </p:spPr>
        </p:pic>
        <p:pic>
          <p:nvPicPr>
            <p:cNvPr id="9" name="object 9"/>
            <p:cNvPicPr/>
            <p:nvPr/>
          </p:nvPicPr>
          <p:blipFill>
            <a:blip r:embed="rId7" cstate="print"/>
            <a:stretch>
              <a:fillRect/>
            </a:stretch>
          </p:blipFill>
          <p:spPr>
            <a:xfrm>
              <a:off x="3070859" y="3116580"/>
              <a:ext cx="5061966" cy="454913"/>
            </a:xfrm>
            <a:prstGeom prst="rect">
              <a:avLst/>
            </a:prstGeom>
          </p:spPr>
        </p:pic>
        <p:pic>
          <p:nvPicPr>
            <p:cNvPr id="10" name="object 10"/>
            <p:cNvPicPr/>
            <p:nvPr/>
          </p:nvPicPr>
          <p:blipFill>
            <a:blip r:embed="rId8" cstate="print"/>
            <a:stretch>
              <a:fillRect/>
            </a:stretch>
          </p:blipFill>
          <p:spPr>
            <a:xfrm>
              <a:off x="717804" y="3482339"/>
              <a:ext cx="3007613" cy="454914"/>
            </a:xfrm>
            <a:prstGeom prst="rect">
              <a:avLst/>
            </a:prstGeom>
          </p:spPr>
        </p:pic>
        <p:pic>
          <p:nvPicPr>
            <p:cNvPr id="11" name="object 11"/>
            <p:cNvPicPr/>
            <p:nvPr/>
          </p:nvPicPr>
          <p:blipFill>
            <a:blip r:embed="rId9" cstate="print"/>
            <a:stretch>
              <a:fillRect/>
            </a:stretch>
          </p:blipFill>
          <p:spPr>
            <a:xfrm>
              <a:off x="359663" y="3938003"/>
              <a:ext cx="540258" cy="508266"/>
            </a:xfrm>
            <a:prstGeom prst="rect">
              <a:avLst/>
            </a:prstGeom>
          </p:spPr>
        </p:pic>
        <p:pic>
          <p:nvPicPr>
            <p:cNvPr id="12" name="object 12"/>
            <p:cNvPicPr/>
            <p:nvPr/>
          </p:nvPicPr>
          <p:blipFill>
            <a:blip r:embed="rId4" cstate="print"/>
            <a:stretch>
              <a:fillRect/>
            </a:stretch>
          </p:blipFill>
          <p:spPr>
            <a:xfrm>
              <a:off x="717804" y="3970019"/>
              <a:ext cx="470141" cy="454913"/>
            </a:xfrm>
            <a:prstGeom prst="rect">
              <a:avLst/>
            </a:prstGeom>
          </p:spPr>
        </p:pic>
        <p:pic>
          <p:nvPicPr>
            <p:cNvPr id="13" name="object 13"/>
            <p:cNvPicPr/>
            <p:nvPr/>
          </p:nvPicPr>
          <p:blipFill>
            <a:blip r:embed="rId10" cstate="print"/>
            <a:stretch>
              <a:fillRect/>
            </a:stretch>
          </p:blipFill>
          <p:spPr>
            <a:xfrm>
              <a:off x="2514599" y="3970019"/>
              <a:ext cx="5746242" cy="454913"/>
            </a:xfrm>
            <a:prstGeom prst="rect">
              <a:avLst/>
            </a:prstGeom>
          </p:spPr>
        </p:pic>
        <p:pic>
          <p:nvPicPr>
            <p:cNvPr id="14" name="object 14"/>
            <p:cNvPicPr/>
            <p:nvPr/>
          </p:nvPicPr>
          <p:blipFill>
            <a:blip r:embed="rId11" cstate="print"/>
            <a:stretch>
              <a:fillRect/>
            </a:stretch>
          </p:blipFill>
          <p:spPr>
            <a:xfrm>
              <a:off x="717804" y="4335779"/>
              <a:ext cx="2149602" cy="454913"/>
            </a:xfrm>
            <a:prstGeom prst="rect">
              <a:avLst/>
            </a:prstGeom>
          </p:spPr>
        </p:pic>
        <p:pic>
          <p:nvPicPr>
            <p:cNvPr id="15" name="object 15"/>
            <p:cNvPicPr/>
            <p:nvPr/>
          </p:nvPicPr>
          <p:blipFill>
            <a:blip r:embed="rId12" cstate="print"/>
            <a:stretch>
              <a:fillRect/>
            </a:stretch>
          </p:blipFill>
          <p:spPr>
            <a:xfrm>
              <a:off x="374903" y="4823460"/>
              <a:ext cx="561594" cy="454913"/>
            </a:xfrm>
            <a:prstGeom prst="rect">
              <a:avLst/>
            </a:prstGeom>
          </p:spPr>
        </p:pic>
        <p:pic>
          <p:nvPicPr>
            <p:cNvPr id="16" name="object 16"/>
            <p:cNvPicPr/>
            <p:nvPr/>
          </p:nvPicPr>
          <p:blipFill>
            <a:blip r:embed="rId13" cstate="print"/>
            <a:stretch>
              <a:fillRect/>
            </a:stretch>
          </p:blipFill>
          <p:spPr>
            <a:xfrm>
              <a:off x="664463" y="4823460"/>
              <a:ext cx="418337" cy="454913"/>
            </a:xfrm>
            <a:prstGeom prst="rect">
              <a:avLst/>
            </a:prstGeom>
          </p:spPr>
        </p:pic>
        <p:pic>
          <p:nvPicPr>
            <p:cNvPr id="17" name="object 17"/>
            <p:cNvPicPr/>
            <p:nvPr/>
          </p:nvPicPr>
          <p:blipFill>
            <a:blip r:embed="rId14" cstate="print"/>
            <a:stretch>
              <a:fillRect/>
            </a:stretch>
          </p:blipFill>
          <p:spPr>
            <a:xfrm>
              <a:off x="1787652" y="4823460"/>
              <a:ext cx="6668261" cy="454913"/>
            </a:xfrm>
            <a:prstGeom prst="rect">
              <a:avLst/>
            </a:prstGeom>
          </p:spPr>
        </p:pic>
        <p:pic>
          <p:nvPicPr>
            <p:cNvPr id="18" name="object 18"/>
            <p:cNvPicPr/>
            <p:nvPr/>
          </p:nvPicPr>
          <p:blipFill>
            <a:blip r:embed="rId15" cstate="print"/>
            <a:stretch>
              <a:fillRect/>
            </a:stretch>
          </p:blipFill>
          <p:spPr>
            <a:xfrm>
              <a:off x="374903" y="5311139"/>
              <a:ext cx="561594" cy="454914"/>
            </a:xfrm>
            <a:prstGeom prst="rect">
              <a:avLst/>
            </a:prstGeom>
          </p:spPr>
        </p:pic>
        <p:pic>
          <p:nvPicPr>
            <p:cNvPr id="19" name="object 19"/>
            <p:cNvPicPr/>
            <p:nvPr/>
          </p:nvPicPr>
          <p:blipFill>
            <a:blip r:embed="rId16" cstate="print"/>
            <a:stretch>
              <a:fillRect/>
            </a:stretch>
          </p:blipFill>
          <p:spPr>
            <a:xfrm>
              <a:off x="664463" y="5311139"/>
              <a:ext cx="395478" cy="454914"/>
            </a:xfrm>
            <a:prstGeom prst="rect">
              <a:avLst/>
            </a:prstGeom>
          </p:spPr>
        </p:pic>
        <p:pic>
          <p:nvPicPr>
            <p:cNvPr id="20" name="object 20"/>
            <p:cNvPicPr/>
            <p:nvPr/>
          </p:nvPicPr>
          <p:blipFill>
            <a:blip r:embed="rId17" cstate="print"/>
            <a:stretch>
              <a:fillRect/>
            </a:stretch>
          </p:blipFill>
          <p:spPr>
            <a:xfrm>
              <a:off x="2302763" y="5311139"/>
              <a:ext cx="5968745" cy="454914"/>
            </a:xfrm>
            <a:prstGeom prst="rect">
              <a:avLst/>
            </a:prstGeom>
          </p:spPr>
        </p:pic>
        <p:pic>
          <p:nvPicPr>
            <p:cNvPr id="21" name="object 21"/>
            <p:cNvPicPr/>
            <p:nvPr/>
          </p:nvPicPr>
          <p:blipFill>
            <a:blip r:embed="rId18" cstate="print"/>
            <a:stretch>
              <a:fillRect/>
            </a:stretch>
          </p:blipFill>
          <p:spPr>
            <a:xfrm>
              <a:off x="717804" y="5676900"/>
              <a:ext cx="6256782" cy="454914"/>
            </a:xfrm>
            <a:prstGeom prst="rect">
              <a:avLst/>
            </a:prstGeom>
          </p:spPr>
        </p:pic>
      </p:grpSp>
      <p:sp>
        <p:nvSpPr>
          <p:cNvPr id="22" name="object 22"/>
          <p:cNvSpPr txBox="1">
            <a:spLocks noGrp="1"/>
          </p:cNvSpPr>
          <p:nvPr>
            <p:ph type="body" idx="1"/>
          </p:nvPr>
        </p:nvSpPr>
        <p:spPr>
          <a:xfrm>
            <a:off x="840299" y="2436956"/>
            <a:ext cx="5610182" cy="1918346"/>
          </a:xfrm>
          <a:prstGeom prst="rect">
            <a:avLst/>
          </a:prstGeom>
        </p:spPr>
        <p:txBody>
          <a:bodyPr vert="horz" wrap="square" lIns="0" tIns="159893" rIns="0" bIns="0" rtlCol="0">
            <a:spAutoFit/>
          </a:bodyPr>
          <a:lstStyle/>
          <a:p>
            <a:pPr marL="12700">
              <a:lnSpc>
                <a:spcPct val="100000"/>
              </a:lnSpc>
              <a:spcBef>
                <a:spcPts val="95"/>
              </a:spcBef>
            </a:pPr>
            <a:r>
              <a:rPr lang="en-US" sz="2000" b="1" dirty="0">
                <a:latin typeface="+mn-lt"/>
                <a:cs typeface="Palatino Linotype"/>
              </a:rPr>
              <a:t>Type-1 driver or JOBC-ODBC bridge driver </a:t>
            </a:r>
          </a:p>
          <a:p>
            <a:pPr marL="355600" indent="-342900">
              <a:lnSpc>
                <a:spcPct val="100000"/>
              </a:lnSpc>
              <a:spcBef>
                <a:spcPts val="95"/>
              </a:spcBef>
              <a:buFont typeface="Arial" panose="020B0604020202020204" pitchFamily="34" charset="0"/>
              <a:buChar char="•"/>
            </a:pPr>
            <a:r>
              <a:rPr lang="en-US" sz="1800" dirty="0">
                <a:latin typeface="+mn-lt"/>
                <a:cs typeface="Palatino Linotype"/>
              </a:rPr>
              <a:t>It is an ODBC driver to connect with different databases.</a:t>
            </a:r>
          </a:p>
          <a:p>
            <a:pPr marL="355600" indent="-342900">
              <a:lnSpc>
                <a:spcPct val="100000"/>
              </a:lnSpc>
              <a:spcBef>
                <a:spcPts val="95"/>
              </a:spcBef>
              <a:buFont typeface="Arial" panose="020B0604020202020204" pitchFamily="34" charset="0"/>
              <a:buChar char="•"/>
            </a:pPr>
            <a:r>
              <a:rPr lang="en-US" sz="1800" dirty="0">
                <a:latin typeface="+mn-lt"/>
                <a:cs typeface="Palatino Linotype"/>
              </a:rPr>
              <a:t>It converts JDBC method calls into ODBC function calls.</a:t>
            </a:r>
          </a:p>
          <a:p>
            <a:pPr marL="355600" indent="-342900">
              <a:lnSpc>
                <a:spcPct val="100000"/>
              </a:lnSpc>
              <a:spcBef>
                <a:spcPts val="95"/>
              </a:spcBef>
              <a:buFont typeface="Arial" panose="020B0604020202020204" pitchFamily="34" charset="0"/>
              <a:buChar char="•"/>
            </a:pPr>
            <a:r>
              <a:rPr lang="en-US" sz="1800" dirty="0">
                <a:latin typeface="+mn-lt"/>
                <a:cs typeface="Palatino Linotype"/>
              </a:rPr>
              <a:t>It is a database-independent driver.</a:t>
            </a:r>
          </a:p>
          <a:p>
            <a:pPr marL="355600" indent="-342900">
              <a:lnSpc>
                <a:spcPct val="100000"/>
              </a:lnSpc>
              <a:spcBef>
                <a:spcPts val="95"/>
              </a:spcBef>
              <a:buFont typeface="Arial" panose="020B0604020202020204" pitchFamily="34" charset="0"/>
              <a:buChar char="•"/>
            </a:pPr>
            <a:r>
              <a:rPr lang="en-US" sz="1800" dirty="0">
                <a:latin typeface="+mn-lt"/>
                <a:cs typeface="Palatino Linotype"/>
              </a:rPr>
              <a:t>No need to install it separately as built-in with JDK.</a:t>
            </a:r>
          </a:p>
          <a:p>
            <a:pPr marL="12700">
              <a:lnSpc>
                <a:spcPct val="100000"/>
              </a:lnSpc>
              <a:spcBef>
                <a:spcPts val="95"/>
              </a:spcBef>
            </a:pPr>
            <a:endParaRPr lang="en-US" sz="1800" dirty="0">
              <a:latin typeface="+mn-lt"/>
              <a:cs typeface="Palatino Linotype"/>
            </a:endParaRPr>
          </a:p>
        </p:txBody>
      </p:sp>
      <p:pic>
        <p:nvPicPr>
          <p:cNvPr id="23" name="object 23"/>
          <p:cNvPicPr/>
          <p:nvPr/>
        </p:nvPicPr>
        <p:blipFill>
          <a:blip r:embed="rId19" cstate="print"/>
          <a:stretch>
            <a:fillRect/>
          </a:stretch>
        </p:blipFill>
        <p:spPr>
          <a:xfrm>
            <a:off x="8317992" y="6031991"/>
            <a:ext cx="609600" cy="609599"/>
          </a:xfrm>
          <a:prstGeom prst="rect">
            <a:avLst/>
          </a:prstGeom>
        </p:spPr>
      </p:pic>
      <p:pic>
        <p:nvPicPr>
          <p:cNvPr id="1026" name="Picture 2" descr="Lightbox">
            <a:extLst>
              <a:ext uri="{FF2B5EF4-FFF2-40B4-BE49-F238E27FC236}">
                <a16:creationId xmlns:a16="http://schemas.microsoft.com/office/drawing/2014/main" id="{36269C0D-5B78-6C66-DB9B-261714F8A8E2}"/>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806576" y="4063112"/>
            <a:ext cx="7194424" cy="257847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69240" y="1696592"/>
            <a:ext cx="8605519" cy="567463"/>
          </a:xfrm>
          <a:prstGeom prst="rect">
            <a:avLst/>
          </a:prstGeom>
        </p:spPr>
        <p:txBody>
          <a:bodyPr vert="horz" wrap="square" lIns="0" tIns="13335" rIns="0" bIns="0" rtlCol="0">
            <a:spAutoFit/>
          </a:bodyPr>
          <a:lstStyle/>
          <a:p>
            <a:pPr marL="2564765">
              <a:lnSpc>
                <a:spcPct val="100000"/>
              </a:lnSpc>
              <a:spcBef>
                <a:spcPts val="105"/>
              </a:spcBef>
            </a:pPr>
            <a:r>
              <a:rPr lang="en-IN" sz="3600" b="1" dirty="0">
                <a:latin typeface="Arial MT"/>
                <a:cs typeface="Arial MT"/>
              </a:rPr>
              <a:t>JDBC Drivers</a:t>
            </a:r>
            <a:endParaRPr sz="3600" b="1" dirty="0">
              <a:latin typeface="Arial MT"/>
              <a:cs typeface="Arial MT"/>
            </a:endParaRPr>
          </a:p>
        </p:txBody>
      </p:sp>
      <p:grpSp>
        <p:nvGrpSpPr>
          <p:cNvPr id="3" name="object 3"/>
          <p:cNvGrpSpPr/>
          <p:nvPr/>
        </p:nvGrpSpPr>
        <p:grpSpPr>
          <a:xfrm>
            <a:off x="359663" y="2628900"/>
            <a:ext cx="8096250" cy="3503295"/>
            <a:chOff x="359663" y="2628900"/>
            <a:chExt cx="8096250" cy="3503295"/>
          </a:xfrm>
        </p:grpSpPr>
        <p:pic>
          <p:nvPicPr>
            <p:cNvPr id="4" name="object 4"/>
            <p:cNvPicPr/>
            <p:nvPr/>
          </p:nvPicPr>
          <p:blipFill>
            <a:blip r:embed="rId2" cstate="print"/>
            <a:stretch>
              <a:fillRect/>
            </a:stretch>
          </p:blipFill>
          <p:spPr>
            <a:xfrm>
              <a:off x="374903" y="2628900"/>
              <a:ext cx="5447538" cy="454913"/>
            </a:xfrm>
            <a:prstGeom prst="rect">
              <a:avLst/>
            </a:prstGeom>
          </p:spPr>
        </p:pic>
        <p:pic>
          <p:nvPicPr>
            <p:cNvPr id="5" name="object 5"/>
            <p:cNvPicPr/>
            <p:nvPr/>
          </p:nvPicPr>
          <p:blipFill>
            <a:blip r:embed="rId3" cstate="print"/>
            <a:stretch>
              <a:fillRect/>
            </a:stretch>
          </p:blipFill>
          <p:spPr>
            <a:xfrm>
              <a:off x="359663" y="3084563"/>
              <a:ext cx="540258" cy="508266"/>
            </a:xfrm>
            <a:prstGeom prst="rect">
              <a:avLst/>
            </a:prstGeom>
          </p:spPr>
        </p:pic>
        <p:pic>
          <p:nvPicPr>
            <p:cNvPr id="6" name="object 6"/>
            <p:cNvPicPr/>
            <p:nvPr/>
          </p:nvPicPr>
          <p:blipFill>
            <a:blip r:embed="rId4" cstate="print"/>
            <a:stretch>
              <a:fillRect/>
            </a:stretch>
          </p:blipFill>
          <p:spPr>
            <a:xfrm>
              <a:off x="717804" y="3116580"/>
              <a:ext cx="470141" cy="454913"/>
            </a:xfrm>
            <a:prstGeom prst="rect">
              <a:avLst/>
            </a:prstGeom>
          </p:spPr>
        </p:pic>
        <p:pic>
          <p:nvPicPr>
            <p:cNvPr id="7" name="object 7"/>
            <p:cNvPicPr/>
            <p:nvPr/>
          </p:nvPicPr>
          <p:blipFill>
            <a:blip r:embed="rId5" cstate="print"/>
            <a:stretch>
              <a:fillRect/>
            </a:stretch>
          </p:blipFill>
          <p:spPr>
            <a:xfrm>
              <a:off x="2650236" y="3116580"/>
              <a:ext cx="339102" cy="454913"/>
            </a:xfrm>
            <a:prstGeom prst="rect">
              <a:avLst/>
            </a:prstGeom>
          </p:spPr>
        </p:pic>
        <p:pic>
          <p:nvPicPr>
            <p:cNvPr id="8" name="object 8"/>
            <p:cNvPicPr/>
            <p:nvPr/>
          </p:nvPicPr>
          <p:blipFill>
            <a:blip r:embed="rId6" cstate="print"/>
            <a:stretch>
              <a:fillRect/>
            </a:stretch>
          </p:blipFill>
          <p:spPr>
            <a:xfrm>
              <a:off x="2717291" y="3116580"/>
              <a:ext cx="625602" cy="454913"/>
            </a:xfrm>
            <a:prstGeom prst="rect">
              <a:avLst/>
            </a:prstGeom>
          </p:spPr>
        </p:pic>
        <p:pic>
          <p:nvPicPr>
            <p:cNvPr id="9" name="object 9"/>
            <p:cNvPicPr/>
            <p:nvPr/>
          </p:nvPicPr>
          <p:blipFill>
            <a:blip r:embed="rId7" cstate="print"/>
            <a:stretch>
              <a:fillRect/>
            </a:stretch>
          </p:blipFill>
          <p:spPr>
            <a:xfrm>
              <a:off x="3070859" y="3116580"/>
              <a:ext cx="5061966" cy="454913"/>
            </a:xfrm>
            <a:prstGeom prst="rect">
              <a:avLst/>
            </a:prstGeom>
          </p:spPr>
        </p:pic>
        <p:pic>
          <p:nvPicPr>
            <p:cNvPr id="10" name="object 10"/>
            <p:cNvPicPr/>
            <p:nvPr/>
          </p:nvPicPr>
          <p:blipFill>
            <a:blip r:embed="rId8" cstate="print"/>
            <a:stretch>
              <a:fillRect/>
            </a:stretch>
          </p:blipFill>
          <p:spPr>
            <a:xfrm>
              <a:off x="717804" y="3482339"/>
              <a:ext cx="3007613" cy="454914"/>
            </a:xfrm>
            <a:prstGeom prst="rect">
              <a:avLst/>
            </a:prstGeom>
          </p:spPr>
        </p:pic>
        <p:pic>
          <p:nvPicPr>
            <p:cNvPr id="11" name="object 11"/>
            <p:cNvPicPr/>
            <p:nvPr/>
          </p:nvPicPr>
          <p:blipFill>
            <a:blip r:embed="rId9" cstate="print"/>
            <a:stretch>
              <a:fillRect/>
            </a:stretch>
          </p:blipFill>
          <p:spPr>
            <a:xfrm>
              <a:off x="359663" y="3938003"/>
              <a:ext cx="540258" cy="508266"/>
            </a:xfrm>
            <a:prstGeom prst="rect">
              <a:avLst/>
            </a:prstGeom>
          </p:spPr>
        </p:pic>
        <p:pic>
          <p:nvPicPr>
            <p:cNvPr id="12" name="object 12"/>
            <p:cNvPicPr/>
            <p:nvPr/>
          </p:nvPicPr>
          <p:blipFill>
            <a:blip r:embed="rId4" cstate="print"/>
            <a:stretch>
              <a:fillRect/>
            </a:stretch>
          </p:blipFill>
          <p:spPr>
            <a:xfrm>
              <a:off x="717804" y="3970019"/>
              <a:ext cx="470141" cy="454913"/>
            </a:xfrm>
            <a:prstGeom prst="rect">
              <a:avLst/>
            </a:prstGeom>
          </p:spPr>
        </p:pic>
        <p:pic>
          <p:nvPicPr>
            <p:cNvPr id="13" name="object 13"/>
            <p:cNvPicPr/>
            <p:nvPr/>
          </p:nvPicPr>
          <p:blipFill>
            <a:blip r:embed="rId10" cstate="print"/>
            <a:stretch>
              <a:fillRect/>
            </a:stretch>
          </p:blipFill>
          <p:spPr>
            <a:xfrm>
              <a:off x="2514599" y="3970019"/>
              <a:ext cx="5746242" cy="454913"/>
            </a:xfrm>
            <a:prstGeom prst="rect">
              <a:avLst/>
            </a:prstGeom>
          </p:spPr>
        </p:pic>
        <p:pic>
          <p:nvPicPr>
            <p:cNvPr id="14" name="object 14"/>
            <p:cNvPicPr/>
            <p:nvPr/>
          </p:nvPicPr>
          <p:blipFill>
            <a:blip r:embed="rId11" cstate="print"/>
            <a:stretch>
              <a:fillRect/>
            </a:stretch>
          </p:blipFill>
          <p:spPr>
            <a:xfrm>
              <a:off x="717804" y="4335779"/>
              <a:ext cx="2149602" cy="454913"/>
            </a:xfrm>
            <a:prstGeom prst="rect">
              <a:avLst/>
            </a:prstGeom>
          </p:spPr>
        </p:pic>
        <p:pic>
          <p:nvPicPr>
            <p:cNvPr id="15" name="object 15"/>
            <p:cNvPicPr/>
            <p:nvPr/>
          </p:nvPicPr>
          <p:blipFill>
            <a:blip r:embed="rId12" cstate="print"/>
            <a:stretch>
              <a:fillRect/>
            </a:stretch>
          </p:blipFill>
          <p:spPr>
            <a:xfrm>
              <a:off x="374903" y="4823460"/>
              <a:ext cx="561594" cy="454913"/>
            </a:xfrm>
            <a:prstGeom prst="rect">
              <a:avLst/>
            </a:prstGeom>
          </p:spPr>
        </p:pic>
        <p:pic>
          <p:nvPicPr>
            <p:cNvPr id="16" name="object 16"/>
            <p:cNvPicPr/>
            <p:nvPr/>
          </p:nvPicPr>
          <p:blipFill>
            <a:blip r:embed="rId13" cstate="print"/>
            <a:stretch>
              <a:fillRect/>
            </a:stretch>
          </p:blipFill>
          <p:spPr>
            <a:xfrm>
              <a:off x="664463" y="4823460"/>
              <a:ext cx="418337" cy="454913"/>
            </a:xfrm>
            <a:prstGeom prst="rect">
              <a:avLst/>
            </a:prstGeom>
          </p:spPr>
        </p:pic>
        <p:pic>
          <p:nvPicPr>
            <p:cNvPr id="17" name="object 17"/>
            <p:cNvPicPr/>
            <p:nvPr/>
          </p:nvPicPr>
          <p:blipFill>
            <a:blip r:embed="rId14" cstate="print"/>
            <a:stretch>
              <a:fillRect/>
            </a:stretch>
          </p:blipFill>
          <p:spPr>
            <a:xfrm>
              <a:off x="1787652" y="4823460"/>
              <a:ext cx="6668261" cy="454913"/>
            </a:xfrm>
            <a:prstGeom prst="rect">
              <a:avLst/>
            </a:prstGeom>
          </p:spPr>
        </p:pic>
        <p:pic>
          <p:nvPicPr>
            <p:cNvPr id="18" name="object 18"/>
            <p:cNvPicPr/>
            <p:nvPr/>
          </p:nvPicPr>
          <p:blipFill>
            <a:blip r:embed="rId15" cstate="print"/>
            <a:stretch>
              <a:fillRect/>
            </a:stretch>
          </p:blipFill>
          <p:spPr>
            <a:xfrm>
              <a:off x="374903" y="5311139"/>
              <a:ext cx="561594" cy="454914"/>
            </a:xfrm>
            <a:prstGeom prst="rect">
              <a:avLst/>
            </a:prstGeom>
          </p:spPr>
        </p:pic>
        <p:pic>
          <p:nvPicPr>
            <p:cNvPr id="19" name="object 19"/>
            <p:cNvPicPr/>
            <p:nvPr/>
          </p:nvPicPr>
          <p:blipFill>
            <a:blip r:embed="rId16" cstate="print"/>
            <a:stretch>
              <a:fillRect/>
            </a:stretch>
          </p:blipFill>
          <p:spPr>
            <a:xfrm>
              <a:off x="664463" y="5311139"/>
              <a:ext cx="395478" cy="454914"/>
            </a:xfrm>
            <a:prstGeom prst="rect">
              <a:avLst/>
            </a:prstGeom>
          </p:spPr>
        </p:pic>
        <p:pic>
          <p:nvPicPr>
            <p:cNvPr id="20" name="object 20"/>
            <p:cNvPicPr/>
            <p:nvPr/>
          </p:nvPicPr>
          <p:blipFill>
            <a:blip r:embed="rId17" cstate="print"/>
            <a:stretch>
              <a:fillRect/>
            </a:stretch>
          </p:blipFill>
          <p:spPr>
            <a:xfrm>
              <a:off x="2302763" y="5311139"/>
              <a:ext cx="5968745" cy="454914"/>
            </a:xfrm>
            <a:prstGeom prst="rect">
              <a:avLst/>
            </a:prstGeom>
          </p:spPr>
        </p:pic>
        <p:pic>
          <p:nvPicPr>
            <p:cNvPr id="21" name="object 21"/>
            <p:cNvPicPr/>
            <p:nvPr/>
          </p:nvPicPr>
          <p:blipFill>
            <a:blip r:embed="rId18" cstate="print"/>
            <a:stretch>
              <a:fillRect/>
            </a:stretch>
          </p:blipFill>
          <p:spPr>
            <a:xfrm>
              <a:off x="717804" y="5676900"/>
              <a:ext cx="6256782" cy="454914"/>
            </a:xfrm>
            <a:prstGeom prst="rect">
              <a:avLst/>
            </a:prstGeom>
          </p:spPr>
        </p:pic>
      </p:grpSp>
      <p:sp>
        <p:nvSpPr>
          <p:cNvPr id="22" name="object 22"/>
          <p:cNvSpPr txBox="1">
            <a:spLocks noGrp="1"/>
          </p:cNvSpPr>
          <p:nvPr>
            <p:ph type="body" idx="1"/>
          </p:nvPr>
        </p:nvSpPr>
        <p:spPr>
          <a:xfrm>
            <a:off x="508761" y="2295909"/>
            <a:ext cx="7752080" cy="2574936"/>
          </a:xfrm>
          <a:prstGeom prst="rect">
            <a:avLst/>
          </a:prstGeom>
        </p:spPr>
        <p:txBody>
          <a:bodyPr vert="horz" wrap="square" lIns="0" tIns="159893" rIns="0" bIns="0" rtlCol="0">
            <a:spAutoFit/>
          </a:bodyPr>
          <a:lstStyle/>
          <a:p>
            <a:pPr algn="l"/>
            <a:r>
              <a:rPr lang="en-US" b="0" i="0" dirty="0">
                <a:solidFill>
                  <a:srgbClr val="111111"/>
                </a:solidFill>
                <a:effectLst/>
                <a:highlight>
                  <a:srgbClr val="F7F7F7"/>
                </a:highlight>
                <a:latin typeface="-apple-system"/>
              </a:rPr>
              <a:t>Advantages:</a:t>
            </a:r>
          </a:p>
          <a:p>
            <a:pPr marL="742950" lvl="1" indent="-285750" algn="l">
              <a:buFont typeface="Arial" panose="020B0604020202020204" pitchFamily="34" charset="0"/>
              <a:buChar char="•"/>
            </a:pPr>
            <a:r>
              <a:rPr lang="en-US" b="0" i="0" dirty="0">
                <a:solidFill>
                  <a:srgbClr val="111111"/>
                </a:solidFill>
                <a:effectLst/>
                <a:highlight>
                  <a:srgbClr val="F7F7F7"/>
                </a:highlight>
                <a:latin typeface="-apple-system"/>
              </a:rPr>
              <a:t>Built-in with JDK (no separate installation required).</a:t>
            </a:r>
          </a:p>
          <a:p>
            <a:pPr marL="742950" lvl="1" indent="-285750" algn="l">
              <a:buFont typeface="Arial" panose="020B0604020202020204" pitchFamily="34" charset="0"/>
              <a:buChar char="•"/>
            </a:pPr>
            <a:r>
              <a:rPr lang="en-US" b="0" i="0" dirty="0">
                <a:solidFill>
                  <a:srgbClr val="111111"/>
                </a:solidFill>
                <a:effectLst/>
                <a:highlight>
                  <a:srgbClr val="F7F7F7"/>
                </a:highlight>
                <a:latin typeface="-apple-system"/>
              </a:rPr>
              <a:t>Database-independent.</a:t>
            </a:r>
          </a:p>
          <a:p>
            <a:pPr algn="l"/>
            <a:r>
              <a:rPr lang="en-US" b="0" i="0" dirty="0">
                <a:solidFill>
                  <a:srgbClr val="111111"/>
                </a:solidFill>
                <a:effectLst/>
                <a:highlight>
                  <a:srgbClr val="F7F7F7"/>
                </a:highlight>
                <a:latin typeface="-apple-system"/>
              </a:rPr>
              <a:t>Disadvantages:</a:t>
            </a:r>
          </a:p>
          <a:p>
            <a:pPr marL="742950" lvl="1" indent="-285750" algn="l">
              <a:buFont typeface="Arial" panose="020B0604020202020204" pitchFamily="34" charset="0"/>
              <a:buChar char="•"/>
            </a:pPr>
            <a:r>
              <a:rPr lang="en-US" b="0" i="0" dirty="0">
                <a:solidFill>
                  <a:srgbClr val="111111"/>
                </a:solidFill>
                <a:effectLst/>
                <a:highlight>
                  <a:srgbClr val="F7F7F7"/>
                </a:highlight>
                <a:latin typeface="-apple-system"/>
              </a:rPr>
              <a:t>Data transferred through this driver is not very secure.</a:t>
            </a:r>
          </a:p>
          <a:p>
            <a:pPr marL="742950" lvl="1" indent="-285750" algn="l">
              <a:buFont typeface="Arial" panose="020B0604020202020204" pitchFamily="34" charset="0"/>
              <a:buChar char="•"/>
            </a:pPr>
            <a:r>
              <a:rPr lang="en-US" b="0" i="0" dirty="0">
                <a:solidFill>
                  <a:srgbClr val="111111"/>
                </a:solidFill>
                <a:effectLst/>
                <a:highlight>
                  <a:srgbClr val="F7F7F7"/>
                </a:highlight>
                <a:latin typeface="-apple-system"/>
              </a:rPr>
              <a:t>Requires ODBC bridge driver installation on individual client machines.</a:t>
            </a:r>
          </a:p>
          <a:p>
            <a:pPr marL="742950" lvl="1" indent="-285750" algn="l">
              <a:buFont typeface="Arial" panose="020B0604020202020204" pitchFamily="34" charset="0"/>
              <a:buChar char="•"/>
            </a:pPr>
            <a:r>
              <a:rPr lang="en-US" dirty="0">
                <a:solidFill>
                  <a:srgbClr val="111111"/>
                </a:solidFill>
                <a:highlight>
                  <a:srgbClr val="F7F7F7"/>
                </a:highlight>
                <a:latin typeface="-apple-system"/>
              </a:rPr>
              <a:t>Not written in Java, so it isn’t portable</a:t>
            </a:r>
            <a:endParaRPr lang="en-US" b="0" i="0" dirty="0">
              <a:solidFill>
                <a:srgbClr val="111111"/>
              </a:solidFill>
              <a:effectLst/>
              <a:highlight>
                <a:srgbClr val="F7F7F7"/>
              </a:highlight>
              <a:latin typeface="-apple-system"/>
            </a:endParaRPr>
          </a:p>
          <a:p>
            <a:pPr marL="12700">
              <a:lnSpc>
                <a:spcPct val="100000"/>
              </a:lnSpc>
              <a:spcBef>
                <a:spcPts val="95"/>
              </a:spcBef>
            </a:pPr>
            <a:endParaRPr lang="en-US" sz="1800" dirty="0">
              <a:latin typeface="+mn-lt"/>
              <a:cs typeface="Palatino Linotype"/>
            </a:endParaRPr>
          </a:p>
        </p:txBody>
      </p:sp>
      <p:pic>
        <p:nvPicPr>
          <p:cNvPr id="23" name="object 23"/>
          <p:cNvPicPr/>
          <p:nvPr/>
        </p:nvPicPr>
        <p:blipFill>
          <a:blip r:embed="rId19" cstate="print"/>
          <a:stretch>
            <a:fillRect/>
          </a:stretch>
        </p:blipFill>
        <p:spPr>
          <a:xfrm>
            <a:off x="8317992" y="6031991"/>
            <a:ext cx="609600" cy="609599"/>
          </a:xfrm>
          <a:prstGeom prst="rect">
            <a:avLst/>
          </a:prstGeom>
        </p:spPr>
      </p:pic>
    </p:spTree>
    <p:extLst>
      <p:ext uri="{BB962C8B-B14F-4D97-AF65-F5344CB8AC3E}">
        <p14:creationId xmlns:p14="http://schemas.microsoft.com/office/powerpoint/2010/main" val="20167473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69240" y="1696592"/>
            <a:ext cx="8605519" cy="567463"/>
          </a:xfrm>
          <a:prstGeom prst="rect">
            <a:avLst/>
          </a:prstGeom>
        </p:spPr>
        <p:txBody>
          <a:bodyPr vert="horz" wrap="square" lIns="0" tIns="13335" rIns="0" bIns="0" rtlCol="0">
            <a:spAutoFit/>
          </a:bodyPr>
          <a:lstStyle/>
          <a:p>
            <a:pPr marL="2564765">
              <a:lnSpc>
                <a:spcPct val="100000"/>
              </a:lnSpc>
              <a:spcBef>
                <a:spcPts val="105"/>
              </a:spcBef>
            </a:pPr>
            <a:r>
              <a:rPr lang="en-IN" sz="3600" b="1" dirty="0">
                <a:latin typeface="Arial MT"/>
                <a:cs typeface="Arial MT"/>
              </a:rPr>
              <a:t>JDBC Drivers</a:t>
            </a:r>
            <a:endParaRPr sz="3600" b="1" dirty="0">
              <a:latin typeface="Arial MT"/>
              <a:cs typeface="Arial MT"/>
            </a:endParaRPr>
          </a:p>
        </p:txBody>
      </p:sp>
      <p:grpSp>
        <p:nvGrpSpPr>
          <p:cNvPr id="3" name="object 3"/>
          <p:cNvGrpSpPr/>
          <p:nvPr/>
        </p:nvGrpSpPr>
        <p:grpSpPr>
          <a:xfrm>
            <a:off x="359663" y="2411756"/>
            <a:ext cx="8096250" cy="3720440"/>
            <a:chOff x="359663" y="2628900"/>
            <a:chExt cx="8096250" cy="3503295"/>
          </a:xfrm>
        </p:grpSpPr>
        <p:pic>
          <p:nvPicPr>
            <p:cNvPr id="4" name="object 4"/>
            <p:cNvPicPr/>
            <p:nvPr/>
          </p:nvPicPr>
          <p:blipFill>
            <a:blip r:embed="rId2" cstate="print"/>
            <a:stretch>
              <a:fillRect/>
            </a:stretch>
          </p:blipFill>
          <p:spPr>
            <a:xfrm>
              <a:off x="374903" y="2628900"/>
              <a:ext cx="5447538" cy="454913"/>
            </a:xfrm>
            <a:prstGeom prst="rect">
              <a:avLst/>
            </a:prstGeom>
          </p:spPr>
        </p:pic>
        <p:pic>
          <p:nvPicPr>
            <p:cNvPr id="5" name="object 5"/>
            <p:cNvPicPr/>
            <p:nvPr/>
          </p:nvPicPr>
          <p:blipFill>
            <a:blip r:embed="rId3" cstate="print"/>
            <a:stretch>
              <a:fillRect/>
            </a:stretch>
          </p:blipFill>
          <p:spPr>
            <a:xfrm>
              <a:off x="359663" y="3084563"/>
              <a:ext cx="540258" cy="508266"/>
            </a:xfrm>
            <a:prstGeom prst="rect">
              <a:avLst/>
            </a:prstGeom>
          </p:spPr>
        </p:pic>
        <p:pic>
          <p:nvPicPr>
            <p:cNvPr id="6" name="object 6"/>
            <p:cNvPicPr/>
            <p:nvPr/>
          </p:nvPicPr>
          <p:blipFill>
            <a:blip r:embed="rId4" cstate="print"/>
            <a:stretch>
              <a:fillRect/>
            </a:stretch>
          </p:blipFill>
          <p:spPr>
            <a:xfrm>
              <a:off x="717804" y="3116580"/>
              <a:ext cx="470141" cy="454913"/>
            </a:xfrm>
            <a:prstGeom prst="rect">
              <a:avLst/>
            </a:prstGeom>
          </p:spPr>
        </p:pic>
        <p:pic>
          <p:nvPicPr>
            <p:cNvPr id="7" name="object 7"/>
            <p:cNvPicPr/>
            <p:nvPr/>
          </p:nvPicPr>
          <p:blipFill>
            <a:blip r:embed="rId5" cstate="print"/>
            <a:stretch>
              <a:fillRect/>
            </a:stretch>
          </p:blipFill>
          <p:spPr>
            <a:xfrm>
              <a:off x="2650236" y="3116580"/>
              <a:ext cx="339102" cy="454913"/>
            </a:xfrm>
            <a:prstGeom prst="rect">
              <a:avLst/>
            </a:prstGeom>
          </p:spPr>
        </p:pic>
        <p:pic>
          <p:nvPicPr>
            <p:cNvPr id="8" name="object 8"/>
            <p:cNvPicPr/>
            <p:nvPr/>
          </p:nvPicPr>
          <p:blipFill>
            <a:blip r:embed="rId6" cstate="print"/>
            <a:stretch>
              <a:fillRect/>
            </a:stretch>
          </p:blipFill>
          <p:spPr>
            <a:xfrm>
              <a:off x="2717291" y="3116580"/>
              <a:ext cx="625602" cy="454913"/>
            </a:xfrm>
            <a:prstGeom prst="rect">
              <a:avLst/>
            </a:prstGeom>
          </p:spPr>
        </p:pic>
        <p:pic>
          <p:nvPicPr>
            <p:cNvPr id="9" name="object 9"/>
            <p:cNvPicPr/>
            <p:nvPr/>
          </p:nvPicPr>
          <p:blipFill>
            <a:blip r:embed="rId7" cstate="print"/>
            <a:stretch>
              <a:fillRect/>
            </a:stretch>
          </p:blipFill>
          <p:spPr>
            <a:xfrm>
              <a:off x="3070859" y="3116580"/>
              <a:ext cx="5061966" cy="454913"/>
            </a:xfrm>
            <a:prstGeom prst="rect">
              <a:avLst/>
            </a:prstGeom>
          </p:spPr>
        </p:pic>
        <p:pic>
          <p:nvPicPr>
            <p:cNvPr id="10" name="object 10"/>
            <p:cNvPicPr/>
            <p:nvPr/>
          </p:nvPicPr>
          <p:blipFill>
            <a:blip r:embed="rId8" cstate="print"/>
            <a:stretch>
              <a:fillRect/>
            </a:stretch>
          </p:blipFill>
          <p:spPr>
            <a:xfrm>
              <a:off x="717804" y="3482339"/>
              <a:ext cx="3007613" cy="454914"/>
            </a:xfrm>
            <a:prstGeom prst="rect">
              <a:avLst/>
            </a:prstGeom>
          </p:spPr>
        </p:pic>
        <p:pic>
          <p:nvPicPr>
            <p:cNvPr id="11" name="object 11"/>
            <p:cNvPicPr/>
            <p:nvPr/>
          </p:nvPicPr>
          <p:blipFill>
            <a:blip r:embed="rId9" cstate="print"/>
            <a:stretch>
              <a:fillRect/>
            </a:stretch>
          </p:blipFill>
          <p:spPr>
            <a:xfrm>
              <a:off x="359663" y="3938003"/>
              <a:ext cx="540258" cy="508266"/>
            </a:xfrm>
            <a:prstGeom prst="rect">
              <a:avLst/>
            </a:prstGeom>
          </p:spPr>
        </p:pic>
        <p:pic>
          <p:nvPicPr>
            <p:cNvPr id="12" name="object 12"/>
            <p:cNvPicPr/>
            <p:nvPr/>
          </p:nvPicPr>
          <p:blipFill>
            <a:blip r:embed="rId4" cstate="print"/>
            <a:stretch>
              <a:fillRect/>
            </a:stretch>
          </p:blipFill>
          <p:spPr>
            <a:xfrm>
              <a:off x="717804" y="3970019"/>
              <a:ext cx="470141" cy="454913"/>
            </a:xfrm>
            <a:prstGeom prst="rect">
              <a:avLst/>
            </a:prstGeom>
          </p:spPr>
        </p:pic>
        <p:pic>
          <p:nvPicPr>
            <p:cNvPr id="13" name="object 13"/>
            <p:cNvPicPr/>
            <p:nvPr/>
          </p:nvPicPr>
          <p:blipFill>
            <a:blip r:embed="rId10" cstate="print"/>
            <a:stretch>
              <a:fillRect/>
            </a:stretch>
          </p:blipFill>
          <p:spPr>
            <a:xfrm>
              <a:off x="2514599" y="3970019"/>
              <a:ext cx="5746242" cy="454913"/>
            </a:xfrm>
            <a:prstGeom prst="rect">
              <a:avLst/>
            </a:prstGeom>
          </p:spPr>
        </p:pic>
        <p:pic>
          <p:nvPicPr>
            <p:cNvPr id="14" name="object 14"/>
            <p:cNvPicPr/>
            <p:nvPr/>
          </p:nvPicPr>
          <p:blipFill>
            <a:blip r:embed="rId11" cstate="print"/>
            <a:stretch>
              <a:fillRect/>
            </a:stretch>
          </p:blipFill>
          <p:spPr>
            <a:xfrm>
              <a:off x="717804" y="4335779"/>
              <a:ext cx="2149602" cy="454913"/>
            </a:xfrm>
            <a:prstGeom prst="rect">
              <a:avLst/>
            </a:prstGeom>
          </p:spPr>
        </p:pic>
        <p:pic>
          <p:nvPicPr>
            <p:cNvPr id="15" name="object 15"/>
            <p:cNvPicPr/>
            <p:nvPr/>
          </p:nvPicPr>
          <p:blipFill>
            <a:blip r:embed="rId12" cstate="print"/>
            <a:stretch>
              <a:fillRect/>
            </a:stretch>
          </p:blipFill>
          <p:spPr>
            <a:xfrm>
              <a:off x="374903" y="4823460"/>
              <a:ext cx="561594" cy="454913"/>
            </a:xfrm>
            <a:prstGeom prst="rect">
              <a:avLst/>
            </a:prstGeom>
          </p:spPr>
        </p:pic>
        <p:pic>
          <p:nvPicPr>
            <p:cNvPr id="16" name="object 16"/>
            <p:cNvPicPr/>
            <p:nvPr/>
          </p:nvPicPr>
          <p:blipFill>
            <a:blip r:embed="rId13" cstate="print"/>
            <a:stretch>
              <a:fillRect/>
            </a:stretch>
          </p:blipFill>
          <p:spPr>
            <a:xfrm>
              <a:off x="664463" y="4823460"/>
              <a:ext cx="418337" cy="454913"/>
            </a:xfrm>
            <a:prstGeom prst="rect">
              <a:avLst/>
            </a:prstGeom>
          </p:spPr>
        </p:pic>
        <p:pic>
          <p:nvPicPr>
            <p:cNvPr id="17" name="object 17"/>
            <p:cNvPicPr/>
            <p:nvPr/>
          </p:nvPicPr>
          <p:blipFill>
            <a:blip r:embed="rId14" cstate="print"/>
            <a:stretch>
              <a:fillRect/>
            </a:stretch>
          </p:blipFill>
          <p:spPr>
            <a:xfrm>
              <a:off x="1787652" y="4823460"/>
              <a:ext cx="6668261" cy="454913"/>
            </a:xfrm>
            <a:prstGeom prst="rect">
              <a:avLst/>
            </a:prstGeom>
          </p:spPr>
        </p:pic>
        <p:pic>
          <p:nvPicPr>
            <p:cNvPr id="18" name="object 18"/>
            <p:cNvPicPr/>
            <p:nvPr/>
          </p:nvPicPr>
          <p:blipFill>
            <a:blip r:embed="rId15" cstate="print"/>
            <a:stretch>
              <a:fillRect/>
            </a:stretch>
          </p:blipFill>
          <p:spPr>
            <a:xfrm>
              <a:off x="374903" y="5311139"/>
              <a:ext cx="561594" cy="454914"/>
            </a:xfrm>
            <a:prstGeom prst="rect">
              <a:avLst/>
            </a:prstGeom>
          </p:spPr>
        </p:pic>
        <p:pic>
          <p:nvPicPr>
            <p:cNvPr id="19" name="object 19"/>
            <p:cNvPicPr/>
            <p:nvPr/>
          </p:nvPicPr>
          <p:blipFill>
            <a:blip r:embed="rId16" cstate="print"/>
            <a:stretch>
              <a:fillRect/>
            </a:stretch>
          </p:blipFill>
          <p:spPr>
            <a:xfrm>
              <a:off x="664463" y="5311139"/>
              <a:ext cx="395478" cy="454914"/>
            </a:xfrm>
            <a:prstGeom prst="rect">
              <a:avLst/>
            </a:prstGeom>
          </p:spPr>
        </p:pic>
        <p:pic>
          <p:nvPicPr>
            <p:cNvPr id="20" name="object 20"/>
            <p:cNvPicPr/>
            <p:nvPr/>
          </p:nvPicPr>
          <p:blipFill>
            <a:blip r:embed="rId17" cstate="print"/>
            <a:stretch>
              <a:fillRect/>
            </a:stretch>
          </p:blipFill>
          <p:spPr>
            <a:xfrm>
              <a:off x="2302763" y="5311139"/>
              <a:ext cx="5968745" cy="454914"/>
            </a:xfrm>
            <a:prstGeom prst="rect">
              <a:avLst/>
            </a:prstGeom>
          </p:spPr>
        </p:pic>
        <p:pic>
          <p:nvPicPr>
            <p:cNvPr id="21" name="object 21"/>
            <p:cNvPicPr/>
            <p:nvPr/>
          </p:nvPicPr>
          <p:blipFill>
            <a:blip r:embed="rId18" cstate="print"/>
            <a:stretch>
              <a:fillRect/>
            </a:stretch>
          </p:blipFill>
          <p:spPr>
            <a:xfrm>
              <a:off x="717804" y="5676900"/>
              <a:ext cx="6256782" cy="454914"/>
            </a:xfrm>
            <a:prstGeom prst="rect">
              <a:avLst/>
            </a:prstGeom>
          </p:spPr>
        </p:pic>
      </p:grpSp>
      <p:sp>
        <p:nvSpPr>
          <p:cNvPr id="22" name="object 22"/>
          <p:cNvSpPr txBox="1">
            <a:spLocks noGrp="1"/>
          </p:cNvSpPr>
          <p:nvPr>
            <p:ph type="body" idx="1"/>
          </p:nvPr>
        </p:nvSpPr>
        <p:spPr>
          <a:xfrm>
            <a:off x="631826" y="2288023"/>
            <a:ext cx="7752080" cy="2195345"/>
          </a:xfrm>
          <a:prstGeom prst="rect">
            <a:avLst/>
          </a:prstGeom>
        </p:spPr>
        <p:txBody>
          <a:bodyPr vert="horz" wrap="square" lIns="0" tIns="159893" rIns="0" bIns="0" rtlCol="0">
            <a:spAutoFit/>
          </a:bodyPr>
          <a:lstStyle/>
          <a:p>
            <a:pPr marL="12700">
              <a:lnSpc>
                <a:spcPct val="100000"/>
              </a:lnSpc>
              <a:spcBef>
                <a:spcPts val="95"/>
              </a:spcBef>
            </a:pPr>
            <a:r>
              <a:rPr lang="en-US" sz="2000" b="1" dirty="0">
                <a:latin typeface="+mn-lt"/>
                <a:cs typeface="Palatino Linotype"/>
              </a:rPr>
              <a:t>Type-2 driver or Native-API driver</a:t>
            </a:r>
          </a:p>
          <a:p>
            <a:pPr marL="355600" indent="-342900">
              <a:lnSpc>
                <a:spcPct val="100000"/>
              </a:lnSpc>
              <a:spcBef>
                <a:spcPts val="95"/>
              </a:spcBef>
              <a:buFont typeface="Arial" panose="020B0604020202020204" pitchFamily="34" charset="0"/>
              <a:buChar char="•"/>
            </a:pPr>
            <a:r>
              <a:rPr lang="en-US" sz="1800" dirty="0">
                <a:latin typeface="+mn-lt"/>
                <a:cs typeface="Palatino Linotype"/>
              </a:rPr>
              <a:t>It uses the client-side database libraries of the database for connectivity.</a:t>
            </a:r>
          </a:p>
          <a:p>
            <a:pPr marL="355600" indent="-342900">
              <a:lnSpc>
                <a:spcPct val="100000"/>
              </a:lnSpc>
              <a:spcBef>
                <a:spcPts val="95"/>
              </a:spcBef>
              <a:buFont typeface="Arial" panose="020B0604020202020204" pitchFamily="34" charset="0"/>
              <a:buChar char="•"/>
            </a:pPr>
            <a:r>
              <a:rPr lang="en-US" sz="1800" dirty="0">
                <a:latin typeface="+mn-lt"/>
                <a:cs typeface="Palatino Linotype"/>
              </a:rPr>
              <a:t>It converts JDBC method calls into the native call of the database API.</a:t>
            </a:r>
          </a:p>
          <a:p>
            <a:pPr marL="355600" indent="-342900">
              <a:lnSpc>
                <a:spcPct val="100000"/>
              </a:lnSpc>
              <a:spcBef>
                <a:spcPts val="95"/>
              </a:spcBef>
              <a:buFont typeface="Arial" panose="020B0604020202020204" pitchFamily="34" charset="0"/>
              <a:buChar char="•"/>
            </a:pPr>
            <a:r>
              <a:rPr lang="en-US" sz="1800" dirty="0">
                <a:latin typeface="+mn-lt"/>
                <a:cs typeface="Palatino Linotype"/>
              </a:rPr>
              <a:t>It needs their local API, for that data transfer is more secure as compared to Type-1.</a:t>
            </a:r>
          </a:p>
          <a:p>
            <a:pPr marL="355600" indent="-342900">
              <a:lnSpc>
                <a:spcPct val="100000"/>
              </a:lnSpc>
              <a:spcBef>
                <a:spcPts val="95"/>
              </a:spcBef>
              <a:buFont typeface="Arial" panose="020B0604020202020204" pitchFamily="34" charset="0"/>
              <a:buChar char="•"/>
            </a:pPr>
            <a:r>
              <a:rPr lang="en-US" sz="1800" dirty="0">
                <a:latin typeface="+mn-lt"/>
                <a:cs typeface="Palatino Linotype"/>
              </a:rPr>
              <a:t>It needs to be installed individually for each client machine.</a:t>
            </a:r>
          </a:p>
          <a:p>
            <a:pPr marL="355600" indent="-342900">
              <a:lnSpc>
                <a:spcPct val="100000"/>
              </a:lnSpc>
              <a:spcBef>
                <a:spcPts val="95"/>
              </a:spcBef>
              <a:buFont typeface="Arial" panose="020B0604020202020204" pitchFamily="34" charset="0"/>
              <a:buChar char="•"/>
            </a:pPr>
            <a:endParaRPr lang="en-US" sz="1800" dirty="0">
              <a:latin typeface="+mn-lt"/>
              <a:cs typeface="Palatino Linotype"/>
            </a:endParaRPr>
          </a:p>
        </p:txBody>
      </p:sp>
      <p:pic>
        <p:nvPicPr>
          <p:cNvPr id="23" name="object 23"/>
          <p:cNvPicPr/>
          <p:nvPr/>
        </p:nvPicPr>
        <p:blipFill>
          <a:blip r:embed="rId19" cstate="print"/>
          <a:stretch>
            <a:fillRect/>
          </a:stretch>
        </p:blipFill>
        <p:spPr>
          <a:xfrm>
            <a:off x="8317992" y="6031991"/>
            <a:ext cx="609600" cy="609599"/>
          </a:xfrm>
          <a:prstGeom prst="rect">
            <a:avLst/>
          </a:prstGeom>
        </p:spPr>
      </p:pic>
      <p:pic>
        <p:nvPicPr>
          <p:cNvPr id="2054" name="Picture 6" descr="Lightbox">
            <a:extLst>
              <a:ext uri="{FF2B5EF4-FFF2-40B4-BE49-F238E27FC236}">
                <a16:creationId xmlns:a16="http://schemas.microsoft.com/office/drawing/2014/main" id="{F84E66C7-FF5C-D3B7-D30F-06729E0F1F43}"/>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809863" y="4446245"/>
            <a:ext cx="7322962" cy="21953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648821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69240" y="1696592"/>
            <a:ext cx="8605519" cy="567463"/>
          </a:xfrm>
          <a:prstGeom prst="rect">
            <a:avLst/>
          </a:prstGeom>
        </p:spPr>
        <p:txBody>
          <a:bodyPr vert="horz" wrap="square" lIns="0" tIns="13335" rIns="0" bIns="0" rtlCol="0">
            <a:spAutoFit/>
          </a:bodyPr>
          <a:lstStyle/>
          <a:p>
            <a:pPr marL="2564765">
              <a:lnSpc>
                <a:spcPct val="100000"/>
              </a:lnSpc>
              <a:spcBef>
                <a:spcPts val="105"/>
              </a:spcBef>
            </a:pPr>
            <a:r>
              <a:rPr lang="en-IN" sz="3600" b="1" dirty="0">
                <a:latin typeface="Arial MT"/>
                <a:cs typeface="Arial MT"/>
              </a:rPr>
              <a:t>JDBC Drivers</a:t>
            </a:r>
            <a:endParaRPr sz="3600" b="1" dirty="0">
              <a:latin typeface="Arial MT"/>
              <a:cs typeface="Arial MT"/>
            </a:endParaRPr>
          </a:p>
        </p:txBody>
      </p:sp>
      <p:grpSp>
        <p:nvGrpSpPr>
          <p:cNvPr id="3" name="object 3"/>
          <p:cNvGrpSpPr/>
          <p:nvPr/>
        </p:nvGrpSpPr>
        <p:grpSpPr>
          <a:xfrm>
            <a:off x="359663" y="2628900"/>
            <a:ext cx="8096250" cy="3503295"/>
            <a:chOff x="359663" y="2628900"/>
            <a:chExt cx="8096250" cy="3503295"/>
          </a:xfrm>
        </p:grpSpPr>
        <p:pic>
          <p:nvPicPr>
            <p:cNvPr id="4" name="object 4"/>
            <p:cNvPicPr/>
            <p:nvPr/>
          </p:nvPicPr>
          <p:blipFill>
            <a:blip r:embed="rId2" cstate="print"/>
            <a:stretch>
              <a:fillRect/>
            </a:stretch>
          </p:blipFill>
          <p:spPr>
            <a:xfrm>
              <a:off x="374903" y="2628900"/>
              <a:ext cx="5447538" cy="454913"/>
            </a:xfrm>
            <a:prstGeom prst="rect">
              <a:avLst/>
            </a:prstGeom>
          </p:spPr>
        </p:pic>
        <p:pic>
          <p:nvPicPr>
            <p:cNvPr id="5" name="object 5"/>
            <p:cNvPicPr/>
            <p:nvPr/>
          </p:nvPicPr>
          <p:blipFill>
            <a:blip r:embed="rId3" cstate="print"/>
            <a:stretch>
              <a:fillRect/>
            </a:stretch>
          </p:blipFill>
          <p:spPr>
            <a:xfrm>
              <a:off x="359663" y="3084563"/>
              <a:ext cx="540258" cy="508266"/>
            </a:xfrm>
            <a:prstGeom prst="rect">
              <a:avLst/>
            </a:prstGeom>
          </p:spPr>
        </p:pic>
        <p:pic>
          <p:nvPicPr>
            <p:cNvPr id="6" name="object 6"/>
            <p:cNvPicPr/>
            <p:nvPr/>
          </p:nvPicPr>
          <p:blipFill>
            <a:blip r:embed="rId4" cstate="print"/>
            <a:stretch>
              <a:fillRect/>
            </a:stretch>
          </p:blipFill>
          <p:spPr>
            <a:xfrm>
              <a:off x="717804" y="3116580"/>
              <a:ext cx="470141" cy="454913"/>
            </a:xfrm>
            <a:prstGeom prst="rect">
              <a:avLst/>
            </a:prstGeom>
          </p:spPr>
        </p:pic>
        <p:pic>
          <p:nvPicPr>
            <p:cNvPr id="7" name="object 7"/>
            <p:cNvPicPr/>
            <p:nvPr/>
          </p:nvPicPr>
          <p:blipFill>
            <a:blip r:embed="rId5" cstate="print"/>
            <a:stretch>
              <a:fillRect/>
            </a:stretch>
          </p:blipFill>
          <p:spPr>
            <a:xfrm>
              <a:off x="2650236" y="3116580"/>
              <a:ext cx="339102" cy="454913"/>
            </a:xfrm>
            <a:prstGeom prst="rect">
              <a:avLst/>
            </a:prstGeom>
          </p:spPr>
        </p:pic>
        <p:pic>
          <p:nvPicPr>
            <p:cNvPr id="8" name="object 8"/>
            <p:cNvPicPr/>
            <p:nvPr/>
          </p:nvPicPr>
          <p:blipFill>
            <a:blip r:embed="rId6" cstate="print"/>
            <a:stretch>
              <a:fillRect/>
            </a:stretch>
          </p:blipFill>
          <p:spPr>
            <a:xfrm>
              <a:off x="2717291" y="3116580"/>
              <a:ext cx="625602" cy="454913"/>
            </a:xfrm>
            <a:prstGeom prst="rect">
              <a:avLst/>
            </a:prstGeom>
          </p:spPr>
        </p:pic>
        <p:pic>
          <p:nvPicPr>
            <p:cNvPr id="9" name="object 9"/>
            <p:cNvPicPr/>
            <p:nvPr/>
          </p:nvPicPr>
          <p:blipFill>
            <a:blip r:embed="rId7" cstate="print"/>
            <a:stretch>
              <a:fillRect/>
            </a:stretch>
          </p:blipFill>
          <p:spPr>
            <a:xfrm>
              <a:off x="3070859" y="3116580"/>
              <a:ext cx="5061966" cy="454913"/>
            </a:xfrm>
            <a:prstGeom prst="rect">
              <a:avLst/>
            </a:prstGeom>
          </p:spPr>
        </p:pic>
        <p:pic>
          <p:nvPicPr>
            <p:cNvPr id="10" name="object 10"/>
            <p:cNvPicPr/>
            <p:nvPr/>
          </p:nvPicPr>
          <p:blipFill>
            <a:blip r:embed="rId8" cstate="print"/>
            <a:stretch>
              <a:fillRect/>
            </a:stretch>
          </p:blipFill>
          <p:spPr>
            <a:xfrm>
              <a:off x="717804" y="3482339"/>
              <a:ext cx="3007613" cy="454914"/>
            </a:xfrm>
            <a:prstGeom prst="rect">
              <a:avLst/>
            </a:prstGeom>
          </p:spPr>
        </p:pic>
        <p:pic>
          <p:nvPicPr>
            <p:cNvPr id="11" name="object 11"/>
            <p:cNvPicPr/>
            <p:nvPr/>
          </p:nvPicPr>
          <p:blipFill>
            <a:blip r:embed="rId9" cstate="print"/>
            <a:stretch>
              <a:fillRect/>
            </a:stretch>
          </p:blipFill>
          <p:spPr>
            <a:xfrm>
              <a:off x="359663" y="3938003"/>
              <a:ext cx="540258" cy="508266"/>
            </a:xfrm>
            <a:prstGeom prst="rect">
              <a:avLst/>
            </a:prstGeom>
          </p:spPr>
        </p:pic>
        <p:pic>
          <p:nvPicPr>
            <p:cNvPr id="12" name="object 12"/>
            <p:cNvPicPr/>
            <p:nvPr/>
          </p:nvPicPr>
          <p:blipFill>
            <a:blip r:embed="rId4" cstate="print"/>
            <a:stretch>
              <a:fillRect/>
            </a:stretch>
          </p:blipFill>
          <p:spPr>
            <a:xfrm>
              <a:off x="717804" y="3970019"/>
              <a:ext cx="470141" cy="454913"/>
            </a:xfrm>
            <a:prstGeom prst="rect">
              <a:avLst/>
            </a:prstGeom>
          </p:spPr>
        </p:pic>
        <p:pic>
          <p:nvPicPr>
            <p:cNvPr id="13" name="object 13"/>
            <p:cNvPicPr/>
            <p:nvPr/>
          </p:nvPicPr>
          <p:blipFill>
            <a:blip r:embed="rId10" cstate="print"/>
            <a:stretch>
              <a:fillRect/>
            </a:stretch>
          </p:blipFill>
          <p:spPr>
            <a:xfrm>
              <a:off x="2514599" y="3970019"/>
              <a:ext cx="5746242" cy="454913"/>
            </a:xfrm>
            <a:prstGeom prst="rect">
              <a:avLst/>
            </a:prstGeom>
          </p:spPr>
        </p:pic>
        <p:pic>
          <p:nvPicPr>
            <p:cNvPr id="14" name="object 14"/>
            <p:cNvPicPr/>
            <p:nvPr/>
          </p:nvPicPr>
          <p:blipFill>
            <a:blip r:embed="rId11" cstate="print"/>
            <a:stretch>
              <a:fillRect/>
            </a:stretch>
          </p:blipFill>
          <p:spPr>
            <a:xfrm>
              <a:off x="717804" y="4335779"/>
              <a:ext cx="2149602" cy="454913"/>
            </a:xfrm>
            <a:prstGeom prst="rect">
              <a:avLst/>
            </a:prstGeom>
          </p:spPr>
        </p:pic>
        <p:pic>
          <p:nvPicPr>
            <p:cNvPr id="15" name="object 15"/>
            <p:cNvPicPr/>
            <p:nvPr/>
          </p:nvPicPr>
          <p:blipFill>
            <a:blip r:embed="rId12" cstate="print"/>
            <a:stretch>
              <a:fillRect/>
            </a:stretch>
          </p:blipFill>
          <p:spPr>
            <a:xfrm>
              <a:off x="374903" y="4823460"/>
              <a:ext cx="561594" cy="454913"/>
            </a:xfrm>
            <a:prstGeom prst="rect">
              <a:avLst/>
            </a:prstGeom>
          </p:spPr>
        </p:pic>
        <p:pic>
          <p:nvPicPr>
            <p:cNvPr id="16" name="object 16"/>
            <p:cNvPicPr/>
            <p:nvPr/>
          </p:nvPicPr>
          <p:blipFill>
            <a:blip r:embed="rId13" cstate="print"/>
            <a:stretch>
              <a:fillRect/>
            </a:stretch>
          </p:blipFill>
          <p:spPr>
            <a:xfrm>
              <a:off x="664463" y="4823460"/>
              <a:ext cx="418337" cy="454913"/>
            </a:xfrm>
            <a:prstGeom prst="rect">
              <a:avLst/>
            </a:prstGeom>
          </p:spPr>
        </p:pic>
        <p:pic>
          <p:nvPicPr>
            <p:cNvPr id="17" name="object 17"/>
            <p:cNvPicPr/>
            <p:nvPr/>
          </p:nvPicPr>
          <p:blipFill>
            <a:blip r:embed="rId14" cstate="print"/>
            <a:stretch>
              <a:fillRect/>
            </a:stretch>
          </p:blipFill>
          <p:spPr>
            <a:xfrm>
              <a:off x="1787652" y="4823460"/>
              <a:ext cx="6668261" cy="454913"/>
            </a:xfrm>
            <a:prstGeom prst="rect">
              <a:avLst/>
            </a:prstGeom>
          </p:spPr>
        </p:pic>
        <p:pic>
          <p:nvPicPr>
            <p:cNvPr id="18" name="object 18"/>
            <p:cNvPicPr/>
            <p:nvPr/>
          </p:nvPicPr>
          <p:blipFill>
            <a:blip r:embed="rId15" cstate="print"/>
            <a:stretch>
              <a:fillRect/>
            </a:stretch>
          </p:blipFill>
          <p:spPr>
            <a:xfrm>
              <a:off x="374903" y="5311139"/>
              <a:ext cx="561594" cy="454914"/>
            </a:xfrm>
            <a:prstGeom prst="rect">
              <a:avLst/>
            </a:prstGeom>
          </p:spPr>
        </p:pic>
        <p:pic>
          <p:nvPicPr>
            <p:cNvPr id="19" name="object 19"/>
            <p:cNvPicPr/>
            <p:nvPr/>
          </p:nvPicPr>
          <p:blipFill>
            <a:blip r:embed="rId16" cstate="print"/>
            <a:stretch>
              <a:fillRect/>
            </a:stretch>
          </p:blipFill>
          <p:spPr>
            <a:xfrm>
              <a:off x="664463" y="5311139"/>
              <a:ext cx="395478" cy="454914"/>
            </a:xfrm>
            <a:prstGeom prst="rect">
              <a:avLst/>
            </a:prstGeom>
          </p:spPr>
        </p:pic>
        <p:pic>
          <p:nvPicPr>
            <p:cNvPr id="20" name="object 20"/>
            <p:cNvPicPr/>
            <p:nvPr/>
          </p:nvPicPr>
          <p:blipFill>
            <a:blip r:embed="rId17" cstate="print"/>
            <a:stretch>
              <a:fillRect/>
            </a:stretch>
          </p:blipFill>
          <p:spPr>
            <a:xfrm>
              <a:off x="2302763" y="5311139"/>
              <a:ext cx="5968745" cy="454914"/>
            </a:xfrm>
            <a:prstGeom prst="rect">
              <a:avLst/>
            </a:prstGeom>
          </p:spPr>
        </p:pic>
        <p:pic>
          <p:nvPicPr>
            <p:cNvPr id="21" name="object 21"/>
            <p:cNvPicPr/>
            <p:nvPr/>
          </p:nvPicPr>
          <p:blipFill>
            <a:blip r:embed="rId18" cstate="print"/>
            <a:stretch>
              <a:fillRect/>
            </a:stretch>
          </p:blipFill>
          <p:spPr>
            <a:xfrm>
              <a:off x="717804" y="5676900"/>
              <a:ext cx="6256782" cy="454914"/>
            </a:xfrm>
            <a:prstGeom prst="rect">
              <a:avLst/>
            </a:prstGeom>
          </p:spPr>
        </p:pic>
      </p:grpSp>
      <p:sp>
        <p:nvSpPr>
          <p:cNvPr id="22" name="object 22"/>
          <p:cNvSpPr txBox="1">
            <a:spLocks noGrp="1"/>
          </p:cNvSpPr>
          <p:nvPr>
            <p:ph type="body" idx="1"/>
          </p:nvPr>
        </p:nvSpPr>
        <p:spPr>
          <a:xfrm>
            <a:off x="508761" y="2295909"/>
            <a:ext cx="7752080" cy="2574936"/>
          </a:xfrm>
          <a:prstGeom prst="rect">
            <a:avLst/>
          </a:prstGeom>
        </p:spPr>
        <p:txBody>
          <a:bodyPr vert="horz" wrap="square" lIns="0" tIns="159893" rIns="0" bIns="0" rtlCol="0">
            <a:spAutoFit/>
          </a:bodyPr>
          <a:lstStyle/>
          <a:p>
            <a:pPr algn="l"/>
            <a:r>
              <a:rPr lang="en-US" b="0" i="0" dirty="0">
                <a:solidFill>
                  <a:srgbClr val="111111"/>
                </a:solidFill>
                <a:effectLst/>
                <a:highlight>
                  <a:srgbClr val="F7F7F7"/>
                </a:highlight>
                <a:latin typeface="-apple-system"/>
              </a:rPr>
              <a:t>Advantages:</a:t>
            </a:r>
          </a:p>
          <a:p>
            <a:pPr marL="742950" lvl="1" indent="-285750" algn="l">
              <a:buFont typeface="Arial" panose="020B0604020202020204" pitchFamily="34" charset="0"/>
              <a:buChar char="•"/>
            </a:pPr>
            <a:r>
              <a:rPr lang="en-US" b="0" i="0" dirty="0">
                <a:solidFill>
                  <a:srgbClr val="111111"/>
                </a:solidFill>
                <a:effectLst/>
                <a:highlight>
                  <a:srgbClr val="F7F7F7"/>
                </a:highlight>
                <a:latin typeface="-apple-system"/>
              </a:rPr>
              <a:t>Better performance than the JDBC-ODBC bridge driver.</a:t>
            </a:r>
          </a:p>
          <a:p>
            <a:pPr marL="742950" lvl="1" indent="-285750" algn="l">
              <a:buFont typeface="Arial" panose="020B0604020202020204" pitchFamily="34" charset="0"/>
              <a:buChar char="•"/>
            </a:pPr>
            <a:r>
              <a:rPr lang="en-US" b="0" i="0" dirty="0">
                <a:solidFill>
                  <a:srgbClr val="111111"/>
                </a:solidFill>
                <a:effectLst/>
                <a:highlight>
                  <a:srgbClr val="F7F7F7"/>
                </a:highlight>
                <a:latin typeface="-apple-system"/>
              </a:rPr>
              <a:t>More secure data transfer.</a:t>
            </a:r>
          </a:p>
          <a:p>
            <a:pPr algn="l"/>
            <a:r>
              <a:rPr lang="en-US" b="0" i="0" dirty="0">
                <a:solidFill>
                  <a:srgbClr val="111111"/>
                </a:solidFill>
                <a:effectLst/>
                <a:highlight>
                  <a:srgbClr val="F7F7F7"/>
                </a:highlight>
                <a:latin typeface="-apple-system"/>
              </a:rPr>
              <a:t>Disadvantages:</a:t>
            </a:r>
          </a:p>
          <a:p>
            <a:pPr marL="742950" lvl="1" indent="-285750" algn="l">
              <a:buFont typeface="Arial" panose="020B0604020202020204" pitchFamily="34" charset="0"/>
              <a:buChar char="•"/>
            </a:pPr>
            <a:r>
              <a:rPr lang="en-US" b="0" i="0" dirty="0">
                <a:solidFill>
                  <a:srgbClr val="111111"/>
                </a:solidFill>
                <a:effectLst/>
                <a:highlight>
                  <a:srgbClr val="F7F7F7"/>
                </a:highlight>
                <a:latin typeface="-apple-system"/>
              </a:rPr>
              <a:t>Requires separate installation on client machines.</a:t>
            </a:r>
          </a:p>
          <a:p>
            <a:pPr marL="742950" lvl="1" indent="-285750" algn="l">
              <a:buFont typeface="Arial" panose="020B0604020202020204" pitchFamily="34" charset="0"/>
              <a:buChar char="•"/>
            </a:pPr>
            <a:r>
              <a:rPr lang="en-US" b="0" i="0" dirty="0">
                <a:solidFill>
                  <a:srgbClr val="111111"/>
                </a:solidFill>
                <a:effectLst/>
                <a:highlight>
                  <a:srgbClr val="F7F7F7"/>
                </a:highlight>
                <a:latin typeface="-apple-system"/>
              </a:rPr>
              <a:t>Vendor client library must be installed on the client machine.</a:t>
            </a:r>
          </a:p>
          <a:p>
            <a:pPr marL="742950" lvl="1" indent="-285750" algn="l">
              <a:buFont typeface="Arial" panose="020B0604020202020204" pitchFamily="34" charset="0"/>
              <a:buChar char="•"/>
            </a:pPr>
            <a:r>
              <a:rPr lang="en-US" dirty="0">
                <a:solidFill>
                  <a:srgbClr val="111111"/>
                </a:solidFill>
                <a:highlight>
                  <a:srgbClr val="F7F7F7"/>
                </a:highlight>
                <a:latin typeface="-apple-system"/>
              </a:rPr>
              <a:t>Not fully written in Java (partially Java driver)</a:t>
            </a:r>
            <a:endParaRPr lang="en-US" b="0" i="0" dirty="0">
              <a:solidFill>
                <a:srgbClr val="111111"/>
              </a:solidFill>
              <a:effectLst/>
              <a:highlight>
                <a:srgbClr val="F7F7F7"/>
              </a:highlight>
              <a:latin typeface="-apple-system"/>
            </a:endParaRPr>
          </a:p>
          <a:p>
            <a:pPr marL="12700">
              <a:lnSpc>
                <a:spcPct val="100000"/>
              </a:lnSpc>
              <a:spcBef>
                <a:spcPts val="95"/>
              </a:spcBef>
            </a:pPr>
            <a:endParaRPr sz="1800" dirty="0">
              <a:latin typeface="+mn-lt"/>
              <a:cs typeface="Palatino Linotype"/>
            </a:endParaRPr>
          </a:p>
        </p:txBody>
      </p:sp>
      <p:pic>
        <p:nvPicPr>
          <p:cNvPr id="23" name="object 23"/>
          <p:cNvPicPr/>
          <p:nvPr/>
        </p:nvPicPr>
        <p:blipFill>
          <a:blip r:embed="rId19" cstate="print"/>
          <a:stretch>
            <a:fillRect/>
          </a:stretch>
        </p:blipFill>
        <p:spPr>
          <a:xfrm>
            <a:off x="8317992" y="6031991"/>
            <a:ext cx="609600" cy="609599"/>
          </a:xfrm>
          <a:prstGeom prst="rect">
            <a:avLst/>
          </a:prstGeom>
        </p:spPr>
      </p:pic>
    </p:spTree>
    <p:extLst>
      <p:ext uri="{BB962C8B-B14F-4D97-AF65-F5344CB8AC3E}">
        <p14:creationId xmlns:p14="http://schemas.microsoft.com/office/powerpoint/2010/main" val="21000790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9144000" cy="6858000"/>
            <a:chOff x="0" y="0"/>
            <a:chExt cx="9144000" cy="6858000"/>
          </a:xfrm>
        </p:grpSpPr>
        <p:pic>
          <p:nvPicPr>
            <p:cNvPr id="3" name="object 3"/>
            <p:cNvPicPr/>
            <p:nvPr/>
          </p:nvPicPr>
          <p:blipFill>
            <a:blip r:embed="rId2" cstate="print"/>
            <a:stretch>
              <a:fillRect/>
            </a:stretch>
          </p:blipFill>
          <p:spPr>
            <a:xfrm>
              <a:off x="13716" y="0"/>
              <a:ext cx="9130284" cy="6857996"/>
            </a:xfrm>
            <a:prstGeom prst="rect">
              <a:avLst/>
            </a:prstGeom>
          </p:spPr>
        </p:pic>
        <p:sp>
          <p:nvSpPr>
            <p:cNvPr id="4" name="object 4"/>
            <p:cNvSpPr/>
            <p:nvPr/>
          </p:nvSpPr>
          <p:spPr>
            <a:xfrm>
              <a:off x="0" y="1642872"/>
              <a:ext cx="9144000" cy="643255"/>
            </a:xfrm>
            <a:custGeom>
              <a:avLst/>
              <a:gdLst/>
              <a:ahLst/>
              <a:cxnLst/>
              <a:rect l="l" t="t" r="r" b="b"/>
              <a:pathLst>
                <a:path w="9144000" h="643255">
                  <a:moveTo>
                    <a:pt x="9144000" y="0"/>
                  </a:moveTo>
                  <a:lnTo>
                    <a:pt x="0" y="0"/>
                  </a:lnTo>
                  <a:lnTo>
                    <a:pt x="0" y="643127"/>
                  </a:lnTo>
                  <a:lnTo>
                    <a:pt x="9144000" y="643127"/>
                  </a:lnTo>
                  <a:lnTo>
                    <a:pt x="9144000" y="0"/>
                  </a:lnTo>
                  <a:close/>
                </a:path>
              </a:pathLst>
            </a:custGeom>
            <a:solidFill>
              <a:srgbClr val="1F487C"/>
            </a:solidFill>
          </p:spPr>
          <p:txBody>
            <a:bodyPr wrap="square" lIns="0" tIns="0" rIns="0" bIns="0" rtlCol="0"/>
            <a:lstStyle/>
            <a:p>
              <a:endParaRPr/>
            </a:p>
          </p:txBody>
        </p:sp>
      </p:grpSp>
      <p:sp>
        <p:nvSpPr>
          <p:cNvPr id="5" name="object 5"/>
          <p:cNvSpPr txBox="1">
            <a:spLocks noGrp="1"/>
          </p:cNvSpPr>
          <p:nvPr>
            <p:ph type="title"/>
          </p:nvPr>
        </p:nvSpPr>
        <p:spPr>
          <a:xfrm>
            <a:off x="269240" y="1696592"/>
            <a:ext cx="8605519" cy="567463"/>
          </a:xfrm>
          <a:prstGeom prst="rect">
            <a:avLst/>
          </a:prstGeom>
        </p:spPr>
        <p:txBody>
          <a:bodyPr vert="horz" wrap="square" lIns="0" tIns="13335" rIns="0" bIns="0" rtlCol="0">
            <a:spAutoFit/>
          </a:bodyPr>
          <a:lstStyle/>
          <a:p>
            <a:pPr marL="2396490">
              <a:lnSpc>
                <a:spcPct val="100000"/>
              </a:lnSpc>
              <a:spcBef>
                <a:spcPts val="105"/>
              </a:spcBef>
            </a:pPr>
            <a:r>
              <a:rPr lang="en-IN" sz="3600" b="1" spc="-45" dirty="0">
                <a:latin typeface="Arial MT"/>
                <a:cs typeface="Arial MT"/>
              </a:rPr>
              <a:t>JDBC Drivers</a:t>
            </a:r>
            <a:endParaRPr sz="3600" b="1" dirty="0">
              <a:latin typeface="Arial MT"/>
              <a:cs typeface="Arial MT"/>
            </a:endParaRPr>
          </a:p>
        </p:txBody>
      </p:sp>
      <p:sp>
        <p:nvSpPr>
          <p:cNvPr id="6" name="object 6"/>
          <p:cNvSpPr txBox="1"/>
          <p:nvPr/>
        </p:nvSpPr>
        <p:spPr>
          <a:xfrm>
            <a:off x="489915" y="2438400"/>
            <a:ext cx="8196885" cy="474489"/>
          </a:xfrm>
          <a:prstGeom prst="rect">
            <a:avLst/>
          </a:prstGeom>
        </p:spPr>
        <p:txBody>
          <a:bodyPr vert="horz" wrap="square" lIns="0" tIns="165100" rIns="0" bIns="0" rtlCol="0">
            <a:spAutoFit/>
          </a:bodyPr>
          <a:lstStyle/>
          <a:p>
            <a:pPr marL="12700">
              <a:lnSpc>
                <a:spcPct val="100000"/>
              </a:lnSpc>
              <a:spcBef>
                <a:spcPts val="1300"/>
              </a:spcBef>
              <a:tabLst>
                <a:tab pos="354965" algn="l"/>
              </a:tabLst>
            </a:pPr>
            <a:endParaRPr sz="2000" dirty="0">
              <a:latin typeface="Arial MT"/>
              <a:cs typeface="Arial MT"/>
            </a:endParaRPr>
          </a:p>
        </p:txBody>
      </p:sp>
      <p:sp>
        <p:nvSpPr>
          <p:cNvPr id="9" name="TextBox 8">
            <a:extLst>
              <a:ext uri="{FF2B5EF4-FFF2-40B4-BE49-F238E27FC236}">
                <a16:creationId xmlns:a16="http://schemas.microsoft.com/office/drawing/2014/main" id="{F7F1349F-3C5D-046B-2BAD-00A063DF7FF0}"/>
              </a:ext>
            </a:extLst>
          </p:cNvPr>
          <p:cNvSpPr txBox="1"/>
          <p:nvPr/>
        </p:nvSpPr>
        <p:spPr>
          <a:xfrm>
            <a:off x="489915" y="2322263"/>
            <a:ext cx="8044485" cy="2616101"/>
          </a:xfrm>
          <a:prstGeom prst="rect">
            <a:avLst/>
          </a:prstGeom>
          <a:noFill/>
        </p:spPr>
        <p:txBody>
          <a:bodyPr wrap="square">
            <a:spAutoFit/>
          </a:bodyPr>
          <a:lstStyle/>
          <a:p>
            <a:r>
              <a:rPr lang="en-IN" sz="2000" b="1" dirty="0">
                <a:latin typeface="Calibri" panose="020F0502020204030204" pitchFamily="34" charset="0"/>
                <a:ea typeface="Calibri" panose="020F0502020204030204" pitchFamily="34" charset="0"/>
                <a:cs typeface="Calibri" panose="020F0502020204030204" pitchFamily="34" charset="0"/>
              </a:rPr>
              <a:t>Type-3 driver or Network Protocol driver</a:t>
            </a:r>
          </a:p>
          <a:p>
            <a:pPr marL="285750" indent="-285750">
              <a:buFont typeface="Arial" panose="020B0604020202020204" pitchFamily="34" charset="0"/>
              <a:buChar char="•"/>
            </a:pPr>
            <a:r>
              <a:rPr lang="en-IN" dirty="0">
                <a:latin typeface="Calibri" panose="020F0502020204030204" pitchFamily="34" charset="0"/>
                <a:ea typeface="Calibri" panose="020F0502020204030204" pitchFamily="34" charset="0"/>
                <a:cs typeface="Calibri" panose="020F0502020204030204" pitchFamily="34" charset="0"/>
              </a:rPr>
              <a:t>It uses middleware ( application server ) that converts JDBC calls into vendor-specific database protocol.</a:t>
            </a:r>
          </a:p>
          <a:p>
            <a:pPr marL="285750" indent="-285750">
              <a:buFont typeface="Arial" panose="020B0604020202020204" pitchFamily="34" charset="0"/>
              <a:buChar char="•"/>
            </a:pPr>
            <a:r>
              <a:rPr lang="en-IN" dirty="0">
                <a:latin typeface="Calibri" panose="020F0502020204030204" pitchFamily="34" charset="0"/>
                <a:ea typeface="Calibri" panose="020F0502020204030204" pitchFamily="34" charset="0"/>
                <a:cs typeface="Calibri" panose="020F0502020204030204" pitchFamily="34" charset="0"/>
              </a:rPr>
              <a:t>Drivers are present in a single server.</a:t>
            </a:r>
          </a:p>
          <a:p>
            <a:pPr marL="285750" indent="-285750">
              <a:buFont typeface="Arial" panose="020B0604020202020204" pitchFamily="34" charset="0"/>
              <a:buChar char="•"/>
            </a:pPr>
            <a:r>
              <a:rPr lang="en-IN" dirty="0">
                <a:latin typeface="Calibri" panose="020F0502020204030204" pitchFamily="34" charset="0"/>
                <a:ea typeface="Calibri" panose="020F0502020204030204" pitchFamily="34" charset="0"/>
                <a:cs typeface="Calibri" panose="020F0502020204030204" pitchFamily="34" charset="0"/>
              </a:rPr>
              <a:t>It is a portable driver because fully written in Java.</a:t>
            </a:r>
          </a:p>
          <a:p>
            <a:pPr marL="285750" indent="-285750">
              <a:buFont typeface="Arial" panose="020B0604020202020204" pitchFamily="34" charset="0"/>
              <a:buChar char="•"/>
            </a:pPr>
            <a:r>
              <a:rPr lang="en-IN" dirty="0">
                <a:latin typeface="Calibri" panose="020F0502020204030204" pitchFamily="34" charset="0"/>
                <a:ea typeface="Calibri" panose="020F0502020204030204" pitchFamily="34" charset="0"/>
                <a:cs typeface="Calibri" panose="020F0502020204030204" pitchFamily="34" charset="0"/>
              </a:rPr>
              <a:t>No client-side library is required because of application server can perform many tasks like auditing, load balancing, logging etc.</a:t>
            </a:r>
          </a:p>
          <a:p>
            <a:pPr marL="285750" indent="-285750">
              <a:buFont typeface="Arial" panose="020B0604020202020204" pitchFamily="34" charset="0"/>
              <a:buChar char="•"/>
            </a:pPr>
            <a:r>
              <a:rPr lang="en-IN" dirty="0">
                <a:latin typeface="Calibri" panose="020F0502020204030204" pitchFamily="34" charset="0"/>
                <a:ea typeface="Calibri" panose="020F0502020204030204" pitchFamily="34" charset="0"/>
                <a:cs typeface="Calibri" panose="020F0502020204030204" pitchFamily="34" charset="0"/>
              </a:rPr>
              <a:t>Maintenance of Network Protocol driver becomes costly</a:t>
            </a:r>
          </a:p>
          <a:p>
            <a:pPr marL="285750" indent="-285750">
              <a:buFont typeface="Arial" panose="020B0604020202020204" pitchFamily="34" charset="0"/>
              <a:buChar char="•"/>
            </a:pPr>
            <a:endParaRPr lang="en-IN" dirty="0">
              <a:latin typeface="Calibri" panose="020F0502020204030204" pitchFamily="34" charset="0"/>
              <a:ea typeface="Calibri" panose="020F0502020204030204" pitchFamily="34" charset="0"/>
              <a:cs typeface="Calibri" panose="020F0502020204030204" pitchFamily="34" charset="0"/>
            </a:endParaRPr>
          </a:p>
        </p:txBody>
      </p:sp>
      <p:pic>
        <p:nvPicPr>
          <p:cNvPr id="3074" name="Picture 2" descr="Lightbox">
            <a:extLst>
              <a:ext uri="{FF2B5EF4-FFF2-40B4-BE49-F238E27FC236}">
                <a16:creationId xmlns:a16="http://schemas.microsoft.com/office/drawing/2014/main" id="{D2CECA4F-7BAA-C229-E0E8-03E0F2EB9A8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4572001"/>
            <a:ext cx="7467600" cy="19812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9144000" cy="6858000"/>
            <a:chOff x="0" y="0"/>
            <a:chExt cx="9144000" cy="6858000"/>
          </a:xfrm>
        </p:grpSpPr>
        <p:pic>
          <p:nvPicPr>
            <p:cNvPr id="3" name="object 3"/>
            <p:cNvPicPr/>
            <p:nvPr/>
          </p:nvPicPr>
          <p:blipFill>
            <a:blip r:embed="rId2" cstate="print"/>
            <a:stretch>
              <a:fillRect/>
            </a:stretch>
          </p:blipFill>
          <p:spPr>
            <a:xfrm>
              <a:off x="13716" y="0"/>
              <a:ext cx="9130284" cy="6857996"/>
            </a:xfrm>
            <a:prstGeom prst="rect">
              <a:avLst/>
            </a:prstGeom>
          </p:spPr>
        </p:pic>
        <p:sp>
          <p:nvSpPr>
            <p:cNvPr id="4" name="object 4"/>
            <p:cNvSpPr/>
            <p:nvPr/>
          </p:nvSpPr>
          <p:spPr>
            <a:xfrm>
              <a:off x="0" y="1642872"/>
              <a:ext cx="9144000" cy="643255"/>
            </a:xfrm>
            <a:custGeom>
              <a:avLst/>
              <a:gdLst/>
              <a:ahLst/>
              <a:cxnLst/>
              <a:rect l="l" t="t" r="r" b="b"/>
              <a:pathLst>
                <a:path w="9144000" h="643255">
                  <a:moveTo>
                    <a:pt x="9144000" y="0"/>
                  </a:moveTo>
                  <a:lnTo>
                    <a:pt x="0" y="0"/>
                  </a:lnTo>
                  <a:lnTo>
                    <a:pt x="0" y="643127"/>
                  </a:lnTo>
                  <a:lnTo>
                    <a:pt x="9144000" y="643127"/>
                  </a:lnTo>
                  <a:lnTo>
                    <a:pt x="9144000" y="0"/>
                  </a:lnTo>
                  <a:close/>
                </a:path>
              </a:pathLst>
            </a:custGeom>
            <a:solidFill>
              <a:srgbClr val="1F487C"/>
            </a:solidFill>
          </p:spPr>
          <p:txBody>
            <a:bodyPr wrap="square" lIns="0" tIns="0" rIns="0" bIns="0" rtlCol="0"/>
            <a:lstStyle/>
            <a:p>
              <a:endParaRPr/>
            </a:p>
          </p:txBody>
        </p:sp>
      </p:grpSp>
      <p:sp>
        <p:nvSpPr>
          <p:cNvPr id="5" name="object 5"/>
          <p:cNvSpPr txBox="1">
            <a:spLocks noGrp="1"/>
          </p:cNvSpPr>
          <p:nvPr>
            <p:ph type="title"/>
          </p:nvPr>
        </p:nvSpPr>
        <p:spPr>
          <a:xfrm>
            <a:off x="269240" y="1696592"/>
            <a:ext cx="8605519" cy="567463"/>
          </a:xfrm>
          <a:prstGeom prst="rect">
            <a:avLst/>
          </a:prstGeom>
        </p:spPr>
        <p:txBody>
          <a:bodyPr vert="horz" wrap="square" lIns="0" tIns="13335" rIns="0" bIns="0" rtlCol="0">
            <a:spAutoFit/>
          </a:bodyPr>
          <a:lstStyle/>
          <a:p>
            <a:pPr marL="2396490">
              <a:lnSpc>
                <a:spcPct val="100000"/>
              </a:lnSpc>
              <a:spcBef>
                <a:spcPts val="105"/>
              </a:spcBef>
            </a:pPr>
            <a:r>
              <a:rPr lang="en-IN" sz="3600" b="1" spc="-45" dirty="0">
                <a:latin typeface="Arial MT"/>
                <a:cs typeface="Arial MT"/>
              </a:rPr>
              <a:t>JDBC Drivers</a:t>
            </a:r>
            <a:endParaRPr sz="3600" b="1" dirty="0">
              <a:latin typeface="Arial MT"/>
              <a:cs typeface="Arial MT"/>
            </a:endParaRPr>
          </a:p>
        </p:txBody>
      </p:sp>
      <p:sp>
        <p:nvSpPr>
          <p:cNvPr id="6" name="object 6"/>
          <p:cNvSpPr txBox="1"/>
          <p:nvPr/>
        </p:nvSpPr>
        <p:spPr>
          <a:xfrm>
            <a:off x="489915" y="2438400"/>
            <a:ext cx="8196885" cy="474489"/>
          </a:xfrm>
          <a:prstGeom prst="rect">
            <a:avLst/>
          </a:prstGeom>
        </p:spPr>
        <p:txBody>
          <a:bodyPr vert="horz" wrap="square" lIns="0" tIns="165100" rIns="0" bIns="0" rtlCol="0">
            <a:spAutoFit/>
          </a:bodyPr>
          <a:lstStyle/>
          <a:p>
            <a:pPr marL="12700">
              <a:lnSpc>
                <a:spcPct val="100000"/>
              </a:lnSpc>
              <a:spcBef>
                <a:spcPts val="1300"/>
              </a:spcBef>
              <a:tabLst>
                <a:tab pos="354965" algn="l"/>
              </a:tabLst>
            </a:pPr>
            <a:endParaRPr sz="2000" dirty="0">
              <a:latin typeface="Arial MT"/>
              <a:cs typeface="Arial MT"/>
            </a:endParaRPr>
          </a:p>
        </p:txBody>
      </p:sp>
      <p:sp>
        <p:nvSpPr>
          <p:cNvPr id="9" name="TextBox 8">
            <a:extLst>
              <a:ext uri="{FF2B5EF4-FFF2-40B4-BE49-F238E27FC236}">
                <a16:creationId xmlns:a16="http://schemas.microsoft.com/office/drawing/2014/main" id="{F7F1349F-3C5D-046B-2BAD-00A063DF7FF0}"/>
              </a:ext>
            </a:extLst>
          </p:cNvPr>
          <p:cNvSpPr txBox="1"/>
          <p:nvPr/>
        </p:nvSpPr>
        <p:spPr>
          <a:xfrm>
            <a:off x="489915" y="2322263"/>
            <a:ext cx="8044485" cy="1785104"/>
          </a:xfrm>
          <a:prstGeom prst="rect">
            <a:avLst/>
          </a:prstGeom>
          <a:noFill/>
        </p:spPr>
        <p:txBody>
          <a:bodyPr wrap="square">
            <a:spAutoFit/>
          </a:bodyPr>
          <a:lstStyle/>
          <a:p>
            <a:r>
              <a:rPr lang="en-IN" sz="2000" b="1" dirty="0">
                <a:latin typeface="Calibri" panose="020F0502020204030204" pitchFamily="34" charset="0"/>
                <a:ea typeface="Calibri" panose="020F0502020204030204" pitchFamily="34" charset="0"/>
                <a:cs typeface="Calibri" panose="020F0502020204030204" pitchFamily="34" charset="0"/>
              </a:rPr>
              <a:t>Type-4 driver or Thin driver</a:t>
            </a:r>
          </a:p>
          <a:p>
            <a:pPr marL="285750" indent="-285750">
              <a:buFont typeface="Arial" panose="020B0604020202020204" pitchFamily="34" charset="0"/>
              <a:buChar char="•"/>
            </a:pPr>
            <a:r>
              <a:rPr lang="en-IN" dirty="0">
                <a:latin typeface="+mn-lt"/>
              </a:rPr>
              <a:t>It is also called a native protocol driver.</a:t>
            </a:r>
          </a:p>
          <a:p>
            <a:pPr marL="285750" indent="-285750">
              <a:buFont typeface="Arial" panose="020B0604020202020204" pitchFamily="34" charset="0"/>
              <a:buChar char="•"/>
            </a:pPr>
            <a:r>
              <a:rPr lang="en-IN" dirty="0">
                <a:latin typeface="+mn-lt"/>
              </a:rPr>
              <a:t>It does not require any native database library, that is why it is also known as Thin Driver.</a:t>
            </a:r>
          </a:p>
          <a:p>
            <a:pPr marL="285750" indent="-285750">
              <a:buFont typeface="Arial" panose="020B0604020202020204" pitchFamily="34" charset="0"/>
              <a:buChar char="•"/>
            </a:pPr>
            <a:r>
              <a:rPr lang="en-IN" dirty="0">
                <a:latin typeface="+mn-lt"/>
              </a:rPr>
              <a:t>It is a portable driver because fully written in java.</a:t>
            </a:r>
          </a:p>
          <a:p>
            <a:pPr marL="285750" indent="-285750">
              <a:buFont typeface="Arial" panose="020B0604020202020204" pitchFamily="34" charset="0"/>
              <a:buChar char="•"/>
            </a:pPr>
            <a:endParaRPr lang="en-IN" dirty="0">
              <a:latin typeface="+mn-lt"/>
            </a:endParaRPr>
          </a:p>
        </p:txBody>
      </p:sp>
      <p:pic>
        <p:nvPicPr>
          <p:cNvPr id="4098" name="Picture 2" descr="Lightbox">
            <a:extLst>
              <a:ext uri="{FF2B5EF4-FFF2-40B4-BE49-F238E27FC236}">
                <a16:creationId xmlns:a16="http://schemas.microsoft.com/office/drawing/2014/main" id="{5E3EA580-4E85-B8AC-7E01-1FEE82E1A97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2315" y="3928999"/>
            <a:ext cx="7282485" cy="22432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590894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9144000" cy="6858000"/>
            <a:chOff x="0" y="0"/>
            <a:chExt cx="9144000" cy="6858000"/>
          </a:xfrm>
        </p:grpSpPr>
        <p:pic>
          <p:nvPicPr>
            <p:cNvPr id="3" name="object 3"/>
            <p:cNvPicPr/>
            <p:nvPr/>
          </p:nvPicPr>
          <p:blipFill>
            <a:blip r:embed="rId2" cstate="print"/>
            <a:stretch>
              <a:fillRect/>
            </a:stretch>
          </p:blipFill>
          <p:spPr>
            <a:xfrm>
              <a:off x="13716" y="0"/>
              <a:ext cx="9130284" cy="6857996"/>
            </a:xfrm>
            <a:prstGeom prst="rect">
              <a:avLst/>
            </a:prstGeom>
          </p:spPr>
        </p:pic>
        <p:sp>
          <p:nvSpPr>
            <p:cNvPr id="4" name="object 4"/>
            <p:cNvSpPr/>
            <p:nvPr/>
          </p:nvSpPr>
          <p:spPr>
            <a:xfrm>
              <a:off x="0" y="1642872"/>
              <a:ext cx="9144000" cy="643255"/>
            </a:xfrm>
            <a:custGeom>
              <a:avLst/>
              <a:gdLst/>
              <a:ahLst/>
              <a:cxnLst/>
              <a:rect l="l" t="t" r="r" b="b"/>
              <a:pathLst>
                <a:path w="9144000" h="643255">
                  <a:moveTo>
                    <a:pt x="9144000" y="0"/>
                  </a:moveTo>
                  <a:lnTo>
                    <a:pt x="0" y="0"/>
                  </a:lnTo>
                  <a:lnTo>
                    <a:pt x="0" y="643127"/>
                  </a:lnTo>
                  <a:lnTo>
                    <a:pt x="9144000" y="643127"/>
                  </a:lnTo>
                  <a:lnTo>
                    <a:pt x="9144000" y="0"/>
                  </a:lnTo>
                  <a:close/>
                </a:path>
              </a:pathLst>
            </a:custGeom>
            <a:solidFill>
              <a:srgbClr val="1F487C"/>
            </a:solidFill>
          </p:spPr>
          <p:txBody>
            <a:bodyPr wrap="square" lIns="0" tIns="0" rIns="0" bIns="0" rtlCol="0"/>
            <a:lstStyle/>
            <a:p>
              <a:endParaRPr/>
            </a:p>
          </p:txBody>
        </p:sp>
      </p:grpSp>
      <p:sp>
        <p:nvSpPr>
          <p:cNvPr id="5" name="object 5"/>
          <p:cNvSpPr txBox="1">
            <a:spLocks noGrp="1"/>
          </p:cNvSpPr>
          <p:nvPr>
            <p:ph type="title"/>
          </p:nvPr>
        </p:nvSpPr>
        <p:spPr>
          <a:xfrm>
            <a:off x="269240" y="1696592"/>
            <a:ext cx="8605519" cy="567463"/>
          </a:xfrm>
          <a:prstGeom prst="rect">
            <a:avLst/>
          </a:prstGeom>
        </p:spPr>
        <p:txBody>
          <a:bodyPr vert="horz" wrap="square" lIns="0" tIns="13335" rIns="0" bIns="0" rtlCol="0">
            <a:spAutoFit/>
          </a:bodyPr>
          <a:lstStyle/>
          <a:p>
            <a:pPr marL="2396490">
              <a:lnSpc>
                <a:spcPct val="100000"/>
              </a:lnSpc>
              <a:spcBef>
                <a:spcPts val="105"/>
              </a:spcBef>
            </a:pPr>
            <a:r>
              <a:rPr lang="en-IN" sz="3600" b="1" spc="-45" dirty="0">
                <a:latin typeface="Arial MT"/>
                <a:cs typeface="Arial MT"/>
              </a:rPr>
              <a:t>JDBC Drivers</a:t>
            </a:r>
            <a:endParaRPr sz="3600" b="1" dirty="0">
              <a:latin typeface="Arial MT"/>
              <a:cs typeface="Arial MT"/>
            </a:endParaRPr>
          </a:p>
        </p:txBody>
      </p:sp>
      <p:sp>
        <p:nvSpPr>
          <p:cNvPr id="6" name="object 6"/>
          <p:cNvSpPr txBox="1"/>
          <p:nvPr/>
        </p:nvSpPr>
        <p:spPr>
          <a:xfrm>
            <a:off x="489915" y="2438400"/>
            <a:ext cx="8196885" cy="474489"/>
          </a:xfrm>
          <a:prstGeom prst="rect">
            <a:avLst/>
          </a:prstGeom>
        </p:spPr>
        <p:txBody>
          <a:bodyPr vert="horz" wrap="square" lIns="0" tIns="165100" rIns="0" bIns="0" rtlCol="0">
            <a:spAutoFit/>
          </a:bodyPr>
          <a:lstStyle/>
          <a:p>
            <a:pPr marL="12700">
              <a:lnSpc>
                <a:spcPct val="100000"/>
              </a:lnSpc>
              <a:spcBef>
                <a:spcPts val="1300"/>
              </a:spcBef>
              <a:tabLst>
                <a:tab pos="354965" algn="l"/>
              </a:tabLst>
            </a:pPr>
            <a:endParaRPr sz="2000" dirty="0">
              <a:latin typeface="Arial MT"/>
              <a:cs typeface="Arial MT"/>
            </a:endParaRPr>
          </a:p>
        </p:txBody>
      </p:sp>
      <p:sp>
        <p:nvSpPr>
          <p:cNvPr id="9" name="TextBox 8">
            <a:extLst>
              <a:ext uri="{FF2B5EF4-FFF2-40B4-BE49-F238E27FC236}">
                <a16:creationId xmlns:a16="http://schemas.microsoft.com/office/drawing/2014/main" id="{F7F1349F-3C5D-046B-2BAD-00A063DF7FF0}"/>
              </a:ext>
            </a:extLst>
          </p:cNvPr>
          <p:cNvSpPr txBox="1"/>
          <p:nvPr/>
        </p:nvSpPr>
        <p:spPr>
          <a:xfrm>
            <a:off x="489915" y="2322263"/>
            <a:ext cx="8044485" cy="1477328"/>
          </a:xfrm>
          <a:prstGeom prst="rect">
            <a:avLst/>
          </a:prstGeom>
          <a:noFill/>
        </p:spPr>
        <p:txBody>
          <a:bodyPr wrap="square">
            <a:spAutoFit/>
          </a:bodyPr>
          <a:lstStyle/>
          <a:p>
            <a:r>
              <a:rPr lang="en-US" b="0" i="0" dirty="0">
                <a:solidFill>
                  <a:srgbClr val="111111"/>
                </a:solidFill>
                <a:effectLst/>
                <a:highlight>
                  <a:srgbClr val="F7F7F7"/>
                </a:highlight>
                <a:latin typeface="-apple-system"/>
              </a:rPr>
              <a:t>Advantages:</a:t>
            </a:r>
          </a:p>
          <a:p>
            <a:pPr marL="742950" lvl="1" indent="-285750" algn="l">
              <a:buFont typeface="Arial" panose="020B0604020202020204" pitchFamily="34" charset="0"/>
              <a:buChar char="•"/>
            </a:pPr>
            <a:r>
              <a:rPr lang="en-US" b="0" i="0" dirty="0">
                <a:solidFill>
                  <a:srgbClr val="111111"/>
                </a:solidFill>
                <a:effectLst/>
                <a:highlight>
                  <a:srgbClr val="F7F7F7"/>
                </a:highlight>
                <a:latin typeface="-apple-system"/>
              </a:rPr>
              <a:t>High performance.</a:t>
            </a:r>
          </a:p>
          <a:p>
            <a:pPr marL="742950" lvl="1" indent="-285750" algn="l">
              <a:buFont typeface="Arial" panose="020B0604020202020204" pitchFamily="34" charset="0"/>
              <a:buChar char="•"/>
            </a:pPr>
            <a:r>
              <a:rPr lang="en-US" b="0" i="0" dirty="0">
                <a:solidFill>
                  <a:srgbClr val="111111"/>
                </a:solidFill>
                <a:effectLst/>
                <a:highlight>
                  <a:srgbClr val="F7F7F7"/>
                </a:highlight>
                <a:latin typeface="-apple-system"/>
              </a:rPr>
              <a:t>Secure data transfer.</a:t>
            </a:r>
          </a:p>
          <a:p>
            <a:pPr marL="742950" lvl="1" indent="-285750" algn="l">
              <a:buFont typeface="Arial" panose="020B0604020202020204" pitchFamily="34" charset="0"/>
              <a:buChar char="•"/>
            </a:pPr>
            <a:r>
              <a:rPr lang="en-US" b="0" i="0" dirty="0">
                <a:solidFill>
                  <a:srgbClr val="111111"/>
                </a:solidFill>
                <a:effectLst/>
                <a:highlight>
                  <a:srgbClr val="F7F7F7"/>
                </a:highlight>
                <a:latin typeface="-apple-system"/>
              </a:rPr>
              <a:t>Portable (written entirely in Java).</a:t>
            </a:r>
          </a:p>
          <a:p>
            <a:endParaRPr lang="en-IN" dirty="0">
              <a:latin typeface="+mn-lt"/>
            </a:endParaRPr>
          </a:p>
        </p:txBody>
      </p:sp>
    </p:spTree>
    <p:extLst>
      <p:ext uri="{BB962C8B-B14F-4D97-AF65-F5344CB8AC3E}">
        <p14:creationId xmlns:p14="http://schemas.microsoft.com/office/powerpoint/2010/main" val="25252641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0" y="1642872"/>
            <a:ext cx="9144000" cy="643255"/>
          </a:xfrm>
          <a:custGeom>
            <a:avLst/>
            <a:gdLst/>
            <a:ahLst/>
            <a:cxnLst/>
            <a:rect l="l" t="t" r="r" b="b"/>
            <a:pathLst>
              <a:path w="9144000" h="643255">
                <a:moveTo>
                  <a:pt x="9144000" y="0"/>
                </a:moveTo>
                <a:lnTo>
                  <a:pt x="0" y="0"/>
                </a:lnTo>
                <a:lnTo>
                  <a:pt x="0" y="643127"/>
                </a:lnTo>
                <a:lnTo>
                  <a:pt x="9144000" y="643127"/>
                </a:lnTo>
                <a:lnTo>
                  <a:pt x="9144000" y="0"/>
                </a:lnTo>
                <a:close/>
              </a:path>
            </a:pathLst>
          </a:custGeom>
          <a:solidFill>
            <a:srgbClr val="1F487C"/>
          </a:solidFill>
        </p:spPr>
        <p:txBody>
          <a:bodyPr wrap="square" lIns="0" tIns="0" rIns="0" bIns="0" rtlCol="0"/>
          <a:lstStyle/>
          <a:p>
            <a:endParaRPr/>
          </a:p>
        </p:txBody>
      </p:sp>
      <p:sp>
        <p:nvSpPr>
          <p:cNvPr id="5" name="object 5"/>
          <p:cNvSpPr txBox="1">
            <a:spLocks noGrp="1"/>
          </p:cNvSpPr>
          <p:nvPr>
            <p:ph type="title"/>
          </p:nvPr>
        </p:nvSpPr>
        <p:spPr>
          <a:xfrm>
            <a:off x="-152400" y="1700079"/>
            <a:ext cx="8305800" cy="566181"/>
          </a:xfrm>
          <a:prstGeom prst="rect">
            <a:avLst/>
          </a:prstGeom>
        </p:spPr>
        <p:txBody>
          <a:bodyPr vert="horz" wrap="square" lIns="0" tIns="12065" rIns="0" bIns="0" rtlCol="0">
            <a:spAutoFit/>
          </a:bodyPr>
          <a:lstStyle/>
          <a:p>
            <a:pPr marL="2143760">
              <a:lnSpc>
                <a:spcPct val="100000"/>
              </a:lnSpc>
              <a:spcBef>
                <a:spcPts val="95"/>
              </a:spcBef>
            </a:pPr>
            <a:r>
              <a:rPr lang="en-US" sz="3600" b="1" spc="-10" dirty="0">
                <a:latin typeface="Arial MT"/>
                <a:cs typeface="Arial MT"/>
              </a:rPr>
              <a:t>Which Driver to Use When?</a:t>
            </a:r>
            <a:endParaRPr sz="3600" b="1" spc="-10" dirty="0">
              <a:latin typeface="Arial MT"/>
              <a:cs typeface="Arial MT"/>
            </a:endParaRPr>
          </a:p>
        </p:txBody>
      </p:sp>
      <p:sp>
        <p:nvSpPr>
          <p:cNvPr id="10" name="TextBox 9">
            <a:extLst>
              <a:ext uri="{FF2B5EF4-FFF2-40B4-BE49-F238E27FC236}">
                <a16:creationId xmlns:a16="http://schemas.microsoft.com/office/drawing/2014/main" id="{92CDE486-E215-DFB6-6DC3-3B37A99C68F1}"/>
              </a:ext>
            </a:extLst>
          </p:cNvPr>
          <p:cNvSpPr txBox="1"/>
          <p:nvPr/>
        </p:nvSpPr>
        <p:spPr>
          <a:xfrm>
            <a:off x="685800" y="2743200"/>
            <a:ext cx="7772400" cy="2785378"/>
          </a:xfrm>
          <a:prstGeom prst="rect">
            <a:avLst/>
          </a:prstGeom>
          <a:noFill/>
        </p:spPr>
        <p:txBody>
          <a:bodyPr wrap="square">
            <a:spAutoFit/>
          </a:bodyPr>
          <a:lstStyle/>
          <a:p>
            <a:pPr marL="360000" indent="-342900">
              <a:spcAft>
                <a:spcPts val="600"/>
              </a:spcAft>
              <a:buFont typeface="Arial" panose="020B0604020202020204" pitchFamily="34" charset="0"/>
              <a:buChar char="•"/>
            </a:pPr>
            <a:r>
              <a:rPr lang="en-IN" sz="2000" dirty="0">
                <a:latin typeface="+mn-lt"/>
              </a:rPr>
              <a:t>If you are accessing </a:t>
            </a:r>
            <a:r>
              <a:rPr lang="en-IN" sz="2000" b="1" dirty="0">
                <a:latin typeface="+mn-lt"/>
              </a:rPr>
              <a:t>one type of database</a:t>
            </a:r>
            <a:r>
              <a:rPr lang="en-IN" sz="2000" dirty="0">
                <a:latin typeface="+mn-lt"/>
              </a:rPr>
              <a:t>, such as Oracle, Sybase, or IBM, the preferred driver type is type-4.</a:t>
            </a:r>
          </a:p>
          <a:p>
            <a:pPr marL="360000" indent="-342900">
              <a:spcAft>
                <a:spcPts val="600"/>
              </a:spcAft>
              <a:buFont typeface="Arial" panose="020B0604020202020204" pitchFamily="34" charset="0"/>
              <a:buChar char="•"/>
            </a:pPr>
            <a:r>
              <a:rPr lang="en-IN" sz="2000" dirty="0">
                <a:latin typeface="+mn-lt"/>
              </a:rPr>
              <a:t> If your Java application is </a:t>
            </a:r>
            <a:r>
              <a:rPr lang="en-IN" sz="2000" b="1" dirty="0">
                <a:latin typeface="+mn-lt"/>
              </a:rPr>
              <a:t>accessing multiple types of databases at the same time</a:t>
            </a:r>
            <a:r>
              <a:rPr lang="en-IN" sz="2000" dirty="0">
                <a:latin typeface="+mn-lt"/>
              </a:rPr>
              <a:t>, type 3 is the preferred driver.</a:t>
            </a:r>
          </a:p>
          <a:p>
            <a:pPr marL="360000" indent="-342900">
              <a:spcAft>
                <a:spcPts val="600"/>
              </a:spcAft>
              <a:buFont typeface="Arial" panose="020B0604020202020204" pitchFamily="34" charset="0"/>
              <a:buChar char="•"/>
            </a:pPr>
            <a:r>
              <a:rPr lang="en-IN" sz="2000" dirty="0">
                <a:latin typeface="+mn-lt"/>
              </a:rPr>
              <a:t>Type 2 drivers are useful in situations, where a </a:t>
            </a:r>
            <a:r>
              <a:rPr lang="en-IN" sz="2000" b="1" dirty="0">
                <a:latin typeface="+mn-lt"/>
              </a:rPr>
              <a:t>type 3 or type 4 driver is not available</a:t>
            </a:r>
            <a:r>
              <a:rPr lang="en-IN" sz="2000" dirty="0">
                <a:latin typeface="+mn-lt"/>
              </a:rPr>
              <a:t> yet for your database.</a:t>
            </a:r>
          </a:p>
          <a:p>
            <a:pPr marL="360000" indent="-342900">
              <a:spcAft>
                <a:spcPts val="600"/>
              </a:spcAft>
              <a:buFont typeface="Arial" panose="020B0604020202020204" pitchFamily="34" charset="0"/>
              <a:buChar char="•"/>
            </a:pPr>
            <a:r>
              <a:rPr lang="en-IN" sz="2000" dirty="0">
                <a:latin typeface="+mn-lt"/>
              </a:rPr>
              <a:t>The type 1 driver is not considered a deployment-level driver and is typically used for development and </a:t>
            </a:r>
            <a:r>
              <a:rPr lang="en-IN" sz="2000" b="1" dirty="0">
                <a:latin typeface="+mn-lt"/>
              </a:rPr>
              <a:t>testing purposes only</a:t>
            </a:r>
            <a:r>
              <a:rPr lang="en-IN" sz="2000" dirty="0">
                <a:latin typeface="+mn-lt"/>
              </a:rPr>
              <a: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body" idx="1"/>
          </p:nvPr>
        </p:nvSpPr>
        <p:spPr>
          <a:xfrm>
            <a:off x="457200" y="2590800"/>
            <a:ext cx="3708358" cy="2885405"/>
          </a:xfrm>
          <a:prstGeom prst="rect">
            <a:avLst/>
          </a:prstGeom>
        </p:spPr>
        <p:txBody>
          <a:bodyPr vert="horz" wrap="square" lIns="0" tIns="12700" rIns="0" bIns="0" rtlCol="0">
            <a:spAutoFit/>
          </a:bodyPr>
          <a:lstStyle/>
          <a:p>
            <a:pPr marL="355600" marR="5080" indent="-342900">
              <a:spcBef>
                <a:spcPts val="100"/>
              </a:spcBef>
              <a:buFont typeface="Arial" panose="020B0604020202020204" pitchFamily="34" charset="0"/>
              <a:buChar char="•"/>
            </a:pPr>
            <a:r>
              <a:rPr lang="en-US" sz="2000" dirty="0">
                <a:latin typeface="+mn-lt"/>
                <a:cs typeface="Arial"/>
              </a:rPr>
              <a:t>Driver interface</a:t>
            </a:r>
          </a:p>
          <a:p>
            <a:pPr marL="355600" marR="5080" indent="-342900">
              <a:spcBef>
                <a:spcPts val="100"/>
              </a:spcBef>
              <a:buFont typeface="Arial" panose="020B0604020202020204" pitchFamily="34" charset="0"/>
              <a:buChar char="•"/>
            </a:pPr>
            <a:r>
              <a:rPr lang="en-US" sz="2000" dirty="0">
                <a:latin typeface="+mn-lt"/>
                <a:cs typeface="Arial"/>
              </a:rPr>
              <a:t>Connection interface</a:t>
            </a:r>
          </a:p>
          <a:p>
            <a:pPr marL="355600" marR="5080" indent="-342900">
              <a:spcBef>
                <a:spcPts val="100"/>
              </a:spcBef>
              <a:buFont typeface="Arial" panose="020B0604020202020204" pitchFamily="34" charset="0"/>
              <a:buChar char="•"/>
            </a:pPr>
            <a:r>
              <a:rPr lang="en-US" sz="2000" dirty="0">
                <a:latin typeface="+mn-lt"/>
                <a:cs typeface="Arial"/>
              </a:rPr>
              <a:t>Statement interface</a:t>
            </a:r>
          </a:p>
          <a:p>
            <a:pPr marL="355600" marR="5080" indent="-342900">
              <a:spcBef>
                <a:spcPts val="100"/>
              </a:spcBef>
              <a:buFont typeface="Arial" panose="020B0604020202020204" pitchFamily="34" charset="0"/>
              <a:buChar char="•"/>
            </a:pPr>
            <a:r>
              <a:rPr lang="en-US" sz="2000" dirty="0">
                <a:latin typeface="+mn-lt"/>
                <a:cs typeface="Arial"/>
              </a:rPr>
              <a:t>Prepared Statement interface</a:t>
            </a:r>
          </a:p>
          <a:p>
            <a:pPr marL="355600" marR="5080" indent="-342900">
              <a:spcBef>
                <a:spcPts val="100"/>
              </a:spcBef>
              <a:buFont typeface="Arial" panose="020B0604020202020204" pitchFamily="34" charset="0"/>
              <a:buChar char="•"/>
            </a:pPr>
            <a:r>
              <a:rPr lang="en-US" sz="2000" dirty="0">
                <a:latin typeface="+mn-lt"/>
                <a:cs typeface="Arial"/>
              </a:rPr>
              <a:t>Callable statement interface</a:t>
            </a:r>
          </a:p>
          <a:p>
            <a:pPr marL="355600" marR="5080" indent="-342900">
              <a:spcBef>
                <a:spcPts val="100"/>
              </a:spcBef>
              <a:buFont typeface="Arial" panose="020B0604020202020204" pitchFamily="34" charset="0"/>
              <a:buChar char="•"/>
            </a:pPr>
            <a:r>
              <a:rPr lang="en-US" sz="2000" dirty="0">
                <a:latin typeface="+mn-lt"/>
                <a:cs typeface="Arial"/>
              </a:rPr>
              <a:t>Result Set interface</a:t>
            </a:r>
          </a:p>
          <a:p>
            <a:pPr marL="355600" marR="5080" indent="-342900">
              <a:spcBef>
                <a:spcPts val="100"/>
              </a:spcBef>
              <a:buFont typeface="Arial" panose="020B0604020202020204" pitchFamily="34" charset="0"/>
              <a:buChar char="•"/>
            </a:pPr>
            <a:r>
              <a:rPr lang="en-US" sz="2000" dirty="0">
                <a:latin typeface="+mn-lt"/>
                <a:cs typeface="Arial"/>
              </a:rPr>
              <a:t>Result Set </a:t>
            </a:r>
            <a:r>
              <a:rPr lang="en-US" sz="2000" dirty="0" err="1">
                <a:latin typeface="+mn-lt"/>
                <a:cs typeface="Arial"/>
              </a:rPr>
              <a:t>MetaData</a:t>
            </a:r>
            <a:r>
              <a:rPr lang="en-US" sz="2000" dirty="0">
                <a:latin typeface="+mn-lt"/>
                <a:cs typeface="Arial"/>
              </a:rPr>
              <a:t> interface</a:t>
            </a:r>
          </a:p>
          <a:p>
            <a:pPr marL="355600" marR="5080" indent="-342900">
              <a:spcBef>
                <a:spcPts val="100"/>
              </a:spcBef>
              <a:buFont typeface="Arial" panose="020B0604020202020204" pitchFamily="34" charset="0"/>
              <a:buChar char="•"/>
            </a:pPr>
            <a:r>
              <a:rPr lang="en-US" sz="2000" dirty="0">
                <a:latin typeface="+mn-lt"/>
                <a:cs typeface="Arial"/>
              </a:rPr>
              <a:t>Database </a:t>
            </a:r>
            <a:r>
              <a:rPr lang="en-US" sz="2000" dirty="0" err="1">
                <a:latin typeface="+mn-lt"/>
                <a:cs typeface="Arial"/>
              </a:rPr>
              <a:t>MetaData</a:t>
            </a:r>
            <a:r>
              <a:rPr lang="en-US" sz="2000" dirty="0">
                <a:latin typeface="+mn-lt"/>
                <a:cs typeface="Arial"/>
              </a:rPr>
              <a:t> interface</a:t>
            </a:r>
          </a:p>
          <a:p>
            <a:pPr marL="355600" marR="5080" indent="-342900">
              <a:spcBef>
                <a:spcPts val="100"/>
              </a:spcBef>
              <a:buFont typeface="Arial" panose="020B0604020202020204" pitchFamily="34" charset="0"/>
              <a:buChar char="•"/>
            </a:pPr>
            <a:r>
              <a:rPr lang="en-US" sz="2000" dirty="0" err="1">
                <a:latin typeface="+mn-lt"/>
                <a:cs typeface="Arial"/>
              </a:rPr>
              <a:t>Rowset</a:t>
            </a:r>
            <a:r>
              <a:rPr lang="en-US" sz="2000" dirty="0">
                <a:latin typeface="+mn-lt"/>
                <a:cs typeface="Arial"/>
              </a:rPr>
              <a:t> interface</a:t>
            </a:r>
            <a:endParaRPr sz="2000" dirty="0">
              <a:latin typeface="+mn-lt"/>
              <a:cs typeface="Arial"/>
            </a:endParaRPr>
          </a:p>
        </p:txBody>
      </p:sp>
      <p:pic>
        <p:nvPicPr>
          <p:cNvPr id="4" name="object 4"/>
          <p:cNvPicPr/>
          <p:nvPr/>
        </p:nvPicPr>
        <p:blipFill>
          <a:blip r:embed="rId2" cstate="print"/>
          <a:stretch>
            <a:fillRect/>
          </a:stretch>
        </p:blipFill>
        <p:spPr>
          <a:xfrm>
            <a:off x="8317992" y="6031991"/>
            <a:ext cx="609600" cy="609599"/>
          </a:xfrm>
          <a:prstGeom prst="rect">
            <a:avLst/>
          </a:prstGeom>
        </p:spPr>
      </p:pic>
      <p:sp>
        <p:nvSpPr>
          <p:cNvPr id="7" name="Title 6">
            <a:extLst>
              <a:ext uri="{FF2B5EF4-FFF2-40B4-BE49-F238E27FC236}">
                <a16:creationId xmlns:a16="http://schemas.microsoft.com/office/drawing/2014/main" id="{7C45158D-8068-183E-FC99-29831BBBDB0E}"/>
              </a:ext>
            </a:extLst>
          </p:cNvPr>
          <p:cNvSpPr>
            <a:spLocks noGrp="1"/>
          </p:cNvSpPr>
          <p:nvPr>
            <p:ph type="title"/>
          </p:nvPr>
        </p:nvSpPr>
        <p:spPr>
          <a:xfrm>
            <a:off x="269241" y="1696592"/>
            <a:ext cx="8493760" cy="430887"/>
          </a:xfrm>
        </p:spPr>
        <p:txBody>
          <a:bodyPr/>
          <a:lstStyle/>
          <a:p>
            <a:r>
              <a:rPr lang="en-US" b="1" dirty="0">
                <a:latin typeface="Calibri" panose="020F0502020204030204" pitchFamily="34" charset="0"/>
                <a:ea typeface="Calibri" panose="020F0502020204030204" pitchFamily="34" charset="0"/>
                <a:cs typeface="Calibri" panose="020F0502020204030204" pitchFamily="34" charset="0"/>
              </a:rPr>
              <a:t>Interfaces of JDBC API                       Classes of JDBC API</a:t>
            </a:r>
            <a:endParaRPr lang="en-IN" b="1" dirty="0">
              <a:latin typeface="Calibri" panose="020F0502020204030204" pitchFamily="34" charset="0"/>
              <a:ea typeface="Calibri" panose="020F0502020204030204" pitchFamily="34" charset="0"/>
              <a:cs typeface="Calibri" panose="020F0502020204030204" pitchFamily="34" charset="0"/>
            </a:endParaRPr>
          </a:p>
        </p:txBody>
      </p:sp>
      <p:sp>
        <p:nvSpPr>
          <p:cNvPr id="9" name="TextBox 8">
            <a:extLst>
              <a:ext uri="{FF2B5EF4-FFF2-40B4-BE49-F238E27FC236}">
                <a16:creationId xmlns:a16="http://schemas.microsoft.com/office/drawing/2014/main" id="{1CF0D105-1F4C-E00B-A41F-3EDB83A423B1}"/>
              </a:ext>
            </a:extLst>
          </p:cNvPr>
          <p:cNvSpPr txBox="1"/>
          <p:nvPr/>
        </p:nvSpPr>
        <p:spPr>
          <a:xfrm>
            <a:off x="5422392" y="2590800"/>
            <a:ext cx="3505200" cy="1200329"/>
          </a:xfrm>
          <a:prstGeom prst="rect">
            <a:avLst/>
          </a:prstGeom>
          <a:noFill/>
        </p:spPr>
        <p:txBody>
          <a:bodyPr wrap="square" rtlCol="0">
            <a:spAutoFit/>
          </a:bodyPr>
          <a:lstStyle/>
          <a:p>
            <a:pPr marL="285750" indent="-285750">
              <a:buFont typeface="Arial" panose="020B0604020202020204" pitchFamily="34" charset="0"/>
              <a:buChar char="•"/>
            </a:pPr>
            <a:r>
              <a:rPr lang="en-US" dirty="0"/>
              <a:t>Driver Manager class</a:t>
            </a:r>
          </a:p>
          <a:p>
            <a:pPr marL="285750" indent="-285750">
              <a:buFont typeface="Arial" panose="020B0604020202020204" pitchFamily="34" charset="0"/>
              <a:buChar char="•"/>
            </a:pPr>
            <a:r>
              <a:rPr lang="en-US" dirty="0"/>
              <a:t>Blob </a:t>
            </a:r>
            <a:r>
              <a:rPr lang="en-US" dirty="0" err="1"/>
              <a:t>clas</a:t>
            </a:r>
            <a:r>
              <a:rPr lang="en-IN" dirty="0"/>
              <a:t>s</a:t>
            </a:r>
          </a:p>
          <a:p>
            <a:pPr marL="285750" indent="-285750">
              <a:buFont typeface="Arial" panose="020B0604020202020204" pitchFamily="34" charset="0"/>
              <a:buChar char="•"/>
            </a:pPr>
            <a:r>
              <a:rPr lang="en-IN" dirty="0" err="1"/>
              <a:t>Clob</a:t>
            </a:r>
            <a:r>
              <a:rPr lang="en-IN" dirty="0"/>
              <a:t> class</a:t>
            </a:r>
          </a:p>
          <a:p>
            <a:pPr marL="285750" indent="-285750">
              <a:buFont typeface="Arial" panose="020B0604020202020204" pitchFamily="34" charset="0"/>
              <a:buChar char="•"/>
            </a:pPr>
            <a:r>
              <a:rPr lang="en-IN" dirty="0"/>
              <a:t>Types class</a:t>
            </a:r>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69240" y="1696592"/>
            <a:ext cx="8605519" cy="443070"/>
          </a:xfrm>
          <a:prstGeom prst="rect">
            <a:avLst/>
          </a:prstGeom>
        </p:spPr>
        <p:txBody>
          <a:bodyPr vert="horz" wrap="square" lIns="0" tIns="12065" rIns="0" bIns="0" rtlCol="0">
            <a:spAutoFit/>
          </a:bodyPr>
          <a:lstStyle/>
          <a:p>
            <a:pPr marL="2006600">
              <a:lnSpc>
                <a:spcPct val="100000"/>
              </a:lnSpc>
              <a:spcBef>
                <a:spcPts val="95"/>
              </a:spcBef>
            </a:pPr>
            <a:r>
              <a:rPr lang="en-US" b="1" spc="-10" dirty="0">
                <a:latin typeface="Calibri" panose="020F0502020204030204" pitchFamily="34" charset="0"/>
                <a:ea typeface="Calibri" panose="020F0502020204030204" pitchFamily="34" charset="0"/>
                <a:cs typeface="Calibri" panose="020F0502020204030204" pitchFamily="34" charset="0"/>
              </a:rPr>
              <a:t>Class </a:t>
            </a:r>
            <a:r>
              <a:rPr lang="en-US" b="1" spc="-10" dirty="0" err="1">
                <a:latin typeface="Calibri" panose="020F0502020204030204" pitchFamily="34" charset="0"/>
                <a:ea typeface="Calibri" panose="020F0502020204030204" pitchFamily="34" charset="0"/>
                <a:cs typeface="Calibri" panose="020F0502020204030204" pitchFamily="34" charset="0"/>
              </a:rPr>
              <a:t>forName</a:t>
            </a:r>
            <a:r>
              <a:rPr lang="en-US" b="1" spc="-10" dirty="0">
                <a:latin typeface="Calibri" panose="020F0502020204030204" pitchFamily="34" charset="0"/>
                <a:ea typeface="Calibri" panose="020F0502020204030204" pitchFamily="34" charset="0"/>
                <a:cs typeface="Calibri" panose="020F0502020204030204" pitchFamily="34" charset="0"/>
              </a:rPr>
              <a:t>() method</a:t>
            </a:r>
            <a:endParaRPr b="1" spc="-10" dirty="0">
              <a:latin typeface="Calibri" panose="020F0502020204030204" pitchFamily="34" charset="0"/>
              <a:ea typeface="Calibri" panose="020F0502020204030204" pitchFamily="34" charset="0"/>
              <a:cs typeface="Calibri" panose="020F0502020204030204" pitchFamily="34" charset="0"/>
            </a:endParaRPr>
          </a:p>
        </p:txBody>
      </p:sp>
      <p:sp>
        <p:nvSpPr>
          <p:cNvPr id="3" name="object 3"/>
          <p:cNvSpPr txBox="1">
            <a:spLocks noGrp="1"/>
          </p:cNvSpPr>
          <p:nvPr>
            <p:ph type="body" idx="1"/>
          </p:nvPr>
        </p:nvSpPr>
        <p:spPr>
          <a:xfrm>
            <a:off x="457200" y="2438400"/>
            <a:ext cx="8001000" cy="3761030"/>
          </a:xfrm>
          <a:prstGeom prst="rect">
            <a:avLst/>
          </a:prstGeom>
        </p:spPr>
        <p:txBody>
          <a:bodyPr vert="horz" wrap="square" lIns="0" tIns="12700" rIns="0" bIns="0" rtlCol="0">
            <a:spAutoFit/>
          </a:bodyPr>
          <a:lstStyle/>
          <a:p>
            <a:pPr marL="355600" marR="5080" indent="-342900" algn="just">
              <a:spcBef>
                <a:spcPts val="100"/>
              </a:spcBef>
              <a:buFont typeface="Arial" panose="020B0604020202020204" pitchFamily="34" charset="0"/>
              <a:buChar char="•"/>
            </a:pPr>
            <a:r>
              <a:rPr lang="en-IN" sz="2000" dirty="0">
                <a:latin typeface="Calibri" panose="020F0502020204030204" pitchFamily="34" charset="0"/>
                <a:ea typeface="Calibri" panose="020F0502020204030204" pitchFamily="34" charset="0"/>
                <a:cs typeface="Calibri" panose="020F0502020204030204" pitchFamily="34" charset="0"/>
              </a:rPr>
              <a:t>This </a:t>
            </a:r>
            <a:r>
              <a:rPr lang="en-IN" sz="2000" dirty="0" err="1">
                <a:latin typeface="Calibri" panose="020F0502020204030204" pitchFamily="34" charset="0"/>
                <a:ea typeface="Calibri" panose="020F0502020204030204" pitchFamily="34" charset="0"/>
                <a:cs typeface="Calibri" panose="020F0502020204030204" pitchFamily="34" charset="0"/>
              </a:rPr>
              <a:t>forName</a:t>
            </a:r>
            <a:r>
              <a:rPr lang="en-IN" sz="2000" dirty="0">
                <a:latin typeface="Calibri" panose="020F0502020204030204" pitchFamily="34" charset="0"/>
                <a:ea typeface="Calibri" panose="020F0502020204030204" pitchFamily="34" charset="0"/>
                <a:cs typeface="Calibri" panose="020F0502020204030204" pitchFamily="34" charset="0"/>
              </a:rPr>
              <a:t>() method of </a:t>
            </a:r>
            <a:r>
              <a:rPr lang="en-IN" sz="2000" dirty="0" err="1">
                <a:latin typeface="Calibri" panose="020F0502020204030204" pitchFamily="34" charset="0"/>
                <a:ea typeface="Calibri" panose="020F0502020204030204" pitchFamily="34" charset="0"/>
                <a:cs typeface="Calibri" panose="020F0502020204030204" pitchFamily="34" charset="0"/>
              </a:rPr>
              <a:t>java.lang.Class</a:t>
            </a:r>
            <a:r>
              <a:rPr lang="en-IN" sz="2000" dirty="0">
                <a:latin typeface="Calibri" panose="020F0502020204030204" pitchFamily="34" charset="0"/>
                <a:ea typeface="Calibri" panose="020F0502020204030204" pitchFamily="34" charset="0"/>
                <a:cs typeface="Calibri" panose="020F0502020204030204" pitchFamily="34" charset="0"/>
              </a:rPr>
              <a:t> class is used to get the instance of this class with the specified class name.</a:t>
            </a:r>
          </a:p>
          <a:p>
            <a:pPr marL="355600" marR="5080" indent="-342900" algn="just">
              <a:spcBef>
                <a:spcPts val="100"/>
              </a:spcBef>
              <a:buFont typeface="Arial" panose="020B0604020202020204" pitchFamily="34" charset="0"/>
              <a:buChar char="•"/>
            </a:pPr>
            <a:r>
              <a:rPr lang="en-IN" sz="2000" dirty="0">
                <a:latin typeface="Calibri" panose="020F0502020204030204" pitchFamily="34" charset="0"/>
                <a:ea typeface="Calibri" panose="020F0502020204030204" pitchFamily="34" charset="0"/>
                <a:cs typeface="Calibri" panose="020F0502020204030204" pitchFamily="34" charset="0"/>
              </a:rPr>
              <a:t>This class name is specified as the string parameter. </a:t>
            </a:r>
          </a:p>
          <a:p>
            <a:pPr marL="12700" marR="5080" algn="just">
              <a:lnSpc>
                <a:spcPct val="150000"/>
              </a:lnSpc>
              <a:spcBef>
                <a:spcPts val="100"/>
              </a:spcBef>
            </a:pPr>
            <a:r>
              <a:rPr lang="en-IN" sz="2000" b="1" dirty="0"/>
              <a:t>Syntax</a:t>
            </a:r>
          </a:p>
          <a:p>
            <a:pPr marL="12700" marR="5080" algn="just">
              <a:spcBef>
                <a:spcPts val="100"/>
              </a:spcBef>
            </a:pPr>
            <a:r>
              <a:rPr lang="en-IN" sz="2000" dirty="0">
                <a:latin typeface="Calibri" panose="020F0502020204030204" pitchFamily="34" charset="0"/>
                <a:ea typeface="Calibri" panose="020F0502020204030204" pitchFamily="34" charset="0"/>
                <a:cs typeface="Calibri" panose="020F0502020204030204" pitchFamily="34" charset="0"/>
              </a:rPr>
              <a:t>Public static Class&lt;T&gt; </a:t>
            </a:r>
            <a:r>
              <a:rPr lang="en-IN" sz="2000" dirty="0" err="1">
                <a:latin typeface="Calibri" panose="020F0502020204030204" pitchFamily="34" charset="0"/>
                <a:ea typeface="Calibri" panose="020F0502020204030204" pitchFamily="34" charset="0"/>
                <a:cs typeface="Calibri" panose="020F0502020204030204" pitchFamily="34" charset="0"/>
              </a:rPr>
              <a:t>forName</a:t>
            </a:r>
            <a:r>
              <a:rPr lang="en-IN" sz="2000" dirty="0">
                <a:latin typeface="Calibri" panose="020F0502020204030204" pitchFamily="34" charset="0"/>
                <a:ea typeface="Calibri" panose="020F0502020204030204" pitchFamily="34" charset="0"/>
                <a:cs typeface="Calibri" panose="020F0502020204030204" pitchFamily="34" charset="0"/>
              </a:rPr>
              <a:t>(String </a:t>
            </a:r>
            <a:r>
              <a:rPr lang="en-IN" sz="2000" dirty="0" err="1">
                <a:latin typeface="Calibri" panose="020F0502020204030204" pitchFamily="34" charset="0"/>
                <a:ea typeface="Calibri" panose="020F0502020204030204" pitchFamily="34" charset="0"/>
                <a:cs typeface="Calibri" panose="020F0502020204030204" pitchFamily="34" charset="0"/>
              </a:rPr>
              <a:t>className</a:t>
            </a:r>
            <a:r>
              <a:rPr lang="en-IN" sz="2000" dirty="0">
                <a:latin typeface="Calibri" panose="020F0502020204030204" pitchFamily="34" charset="0"/>
                <a:ea typeface="Calibri" panose="020F0502020204030204" pitchFamily="34" charset="0"/>
                <a:cs typeface="Calibri" panose="020F0502020204030204" pitchFamily="34" charset="0"/>
              </a:rPr>
              <a:t>) throws  </a:t>
            </a:r>
          </a:p>
          <a:p>
            <a:pPr marL="12700" marR="5080" algn="just">
              <a:spcBef>
                <a:spcPts val="100"/>
              </a:spcBef>
            </a:pPr>
            <a:r>
              <a:rPr lang="en-IN" sz="2000" dirty="0" err="1">
                <a:latin typeface="Calibri" panose="020F0502020204030204" pitchFamily="34" charset="0"/>
                <a:ea typeface="Calibri" panose="020F0502020204030204" pitchFamily="34" charset="0"/>
                <a:cs typeface="Calibri" panose="020F0502020204030204" pitchFamily="34" charset="0"/>
              </a:rPr>
              <a:t>ClassNotFoundException</a:t>
            </a:r>
            <a:endParaRPr lang="en-IN" sz="2000" dirty="0">
              <a:latin typeface="Calibri" panose="020F0502020204030204" pitchFamily="34" charset="0"/>
              <a:ea typeface="Calibri" panose="020F0502020204030204" pitchFamily="34" charset="0"/>
              <a:cs typeface="Calibri" panose="020F0502020204030204" pitchFamily="34" charset="0"/>
            </a:endParaRPr>
          </a:p>
          <a:p>
            <a:pPr marL="12700" marR="5080" algn="just">
              <a:spcBef>
                <a:spcPts val="100"/>
              </a:spcBef>
            </a:pPr>
            <a:endParaRPr lang="en-IN" sz="2000" dirty="0">
              <a:latin typeface="Calibri" panose="020F0502020204030204" pitchFamily="34" charset="0"/>
              <a:ea typeface="Calibri" panose="020F0502020204030204" pitchFamily="34" charset="0"/>
              <a:cs typeface="Calibri" panose="020F0502020204030204" pitchFamily="34" charset="0"/>
            </a:endParaRPr>
          </a:p>
          <a:p>
            <a:pPr marL="12700" marR="5080" algn="just">
              <a:lnSpc>
                <a:spcPct val="150000"/>
              </a:lnSpc>
              <a:spcBef>
                <a:spcPts val="100"/>
              </a:spcBef>
            </a:pPr>
            <a:r>
              <a:rPr lang="en-IN" sz="2000" b="1" dirty="0">
                <a:latin typeface="Calibri" panose="020F0502020204030204" pitchFamily="34" charset="0"/>
                <a:ea typeface="Calibri" panose="020F0502020204030204" pitchFamily="34" charset="0"/>
                <a:cs typeface="Calibri" panose="020F0502020204030204" pitchFamily="34" charset="0"/>
              </a:rPr>
              <a:t>Example</a:t>
            </a:r>
          </a:p>
          <a:p>
            <a:pPr marL="12700" marR="5080" algn="just">
              <a:lnSpc>
                <a:spcPct val="150000"/>
              </a:lnSpc>
              <a:spcBef>
                <a:spcPts val="100"/>
              </a:spcBef>
            </a:pPr>
            <a:r>
              <a:rPr lang="en-IN" sz="2000" dirty="0" err="1">
                <a:latin typeface="Calibri" panose="020F0502020204030204" pitchFamily="34" charset="0"/>
                <a:ea typeface="Calibri" panose="020F0502020204030204" pitchFamily="34" charset="0"/>
                <a:cs typeface="Calibri" panose="020F0502020204030204" pitchFamily="34" charset="0"/>
              </a:rPr>
              <a:t>class.forName</a:t>
            </a:r>
            <a:r>
              <a:rPr lang="en-IN" sz="2000" dirty="0">
                <a:latin typeface="Calibri" panose="020F0502020204030204" pitchFamily="34" charset="0"/>
                <a:ea typeface="Calibri" panose="020F0502020204030204" pitchFamily="34" charset="0"/>
                <a:cs typeface="Calibri" panose="020F0502020204030204" pitchFamily="34" charset="0"/>
              </a:rPr>
              <a:t>(“</a:t>
            </a:r>
            <a:r>
              <a:rPr lang="en-IN" sz="2000" dirty="0" err="1">
                <a:latin typeface="Calibri" panose="020F0502020204030204" pitchFamily="34" charset="0"/>
                <a:ea typeface="Calibri" panose="020F0502020204030204" pitchFamily="34" charset="0"/>
                <a:cs typeface="Calibri" panose="020F0502020204030204" pitchFamily="34" charset="0"/>
              </a:rPr>
              <a:t>com.mysql.cj.jdbc.Driver</a:t>
            </a:r>
            <a:r>
              <a:rPr lang="en-IN" sz="2000" dirty="0">
                <a:latin typeface="Calibri" panose="020F0502020204030204" pitchFamily="34" charset="0"/>
                <a:ea typeface="Calibri" panose="020F0502020204030204" pitchFamily="34" charset="0"/>
                <a:cs typeface="Calibri" panose="020F0502020204030204" pitchFamily="34" charset="0"/>
              </a:rPr>
              <a:t>”) -&gt; For </a:t>
            </a:r>
            <a:r>
              <a:rPr lang="en-IN" sz="2000" dirty="0" err="1">
                <a:latin typeface="Calibri" panose="020F0502020204030204" pitchFamily="34" charset="0"/>
                <a:ea typeface="Calibri" panose="020F0502020204030204" pitchFamily="34" charset="0"/>
                <a:cs typeface="Calibri" panose="020F0502020204030204" pitchFamily="34" charset="0"/>
              </a:rPr>
              <a:t>MySql</a:t>
            </a:r>
            <a:r>
              <a:rPr lang="en-IN" sz="2000" dirty="0">
                <a:latin typeface="Calibri" panose="020F0502020204030204" pitchFamily="34" charset="0"/>
                <a:ea typeface="Calibri" panose="020F0502020204030204" pitchFamily="34" charset="0"/>
                <a:cs typeface="Calibri" panose="020F0502020204030204" pitchFamily="34" charset="0"/>
              </a:rPr>
              <a:t> Connectivity</a:t>
            </a:r>
          </a:p>
          <a:p>
            <a:pPr marL="12700" marR="5080" algn="just">
              <a:lnSpc>
                <a:spcPct val="150000"/>
              </a:lnSpc>
              <a:spcBef>
                <a:spcPts val="100"/>
              </a:spcBef>
            </a:pPr>
            <a:r>
              <a:rPr lang="en-IN" sz="2000" dirty="0" err="1">
                <a:latin typeface="Calibri" panose="020F0502020204030204" pitchFamily="34" charset="0"/>
                <a:ea typeface="Calibri" panose="020F0502020204030204" pitchFamily="34" charset="0"/>
                <a:cs typeface="Calibri" panose="020F0502020204030204" pitchFamily="34" charset="0"/>
              </a:rPr>
              <a:t>class.forName</a:t>
            </a:r>
            <a:r>
              <a:rPr lang="en-IN" sz="2000" dirty="0">
                <a:latin typeface="Calibri" panose="020F0502020204030204" pitchFamily="34" charset="0"/>
                <a:ea typeface="Calibri" panose="020F0502020204030204" pitchFamily="34" charset="0"/>
                <a:cs typeface="Calibri" panose="020F0502020204030204" pitchFamily="34" charset="0"/>
              </a:rPr>
              <a:t>(“</a:t>
            </a:r>
            <a:r>
              <a:rPr lang="en-IN" sz="2000" dirty="0" err="1">
                <a:latin typeface="Calibri" panose="020F0502020204030204" pitchFamily="34" charset="0"/>
                <a:ea typeface="Calibri" panose="020F0502020204030204" pitchFamily="34" charset="0"/>
                <a:cs typeface="Calibri" panose="020F0502020204030204" pitchFamily="34" charset="0"/>
              </a:rPr>
              <a:t>oracle.jdbc.driver.OracleDriver</a:t>
            </a:r>
            <a:r>
              <a:rPr lang="en-IN" sz="2000" dirty="0">
                <a:latin typeface="Calibri" panose="020F0502020204030204" pitchFamily="34" charset="0"/>
                <a:ea typeface="Calibri" panose="020F0502020204030204" pitchFamily="34" charset="0"/>
                <a:cs typeface="Calibri" panose="020F0502020204030204" pitchFamily="34" charset="0"/>
              </a:rPr>
              <a:t>”) -&gt; For Oracle connectivity</a:t>
            </a:r>
            <a:endParaRPr sz="2000" dirty="0">
              <a:latin typeface="Calibri" panose="020F0502020204030204" pitchFamily="34" charset="0"/>
              <a:ea typeface="Calibri" panose="020F0502020204030204" pitchFamily="34" charset="0"/>
              <a:cs typeface="Calibri" panose="020F0502020204030204" pitchFamily="34" charset="0"/>
            </a:endParaRPr>
          </a:p>
        </p:txBody>
      </p:sp>
      <p:pic>
        <p:nvPicPr>
          <p:cNvPr id="4" name="object 4"/>
          <p:cNvPicPr/>
          <p:nvPr/>
        </p:nvPicPr>
        <p:blipFill>
          <a:blip r:embed="rId2" cstate="print"/>
          <a:stretch>
            <a:fillRect/>
          </a:stretch>
        </p:blipFill>
        <p:spPr>
          <a:xfrm>
            <a:off x="8317992" y="6031991"/>
            <a:ext cx="609600" cy="609599"/>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7273" y="1600621"/>
            <a:ext cx="8605519" cy="566181"/>
          </a:xfrm>
          <a:prstGeom prst="rect">
            <a:avLst/>
          </a:prstGeom>
        </p:spPr>
        <p:txBody>
          <a:bodyPr vert="horz" wrap="square" lIns="0" tIns="12065" rIns="0" bIns="0" rtlCol="0">
            <a:spAutoFit/>
          </a:bodyPr>
          <a:lstStyle/>
          <a:p>
            <a:pPr marL="2046605">
              <a:lnSpc>
                <a:spcPct val="100000"/>
              </a:lnSpc>
              <a:spcBef>
                <a:spcPts val="95"/>
              </a:spcBef>
            </a:pPr>
            <a:r>
              <a:rPr lang="en-US" sz="3600" b="1" spc="-10" dirty="0">
                <a:latin typeface="Calibri" panose="020F0502020204030204" pitchFamily="34" charset="0"/>
                <a:ea typeface="Calibri" panose="020F0502020204030204" pitchFamily="34" charset="0"/>
                <a:cs typeface="Calibri" panose="020F0502020204030204" pitchFamily="34" charset="0"/>
              </a:rPr>
              <a:t>Driver</a:t>
            </a:r>
            <a:r>
              <a:rPr lang="en-US" sz="3200" b="1" spc="-10" dirty="0">
                <a:latin typeface="Calibri" panose="020F0502020204030204" pitchFamily="34" charset="0"/>
                <a:ea typeface="Calibri" panose="020F0502020204030204" pitchFamily="34" charset="0"/>
                <a:cs typeface="Calibri" panose="020F0502020204030204" pitchFamily="34" charset="0"/>
              </a:rPr>
              <a:t> Manager</a:t>
            </a:r>
            <a:endParaRPr sz="3200" b="1" spc="-10" dirty="0">
              <a:latin typeface="Calibri" panose="020F0502020204030204" pitchFamily="34" charset="0"/>
              <a:ea typeface="Calibri" panose="020F0502020204030204" pitchFamily="34" charset="0"/>
              <a:cs typeface="Calibri" panose="020F0502020204030204" pitchFamily="34" charset="0"/>
            </a:endParaRPr>
          </a:p>
        </p:txBody>
      </p:sp>
      <p:sp>
        <p:nvSpPr>
          <p:cNvPr id="9" name="TextBox 8">
            <a:extLst>
              <a:ext uri="{FF2B5EF4-FFF2-40B4-BE49-F238E27FC236}">
                <a16:creationId xmlns:a16="http://schemas.microsoft.com/office/drawing/2014/main" id="{C4A2DA6D-7CDC-53C3-F786-78EC062FDBA6}"/>
              </a:ext>
            </a:extLst>
          </p:cNvPr>
          <p:cNvSpPr txBox="1"/>
          <p:nvPr/>
        </p:nvSpPr>
        <p:spPr>
          <a:xfrm>
            <a:off x="304800" y="2286000"/>
            <a:ext cx="8241792" cy="4308872"/>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mn-lt"/>
              </a:rPr>
              <a:t>The </a:t>
            </a:r>
            <a:r>
              <a:rPr lang="en-US" dirty="0" err="1">
                <a:latin typeface="+mn-lt"/>
              </a:rPr>
              <a:t>DriverManager</a:t>
            </a:r>
            <a:r>
              <a:rPr lang="en-US" dirty="0">
                <a:latin typeface="+mn-lt"/>
              </a:rPr>
              <a:t> class is the main component of JDBC API.</a:t>
            </a:r>
          </a:p>
          <a:p>
            <a:pPr marL="285750" indent="-285750">
              <a:buFont typeface="Arial" panose="020B0604020202020204" pitchFamily="34" charset="0"/>
              <a:buChar char="•"/>
            </a:pPr>
            <a:r>
              <a:rPr lang="en-US" dirty="0">
                <a:latin typeface="+mn-lt"/>
              </a:rPr>
              <a:t>The </a:t>
            </a:r>
            <a:r>
              <a:rPr lang="en-US" dirty="0" err="1">
                <a:latin typeface="+mn-lt"/>
              </a:rPr>
              <a:t>DriverManager</a:t>
            </a:r>
            <a:r>
              <a:rPr lang="en-US" dirty="0">
                <a:latin typeface="+mn-lt"/>
              </a:rPr>
              <a:t> class acts as an interface between users and drivers.</a:t>
            </a:r>
          </a:p>
          <a:p>
            <a:pPr marL="285750" indent="-285750">
              <a:buFont typeface="Arial" panose="020B0604020202020204" pitchFamily="34" charset="0"/>
              <a:buChar char="•"/>
            </a:pPr>
            <a:r>
              <a:rPr lang="en-US" dirty="0">
                <a:latin typeface="+mn-lt"/>
              </a:rPr>
              <a:t>It keeps track of the drivers that are available and handles establishing a connection between a database and the appropriate driver.</a:t>
            </a:r>
          </a:p>
          <a:p>
            <a:pPr marL="285750" indent="-285750">
              <a:buFont typeface="Arial" panose="020B0604020202020204" pitchFamily="34" charset="0"/>
              <a:buChar char="•"/>
            </a:pPr>
            <a:r>
              <a:rPr lang="en-US" dirty="0">
                <a:latin typeface="+mn-lt"/>
              </a:rPr>
              <a:t>It also contains all the appropriate methods to register and deregister the database driver class and to create a connection between a Java application and the database.</a:t>
            </a:r>
          </a:p>
          <a:p>
            <a:r>
              <a:rPr lang="en-US" sz="2000" b="1" dirty="0">
                <a:latin typeface="+mn-lt"/>
              </a:rPr>
              <a:t>Methods:</a:t>
            </a:r>
          </a:p>
          <a:p>
            <a:r>
              <a:rPr lang="en-US" dirty="0">
                <a:latin typeface="+mn-lt"/>
              </a:rPr>
              <a:t>public static void </a:t>
            </a:r>
            <a:r>
              <a:rPr lang="en-US" dirty="0" err="1">
                <a:latin typeface="+mn-lt"/>
              </a:rPr>
              <a:t>registerDriver</a:t>
            </a:r>
            <a:r>
              <a:rPr lang="en-US" dirty="0">
                <a:latin typeface="+mn-lt"/>
              </a:rPr>
              <a:t>(Driver driver)</a:t>
            </a:r>
          </a:p>
          <a:p>
            <a:r>
              <a:rPr lang="en-US" dirty="0">
                <a:latin typeface="+mn-lt"/>
              </a:rPr>
              <a:t>public static void </a:t>
            </a:r>
            <a:r>
              <a:rPr lang="en-US" dirty="0" err="1">
                <a:latin typeface="+mn-lt"/>
              </a:rPr>
              <a:t>deregisterDriver</a:t>
            </a:r>
            <a:r>
              <a:rPr lang="en-US" dirty="0">
                <a:latin typeface="+mn-lt"/>
              </a:rPr>
              <a:t>(Driver driver)</a:t>
            </a:r>
          </a:p>
          <a:p>
            <a:r>
              <a:rPr lang="en-US" dirty="0">
                <a:latin typeface="+mn-lt"/>
              </a:rPr>
              <a:t>public static Connection </a:t>
            </a:r>
            <a:r>
              <a:rPr lang="en-US" dirty="0" err="1">
                <a:latin typeface="+mn-lt"/>
              </a:rPr>
              <a:t>getConnection</a:t>
            </a:r>
            <a:r>
              <a:rPr lang="en-US" dirty="0">
                <a:latin typeface="+mn-lt"/>
              </a:rPr>
              <a:t>(String </a:t>
            </a:r>
            <a:r>
              <a:rPr lang="en-US" dirty="0" err="1">
                <a:latin typeface="+mn-lt"/>
              </a:rPr>
              <a:t>Url</a:t>
            </a:r>
            <a:r>
              <a:rPr lang="en-US" dirty="0">
                <a:latin typeface="+mn-lt"/>
              </a:rPr>
              <a:t>)</a:t>
            </a:r>
          </a:p>
          <a:p>
            <a:r>
              <a:rPr lang="en-US" dirty="0">
                <a:latin typeface="+mn-lt"/>
              </a:rPr>
              <a:t>public static Connection </a:t>
            </a:r>
            <a:r>
              <a:rPr lang="en-US" dirty="0" err="1">
                <a:latin typeface="+mn-lt"/>
              </a:rPr>
              <a:t>getConnection</a:t>
            </a:r>
            <a:r>
              <a:rPr lang="en-US" dirty="0">
                <a:latin typeface="+mn-lt"/>
              </a:rPr>
              <a:t>(String </a:t>
            </a:r>
            <a:r>
              <a:rPr lang="en-US" dirty="0" err="1">
                <a:latin typeface="+mn-lt"/>
              </a:rPr>
              <a:t>Url</a:t>
            </a:r>
            <a:r>
              <a:rPr lang="en-US" dirty="0">
                <a:latin typeface="+mn-lt"/>
              </a:rPr>
              <a:t>, String username, String password)</a:t>
            </a:r>
          </a:p>
          <a:p>
            <a:r>
              <a:rPr lang="en-US" sz="2000" b="1" dirty="0">
                <a:latin typeface="+mn-lt"/>
              </a:rPr>
              <a:t>Example</a:t>
            </a:r>
          </a:p>
          <a:p>
            <a:r>
              <a:rPr lang="en-US" dirty="0">
                <a:latin typeface="+mn-lt"/>
              </a:rPr>
              <a:t>String </a:t>
            </a:r>
            <a:r>
              <a:rPr lang="en-US" dirty="0" err="1">
                <a:latin typeface="+mn-lt"/>
              </a:rPr>
              <a:t>connectionUrl</a:t>
            </a:r>
            <a:r>
              <a:rPr lang="en-US" dirty="0">
                <a:latin typeface="+mn-lt"/>
              </a:rPr>
              <a:t> = “</a:t>
            </a:r>
            <a:r>
              <a:rPr lang="en-US" dirty="0" err="1">
                <a:latin typeface="+mn-lt"/>
              </a:rPr>
              <a:t>jdbc:mysq</a:t>
            </a:r>
            <a:r>
              <a:rPr lang="en-US" dirty="0">
                <a:latin typeface="+mn-lt"/>
              </a:rPr>
              <a:t>|://localhost:3307/</a:t>
            </a:r>
            <a:r>
              <a:rPr lang="en-US" b="1" dirty="0" err="1">
                <a:latin typeface="+mn-lt"/>
              </a:rPr>
              <a:t>dbname</a:t>
            </a:r>
            <a:r>
              <a:rPr lang="en-US" dirty="0">
                <a:latin typeface="+mn-lt"/>
              </a:rPr>
              <a:t>”</a:t>
            </a:r>
          </a:p>
          <a:p>
            <a:r>
              <a:rPr lang="en-US" dirty="0">
                <a:latin typeface="+mn-lt"/>
              </a:rPr>
              <a:t>Connection conn = </a:t>
            </a:r>
            <a:r>
              <a:rPr lang="en-US" dirty="0" err="1">
                <a:latin typeface="+mn-lt"/>
              </a:rPr>
              <a:t>DriverManager.getConnection</a:t>
            </a:r>
            <a:r>
              <a:rPr lang="en-US" dirty="0">
                <a:latin typeface="+mn-lt"/>
              </a:rPr>
              <a:t>(</a:t>
            </a:r>
            <a:r>
              <a:rPr lang="en-US" dirty="0" err="1">
                <a:latin typeface="+mn-lt"/>
              </a:rPr>
              <a:t>connectionUrl</a:t>
            </a:r>
            <a:r>
              <a:rPr lang="en-US" dirty="0">
                <a:latin typeface="+mn-lt"/>
              </a:rPr>
              <a:t>, "root", "password");</a:t>
            </a:r>
            <a:endParaRPr lang="en-IN" dirty="0">
              <a:latin typeface="+mn-lt"/>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137160" y="0"/>
            <a:ext cx="9006840" cy="6858000"/>
            <a:chOff x="137160" y="0"/>
            <a:chExt cx="9006840" cy="6858000"/>
          </a:xfrm>
        </p:grpSpPr>
        <p:pic>
          <p:nvPicPr>
            <p:cNvPr id="3" name="object 3"/>
            <p:cNvPicPr/>
            <p:nvPr/>
          </p:nvPicPr>
          <p:blipFill>
            <a:blip r:embed="rId2" cstate="print"/>
            <a:stretch>
              <a:fillRect/>
            </a:stretch>
          </p:blipFill>
          <p:spPr>
            <a:xfrm>
              <a:off x="144780" y="0"/>
              <a:ext cx="8999220" cy="6857998"/>
            </a:xfrm>
            <a:prstGeom prst="rect">
              <a:avLst/>
            </a:prstGeom>
          </p:spPr>
        </p:pic>
        <p:pic>
          <p:nvPicPr>
            <p:cNvPr id="4" name="object 4"/>
            <p:cNvPicPr/>
            <p:nvPr/>
          </p:nvPicPr>
          <p:blipFill>
            <a:blip r:embed="rId3" cstate="print"/>
            <a:stretch>
              <a:fillRect/>
            </a:stretch>
          </p:blipFill>
          <p:spPr>
            <a:xfrm>
              <a:off x="1857755" y="3072383"/>
              <a:ext cx="5430012" cy="2802636"/>
            </a:xfrm>
            <a:prstGeom prst="rect">
              <a:avLst/>
            </a:prstGeom>
          </p:spPr>
        </p:pic>
        <p:sp>
          <p:nvSpPr>
            <p:cNvPr id="5" name="object 5"/>
            <p:cNvSpPr/>
            <p:nvPr/>
          </p:nvSpPr>
          <p:spPr>
            <a:xfrm>
              <a:off x="137160" y="1527047"/>
              <a:ext cx="9006840" cy="643255"/>
            </a:xfrm>
            <a:custGeom>
              <a:avLst/>
              <a:gdLst/>
              <a:ahLst/>
              <a:cxnLst/>
              <a:rect l="l" t="t" r="r" b="b"/>
              <a:pathLst>
                <a:path w="9006840" h="643255">
                  <a:moveTo>
                    <a:pt x="0" y="643127"/>
                  </a:moveTo>
                  <a:lnTo>
                    <a:pt x="9006840" y="643127"/>
                  </a:lnTo>
                  <a:lnTo>
                    <a:pt x="9006840" y="0"/>
                  </a:lnTo>
                  <a:lnTo>
                    <a:pt x="0" y="0"/>
                  </a:lnTo>
                  <a:lnTo>
                    <a:pt x="0" y="643127"/>
                  </a:lnTo>
                  <a:close/>
                </a:path>
              </a:pathLst>
            </a:custGeom>
            <a:solidFill>
              <a:srgbClr val="1F487C"/>
            </a:solidFill>
          </p:spPr>
          <p:txBody>
            <a:bodyPr wrap="square" lIns="0" tIns="0" rIns="0" bIns="0" rtlCol="0"/>
            <a:lstStyle/>
            <a:p>
              <a:endParaRPr/>
            </a:p>
          </p:txBody>
        </p:sp>
      </p:grpSp>
      <p:sp>
        <p:nvSpPr>
          <p:cNvPr id="6" name="object 6"/>
          <p:cNvSpPr txBox="1">
            <a:spLocks noGrp="1"/>
          </p:cNvSpPr>
          <p:nvPr>
            <p:ph type="title"/>
          </p:nvPr>
        </p:nvSpPr>
        <p:spPr>
          <a:xfrm>
            <a:off x="-76200" y="1565583"/>
            <a:ext cx="8605519" cy="566181"/>
          </a:xfrm>
          <a:prstGeom prst="rect">
            <a:avLst/>
          </a:prstGeom>
        </p:spPr>
        <p:txBody>
          <a:bodyPr vert="horz" wrap="square" lIns="0" tIns="12065" rIns="0" bIns="0" rtlCol="0">
            <a:spAutoFit/>
          </a:bodyPr>
          <a:lstStyle/>
          <a:p>
            <a:pPr marL="2709545">
              <a:lnSpc>
                <a:spcPct val="100000"/>
              </a:lnSpc>
              <a:spcBef>
                <a:spcPts val="95"/>
              </a:spcBef>
            </a:pPr>
            <a:r>
              <a:rPr lang="en-IN" sz="3600" b="1" spc="-10" dirty="0">
                <a:latin typeface="+mj-lt"/>
                <a:cs typeface="Arial MT"/>
              </a:rPr>
              <a:t>Connection Interface</a:t>
            </a:r>
            <a:endParaRPr sz="3600" b="1" spc="-10" dirty="0">
              <a:latin typeface="+mj-lt"/>
              <a:cs typeface="Arial MT"/>
            </a:endParaRPr>
          </a:p>
        </p:txBody>
      </p:sp>
      <p:sp>
        <p:nvSpPr>
          <p:cNvPr id="7" name="object 7"/>
          <p:cNvSpPr txBox="1">
            <a:spLocks noGrp="1"/>
          </p:cNvSpPr>
          <p:nvPr>
            <p:ph type="body" idx="1"/>
          </p:nvPr>
        </p:nvSpPr>
        <p:spPr>
          <a:xfrm>
            <a:off x="457200" y="2208838"/>
            <a:ext cx="7752080" cy="3644587"/>
          </a:xfrm>
          <a:prstGeom prst="rect">
            <a:avLst/>
          </a:prstGeom>
        </p:spPr>
        <p:txBody>
          <a:bodyPr vert="horz" wrap="square" lIns="0" tIns="149860" rIns="0" bIns="0" rtlCol="0">
            <a:spAutoFit/>
          </a:bodyPr>
          <a:lstStyle/>
          <a:p>
            <a:pPr marL="298450" indent="-285750">
              <a:lnSpc>
                <a:spcPct val="100000"/>
              </a:lnSpc>
              <a:spcBef>
                <a:spcPts val="600"/>
              </a:spcBef>
              <a:buFont typeface="Arial" panose="020B0604020202020204" pitchFamily="34" charset="0"/>
              <a:buChar char="•"/>
            </a:pPr>
            <a:r>
              <a:rPr lang="en-IN" sz="1800" dirty="0">
                <a:latin typeface="+mn-lt"/>
                <a:cs typeface="Arial"/>
              </a:rPr>
              <a:t>Connection interface is used for creating the session between the application and the database. </a:t>
            </a:r>
          </a:p>
          <a:p>
            <a:pPr marL="298450" indent="-285750">
              <a:lnSpc>
                <a:spcPct val="100000"/>
              </a:lnSpc>
              <a:spcBef>
                <a:spcPts val="600"/>
              </a:spcBef>
              <a:buFont typeface="Arial" panose="020B0604020202020204" pitchFamily="34" charset="0"/>
              <a:buChar char="•"/>
            </a:pPr>
            <a:r>
              <a:rPr lang="en-IN" sz="1800" dirty="0">
                <a:latin typeface="+mn-lt"/>
                <a:cs typeface="Arial"/>
              </a:rPr>
              <a:t>This interface contains Statement, </a:t>
            </a:r>
            <a:r>
              <a:rPr lang="en-IN" sz="1800" dirty="0" err="1">
                <a:latin typeface="+mn-lt"/>
                <a:cs typeface="Arial"/>
              </a:rPr>
              <a:t>PreparedStatement</a:t>
            </a:r>
            <a:r>
              <a:rPr lang="en-IN" sz="1800" dirty="0">
                <a:latin typeface="+mn-lt"/>
                <a:cs typeface="Arial"/>
              </a:rPr>
              <a:t> and </a:t>
            </a:r>
            <a:r>
              <a:rPr lang="en-IN" sz="1800" dirty="0" err="1">
                <a:latin typeface="+mn-lt"/>
                <a:cs typeface="Arial"/>
              </a:rPr>
              <a:t>DatabaseMetaData</a:t>
            </a:r>
            <a:r>
              <a:rPr lang="en-IN" sz="1800" dirty="0">
                <a:latin typeface="+mn-lt"/>
                <a:cs typeface="Arial"/>
              </a:rPr>
              <a:t>.</a:t>
            </a:r>
          </a:p>
          <a:p>
            <a:pPr marL="12700">
              <a:lnSpc>
                <a:spcPct val="100000"/>
              </a:lnSpc>
              <a:spcBef>
                <a:spcPts val="600"/>
              </a:spcBef>
            </a:pPr>
            <a:r>
              <a:rPr lang="en-IN" sz="2000" b="1" dirty="0">
                <a:latin typeface="+mn-lt"/>
                <a:cs typeface="Arial"/>
              </a:rPr>
              <a:t>Methods</a:t>
            </a:r>
            <a:r>
              <a:rPr lang="en-IN" sz="1800" dirty="0">
                <a:latin typeface="+mn-lt"/>
                <a:cs typeface="Arial"/>
              </a:rPr>
              <a:t> </a:t>
            </a:r>
          </a:p>
          <a:p>
            <a:pPr marL="12700">
              <a:lnSpc>
                <a:spcPct val="100000"/>
              </a:lnSpc>
              <a:spcBef>
                <a:spcPts val="600"/>
              </a:spcBef>
            </a:pPr>
            <a:r>
              <a:rPr lang="en-IN" sz="1800" dirty="0">
                <a:latin typeface="+mn-lt"/>
                <a:cs typeface="Arial"/>
              </a:rPr>
              <a:t>public Statement </a:t>
            </a:r>
            <a:r>
              <a:rPr lang="en-IN" sz="1800" dirty="0" err="1">
                <a:latin typeface="+mn-lt"/>
                <a:cs typeface="Arial"/>
              </a:rPr>
              <a:t>createStatement</a:t>
            </a:r>
            <a:r>
              <a:rPr lang="en-IN" sz="1800" dirty="0">
                <a:latin typeface="+mn-lt"/>
                <a:cs typeface="Arial"/>
              </a:rPr>
              <a:t>()</a:t>
            </a:r>
          </a:p>
          <a:p>
            <a:pPr marL="12700">
              <a:lnSpc>
                <a:spcPct val="100000"/>
              </a:lnSpc>
              <a:spcBef>
                <a:spcPts val="600"/>
              </a:spcBef>
            </a:pPr>
            <a:r>
              <a:rPr lang="en-IN" sz="1800" dirty="0">
                <a:latin typeface="+mn-lt"/>
                <a:cs typeface="Arial"/>
              </a:rPr>
              <a:t>public Statement </a:t>
            </a:r>
            <a:r>
              <a:rPr lang="en-IN" sz="1800" dirty="0" err="1">
                <a:latin typeface="+mn-lt"/>
                <a:cs typeface="Arial"/>
              </a:rPr>
              <a:t>createStatement</a:t>
            </a:r>
            <a:r>
              <a:rPr lang="en-IN" sz="1800" dirty="0">
                <a:latin typeface="+mn-lt"/>
                <a:cs typeface="Arial"/>
              </a:rPr>
              <a:t>(int </a:t>
            </a:r>
            <a:r>
              <a:rPr lang="en-IN" sz="1800" dirty="0" err="1">
                <a:latin typeface="+mn-lt"/>
                <a:cs typeface="Arial"/>
              </a:rPr>
              <a:t>resultSetType,int</a:t>
            </a:r>
            <a:r>
              <a:rPr lang="en-IN" sz="1800" dirty="0">
                <a:latin typeface="+mn-lt"/>
                <a:cs typeface="Arial"/>
              </a:rPr>
              <a:t> </a:t>
            </a:r>
            <a:r>
              <a:rPr lang="en-IN" sz="1800" dirty="0" err="1">
                <a:latin typeface="+mn-lt"/>
                <a:cs typeface="Arial"/>
              </a:rPr>
              <a:t>resultSetConcurrency</a:t>
            </a:r>
            <a:r>
              <a:rPr lang="en-IN" sz="1800" dirty="0">
                <a:latin typeface="+mn-lt"/>
                <a:cs typeface="Arial"/>
              </a:rPr>
              <a:t>)</a:t>
            </a:r>
          </a:p>
          <a:p>
            <a:pPr marL="12700">
              <a:lnSpc>
                <a:spcPct val="100000"/>
              </a:lnSpc>
              <a:spcBef>
                <a:spcPts val="600"/>
              </a:spcBef>
            </a:pPr>
            <a:r>
              <a:rPr lang="en-IN" sz="1800" dirty="0">
                <a:latin typeface="+mn-lt"/>
                <a:cs typeface="Arial"/>
              </a:rPr>
              <a:t>public void </a:t>
            </a:r>
            <a:r>
              <a:rPr lang="en-IN" sz="1800" dirty="0" err="1">
                <a:latin typeface="+mn-lt"/>
                <a:cs typeface="Arial"/>
              </a:rPr>
              <a:t>setAutoCommit</a:t>
            </a:r>
            <a:r>
              <a:rPr lang="en-IN" sz="1800" dirty="0">
                <a:latin typeface="+mn-lt"/>
                <a:cs typeface="Arial"/>
              </a:rPr>
              <a:t>(</a:t>
            </a:r>
            <a:r>
              <a:rPr lang="en-IN" sz="1800" dirty="0" err="1">
                <a:latin typeface="+mn-lt"/>
                <a:cs typeface="Arial"/>
              </a:rPr>
              <a:t>boolean</a:t>
            </a:r>
            <a:r>
              <a:rPr lang="en-IN" sz="1800" dirty="0">
                <a:latin typeface="+mn-lt"/>
                <a:cs typeface="Arial"/>
              </a:rPr>
              <a:t> status)</a:t>
            </a:r>
          </a:p>
          <a:p>
            <a:pPr marL="12700">
              <a:lnSpc>
                <a:spcPct val="100000"/>
              </a:lnSpc>
              <a:spcBef>
                <a:spcPts val="600"/>
              </a:spcBef>
            </a:pPr>
            <a:r>
              <a:rPr lang="en-IN" sz="1800" dirty="0">
                <a:latin typeface="+mn-lt"/>
                <a:cs typeface="Arial"/>
              </a:rPr>
              <a:t>public void commit()</a:t>
            </a:r>
          </a:p>
          <a:p>
            <a:pPr marL="12700">
              <a:lnSpc>
                <a:spcPct val="100000"/>
              </a:lnSpc>
              <a:spcBef>
                <a:spcPts val="600"/>
              </a:spcBef>
            </a:pPr>
            <a:r>
              <a:rPr lang="en-IN" sz="1800" dirty="0">
                <a:latin typeface="+mn-lt"/>
                <a:cs typeface="Arial"/>
              </a:rPr>
              <a:t>public void rollback()</a:t>
            </a:r>
          </a:p>
          <a:p>
            <a:pPr marL="12700">
              <a:lnSpc>
                <a:spcPct val="100000"/>
              </a:lnSpc>
              <a:spcBef>
                <a:spcPts val="600"/>
              </a:spcBef>
            </a:pPr>
            <a:r>
              <a:rPr lang="en-IN" sz="1800" dirty="0">
                <a:latin typeface="+mn-lt"/>
                <a:cs typeface="Arial"/>
              </a:rPr>
              <a:t>public void close()</a:t>
            </a:r>
            <a:endParaRPr sz="1800" dirty="0">
              <a:latin typeface="+mn-lt"/>
              <a:cs typeface="Arial"/>
            </a:endParaRPr>
          </a:p>
        </p:txBody>
      </p:sp>
      <p:pic>
        <p:nvPicPr>
          <p:cNvPr id="8" name="object 8"/>
          <p:cNvPicPr/>
          <p:nvPr/>
        </p:nvPicPr>
        <p:blipFill>
          <a:blip r:embed="rId4" cstate="print"/>
          <a:stretch>
            <a:fillRect/>
          </a:stretch>
        </p:blipFill>
        <p:spPr>
          <a:xfrm>
            <a:off x="8317992" y="6031991"/>
            <a:ext cx="609600" cy="609599"/>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69240" y="1696592"/>
            <a:ext cx="8605519" cy="566181"/>
          </a:xfrm>
          <a:prstGeom prst="rect">
            <a:avLst/>
          </a:prstGeom>
        </p:spPr>
        <p:txBody>
          <a:bodyPr vert="horz" wrap="square" lIns="0" tIns="12065" rIns="0" bIns="0" rtlCol="0">
            <a:spAutoFit/>
          </a:bodyPr>
          <a:lstStyle/>
          <a:p>
            <a:pPr marL="2649855">
              <a:lnSpc>
                <a:spcPct val="100000"/>
              </a:lnSpc>
              <a:spcBef>
                <a:spcPts val="95"/>
              </a:spcBef>
            </a:pPr>
            <a:r>
              <a:rPr lang="en-IN" sz="3600" b="1" spc="-10" dirty="0">
                <a:latin typeface="+mj-lt"/>
                <a:cs typeface="Arial MT"/>
              </a:rPr>
              <a:t>Statement Interface</a:t>
            </a:r>
            <a:endParaRPr sz="3600" b="1" spc="-10" dirty="0">
              <a:latin typeface="+mj-lt"/>
              <a:cs typeface="Arial MT"/>
            </a:endParaRPr>
          </a:p>
        </p:txBody>
      </p:sp>
      <p:sp>
        <p:nvSpPr>
          <p:cNvPr id="117" name="TextBox 116">
            <a:extLst>
              <a:ext uri="{FF2B5EF4-FFF2-40B4-BE49-F238E27FC236}">
                <a16:creationId xmlns:a16="http://schemas.microsoft.com/office/drawing/2014/main" id="{F7E2AB42-DECF-8491-ECA8-28D8FDEDAA36}"/>
              </a:ext>
            </a:extLst>
          </p:cNvPr>
          <p:cNvSpPr txBox="1"/>
          <p:nvPr/>
        </p:nvSpPr>
        <p:spPr>
          <a:xfrm>
            <a:off x="571499" y="2362200"/>
            <a:ext cx="8001000" cy="4001095"/>
          </a:xfrm>
          <a:prstGeom prst="rect">
            <a:avLst/>
          </a:prstGeom>
          <a:noFill/>
        </p:spPr>
        <p:txBody>
          <a:bodyPr wrap="square" rtlCol="0">
            <a:spAutoFit/>
          </a:bodyPr>
          <a:lstStyle/>
          <a:p>
            <a:r>
              <a:rPr lang="en-US" sz="2000" dirty="0">
                <a:latin typeface="+mn-lt"/>
              </a:rPr>
              <a:t>The Statement interface is used for executing queries using the database. This interface is a factory of </a:t>
            </a:r>
            <a:r>
              <a:rPr lang="en-US" sz="2000" dirty="0" err="1">
                <a:latin typeface="+mn-lt"/>
              </a:rPr>
              <a:t>ResultSet</a:t>
            </a:r>
            <a:r>
              <a:rPr lang="en-US" sz="2000" dirty="0">
                <a:latin typeface="+mn-lt"/>
              </a:rPr>
              <a:t>.</a:t>
            </a:r>
          </a:p>
          <a:p>
            <a:r>
              <a:rPr lang="en-US" sz="2000" dirty="0">
                <a:latin typeface="+mn-lt"/>
              </a:rPr>
              <a:t>It is used to get the Object of </a:t>
            </a:r>
            <a:r>
              <a:rPr lang="en-US" sz="2000" dirty="0" err="1">
                <a:latin typeface="+mn-lt"/>
              </a:rPr>
              <a:t>ResultSet</a:t>
            </a:r>
            <a:r>
              <a:rPr lang="en-US" sz="2000" dirty="0">
                <a:latin typeface="+mn-lt"/>
              </a:rPr>
              <a:t>.</a:t>
            </a:r>
          </a:p>
          <a:p>
            <a:endParaRPr lang="en-US" dirty="0">
              <a:latin typeface="+mn-lt"/>
            </a:endParaRPr>
          </a:p>
          <a:p>
            <a:r>
              <a:rPr lang="en-US" sz="2000" b="1" dirty="0">
                <a:latin typeface="+mn-lt"/>
              </a:rPr>
              <a:t>Methods</a:t>
            </a:r>
          </a:p>
          <a:p>
            <a:r>
              <a:rPr lang="en-US" sz="2000" dirty="0">
                <a:latin typeface="+mn-lt"/>
              </a:rPr>
              <a:t>public </a:t>
            </a:r>
            <a:r>
              <a:rPr lang="en-US" sz="2000" dirty="0" err="1">
                <a:latin typeface="+mn-lt"/>
              </a:rPr>
              <a:t>ResultSet</a:t>
            </a:r>
            <a:r>
              <a:rPr lang="en-US" sz="2000" dirty="0">
                <a:latin typeface="+mn-lt"/>
              </a:rPr>
              <a:t> </a:t>
            </a:r>
            <a:r>
              <a:rPr lang="en-US" sz="2000" dirty="0" err="1">
                <a:latin typeface="+mn-lt"/>
              </a:rPr>
              <a:t>executeQuery</a:t>
            </a:r>
            <a:r>
              <a:rPr lang="en-US" sz="2000" dirty="0">
                <a:latin typeface="+mn-lt"/>
              </a:rPr>
              <a:t>(String </a:t>
            </a:r>
            <a:r>
              <a:rPr lang="en-US" sz="2000" dirty="0" err="1">
                <a:latin typeface="+mn-lt"/>
              </a:rPr>
              <a:t>sql</a:t>
            </a:r>
            <a:r>
              <a:rPr lang="en-US" sz="2000" dirty="0">
                <a:latin typeface="+mn-lt"/>
              </a:rPr>
              <a:t>)</a:t>
            </a:r>
          </a:p>
          <a:p>
            <a:r>
              <a:rPr lang="en-US" sz="2000" dirty="0">
                <a:latin typeface="+mn-lt"/>
              </a:rPr>
              <a:t>public int </a:t>
            </a:r>
            <a:r>
              <a:rPr lang="en-US" sz="2000" dirty="0" err="1">
                <a:latin typeface="+mn-lt"/>
              </a:rPr>
              <a:t>executeUpdate</a:t>
            </a:r>
            <a:r>
              <a:rPr lang="en-US" sz="2000" dirty="0">
                <a:latin typeface="+mn-lt"/>
              </a:rPr>
              <a:t>(String </a:t>
            </a:r>
            <a:r>
              <a:rPr lang="en-US" sz="2000" dirty="0" err="1">
                <a:latin typeface="+mn-lt"/>
              </a:rPr>
              <a:t>sql</a:t>
            </a:r>
            <a:r>
              <a:rPr lang="en-US" sz="2000" dirty="0">
                <a:latin typeface="+mn-lt"/>
              </a:rPr>
              <a:t>)</a:t>
            </a:r>
          </a:p>
          <a:p>
            <a:r>
              <a:rPr lang="en-US" sz="2000" dirty="0">
                <a:latin typeface="+mn-lt"/>
              </a:rPr>
              <a:t>public </a:t>
            </a:r>
            <a:r>
              <a:rPr lang="en-US" sz="2000" dirty="0" err="1">
                <a:latin typeface="+mn-lt"/>
              </a:rPr>
              <a:t>boolean</a:t>
            </a:r>
            <a:r>
              <a:rPr lang="en-US" sz="2000" dirty="0">
                <a:latin typeface="+mn-lt"/>
              </a:rPr>
              <a:t> execute(String </a:t>
            </a:r>
            <a:r>
              <a:rPr lang="en-US" sz="2000" dirty="0" err="1">
                <a:latin typeface="+mn-lt"/>
              </a:rPr>
              <a:t>sql</a:t>
            </a:r>
            <a:r>
              <a:rPr lang="en-US" sz="2000" dirty="0">
                <a:latin typeface="+mn-lt"/>
              </a:rPr>
              <a:t>)</a:t>
            </a:r>
          </a:p>
          <a:p>
            <a:r>
              <a:rPr lang="en-US" sz="2000" dirty="0">
                <a:latin typeface="+mn-lt"/>
              </a:rPr>
              <a:t>public int[] </a:t>
            </a:r>
            <a:r>
              <a:rPr lang="en-US" sz="2000" dirty="0" err="1">
                <a:latin typeface="+mn-lt"/>
              </a:rPr>
              <a:t>executeBatch</a:t>
            </a:r>
            <a:r>
              <a:rPr lang="en-US" sz="2000" dirty="0">
                <a:latin typeface="+mn-lt"/>
              </a:rPr>
              <a:t>()</a:t>
            </a:r>
          </a:p>
          <a:p>
            <a:endParaRPr lang="en-US" dirty="0">
              <a:latin typeface="+mn-lt"/>
            </a:endParaRPr>
          </a:p>
          <a:p>
            <a:r>
              <a:rPr lang="en-US" sz="2000" b="1" dirty="0">
                <a:latin typeface="+mn-lt"/>
              </a:rPr>
              <a:t>Example</a:t>
            </a:r>
          </a:p>
          <a:p>
            <a:r>
              <a:rPr lang="en-US" sz="2000" dirty="0">
                <a:latin typeface="+mn-lt"/>
              </a:rPr>
              <a:t>Statement </a:t>
            </a:r>
            <a:r>
              <a:rPr lang="en-US" sz="2000" dirty="0" err="1">
                <a:latin typeface="+mn-lt"/>
              </a:rPr>
              <a:t>stmt</a:t>
            </a:r>
            <a:r>
              <a:rPr lang="en-US" sz="2000" dirty="0">
                <a:latin typeface="+mn-lt"/>
              </a:rPr>
              <a:t> = </a:t>
            </a:r>
            <a:r>
              <a:rPr lang="en-US" sz="2000" dirty="0" err="1">
                <a:latin typeface="+mn-lt"/>
              </a:rPr>
              <a:t>conn.createStatement</a:t>
            </a:r>
            <a:r>
              <a:rPr lang="en-US" sz="2000" dirty="0">
                <a:latin typeface="+mn-lt"/>
              </a:rPr>
              <a:t>();</a:t>
            </a:r>
          </a:p>
          <a:p>
            <a:r>
              <a:rPr lang="en-US" sz="2000" dirty="0" err="1">
                <a:latin typeface="+mn-lt"/>
              </a:rPr>
              <a:t>ResultSet</a:t>
            </a:r>
            <a:r>
              <a:rPr lang="en-US" sz="2000" dirty="0">
                <a:latin typeface="+mn-lt"/>
              </a:rPr>
              <a:t> result = </a:t>
            </a:r>
            <a:r>
              <a:rPr lang="en-US" sz="2000" dirty="0" err="1">
                <a:latin typeface="+mn-lt"/>
              </a:rPr>
              <a:t>stmt.executeQuery</a:t>
            </a:r>
            <a:r>
              <a:rPr lang="en-US" sz="2000" dirty="0">
                <a:latin typeface="+mn-lt"/>
              </a:rPr>
              <a:t>(“Select * From students”);</a:t>
            </a:r>
            <a:endParaRPr lang="en-IN" sz="2000" dirty="0">
              <a:latin typeface="+mn-lt"/>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0" y="1667507"/>
            <a:ext cx="7274559" cy="566181"/>
          </a:xfrm>
          <a:prstGeom prst="rect">
            <a:avLst/>
          </a:prstGeom>
        </p:spPr>
        <p:txBody>
          <a:bodyPr vert="horz" wrap="square" lIns="0" tIns="12065" rIns="0" bIns="0" rtlCol="0">
            <a:spAutoFit/>
          </a:bodyPr>
          <a:lstStyle/>
          <a:p>
            <a:pPr marL="3411854">
              <a:lnSpc>
                <a:spcPct val="100000"/>
              </a:lnSpc>
              <a:spcBef>
                <a:spcPts val="95"/>
              </a:spcBef>
            </a:pPr>
            <a:r>
              <a:rPr lang="en-IN" sz="3600" b="1" spc="-10" dirty="0" err="1">
                <a:latin typeface="+mj-lt"/>
                <a:cs typeface="Arial MT"/>
              </a:rPr>
              <a:t>ResultSet</a:t>
            </a:r>
            <a:r>
              <a:rPr lang="en-IN" sz="3600" b="1" spc="-10" dirty="0">
                <a:latin typeface="+mj-lt"/>
                <a:cs typeface="Arial MT"/>
              </a:rPr>
              <a:t> Interface</a:t>
            </a:r>
            <a:endParaRPr sz="3600" b="1" spc="-10" dirty="0">
              <a:latin typeface="+mj-lt"/>
              <a:cs typeface="Arial MT"/>
            </a:endParaRPr>
          </a:p>
        </p:txBody>
      </p:sp>
      <p:sp>
        <p:nvSpPr>
          <p:cNvPr id="45" name="TextBox 44">
            <a:extLst>
              <a:ext uri="{FF2B5EF4-FFF2-40B4-BE49-F238E27FC236}">
                <a16:creationId xmlns:a16="http://schemas.microsoft.com/office/drawing/2014/main" id="{CC5CECAD-8FB7-0962-4861-DD62C5DAEEEC}"/>
              </a:ext>
            </a:extLst>
          </p:cNvPr>
          <p:cNvSpPr txBox="1"/>
          <p:nvPr/>
        </p:nvSpPr>
        <p:spPr>
          <a:xfrm>
            <a:off x="266700" y="2362200"/>
            <a:ext cx="8610600" cy="3970318"/>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mn-lt"/>
              </a:rPr>
              <a:t>The </a:t>
            </a:r>
            <a:r>
              <a:rPr lang="en-US" dirty="0" err="1">
                <a:latin typeface="+mn-lt"/>
              </a:rPr>
              <a:t>ResultSet</a:t>
            </a:r>
            <a:r>
              <a:rPr lang="en-US" dirty="0">
                <a:latin typeface="+mn-lt"/>
              </a:rPr>
              <a:t> Interface is used for maintaining the pointer to a row of a table. Initially, cursor points to before the first row.</a:t>
            </a:r>
          </a:p>
          <a:p>
            <a:pPr marL="285750" indent="-285750">
              <a:buFont typeface="Arial" panose="020B0604020202020204" pitchFamily="34" charset="0"/>
              <a:buChar char="•"/>
            </a:pPr>
            <a:r>
              <a:rPr lang="en-US" dirty="0">
                <a:latin typeface="+mn-lt"/>
              </a:rPr>
              <a:t>The object can be moved forward as well as backward direction using TYPE _SCROLL_INSENSITIVE or TYPE _SCROLL_SENSITIVE in </a:t>
            </a:r>
            <a:r>
              <a:rPr lang="en-US" dirty="0" err="1">
                <a:latin typeface="+mn-lt"/>
              </a:rPr>
              <a:t>createStatement</a:t>
            </a:r>
            <a:r>
              <a:rPr lang="en-US" dirty="0">
                <a:latin typeface="+mn-lt"/>
              </a:rPr>
              <a:t>(</a:t>
            </a:r>
            <a:r>
              <a:rPr lang="en-US" dirty="0" err="1">
                <a:latin typeface="+mn-lt"/>
              </a:rPr>
              <a:t>int,int</a:t>
            </a:r>
            <a:r>
              <a:rPr lang="en-US" dirty="0">
                <a:latin typeface="+mn-lt"/>
              </a:rPr>
              <a:t>).</a:t>
            </a:r>
          </a:p>
          <a:p>
            <a:pPr marL="285750" indent="-285750">
              <a:buFont typeface="Arial" panose="020B0604020202020204" pitchFamily="34" charset="0"/>
              <a:buChar char="•"/>
            </a:pPr>
            <a:r>
              <a:rPr lang="en-US" dirty="0">
                <a:latin typeface="+mn-lt"/>
              </a:rPr>
              <a:t>TYPE _SCROLL_INSENSITIVE - Changes done in the database are not reflected in the </a:t>
            </a:r>
            <a:r>
              <a:rPr lang="en-US" dirty="0" err="1">
                <a:latin typeface="+mn-lt"/>
              </a:rPr>
              <a:t>ResultSet</a:t>
            </a:r>
            <a:r>
              <a:rPr lang="en-US" dirty="0">
                <a:latin typeface="+mn-lt"/>
              </a:rPr>
              <a:t>.</a:t>
            </a:r>
          </a:p>
          <a:p>
            <a:pPr marL="285750" indent="-285750">
              <a:buFont typeface="Arial" panose="020B0604020202020204" pitchFamily="34" charset="0"/>
              <a:buChar char="•"/>
            </a:pPr>
            <a:r>
              <a:rPr lang="en-US" dirty="0">
                <a:latin typeface="+mn-lt"/>
              </a:rPr>
              <a:t>TYPE _SCROLL_SENSITIVE - Changes done in the database are reflected in the </a:t>
            </a:r>
            <a:r>
              <a:rPr lang="en-US" dirty="0" err="1">
                <a:latin typeface="+mn-lt"/>
              </a:rPr>
              <a:t>Resultset</a:t>
            </a:r>
            <a:r>
              <a:rPr lang="en-US" dirty="0">
                <a:latin typeface="+mn-lt"/>
              </a:rPr>
              <a:t>.</a:t>
            </a:r>
          </a:p>
          <a:p>
            <a:pPr marL="285750" indent="-285750">
              <a:buFont typeface="Arial" panose="020B0604020202020204" pitchFamily="34" charset="0"/>
              <a:buChar char="•"/>
            </a:pPr>
            <a:r>
              <a:rPr lang="en-US" dirty="0">
                <a:latin typeface="+mn-lt"/>
              </a:rPr>
              <a:t>CONCUR_UPDATABLE -— This type of result set is updatable.</a:t>
            </a:r>
          </a:p>
          <a:p>
            <a:pPr marL="285750" indent="-285750">
              <a:buFont typeface="Arial" panose="020B0604020202020204" pitchFamily="34" charset="0"/>
              <a:buChar char="•"/>
            </a:pPr>
            <a:r>
              <a:rPr lang="en-US" dirty="0">
                <a:latin typeface="+mn-lt"/>
              </a:rPr>
              <a:t>CONCUR_ READONLY - This type of result set is not updatable</a:t>
            </a:r>
          </a:p>
          <a:p>
            <a:pPr marL="285750" indent="-285750">
              <a:buFont typeface="Arial" panose="020B0604020202020204" pitchFamily="34" charset="0"/>
              <a:buChar char="•"/>
            </a:pPr>
            <a:r>
              <a:rPr lang="en-US" b="1" dirty="0">
                <a:latin typeface="+mn-lt"/>
              </a:rPr>
              <a:t>For Example</a:t>
            </a:r>
          </a:p>
          <a:p>
            <a:r>
              <a:rPr lang="en-US" dirty="0">
                <a:latin typeface="+mn-lt"/>
              </a:rPr>
              <a:t>     Statement </a:t>
            </a:r>
            <a:r>
              <a:rPr lang="en-US" dirty="0" err="1">
                <a:latin typeface="+mn-lt"/>
              </a:rPr>
              <a:t>stmt</a:t>
            </a:r>
            <a:r>
              <a:rPr lang="en-US" dirty="0">
                <a:latin typeface="+mn-lt"/>
              </a:rPr>
              <a:t> = </a:t>
            </a:r>
            <a:r>
              <a:rPr lang="en-US" dirty="0" err="1">
                <a:latin typeface="+mn-lt"/>
              </a:rPr>
              <a:t>con.createStatement</a:t>
            </a:r>
            <a:r>
              <a:rPr lang="en-US" dirty="0">
                <a:latin typeface="+mn-lt"/>
              </a:rPr>
              <a:t>(</a:t>
            </a:r>
            <a:r>
              <a:rPr lang="en-US" dirty="0" err="1">
                <a:latin typeface="+mn-lt"/>
              </a:rPr>
              <a:t>ResultSet</a:t>
            </a:r>
            <a:r>
              <a:rPr lang="en-US" dirty="0">
                <a:latin typeface="+mn-lt"/>
              </a:rPr>
              <a:t>. TYPE _SCROLL_INSENSITIVE,                                  </a:t>
            </a:r>
            <a:r>
              <a:rPr lang="en-US" dirty="0" err="1">
                <a:latin typeface="+mn-lt"/>
              </a:rPr>
              <a:t>ResultSet.CONCUR_UPDATABLE</a:t>
            </a:r>
            <a:r>
              <a:rPr lang="en-US" dirty="0">
                <a:latin typeface="+mn-lt"/>
              </a:rPr>
              <a:t>);</a:t>
            </a:r>
          </a:p>
          <a:p>
            <a:r>
              <a:rPr lang="en-US" b="1" dirty="0">
                <a:latin typeface="+mn-lt"/>
              </a:rPr>
              <a:t>Example</a:t>
            </a:r>
          </a:p>
          <a:p>
            <a:r>
              <a:rPr lang="en-US" dirty="0" err="1">
                <a:latin typeface="+mn-lt"/>
              </a:rPr>
              <a:t>ResultSet</a:t>
            </a:r>
            <a:r>
              <a:rPr lang="en-US" dirty="0">
                <a:latin typeface="+mn-lt"/>
              </a:rPr>
              <a:t> result = </a:t>
            </a:r>
            <a:r>
              <a:rPr lang="en-US" dirty="0" err="1">
                <a:latin typeface="+mn-lt"/>
              </a:rPr>
              <a:t>stmt.executeQuery</a:t>
            </a:r>
            <a:r>
              <a:rPr lang="en-US" dirty="0">
                <a:latin typeface="+mn-lt"/>
              </a:rPr>
              <a:t>(“Select * From students”);</a:t>
            </a:r>
            <a:endParaRPr lang="en-IN" dirty="0">
              <a:latin typeface="+mn-lt"/>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9144000" cy="6858000"/>
            <a:chOff x="0" y="0"/>
            <a:chExt cx="9144000" cy="6858000"/>
          </a:xfrm>
        </p:grpSpPr>
        <p:pic>
          <p:nvPicPr>
            <p:cNvPr id="3" name="object 3"/>
            <p:cNvPicPr/>
            <p:nvPr/>
          </p:nvPicPr>
          <p:blipFill>
            <a:blip r:embed="rId2" cstate="print"/>
            <a:stretch>
              <a:fillRect/>
            </a:stretch>
          </p:blipFill>
          <p:spPr>
            <a:xfrm>
              <a:off x="0" y="0"/>
              <a:ext cx="9143999" cy="6857998"/>
            </a:xfrm>
            <a:prstGeom prst="rect">
              <a:avLst/>
            </a:prstGeom>
          </p:spPr>
        </p:pic>
        <p:sp>
          <p:nvSpPr>
            <p:cNvPr id="4" name="object 4"/>
            <p:cNvSpPr/>
            <p:nvPr/>
          </p:nvSpPr>
          <p:spPr>
            <a:xfrm>
              <a:off x="0" y="1642872"/>
              <a:ext cx="9144000" cy="643255"/>
            </a:xfrm>
            <a:custGeom>
              <a:avLst/>
              <a:gdLst/>
              <a:ahLst/>
              <a:cxnLst/>
              <a:rect l="l" t="t" r="r" b="b"/>
              <a:pathLst>
                <a:path w="9144000" h="643255">
                  <a:moveTo>
                    <a:pt x="9144000" y="0"/>
                  </a:moveTo>
                  <a:lnTo>
                    <a:pt x="0" y="0"/>
                  </a:lnTo>
                  <a:lnTo>
                    <a:pt x="0" y="643127"/>
                  </a:lnTo>
                  <a:lnTo>
                    <a:pt x="9144000" y="643127"/>
                  </a:lnTo>
                  <a:lnTo>
                    <a:pt x="9144000" y="0"/>
                  </a:lnTo>
                  <a:close/>
                </a:path>
              </a:pathLst>
            </a:custGeom>
            <a:solidFill>
              <a:srgbClr val="1F487C"/>
            </a:solidFill>
          </p:spPr>
          <p:txBody>
            <a:bodyPr wrap="square" lIns="0" tIns="0" rIns="0" bIns="0" rtlCol="0"/>
            <a:lstStyle/>
            <a:p>
              <a:endParaRPr/>
            </a:p>
          </p:txBody>
        </p:sp>
      </p:grpSp>
      <p:sp>
        <p:nvSpPr>
          <p:cNvPr id="5" name="object 5"/>
          <p:cNvSpPr txBox="1">
            <a:spLocks noGrp="1"/>
          </p:cNvSpPr>
          <p:nvPr>
            <p:ph type="title"/>
          </p:nvPr>
        </p:nvSpPr>
        <p:spPr>
          <a:xfrm>
            <a:off x="269240" y="1696592"/>
            <a:ext cx="8605519" cy="443070"/>
          </a:xfrm>
          <a:prstGeom prst="rect">
            <a:avLst/>
          </a:prstGeom>
        </p:spPr>
        <p:txBody>
          <a:bodyPr vert="horz" wrap="square" lIns="0" tIns="12065" rIns="0" bIns="0" rtlCol="0">
            <a:spAutoFit/>
          </a:bodyPr>
          <a:lstStyle/>
          <a:p>
            <a:pPr marL="2609215">
              <a:lnSpc>
                <a:spcPct val="100000"/>
              </a:lnSpc>
              <a:spcBef>
                <a:spcPts val="95"/>
              </a:spcBef>
            </a:pPr>
            <a:r>
              <a:rPr lang="en-IN" b="1" spc="-10" dirty="0">
                <a:latin typeface="+mj-lt"/>
                <a:cs typeface="Arial MT"/>
              </a:rPr>
              <a:t>Example</a:t>
            </a:r>
            <a:endParaRPr b="1" spc="-10" dirty="0">
              <a:latin typeface="+mj-lt"/>
              <a:cs typeface="Arial MT"/>
            </a:endParaRPr>
          </a:p>
        </p:txBody>
      </p:sp>
      <p:sp>
        <p:nvSpPr>
          <p:cNvPr id="24" name="TextBox 23">
            <a:extLst>
              <a:ext uri="{FF2B5EF4-FFF2-40B4-BE49-F238E27FC236}">
                <a16:creationId xmlns:a16="http://schemas.microsoft.com/office/drawing/2014/main" id="{B96733CA-6561-6C72-1885-50664C88A5B3}"/>
              </a:ext>
            </a:extLst>
          </p:cNvPr>
          <p:cNvSpPr txBox="1"/>
          <p:nvPr/>
        </p:nvSpPr>
        <p:spPr>
          <a:xfrm>
            <a:off x="269240" y="2253919"/>
            <a:ext cx="8605519" cy="4524315"/>
          </a:xfrm>
          <a:prstGeom prst="rect">
            <a:avLst/>
          </a:prstGeom>
          <a:noFill/>
        </p:spPr>
        <p:txBody>
          <a:bodyPr wrap="square" rtlCol="0">
            <a:spAutoFit/>
          </a:bodyPr>
          <a:lstStyle/>
          <a:p>
            <a:r>
              <a:rPr lang="en-IN" b="1" dirty="0">
                <a:latin typeface="+mn-lt"/>
              </a:rPr>
              <a:t>try</a:t>
            </a:r>
            <a:r>
              <a:rPr lang="en-IN" dirty="0">
                <a:latin typeface="+mn-lt"/>
              </a:rPr>
              <a:t> {</a:t>
            </a:r>
          </a:p>
          <a:p>
            <a:r>
              <a:rPr lang="en-IN" dirty="0">
                <a:latin typeface="+mn-lt"/>
              </a:rPr>
              <a:t>     Class. </a:t>
            </a:r>
            <a:r>
              <a:rPr lang="en-IN" dirty="0" err="1">
                <a:latin typeface="+mn-lt"/>
              </a:rPr>
              <a:t>forName</a:t>
            </a:r>
            <a:r>
              <a:rPr lang="en-IN" dirty="0">
                <a:latin typeface="+mn-lt"/>
              </a:rPr>
              <a:t>("</a:t>
            </a:r>
            <a:r>
              <a:rPr lang="en-IN" dirty="0" err="1">
                <a:latin typeface="+mn-lt"/>
              </a:rPr>
              <a:t>com.mysql.cj.jdbc.Driver</a:t>
            </a:r>
            <a:r>
              <a:rPr lang="en-IN" dirty="0">
                <a:latin typeface="+mn-lt"/>
              </a:rPr>
              <a:t>") ;</a:t>
            </a:r>
          </a:p>
          <a:p>
            <a:r>
              <a:rPr lang="en-IN" dirty="0">
                <a:latin typeface="+mn-lt"/>
              </a:rPr>
              <a:t>     conn =</a:t>
            </a:r>
            <a:r>
              <a:rPr lang="en-IN" dirty="0" err="1">
                <a:latin typeface="+mn-lt"/>
              </a:rPr>
              <a:t>DriverManager.getConnection</a:t>
            </a:r>
            <a:r>
              <a:rPr lang="en-IN" dirty="0">
                <a:latin typeface="+mn-lt"/>
              </a:rPr>
              <a:t>("</a:t>
            </a:r>
            <a:r>
              <a:rPr lang="en-IN" dirty="0" err="1">
                <a:latin typeface="+mn-lt"/>
              </a:rPr>
              <a:t>jdbc:mysql</a:t>
            </a:r>
            <a:r>
              <a:rPr lang="en-IN" dirty="0">
                <a:latin typeface="+mn-lt"/>
              </a:rPr>
              <a:t>://localhost:3306/</a:t>
            </a:r>
            <a:r>
              <a:rPr lang="en-IN" dirty="0" err="1">
                <a:latin typeface="+mn-lt"/>
              </a:rPr>
              <a:t>myData</a:t>
            </a:r>
            <a:r>
              <a:rPr lang="en-IN" dirty="0">
                <a:latin typeface="+mn-lt"/>
              </a:rPr>
              <a:t>","root",                     "</a:t>
            </a:r>
            <a:r>
              <a:rPr lang="en-IN" dirty="0" err="1">
                <a:latin typeface="+mn-lt"/>
              </a:rPr>
              <a:t>pwd</a:t>
            </a:r>
            <a:r>
              <a:rPr lang="en-IN" dirty="0">
                <a:latin typeface="+mn-lt"/>
              </a:rPr>
              <a:t>" ) ;</a:t>
            </a:r>
          </a:p>
          <a:p>
            <a:r>
              <a:rPr lang="en-IN" dirty="0">
                <a:latin typeface="+mn-lt"/>
              </a:rPr>
              <a:t>     Statement </a:t>
            </a:r>
            <a:r>
              <a:rPr lang="en-IN" dirty="0" err="1">
                <a:latin typeface="+mn-lt"/>
              </a:rPr>
              <a:t>stmt</a:t>
            </a:r>
            <a:r>
              <a:rPr lang="en-IN" dirty="0">
                <a:latin typeface="+mn-lt"/>
              </a:rPr>
              <a:t> = </a:t>
            </a:r>
            <a:r>
              <a:rPr lang="en-IN" dirty="0" err="1">
                <a:latin typeface="+mn-lt"/>
              </a:rPr>
              <a:t>conn.createStatement</a:t>
            </a:r>
            <a:r>
              <a:rPr lang="en-IN" dirty="0">
                <a:latin typeface="+mn-lt"/>
              </a:rPr>
              <a:t>();</a:t>
            </a:r>
          </a:p>
          <a:p>
            <a:endParaRPr lang="en-IN" dirty="0">
              <a:latin typeface="+mn-lt"/>
            </a:endParaRPr>
          </a:p>
          <a:p>
            <a:r>
              <a:rPr lang="en-IN" dirty="0">
                <a:latin typeface="+mn-lt"/>
              </a:rPr>
              <a:t>     </a:t>
            </a:r>
            <a:r>
              <a:rPr lang="en-IN" dirty="0" err="1">
                <a:latin typeface="+mn-lt"/>
              </a:rPr>
              <a:t>ResultSet</a:t>
            </a:r>
            <a:r>
              <a:rPr lang="en-IN" dirty="0">
                <a:latin typeface="+mn-lt"/>
              </a:rPr>
              <a:t> result = </a:t>
            </a:r>
            <a:r>
              <a:rPr lang="en-IN" dirty="0" err="1">
                <a:latin typeface="+mn-lt"/>
              </a:rPr>
              <a:t>stmt.executeQuery</a:t>
            </a:r>
            <a:r>
              <a:rPr lang="en-IN" dirty="0">
                <a:latin typeface="+mn-lt"/>
              </a:rPr>
              <a:t>(“select * from employees”);</a:t>
            </a:r>
          </a:p>
          <a:p>
            <a:r>
              <a:rPr lang="en-IN" b="1" dirty="0">
                <a:latin typeface="+mn-lt"/>
              </a:rPr>
              <a:t>     while</a:t>
            </a:r>
            <a:r>
              <a:rPr lang="en-IN" dirty="0">
                <a:latin typeface="+mn-lt"/>
              </a:rPr>
              <a:t>(</a:t>
            </a:r>
            <a:r>
              <a:rPr lang="en-IN" dirty="0" err="1">
                <a:latin typeface="+mn-lt"/>
              </a:rPr>
              <a:t>result.next</a:t>
            </a:r>
            <a:r>
              <a:rPr lang="en-IN" dirty="0">
                <a:latin typeface="+mn-lt"/>
              </a:rPr>
              <a:t>()) {</a:t>
            </a:r>
          </a:p>
          <a:p>
            <a:r>
              <a:rPr lang="en-IN" dirty="0">
                <a:latin typeface="+mn-lt"/>
              </a:rPr>
              <a:t>     </a:t>
            </a:r>
            <a:r>
              <a:rPr lang="en-IN" dirty="0" err="1">
                <a:latin typeface="+mn-lt"/>
              </a:rPr>
              <a:t>System.</a:t>
            </a:r>
            <a:r>
              <a:rPr lang="en-IN" b="1" dirty="0" err="1">
                <a:latin typeface="+mn-lt"/>
              </a:rPr>
              <a:t>out</a:t>
            </a:r>
            <a:r>
              <a:rPr lang="en-IN" dirty="0" err="1">
                <a:latin typeface="+mn-lt"/>
              </a:rPr>
              <a:t>.println</a:t>
            </a:r>
            <a:r>
              <a:rPr lang="en-IN" dirty="0">
                <a:latin typeface="+mn-lt"/>
              </a:rPr>
              <a:t>(</a:t>
            </a:r>
            <a:r>
              <a:rPr lang="en-IN" dirty="0" err="1">
                <a:latin typeface="+mn-lt"/>
              </a:rPr>
              <a:t>result.getInt</a:t>
            </a:r>
            <a:r>
              <a:rPr lang="en-IN" dirty="0">
                <a:latin typeface="+mn-lt"/>
              </a:rPr>
              <a:t>(1) + "\t" + </a:t>
            </a:r>
            <a:r>
              <a:rPr lang="en-IN" dirty="0" err="1">
                <a:latin typeface="+mn-lt"/>
              </a:rPr>
              <a:t>result.getString</a:t>
            </a:r>
            <a:r>
              <a:rPr lang="en-IN" dirty="0">
                <a:latin typeface="+mn-lt"/>
              </a:rPr>
              <a:t>(2) +" "+                   </a:t>
            </a:r>
            <a:r>
              <a:rPr lang="en-IN" dirty="0" err="1">
                <a:latin typeface="+mn-lt"/>
              </a:rPr>
              <a:t>pesult.getString</a:t>
            </a:r>
            <a:r>
              <a:rPr lang="en-IN" dirty="0">
                <a:latin typeface="+mn-lt"/>
              </a:rPr>
              <a:t>(3));</a:t>
            </a:r>
          </a:p>
          <a:p>
            <a:r>
              <a:rPr lang="en-IN" dirty="0">
                <a:latin typeface="+mn-lt"/>
              </a:rPr>
              <a:t>     }</a:t>
            </a:r>
          </a:p>
          <a:p>
            <a:r>
              <a:rPr lang="en-IN" dirty="0">
                <a:latin typeface="+mn-lt"/>
              </a:rPr>
              <a:t>     </a:t>
            </a:r>
            <a:r>
              <a:rPr lang="en-IN" dirty="0" err="1">
                <a:latin typeface="+mn-lt"/>
              </a:rPr>
              <a:t>conn.close</a:t>
            </a:r>
            <a:r>
              <a:rPr lang="en-IN" dirty="0">
                <a:latin typeface="+mn-lt"/>
              </a:rPr>
              <a:t>();</a:t>
            </a:r>
          </a:p>
          <a:p>
            <a:r>
              <a:rPr lang="en-IN" dirty="0">
                <a:latin typeface="+mn-lt"/>
              </a:rPr>
              <a:t>}</a:t>
            </a:r>
          </a:p>
          <a:p>
            <a:r>
              <a:rPr lang="en-IN" b="1" dirty="0">
                <a:latin typeface="+mn-lt"/>
              </a:rPr>
              <a:t>catch</a:t>
            </a:r>
            <a:r>
              <a:rPr lang="en-IN" dirty="0">
                <a:latin typeface="+mn-lt"/>
              </a:rPr>
              <a:t> (Exception e) {</a:t>
            </a:r>
          </a:p>
          <a:p>
            <a:r>
              <a:rPr lang="en-IN" dirty="0">
                <a:latin typeface="+mn-lt"/>
              </a:rPr>
              <a:t>      </a:t>
            </a:r>
            <a:r>
              <a:rPr lang="en-IN" dirty="0" err="1">
                <a:latin typeface="+mn-lt"/>
              </a:rPr>
              <a:t>System.</a:t>
            </a:r>
            <a:r>
              <a:rPr lang="en-IN" b="1" dirty="0" err="1">
                <a:latin typeface="+mn-lt"/>
              </a:rPr>
              <a:t>out</a:t>
            </a:r>
            <a:r>
              <a:rPr lang="en-IN" dirty="0" err="1">
                <a:latin typeface="+mn-lt"/>
              </a:rPr>
              <a:t>.println</a:t>
            </a:r>
            <a:r>
              <a:rPr lang="en-IN" dirty="0">
                <a:latin typeface="+mn-lt"/>
              </a:rPr>
              <a:t>("my Error :" + </a:t>
            </a:r>
            <a:r>
              <a:rPr lang="en-IN" dirty="0" err="1">
                <a:latin typeface="+mn-lt"/>
              </a:rPr>
              <a:t>e.getMessage</a:t>
            </a:r>
            <a:r>
              <a:rPr lang="en-IN" dirty="0">
                <a:latin typeface="+mn-lt"/>
              </a:rPr>
              <a:t>());</a:t>
            </a:r>
          </a:p>
          <a:p>
            <a:r>
              <a:rPr lang="en-IN" dirty="0">
                <a:latin typeface="+mn-lt"/>
              </a:rPr>
              <a:t>}</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69240" y="1696592"/>
            <a:ext cx="8605519" cy="566181"/>
          </a:xfrm>
          <a:prstGeom prst="rect">
            <a:avLst/>
          </a:prstGeom>
        </p:spPr>
        <p:txBody>
          <a:bodyPr vert="horz" wrap="square" lIns="0" tIns="12065" rIns="0" bIns="0" rtlCol="0">
            <a:spAutoFit/>
          </a:bodyPr>
          <a:lstStyle/>
          <a:p>
            <a:pPr marL="1945639">
              <a:lnSpc>
                <a:spcPct val="100000"/>
              </a:lnSpc>
              <a:spcBef>
                <a:spcPts val="95"/>
              </a:spcBef>
            </a:pPr>
            <a:r>
              <a:rPr lang="en-IN" sz="3600" b="1" spc="-10" dirty="0" err="1">
                <a:latin typeface="+mj-lt"/>
                <a:cs typeface="Arial MT"/>
              </a:rPr>
              <a:t>PreparedStatement</a:t>
            </a:r>
            <a:r>
              <a:rPr lang="en-IN" sz="3600" b="1" spc="-10" dirty="0">
                <a:latin typeface="+mj-lt"/>
                <a:cs typeface="Arial MT"/>
              </a:rPr>
              <a:t> Interface</a:t>
            </a:r>
            <a:endParaRPr sz="3600" b="1" spc="-10" dirty="0">
              <a:latin typeface="+mj-lt"/>
              <a:cs typeface="Arial MT"/>
            </a:endParaRPr>
          </a:p>
        </p:txBody>
      </p:sp>
      <p:sp>
        <p:nvSpPr>
          <p:cNvPr id="64" name="TextBox 63">
            <a:extLst>
              <a:ext uri="{FF2B5EF4-FFF2-40B4-BE49-F238E27FC236}">
                <a16:creationId xmlns:a16="http://schemas.microsoft.com/office/drawing/2014/main" id="{F6910522-B9ED-238D-FC38-F8AF5D935298}"/>
              </a:ext>
            </a:extLst>
          </p:cNvPr>
          <p:cNvSpPr txBox="1"/>
          <p:nvPr/>
        </p:nvSpPr>
        <p:spPr>
          <a:xfrm>
            <a:off x="457200" y="2438400"/>
            <a:ext cx="8153400" cy="3785652"/>
          </a:xfrm>
          <a:prstGeom prst="rect">
            <a:avLst/>
          </a:prstGeom>
          <a:noFill/>
        </p:spPr>
        <p:txBody>
          <a:bodyPr wrap="square" rtlCol="0">
            <a:spAutoFit/>
          </a:bodyPr>
          <a:lstStyle/>
          <a:p>
            <a:pPr marL="285750" indent="-285750">
              <a:buFont typeface="Arial" panose="020B0604020202020204" pitchFamily="34" charset="0"/>
              <a:buChar char="•"/>
            </a:pPr>
            <a:r>
              <a:rPr lang="en-US" sz="2000" dirty="0" err="1">
                <a:latin typeface="+mn-lt"/>
              </a:rPr>
              <a:t>PreparedStatement</a:t>
            </a:r>
            <a:r>
              <a:rPr lang="en-US" sz="2000" dirty="0">
                <a:latin typeface="+mn-lt"/>
              </a:rPr>
              <a:t> interface is a </a:t>
            </a:r>
            <a:r>
              <a:rPr lang="en-US" sz="2000" dirty="0" err="1">
                <a:latin typeface="+mn-lt"/>
              </a:rPr>
              <a:t>subinterface</a:t>
            </a:r>
            <a:r>
              <a:rPr lang="en-US" sz="2000" dirty="0">
                <a:latin typeface="+mn-lt"/>
              </a:rPr>
              <a:t> of Statement.</a:t>
            </a:r>
          </a:p>
          <a:p>
            <a:pPr marL="285750" indent="-285750">
              <a:buFont typeface="Arial" panose="020B0604020202020204" pitchFamily="34" charset="0"/>
              <a:buChar char="•"/>
            </a:pPr>
            <a:r>
              <a:rPr lang="en-US" sz="2000" dirty="0">
                <a:latin typeface="+mn-lt"/>
              </a:rPr>
              <a:t>It is mainly used for the parameterized queries. A question mark (?) is passed for the values.</a:t>
            </a:r>
          </a:p>
          <a:p>
            <a:pPr marL="285750" indent="-285750">
              <a:buFont typeface="Arial" panose="020B0604020202020204" pitchFamily="34" charset="0"/>
              <a:buChar char="•"/>
            </a:pPr>
            <a:r>
              <a:rPr lang="en-US" sz="2000" dirty="0">
                <a:latin typeface="+mn-lt"/>
              </a:rPr>
              <a:t>The values to this question marks will be set by the </a:t>
            </a:r>
            <a:r>
              <a:rPr lang="en-US" sz="2000" dirty="0" err="1">
                <a:latin typeface="+mn-lt"/>
              </a:rPr>
              <a:t>PreparedStatement</a:t>
            </a:r>
            <a:r>
              <a:rPr lang="en-US" sz="2000" dirty="0">
                <a:latin typeface="+mn-lt"/>
              </a:rPr>
              <a:t>.</a:t>
            </a:r>
          </a:p>
          <a:p>
            <a:endParaRPr lang="en-US" sz="2000" dirty="0">
              <a:latin typeface="+mn-lt"/>
            </a:endParaRPr>
          </a:p>
          <a:p>
            <a:r>
              <a:rPr lang="en-US" sz="2000" b="1" dirty="0">
                <a:latin typeface="+mn-lt"/>
              </a:rPr>
              <a:t>Example</a:t>
            </a:r>
          </a:p>
          <a:p>
            <a:r>
              <a:rPr lang="en-US" sz="2000" dirty="0" err="1">
                <a:latin typeface="+mn-lt"/>
              </a:rPr>
              <a:t>PreparedStatement</a:t>
            </a:r>
            <a:r>
              <a:rPr lang="en-US" sz="2000" dirty="0">
                <a:latin typeface="+mn-lt"/>
              </a:rPr>
              <a:t> </a:t>
            </a:r>
            <a:r>
              <a:rPr lang="en-US" sz="2000" dirty="0" err="1">
                <a:latin typeface="+mn-lt"/>
              </a:rPr>
              <a:t>stmt</a:t>
            </a:r>
            <a:r>
              <a:rPr lang="en-US" sz="2000" dirty="0">
                <a:latin typeface="+mn-lt"/>
              </a:rPr>
              <a:t> = </a:t>
            </a:r>
            <a:r>
              <a:rPr lang="en-US" sz="2000" dirty="0" err="1">
                <a:latin typeface="+mn-lt"/>
              </a:rPr>
              <a:t>conn.prepareStatement</a:t>
            </a:r>
            <a:r>
              <a:rPr lang="en-US" sz="2000" dirty="0">
                <a:latin typeface="+mn-lt"/>
              </a:rPr>
              <a:t>(“insert into Employees values(?,?, ?)”);</a:t>
            </a:r>
          </a:p>
          <a:p>
            <a:r>
              <a:rPr lang="en-US" sz="2000" dirty="0" err="1">
                <a:latin typeface="+mn-lt"/>
              </a:rPr>
              <a:t>stmt.setint</a:t>
            </a:r>
            <a:r>
              <a:rPr lang="en-US" sz="2000" dirty="0">
                <a:latin typeface="+mn-lt"/>
              </a:rPr>
              <a:t>(1, 1001)</a:t>
            </a:r>
          </a:p>
          <a:p>
            <a:r>
              <a:rPr lang="en-US" sz="2000" dirty="0" err="1">
                <a:latin typeface="+mn-lt"/>
              </a:rPr>
              <a:t>stmt.setString</a:t>
            </a:r>
            <a:r>
              <a:rPr lang="en-US" sz="2000" dirty="0">
                <a:latin typeface="+mn-lt"/>
              </a:rPr>
              <a:t>(2, “Mahesh”)</a:t>
            </a:r>
          </a:p>
          <a:p>
            <a:r>
              <a:rPr lang="en-US" sz="2000" dirty="0" err="1">
                <a:latin typeface="+mn-lt"/>
              </a:rPr>
              <a:t>stmt.setint</a:t>
            </a:r>
            <a:r>
              <a:rPr lang="en-US" sz="2000" dirty="0">
                <a:latin typeface="+mn-lt"/>
              </a:rPr>
              <a:t>(3, “Shah”)</a:t>
            </a:r>
          </a:p>
          <a:p>
            <a:r>
              <a:rPr lang="en-US" sz="2000" b="1" dirty="0">
                <a:latin typeface="+mn-lt"/>
              </a:rPr>
              <a:t>int result = </a:t>
            </a:r>
            <a:r>
              <a:rPr lang="en-US" sz="2000" b="1" dirty="0" err="1">
                <a:latin typeface="+mn-lt"/>
              </a:rPr>
              <a:t>stmt.executeUpdate</a:t>
            </a:r>
            <a:r>
              <a:rPr lang="en-US" sz="2000" b="1" dirty="0">
                <a:latin typeface="+mn-lt"/>
              </a:rPr>
              <a:t>();</a:t>
            </a:r>
            <a:endParaRPr lang="en-IN" b="1" dirty="0">
              <a:latin typeface="+mn-lt"/>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0" y="1679282"/>
            <a:ext cx="8359250" cy="566181"/>
          </a:xfrm>
          <a:prstGeom prst="rect">
            <a:avLst/>
          </a:prstGeom>
        </p:spPr>
        <p:txBody>
          <a:bodyPr vert="horz" wrap="square" lIns="0" tIns="12065" rIns="0" bIns="0" rtlCol="0">
            <a:spAutoFit/>
          </a:bodyPr>
          <a:lstStyle/>
          <a:p>
            <a:pPr marL="2383155">
              <a:lnSpc>
                <a:spcPct val="100000"/>
              </a:lnSpc>
              <a:spcBef>
                <a:spcPts val="95"/>
              </a:spcBef>
            </a:pPr>
            <a:r>
              <a:rPr lang="en-IN" sz="3600" b="1" spc="-10" dirty="0" err="1">
                <a:latin typeface="+mj-lt"/>
                <a:cs typeface="Arial MT"/>
              </a:rPr>
              <a:t>ResultSetMetaData</a:t>
            </a:r>
            <a:r>
              <a:rPr lang="en-IN" sz="3600" b="1" spc="-10" dirty="0">
                <a:latin typeface="+mj-lt"/>
                <a:cs typeface="Arial MT"/>
              </a:rPr>
              <a:t> Interface</a:t>
            </a:r>
            <a:endParaRPr sz="3600" b="1" spc="-10" dirty="0">
              <a:latin typeface="+mj-lt"/>
              <a:cs typeface="Arial MT"/>
            </a:endParaRPr>
          </a:p>
        </p:txBody>
      </p:sp>
      <p:pic>
        <p:nvPicPr>
          <p:cNvPr id="3" name="object 3"/>
          <p:cNvPicPr/>
          <p:nvPr/>
        </p:nvPicPr>
        <p:blipFill>
          <a:blip r:embed="rId2" cstate="print"/>
          <a:stretch>
            <a:fillRect/>
          </a:stretch>
        </p:blipFill>
        <p:spPr>
          <a:xfrm>
            <a:off x="8317992" y="6031991"/>
            <a:ext cx="609600" cy="609599"/>
          </a:xfrm>
          <a:prstGeom prst="rect">
            <a:avLst/>
          </a:prstGeom>
        </p:spPr>
      </p:pic>
      <p:sp>
        <p:nvSpPr>
          <p:cNvPr id="4" name="object 4"/>
          <p:cNvSpPr txBox="1"/>
          <p:nvPr/>
        </p:nvSpPr>
        <p:spPr>
          <a:xfrm>
            <a:off x="416558" y="2385509"/>
            <a:ext cx="8458201" cy="3539430"/>
          </a:xfrm>
          <a:prstGeom prst="rect">
            <a:avLst/>
          </a:prstGeom>
        </p:spPr>
        <p:txBody>
          <a:bodyPr vert="horz" wrap="square" lIns="0" tIns="12700" rIns="0" bIns="0" rtlCol="0">
            <a:spAutoFit/>
          </a:bodyPr>
          <a:lstStyle/>
          <a:p>
            <a:pPr marL="12700" marR="8255">
              <a:spcBef>
                <a:spcPts val="100"/>
              </a:spcBef>
            </a:pPr>
            <a:r>
              <a:rPr lang="en-US" dirty="0" err="1">
                <a:latin typeface="+mn-lt"/>
                <a:cs typeface="Palatino Linotype"/>
              </a:rPr>
              <a:t>ResultSetMetaData</a:t>
            </a:r>
            <a:r>
              <a:rPr lang="en-US" dirty="0">
                <a:latin typeface="+mn-lt"/>
                <a:cs typeface="Palatino Linotype"/>
              </a:rPr>
              <a:t> interface is used to get metadata from the </a:t>
            </a:r>
            <a:r>
              <a:rPr lang="en-US" dirty="0" err="1">
                <a:latin typeface="+mn-lt"/>
                <a:cs typeface="Palatino Linotype"/>
              </a:rPr>
              <a:t>ResultSet</a:t>
            </a:r>
            <a:r>
              <a:rPr lang="en-US" dirty="0">
                <a:latin typeface="+mn-lt"/>
                <a:cs typeface="Palatino Linotype"/>
              </a:rPr>
              <a:t> object. </a:t>
            </a:r>
          </a:p>
          <a:p>
            <a:pPr marL="12700" marR="8255">
              <a:spcBef>
                <a:spcPts val="100"/>
              </a:spcBef>
            </a:pPr>
            <a:r>
              <a:rPr lang="en-US" dirty="0">
                <a:latin typeface="+mn-lt"/>
                <a:cs typeface="Palatino Linotype"/>
              </a:rPr>
              <a:t>Metadata are the data about data.</a:t>
            </a:r>
          </a:p>
          <a:p>
            <a:pPr marL="12700" marR="8255">
              <a:spcBef>
                <a:spcPts val="100"/>
              </a:spcBef>
            </a:pPr>
            <a:r>
              <a:rPr lang="en-IN" sz="2000" b="1" dirty="0">
                <a:latin typeface="+mn-lt"/>
                <a:cs typeface="Palatino Linotype"/>
              </a:rPr>
              <a:t>Methods</a:t>
            </a:r>
          </a:p>
          <a:p>
            <a:pPr marL="12700" marR="8255">
              <a:spcBef>
                <a:spcPts val="100"/>
              </a:spcBef>
            </a:pPr>
            <a:r>
              <a:rPr lang="en-IN" dirty="0">
                <a:latin typeface="+mn-lt"/>
                <a:cs typeface="Palatino Linotype"/>
              </a:rPr>
              <a:t>public int </a:t>
            </a:r>
            <a:r>
              <a:rPr lang="en-IN" dirty="0" err="1">
                <a:latin typeface="+mn-lt"/>
                <a:cs typeface="Palatino Linotype"/>
              </a:rPr>
              <a:t>getColumnCount</a:t>
            </a:r>
            <a:r>
              <a:rPr lang="en-IN" dirty="0">
                <a:latin typeface="+mn-lt"/>
                <a:cs typeface="Palatino Linotype"/>
              </a:rPr>
              <a:t>() throws </a:t>
            </a:r>
            <a:r>
              <a:rPr lang="en-IN" dirty="0" err="1">
                <a:latin typeface="+mn-lt"/>
                <a:cs typeface="Palatino Linotype"/>
              </a:rPr>
              <a:t>SQLException</a:t>
            </a:r>
            <a:endParaRPr lang="en-IN" dirty="0">
              <a:latin typeface="+mn-lt"/>
              <a:cs typeface="Palatino Linotype"/>
            </a:endParaRPr>
          </a:p>
          <a:p>
            <a:pPr marL="12700" marR="8255">
              <a:spcBef>
                <a:spcPts val="100"/>
              </a:spcBef>
            </a:pPr>
            <a:r>
              <a:rPr lang="en-IN" dirty="0">
                <a:latin typeface="+mn-lt"/>
                <a:cs typeface="Palatino Linotype"/>
              </a:rPr>
              <a:t>public String </a:t>
            </a:r>
            <a:r>
              <a:rPr lang="en-IN" dirty="0" err="1">
                <a:latin typeface="+mn-lt"/>
                <a:cs typeface="Palatino Linotype"/>
              </a:rPr>
              <a:t>getColumnName</a:t>
            </a:r>
            <a:r>
              <a:rPr lang="en-IN" dirty="0">
                <a:latin typeface="+mn-lt"/>
                <a:cs typeface="Palatino Linotype"/>
              </a:rPr>
              <a:t>(int index) throws </a:t>
            </a:r>
            <a:r>
              <a:rPr lang="en-IN" dirty="0" err="1">
                <a:latin typeface="+mn-lt"/>
                <a:cs typeface="Palatino Linotype"/>
              </a:rPr>
              <a:t>SQLException</a:t>
            </a:r>
            <a:endParaRPr lang="en-IN" dirty="0">
              <a:latin typeface="+mn-lt"/>
              <a:cs typeface="Palatino Linotype"/>
            </a:endParaRPr>
          </a:p>
          <a:p>
            <a:pPr marL="12700" marR="8255">
              <a:spcBef>
                <a:spcPts val="100"/>
              </a:spcBef>
            </a:pPr>
            <a:r>
              <a:rPr lang="en-IN" dirty="0">
                <a:latin typeface="+mn-lt"/>
                <a:cs typeface="Palatino Linotype"/>
              </a:rPr>
              <a:t>public String </a:t>
            </a:r>
            <a:r>
              <a:rPr lang="en-IN" dirty="0" err="1">
                <a:latin typeface="+mn-lt"/>
                <a:cs typeface="Palatino Linotype"/>
              </a:rPr>
              <a:t>getColumnTypeName</a:t>
            </a:r>
            <a:r>
              <a:rPr lang="en-IN" dirty="0">
                <a:latin typeface="+mn-lt"/>
                <a:cs typeface="Palatino Linotype"/>
              </a:rPr>
              <a:t>(int index) throws </a:t>
            </a:r>
            <a:r>
              <a:rPr lang="en-IN" dirty="0" err="1">
                <a:latin typeface="+mn-lt"/>
                <a:cs typeface="Palatino Linotype"/>
              </a:rPr>
              <a:t>SQLException</a:t>
            </a:r>
            <a:endParaRPr lang="en-IN" dirty="0">
              <a:latin typeface="+mn-lt"/>
              <a:cs typeface="Palatino Linotype"/>
            </a:endParaRPr>
          </a:p>
          <a:p>
            <a:pPr marL="12700" marR="8255">
              <a:spcBef>
                <a:spcPts val="100"/>
              </a:spcBef>
            </a:pPr>
            <a:r>
              <a:rPr lang="en-IN" dirty="0">
                <a:latin typeface="+mn-lt"/>
                <a:cs typeface="Palatino Linotype"/>
              </a:rPr>
              <a:t>public String </a:t>
            </a:r>
            <a:r>
              <a:rPr lang="en-IN" dirty="0" err="1">
                <a:latin typeface="+mn-lt"/>
                <a:cs typeface="Palatino Linotype"/>
              </a:rPr>
              <a:t>getTableName</a:t>
            </a:r>
            <a:r>
              <a:rPr lang="en-IN" dirty="0">
                <a:latin typeface="+mn-lt"/>
                <a:cs typeface="Palatino Linotype"/>
              </a:rPr>
              <a:t>(int index) throws </a:t>
            </a:r>
            <a:r>
              <a:rPr lang="en-IN" dirty="0" err="1">
                <a:latin typeface="+mn-lt"/>
                <a:cs typeface="Palatino Linotype"/>
              </a:rPr>
              <a:t>SQLException</a:t>
            </a:r>
            <a:endParaRPr lang="en-IN" dirty="0">
              <a:latin typeface="+mn-lt"/>
              <a:cs typeface="Palatino Linotype"/>
            </a:endParaRPr>
          </a:p>
          <a:p>
            <a:pPr marL="12700" marR="8255">
              <a:spcBef>
                <a:spcPts val="100"/>
              </a:spcBef>
            </a:pPr>
            <a:r>
              <a:rPr lang="en-IN" sz="2000" b="1" dirty="0">
                <a:latin typeface="+mn-lt"/>
                <a:cs typeface="Palatino Linotype"/>
              </a:rPr>
              <a:t>Example</a:t>
            </a:r>
          </a:p>
          <a:p>
            <a:pPr marL="12700" marR="8255">
              <a:spcBef>
                <a:spcPts val="100"/>
              </a:spcBef>
            </a:pPr>
            <a:r>
              <a:rPr lang="en-IN" dirty="0" err="1">
                <a:latin typeface="+mn-lt"/>
                <a:cs typeface="Palatino Linotype"/>
              </a:rPr>
              <a:t>ResultSetMetaData</a:t>
            </a:r>
            <a:r>
              <a:rPr lang="en-IN" dirty="0">
                <a:latin typeface="+mn-lt"/>
                <a:cs typeface="Palatino Linotype"/>
              </a:rPr>
              <a:t> </a:t>
            </a:r>
            <a:r>
              <a:rPr lang="en-IN" dirty="0" err="1">
                <a:latin typeface="+mn-lt"/>
                <a:cs typeface="Palatino Linotype"/>
              </a:rPr>
              <a:t>resmd</a:t>
            </a:r>
            <a:r>
              <a:rPr lang="en-IN" dirty="0">
                <a:latin typeface="+mn-lt"/>
                <a:cs typeface="Palatino Linotype"/>
              </a:rPr>
              <a:t> = </a:t>
            </a:r>
            <a:r>
              <a:rPr lang="en-IN" dirty="0" err="1">
                <a:latin typeface="+mn-lt"/>
                <a:cs typeface="Palatino Linotype"/>
              </a:rPr>
              <a:t>result.getMetaData</a:t>
            </a:r>
            <a:r>
              <a:rPr lang="en-IN" dirty="0">
                <a:latin typeface="+mn-lt"/>
                <a:cs typeface="Palatino Linotype"/>
              </a:rPr>
              <a:t>();</a:t>
            </a:r>
          </a:p>
          <a:p>
            <a:pPr marL="12700" marR="8255">
              <a:spcBef>
                <a:spcPts val="100"/>
              </a:spcBef>
            </a:pPr>
            <a:r>
              <a:rPr lang="en-IN" dirty="0" err="1">
                <a:latin typeface="+mn-lt"/>
                <a:cs typeface="Palatino Linotype"/>
              </a:rPr>
              <a:t>System.out.printIn</a:t>
            </a:r>
            <a:r>
              <a:rPr lang="en-IN" dirty="0">
                <a:latin typeface="+mn-lt"/>
                <a:cs typeface="Palatino Linotype"/>
              </a:rPr>
              <a:t>("Total columns: “ + </a:t>
            </a:r>
            <a:r>
              <a:rPr lang="en-IN" dirty="0" err="1">
                <a:latin typeface="+mn-lt"/>
                <a:cs typeface="Palatino Linotype"/>
              </a:rPr>
              <a:t>resmd.getColumnCount</a:t>
            </a:r>
            <a:r>
              <a:rPr lang="en-IN" dirty="0">
                <a:latin typeface="+mn-lt"/>
                <a:cs typeface="Palatino Linotype"/>
              </a:rPr>
              <a:t>());</a:t>
            </a:r>
          </a:p>
          <a:p>
            <a:pPr marL="12700" marR="8255">
              <a:spcBef>
                <a:spcPts val="100"/>
              </a:spcBef>
            </a:pPr>
            <a:r>
              <a:rPr lang="en-IN" dirty="0" err="1">
                <a:latin typeface="+mn-lt"/>
                <a:cs typeface="Palatino Linotype"/>
              </a:rPr>
              <a:t>System.out.printIn</a:t>
            </a:r>
            <a:r>
              <a:rPr lang="en-IN" dirty="0">
                <a:latin typeface="+mn-lt"/>
                <a:cs typeface="Palatino Linotype"/>
              </a:rPr>
              <a:t>("Column Name of 1st column: “ + </a:t>
            </a:r>
            <a:r>
              <a:rPr lang="en-IN" dirty="0" err="1">
                <a:latin typeface="+mn-lt"/>
                <a:cs typeface="Palatino Linotype"/>
              </a:rPr>
              <a:t>resmd.getColumnName</a:t>
            </a:r>
            <a:r>
              <a:rPr lang="en-IN" dirty="0">
                <a:latin typeface="+mn-lt"/>
                <a:cs typeface="Palatino Linotype"/>
              </a:rPr>
              <a:t>(1));</a:t>
            </a:r>
          </a:p>
          <a:p>
            <a:pPr marL="12700" marR="8255">
              <a:spcBef>
                <a:spcPts val="100"/>
              </a:spcBef>
            </a:pPr>
            <a:r>
              <a:rPr lang="en-IN" dirty="0" err="1">
                <a:latin typeface="+mn-lt"/>
                <a:cs typeface="Palatino Linotype"/>
              </a:rPr>
              <a:t>System.out.printIn</a:t>
            </a:r>
            <a:r>
              <a:rPr lang="en-IN" dirty="0">
                <a:latin typeface="+mn-lt"/>
                <a:cs typeface="Palatino Linotype"/>
              </a:rPr>
              <a:t>("Column Type Name of </a:t>
            </a:r>
            <a:r>
              <a:rPr lang="en-IN" dirty="0" err="1">
                <a:latin typeface="+mn-lt"/>
                <a:cs typeface="Palatino Linotype"/>
              </a:rPr>
              <a:t>ist</a:t>
            </a:r>
            <a:r>
              <a:rPr lang="en-IN" dirty="0">
                <a:latin typeface="+mn-lt"/>
                <a:cs typeface="Palatino Linotype"/>
              </a:rPr>
              <a:t> column: “ +</a:t>
            </a:r>
            <a:r>
              <a:rPr lang="en-IN" dirty="0" err="1">
                <a:latin typeface="+mn-lt"/>
                <a:cs typeface="Palatino Linotype"/>
              </a:rPr>
              <a:t>resmd.getColumnTypeName</a:t>
            </a:r>
            <a:r>
              <a:rPr lang="en-IN" dirty="0">
                <a:latin typeface="+mn-lt"/>
                <a:cs typeface="Palatino Linotype"/>
              </a:rPr>
              <a:t>(1));</a:t>
            </a:r>
            <a:endParaRPr dirty="0">
              <a:latin typeface="+mn-lt"/>
              <a:cs typeface="Palatino Linotype"/>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ject 3"/>
          <p:cNvPicPr/>
          <p:nvPr/>
        </p:nvPicPr>
        <p:blipFill>
          <a:blip r:embed="rId2" cstate="print"/>
          <a:stretch>
            <a:fillRect/>
          </a:stretch>
        </p:blipFill>
        <p:spPr>
          <a:xfrm>
            <a:off x="8317992" y="6031991"/>
            <a:ext cx="609600" cy="609599"/>
          </a:xfrm>
          <a:prstGeom prst="rect">
            <a:avLst/>
          </a:prstGeom>
        </p:spPr>
      </p:pic>
      <p:sp>
        <p:nvSpPr>
          <p:cNvPr id="4" name="object 4"/>
          <p:cNvSpPr txBox="1">
            <a:spLocks noGrp="1"/>
          </p:cNvSpPr>
          <p:nvPr>
            <p:ph type="title"/>
          </p:nvPr>
        </p:nvSpPr>
        <p:spPr>
          <a:xfrm>
            <a:off x="533400" y="2514600"/>
            <a:ext cx="8229600" cy="3706143"/>
          </a:xfrm>
          <a:prstGeom prst="rect">
            <a:avLst/>
          </a:prstGeom>
        </p:spPr>
        <p:txBody>
          <a:bodyPr vert="horz" wrap="square" lIns="0" tIns="12700" rIns="0" bIns="0" rtlCol="0">
            <a:spAutoFit/>
          </a:bodyPr>
          <a:lstStyle/>
          <a:p>
            <a:pPr marL="298450" marR="5080" indent="-285750">
              <a:spcBef>
                <a:spcPts val="100"/>
              </a:spcBef>
              <a:buFont typeface="Arial" panose="020B0604020202020204" pitchFamily="34" charset="0"/>
              <a:buChar char="•"/>
            </a:pPr>
            <a:r>
              <a:rPr lang="en-US" sz="2000" dirty="0" err="1">
                <a:latin typeface="+mn-lt"/>
                <a:cs typeface="Times New Roman"/>
              </a:rPr>
              <a:t>DatabaseMetaData</a:t>
            </a:r>
            <a:r>
              <a:rPr lang="en-US" sz="2000" dirty="0">
                <a:latin typeface="+mn-lt"/>
                <a:cs typeface="Times New Roman"/>
              </a:rPr>
              <a:t> interface provides methods to get meta data of a database </a:t>
            </a:r>
            <a:r>
              <a:rPr lang="en-US" sz="2000" dirty="0" err="1">
                <a:latin typeface="+mn-lt"/>
                <a:cs typeface="Times New Roman"/>
              </a:rPr>
              <a:t>suchas</a:t>
            </a:r>
            <a:r>
              <a:rPr lang="en-US" sz="2000" dirty="0">
                <a:latin typeface="+mn-lt"/>
                <a:cs typeface="Times New Roman"/>
              </a:rPr>
              <a:t> database product name, database product version, driver name, name of </a:t>
            </a:r>
            <a:r>
              <a:rPr lang="en-US" sz="2000" dirty="0" err="1">
                <a:latin typeface="+mn-lt"/>
                <a:cs typeface="Times New Roman"/>
              </a:rPr>
              <a:t>totalnumber</a:t>
            </a:r>
            <a:r>
              <a:rPr lang="en-US" sz="2000" dirty="0">
                <a:latin typeface="+mn-lt"/>
                <a:cs typeface="Times New Roman"/>
              </a:rPr>
              <a:t> of tables, name of total number of views etc.</a:t>
            </a:r>
            <a:br>
              <a:rPr lang="en-US" sz="2000" dirty="0">
                <a:latin typeface="+mn-lt"/>
                <a:cs typeface="Times New Roman"/>
              </a:rPr>
            </a:br>
            <a:br>
              <a:rPr lang="en-US" sz="2000" dirty="0">
                <a:latin typeface="+mn-lt"/>
                <a:cs typeface="Times New Roman"/>
              </a:rPr>
            </a:br>
            <a:r>
              <a:rPr lang="en-US" sz="2000" b="1" dirty="0">
                <a:latin typeface="+mn-lt"/>
                <a:cs typeface="Times New Roman"/>
              </a:rPr>
              <a:t>Methods</a:t>
            </a:r>
            <a:br>
              <a:rPr lang="en-US" sz="2000" dirty="0">
                <a:latin typeface="+mn-lt"/>
                <a:cs typeface="Times New Roman"/>
              </a:rPr>
            </a:br>
            <a:r>
              <a:rPr lang="en-US" sz="2000" dirty="0">
                <a:latin typeface="+mn-lt"/>
                <a:cs typeface="Times New Roman"/>
              </a:rPr>
              <a:t>public String </a:t>
            </a:r>
            <a:r>
              <a:rPr lang="en-US" sz="2000" dirty="0" err="1">
                <a:latin typeface="+mn-lt"/>
                <a:cs typeface="Times New Roman"/>
              </a:rPr>
              <a:t>getDriverName</a:t>
            </a:r>
            <a:r>
              <a:rPr lang="en-US" sz="2000" dirty="0">
                <a:latin typeface="+mn-lt"/>
                <a:cs typeface="Times New Roman"/>
              </a:rPr>
              <a:t>() throws </a:t>
            </a:r>
            <a:r>
              <a:rPr lang="en-US" sz="2000" dirty="0" err="1">
                <a:latin typeface="+mn-lt"/>
                <a:cs typeface="Times New Roman"/>
              </a:rPr>
              <a:t>SQLException</a:t>
            </a:r>
            <a:br>
              <a:rPr lang="en-US" sz="2000" dirty="0">
                <a:latin typeface="+mn-lt"/>
                <a:cs typeface="Times New Roman"/>
              </a:rPr>
            </a:br>
            <a:r>
              <a:rPr lang="en-US" sz="2000" dirty="0">
                <a:latin typeface="+mn-lt"/>
                <a:cs typeface="Times New Roman"/>
              </a:rPr>
              <a:t>public String </a:t>
            </a:r>
            <a:r>
              <a:rPr lang="en-US" sz="2000" dirty="0" err="1">
                <a:latin typeface="+mn-lt"/>
                <a:cs typeface="Times New Roman"/>
              </a:rPr>
              <a:t>getDriverVersion</a:t>
            </a:r>
            <a:r>
              <a:rPr lang="en-US" sz="2000" dirty="0">
                <a:latin typeface="+mn-lt"/>
                <a:cs typeface="Times New Roman"/>
              </a:rPr>
              <a:t>() throws </a:t>
            </a:r>
            <a:r>
              <a:rPr lang="en-US" sz="2000" dirty="0" err="1">
                <a:latin typeface="+mn-lt"/>
                <a:cs typeface="Times New Roman"/>
              </a:rPr>
              <a:t>SQLException</a:t>
            </a:r>
            <a:br>
              <a:rPr lang="en-US" sz="2000" dirty="0">
                <a:latin typeface="+mn-lt"/>
                <a:cs typeface="Times New Roman"/>
              </a:rPr>
            </a:br>
            <a:r>
              <a:rPr lang="en-US" sz="2000" dirty="0">
                <a:latin typeface="+mn-lt"/>
                <a:cs typeface="Times New Roman"/>
              </a:rPr>
              <a:t>public String </a:t>
            </a:r>
            <a:r>
              <a:rPr lang="en-US" sz="2000" dirty="0" err="1">
                <a:latin typeface="+mn-lt"/>
                <a:cs typeface="Times New Roman"/>
              </a:rPr>
              <a:t>getUserName</a:t>
            </a:r>
            <a:r>
              <a:rPr lang="en-US" sz="2000" dirty="0">
                <a:latin typeface="+mn-lt"/>
                <a:cs typeface="Times New Roman"/>
              </a:rPr>
              <a:t>() throws </a:t>
            </a:r>
            <a:r>
              <a:rPr lang="en-US" sz="2000" dirty="0" err="1">
                <a:latin typeface="+mn-lt"/>
                <a:cs typeface="Times New Roman"/>
              </a:rPr>
              <a:t>SQLException</a:t>
            </a:r>
            <a:br>
              <a:rPr lang="en-US" sz="2000" dirty="0">
                <a:latin typeface="+mn-lt"/>
                <a:cs typeface="Times New Roman"/>
              </a:rPr>
            </a:br>
            <a:r>
              <a:rPr lang="en-US" sz="2000" dirty="0">
                <a:latin typeface="+mn-lt"/>
                <a:cs typeface="Times New Roman"/>
              </a:rPr>
              <a:t>public String </a:t>
            </a:r>
            <a:r>
              <a:rPr lang="en-US" sz="2000" dirty="0" err="1">
                <a:latin typeface="+mn-lt"/>
                <a:cs typeface="Times New Roman"/>
              </a:rPr>
              <a:t>getDatabaseProductName</a:t>
            </a:r>
            <a:r>
              <a:rPr lang="en-US" sz="2000" dirty="0">
                <a:latin typeface="+mn-lt"/>
                <a:cs typeface="Times New Roman"/>
              </a:rPr>
              <a:t>() throws </a:t>
            </a:r>
            <a:r>
              <a:rPr lang="en-US" sz="2000" dirty="0" err="1">
                <a:latin typeface="+mn-lt"/>
                <a:cs typeface="Times New Roman"/>
              </a:rPr>
              <a:t>SQLException</a:t>
            </a:r>
            <a:br>
              <a:rPr lang="en-US" sz="2000" dirty="0">
                <a:latin typeface="+mn-lt"/>
                <a:cs typeface="Times New Roman"/>
              </a:rPr>
            </a:br>
            <a:r>
              <a:rPr lang="en-US" sz="2000" dirty="0">
                <a:latin typeface="+mn-lt"/>
                <a:cs typeface="Times New Roman"/>
              </a:rPr>
              <a:t>public String </a:t>
            </a:r>
            <a:r>
              <a:rPr lang="en-US" sz="2000" dirty="0" err="1">
                <a:latin typeface="+mn-lt"/>
                <a:cs typeface="Times New Roman"/>
              </a:rPr>
              <a:t>getDatabaseProductVersion</a:t>
            </a:r>
            <a:r>
              <a:rPr lang="en-US" sz="2000" dirty="0">
                <a:latin typeface="+mn-lt"/>
                <a:cs typeface="Times New Roman"/>
              </a:rPr>
              <a:t>() throws </a:t>
            </a:r>
            <a:r>
              <a:rPr lang="en-US" sz="2000" dirty="0" err="1">
                <a:latin typeface="+mn-lt"/>
                <a:cs typeface="Times New Roman"/>
              </a:rPr>
              <a:t>SQLException</a:t>
            </a:r>
            <a:br>
              <a:rPr lang="en-US" sz="2000" dirty="0">
                <a:latin typeface="+mn-lt"/>
                <a:cs typeface="Times New Roman"/>
              </a:rPr>
            </a:br>
            <a:r>
              <a:rPr lang="en-US" sz="2000" dirty="0">
                <a:latin typeface="+mn-lt"/>
                <a:cs typeface="Times New Roman"/>
              </a:rPr>
              <a:t>public </a:t>
            </a:r>
            <a:r>
              <a:rPr lang="en-US" sz="2000" dirty="0" err="1">
                <a:latin typeface="+mn-lt"/>
                <a:cs typeface="Times New Roman"/>
              </a:rPr>
              <a:t>ResultSet</a:t>
            </a:r>
            <a:r>
              <a:rPr lang="en-US" sz="2000" dirty="0">
                <a:latin typeface="+mn-lt"/>
                <a:cs typeface="Times New Roman"/>
              </a:rPr>
              <a:t> </a:t>
            </a:r>
            <a:r>
              <a:rPr lang="en-US" sz="2000" dirty="0" err="1">
                <a:latin typeface="+mn-lt"/>
                <a:cs typeface="Times New Roman"/>
              </a:rPr>
              <a:t>getTables</a:t>
            </a:r>
            <a:r>
              <a:rPr lang="en-US" sz="2000" dirty="0">
                <a:latin typeface="+mn-lt"/>
                <a:cs typeface="Times New Roman"/>
              </a:rPr>
              <a:t>(String catalog, String </a:t>
            </a:r>
            <a:r>
              <a:rPr lang="en-US" sz="2000" dirty="0" err="1">
                <a:latin typeface="+mn-lt"/>
                <a:cs typeface="Times New Roman"/>
              </a:rPr>
              <a:t>schemaPattern</a:t>
            </a:r>
            <a:r>
              <a:rPr lang="en-US" sz="2000" dirty="0">
                <a:latin typeface="+mn-lt"/>
                <a:cs typeface="Times New Roman"/>
              </a:rPr>
              <a:t>, String </a:t>
            </a:r>
            <a:r>
              <a:rPr lang="en-US" sz="2000" dirty="0" err="1">
                <a:latin typeface="+mn-lt"/>
                <a:cs typeface="Times New Roman"/>
              </a:rPr>
              <a:t>tableNamePattern,String</a:t>
            </a:r>
            <a:r>
              <a:rPr lang="en-US" sz="2000" dirty="0">
                <a:latin typeface="+mn-lt"/>
                <a:cs typeface="Times New Roman"/>
              </a:rPr>
              <a:t>[] types) throws </a:t>
            </a:r>
            <a:r>
              <a:rPr lang="en-US" sz="2000" dirty="0" err="1">
                <a:latin typeface="+mn-lt"/>
                <a:cs typeface="Times New Roman"/>
              </a:rPr>
              <a:t>SQLException</a:t>
            </a:r>
            <a:endParaRPr lang="en-US" sz="2000" dirty="0">
              <a:latin typeface="+mn-lt"/>
              <a:cs typeface="Times New Roman"/>
            </a:endParaRPr>
          </a:p>
        </p:txBody>
      </p:sp>
      <p:sp>
        <p:nvSpPr>
          <p:cNvPr id="7" name="TextBox 6">
            <a:extLst>
              <a:ext uri="{FF2B5EF4-FFF2-40B4-BE49-F238E27FC236}">
                <a16:creationId xmlns:a16="http://schemas.microsoft.com/office/drawing/2014/main" id="{8BC8A095-6DB5-6F81-F166-2D5C82631BBB}"/>
              </a:ext>
            </a:extLst>
          </p:cNvPr>
          <p:cNvSpPr txBox="1"/>
          <p:nvPr/>
        </p:nvSpPr>
        <p:spPr>
          <a:xfrm>
            <a:off x="1752600" y="1676400"/>
            <a:ext cx="6118327" cy="646331"/>
          </a:xfrm>
          <a:prstGeom prst="rect">
            <a:avLst/>
          </a:prstGeom>
          <a:noFill/>
        </p:spPr>
        <p:txBody>
          <a:bodyPr wrap="square">
            <a:spAutoFit/>
          </a:bodyPr>
          <a:lstStyle/>
          <a:p>
            <a:r>
              <a:rPr lang="en-IN" sz="3600" b="1" dirty="0" err="1">
                <a:latin typeface="+mj-lt"/>
              </a:rPr>
              <a:t>DatabaseMetaData</a:t>
            </a:r>
            <a:r>
              <a:rPr lang="en-IN" sz="3600" b="1" dirty="0">
                <a:latin typeface="+mj-lt"/>
              </a:rPr>
              <a:t> Interface</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69240" y="1696592"/>
            <a:ext cx="8605519" cy="443070"/>
          </a:xfrm>
          <a:prstGeom prst="rect">
            <a:avLst/>
          </a:prstGeom>
        </p:spPr>
        <p:txBody>
          <a:bodyPr vert="horz" wrap="square" lIns="0" tIns="12065" rIns="0" bIns="0" rtlCol="0">
            <a:spAutoFit/>
          </a:bodyPr>
          <a:lstStyle/>
          <a:p>
            <a:pPr marL="1808480">
              <a:lnSpc>
                <a:spcPct val="100000"/>
              </a:lnSpc>
              <a:spcBef>
                <a:spcPts val="95"/>
              </a:spcBef>
            </a:pPr>
            <a:r>
              <a:rPr lang="en-IN" spc="-10" dirty="0">
                <a:latin typeface="Arial MT"/>
                <a:cs typeface="Arial MT"/>
              </a:rPr>
              <a:t>Example</a:t>
            </a:r>
            <a:endParaRPr spc="-10" dirty="0">
              <a:latin typeface="Arial MT"/>
              <a:cs typeface="Arial MT"/>
            </a:endParaRPr>
          </a:p>
        </p:txBody>
      </p:sp>
      <p:sp>
        <p:nvSpPr>
          <p:cNvPr id="24" name="TextBox 23">
            <a:extLst>
              <a:ext uri="{FF2B5EF4-FFF2-40B4-BE49-F238E27FC236}">
                <a16:creationId xmlns:a16="http://schemas.microsoft.com/office/drawing/2014/main" id="{EB2B8AC2-5D9C-FD57-F420-FFE3646766B4}"/>
              </a:ext>
            </a:extLst>
          </p:cNvPr>
          <p:cNvSpPr txBox="1"/>
          <p:nvPr/>
        </p:nvSpPr>
        <p:spPr>
          <a:xfrm>
            <a:off x="269239" y="2658943"/>
            <a:ext cx="8605519" cy="2554545"/>
          </a:xfrm>
          <a:prstGeom prst="rect">
            <a:avLst/>
          </a:prstGeom>
          <a:noFill/>
        </p:spPr>
        <p:txBody>
          <a:bodyPr wrap="square" rtlCol="0">
            <a:spAutoFit/>
          </a:bodyPr>
          <a:lstStyle/>
          <a:p>
            <a:r>
              <a:rPr lang="en-IN" sz="2000" dirty="0" err="1">
                <a:latin typeface="+mn-lt"/>
              </a:rPr>
              <a:t>DatabaseMetaData</a:t>
            </a:r>
            <a:r>
              <a:rPr lang="en-IN" sz="2000" dirty="0">
                <a:latin typeface="+mn-lt"/>
              </a:rPr>
              <a:t> </a:t>
            </a:r>
            <a:r>
              <a:rPr lang="en-IN" sz="2000" dirty="0" err="1">
                <a:latin typeface="+mn-lt"/>
              </a:rPr>
              <a:t>dbmd</a:t>
            </a:r>
            <a:r>
              <a:rPr lang="en-IN" sz="2000" dirty="0">
                <a:latin typeface="+mn-lt"/>
              </a:rPr>
              <a:t>=</a:t>
            </a:r>
            <a:r>
              <a:rPr lang="en-IN" sz="2000" dirty="0" err="1">
                <a:latin typeface="+mn-lt"/>
              </a:rPr>
              <a:t>con.getMetaData</a:t>
            </a:r>
            <a:r>
              <a:rPr lang="en-IN" sz="2000" dirty="0">
                <a:latin typeface="+mn-lt"/>
              </a:rPr>
              <a:t>();</a:t>
            </a:r>
          </a:p>
          <a:p>
            <a:r>
              <a:rPr lang="en-IN" sz="2000" dirty="0" err="1">
                <a:latin typeface="+mn-lt"/>
              </a:rPr>
              <a:t>System.out.printiIn</a:t>
            </a:r>
            <a:r>
              <a:rPr lang="en-IN" sz="2000" dirty="0">
                <a:latin typeface="+mn-lt"/>
              </a:rPr>
              <a:t>("Driver Name: "+</a:t>
            </a:r>
            <a:r>
              <a:rPr lang="en-IN" sz="2000" dirty="0" err="1">
                <a:latin typeface="+mn-lt"/>
              </a:rPr>
              <a:t>dbmd.getDriverName</a:t>
            </a:r>
            <a:r>
              <a:rPr lang="en-IN" sz="2000" dirty="0">
                <a:latin typeface="+mn-lt"/>
              </a:rPr>
              <a:t>());</a:t>
            </a:r>
          </a:p>
          <a:p>
            <a:r>
              <a:rPr lang="en-IN" sz="2000" dirty="0" err="1">
                <a:latin typeface="+mn-lt"/>
              </a:rPr>
              <a:t>System.out.printIn</a:t>
            </a:r>
            <a:r>
              <a:rPr lang="en-IN" sz="2000" dirty="0">
                <a:latin typeface="+mn-lt"/>
              </a:rPr>
              <a:t>("Driver Version: "+</a:t>
            </a:r>
            <a:r>
              <a:rPr lang="en-IN" sz="2000" dirty="0" err="1">
                <a:latin typeface="+mn-lt"/>
              </a:rPr>
              <a:t>dbmd.getDriverVersion</a:t>
            </a:r>
            <a:r>
              <a:rPr lang="en-IN" sz="2000" dirty="0">
                <a:latin typeface="+mn-lt"/>
              </a:rPr>
              <a:t>());</a:t>
            </a:r>
          </a:p>
          <a:p>
            <a:r>
              <a:rPr lang="en-IN" sz="2000" dirty="0" err="1">
                <a:latin typeface="+mn-lt"/>
              </a:rPr>
              <a:t>System.out.printiIn</a:t>
            </a:r>
            <a:r>
              <a:rPr lang="en-IN" sz="2000" dirty="0">
                <a:latin typeface="+mn-lt"/>
              </a:rPr>
              <a:t>("“</a:t>
            </a:r>
            <a:r>
              <a:rPr lang="en-IN" sz="2000" dirty="0" err="1">
                <a:latin typeface="+mn-lt"/>
              </a:rPr>
              <a:t>UserName</a:t>
            </a:r>
            <a:r>
              <a:rPr lang="en-IN" sz="2000" dirty="0">
                <a:latin typeface="+mn-lt"/>
              </a:rPr>
              <a:t>: "+</a:t>
            </a:r>
            <a:r>
              <a:rPr lang="en-IN" sz="2000" dirty="0" err="1">
                <a:latin typeface="+mn-lt"/>
              </a:rPr>
              <a:t>dbmd.getUserName</a:t>
            </a:r>
            <a:r>
              <a:rPr lang="en-IN" sz="2000" dirty="0">
                <a:latin typeface="+mn-lt"/>
              </a:rPr>
              <a:t>());</a:t>
            </a:r>
          </a:p>
          <a:p>
            <a:r>
              <a:rPr lang="en-IN" sz="2000" dirty="0" err="1">
                <a:latin typeface="+mn-lt"/>
              </a:rPr>
              <a:t>System.out.printIn</a:t>
            </a:r>
            <a:r>
              <a:rPr lang="en-IN" sz="2000" dirty="0">
                <a:latin typeface="+mn-lt"/>
              </a:rPr>
              <a:t>("Database Product Name: "+</a:t>
            </a:r>
            <a:r>
              <a:rPr lang="en-IN" sz="2000" dirty="0" err="1">
                <a:latin typeface="+mn-lt"/>
              </a:rPr>
              <a:t>dbmd.get</a:t>
            </a:r>
            <a:r>
              <a:rPr lang="en-IN" sz="2000" dirty="0">
                <a:latin typeface="+mn-lt"/>
              </a:rPr>
              <a:t> </a:t>
            </a:r>
            <a:r>
              <a:rPr lang="en-IN" sz="2000" dirty="0" err="1">
                <a:latin typeface="+mn-lt"/>
              </a:rPr>
              <a:t>DatabaseProduct</a:t>
            </a:r>
            <a:r>
              <a:rPr lang="en-IN" sz="2000" dirty="0">
                <a:latin typeface="+mn-lt"/>
              </a:rPr>
              <a:t> Name());</a:t>
            </a:r>
          </a:p>
          <a:p>
            <a:r>
              <a:rPr lang="en-IN" sz="2000" dirty="0" err="1">
                <a:latin typeface="+mn-lt"/>
              </a:rPr>
              <a:t>System.out.printIn</a:t>
            </a:r>
            <a:r>
              <a:rPr lang="en-IN" sz="2000" dirty="0">
                <a:latin typeface="+mn-lt"/>
              </a:rPr>
              <a:t>("Database Product Version: "+</a:t>
            </a:r>
            <a:r>
              <a:rPr lang="en-IN" sz="2000" dirty="0" err="1">
                <a:latin typeface="+mn-lt"/>
              </a:rPr>
              <a:t>dbmd.getDatabase</a:t>
            </a:r>
            <a:r>
              <a:rPr lang="en-IN" sz="2000" dirty="0">
                <a:latin typeface="+mn-lt"/>
              </a:rPr>
              <a:t> Product Version());</a:t>
            </a:r>
            <a:endParaRPr lang="en-IN" sz="2400" dirty="0">
              <a:latin typeface="+mn-lt"/>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9145905" cy="6858000"/>
            <a:chOff x="0" y="0"/>
            <a:chExt cx="9145905" cy="6858000"/>
          </a:xfrm>
        </p:grpSpPr>
        <p:pic>
          <p:nvPicPr>
            <p:cNvPr id="3" name="object 3"/>
            <p:cNvPicPr/>
            <p:nvPr/>
          </p:nvPicPr>
          <p:blipFill>
            <a:blip r:embed="rId2" cstate="print"/>
            <a:stretch>
              <a:fillRect/>
            </a:stretch>
          </p:blipFill>
          <p:spPr>
            <a:xfrm>
              <a:off x="0" y="0"/>
              <a:ext cx="9143999" cy="6857998"/>
            </a:xfrm>
            <a:prstGeom prst="rect">
              <a:avLst/>
            </a:prstGeom>
          </p:spPr>
        </p:pic>
        <p:pic>
          <p:nvPicPr>
            <p:cNvPr id="4" name="object 4"/>
            <p:cNvPicPr/>
            <p:nvPr/>
          </p:nvPicPr>
          <p:blipFill>
            <a:blip r:embed="rId3" cstate="print"/>
            <a:stretch>
              <a:fillRect/>
            </a:stretch>
          </p:blipFill>
          <p:spPr>
            <a:xfrm>
              <a:off x="1857755" y="3072383"/>
              <a:ext cx="5430012" cy="2802636"/>
            </a:xfrm>
            <a:prstGeom prst="rect">
              <a:avLst/>
            </a:prstGeom>
          </p:spPr>
        </p:pic>
        <p:sp>
          <p:nvSpPr>
            <p:cNvPr id="5" name="object 5"/>
            <p:cNvSpPr/>
            <p:nvPr/>
          </p:nvSpPr>
          <p:spPr>
            <a:xfrm>
              <a:off x="1523" y="1484375"/>
              <a:ext cx="9144000" cy="643255"/>
            </a:xfrm>
            <a:custGeom>
              <a:avLst/>
              <a:gdLst/>
              <a:ahLst/>
              <a:cxnLst/>
              <a:rect l="l" t="t" r="r" b="b"/>
              <a:pathLst>
                <a:path w="9144000" h="643255">
                  <a:moveTo>
                    <a:pt x="9144000" y="0"/>
                  </a:moveTo>
                  <a:lnTo>
                    <a:pt x="0" y="0"/>
                  </a:lnTo>
                  <a:lnTo>
                    <a:pt x="0" y="643127"/>
                  </a:lnTo>
                  <a:lnTo>
                    <a:pt x="9144000" y="643127"/>
                  </a:lnTo>
                  <a:lnTo>
                    <a:pt x="9144000" y="0"/>
                  </a:lnTo>
                  <a:close/>
                </a:path>
              </a:pathLst>
            </a:custGeom>
            <a:solidFill>
              <a:srgbClr val="1F487C"/>
            </a:solidFill>
          </p:spPr>
          <p:txBody>
            <a:bodyPr wrap="square" lIns="0" tIns="0" rIns="0" bIns="0" rtlCol="0"/>
            <a:lstStyle/>
            <a:p>
              <a:endParaRPr/>
            </a:p>
          </p:txBody>
        </p:sp>
      </p:grpSp>
      <p:sp>
        <p:nvSpPr>
          <p:cNvPr id="6" name="object 6"/>
          <p:cNvSpPr txBox="1">
            <a:spLocks noGrp="1"/>
          </p:cNvSpPr>
          <p:nvPr>
            <p:ph type="title"/>
          </p:nvPr>
        </p:nvSpPr>
        <p:spPr>
          <a:xfrm>
            <a:off x="235711" y="1545922"/>
            <a:ext cx="8605519" cy="627736"/>
          </a:xfrm>
          <a:prstGeom prst="rect">
            <a:avLst/>
          </a:prstGeom>
        </p:spPr>
        <p:txBody>
          <a:bodyPr vert="horz" wrap="square" lIns="0" tIns="12065" rIns="0" bIns="0" rtlCol="0">
            <a:spAutoFit/>
          </a:bodyPr>
          <a:lstStyle/>
          <a:p>
            <a:pPr marL="1925955">
              <a:lnSpc>
                <a:spcPct val="100000"/>
              </a:lnSpc>
              <a:spcBef>
                <a:spcPts val="95"/>
              </a:spcBef>
            </a:pPr>
            <a:r>
              <a:rPr lang="en-IN" sz="4000" b="1" spc="-10" dirty="0" err="1">
                <a:latin typeface="+mj-lt"/>
                <a:cs typeface="Arial MT"/>
              </a:rPr>
              <a:t>RowSet</a:t>
            </a:r>
            <a:r>
              <a:rPr lang="en-IN" sz="4000" b="1" spc="-10" dirty="0">
                <a:latin typeface="+mj-lt"/>
                <a:cs typeface="Arial MT"/>
              </a:rPr>
              <a:t> Interface</a:t>
            </a:r>
            <a:endParaRPr sz="4000" b="1" spc="-10" dirty="0">
              <a:latin typeface="+mj-lt"/>
              <a:cs typeface="Arial MT"/>
            </a:endParaRPr>
          </a:p>
        </p:txBody>
      </p:sp>
      <p:sp>
        <p:nvSpPr>
          <p:cNvPr id="20" name="TextBox 19">
            <a:extLst>
              <a:ext uri="{FF2B5EF4-FFF2-40B4-BE49-F238E27FC236}">
                <a16:creationId xmlns:a16="http://schemas.microsoft.com/office/drawing/2014/main" id="{A3984977-DFD2-AAB3-B8BF-64B97DC694B3}"/>
              </a:ext>
            </a:extLst>
          </p:cNvPr>
          <p:cNvSpPr txBox="1"/>
          <p:nvPr/>
        </p:nvSpPr>
        <p:spPr>
          <a:xfrm>
            <a:off x="464566" y="2362200"/>
            <a:ext cx="8298434" cy="3170099"/>
          </a:xfrm>
          <a:prstGeom prst="rect">
            <a:avLst/>
          </a:prstGeom>
          <a:noFill/>
        </p:spPr>
        <p:txBody>
          <a:bodyPr wrap="square" rtlCol="0">
            <a:spAutoFit/>
          </a:bodyPr>
          <a:lstStyle/>
          <a:p>
            <a:pPr marL="285750" indent="-285750">
              <a:buFont typeface="Arial" panose="020B0604020202020204" pitchFamily="34" charset="0"/>
              <a:buChar char="•"/>
            </a:pPr>
            <a:r>
              <a:rPr lang="en-IN" sz="2000" dirty="0">
                <a:latin typeface="+mn-lt"/>
              </a:rPr>
              <a:t>AJDBC </a:t>
            </a:r>
            <a:r>
              <a:rPr lang="en-IN" sz="2000" dirty="0" err="1">
                <a:latin typeface="+mn-lt"/>
              </a:rPr>
              <a:t>RowSet</a:t>
            </a:r>
            <a:r>
              <a:rPr lang="en-IN" sz="2000" dirty="0">
                <a:latin typeface="+mn-lt"/>
              </a:rPr>
              <a:t> facilitates a mechanism to keep the data in tabular form.</a:t>
            </a:r>
          </a:p>
          <a:p>
            <a:pPr marL="285750" indent="-285750">
              <a:buFont typeface="Arial" panose="020B0604020202020204" pitchFamily="34" charset="0"/>
              <a:buChar char="•"/>
            </a:pPr>
            <a:r>
              <a:rPr lang="en-IN" sz="2000" dirty="0">
                <a:latin typeface="+mn-lt"/>
              </a:rPr>
              <a:t>It is the wrapper of </a:t>
            </a:r>
            <a:r>
              <a:rPr lang="en-IN" sz="2000" dirty="0" err="1">
                <a:latin typeface="+mn-lt"/>
              </a:rPr>
              <a:t>ResultSet</a:t>
            </a:r>
            <a:r>
              <a:rPr lang="en-IN" sz="2000" dirty="0">
                <a:latin typeface="+mn-lt"/>
              </a:rPr>
              <a:t>.</a:t>
            </a:r>
          </a:p>
          <a:p>
            <a:pPr marL="285750" indent="-285750">
              <a:buFont typeface="Arial" panose="020B0604020202020204" pitchFamily="34" charset="0"/>
              <a:buChar char="•"/>
            </a:pPr>
            <a:r>
              <a:rPr lang="en-IN" sz="2000" dirty="0">
                <a:latin typeface="+mn-lt"/>
              </a:rPr>
              <a:t>AJDBC </a:t>
            </a:r>
            <a:r>
              <a:rPr lang="en-IN" sz="2000" dirty="0" err="1">
                <a:latin typeface="+mn-lt"/>
              </a:rPr>
              <a:t>RowSet</a:t>
            </a:r>
            <a:r>
              <a:rPr lang="en-IN" sz="2000" dirty="0">
                <a:latin typeface="+mn-lt"/>
              </a:rPr>
              <a:t> object holds tabular data in a style that makes it more adaptable </a:t>
            </a:r>
            <a:r>
              <a:rPr lang="en-IN" sz="2000" dirty="0" err="1">
                <a:latin typeface="+mn-lt"/>
              </a:rPr>
              <a:t>andsimpler</a:t>
            </a:r>
            <a:r>
              <a:rPr lang="en-IN" sz="2000" dirty="0">
                <a:latin typeface="+mn-lt"/>
              </a:rPr>
              <a:t> to use than a result set.</a:t>
            </a:r>
          </a:p>
          <a:p>
            <a:pPr marL="285750" indent="-285750">
              <a:buFont typeface="Arial" panose="020B0604020202020204" pitchFamily="34" charset="0"/>
              <a:buChar char="•"/>
            </a:pPr>
            <a:r>
              <a:rPr lang="en-IN" sz="2000" dirty="0">
                <a:latin typeface="+mn-lt"/>
              </a:rPr>
              <a:t>The implementation classes of the </a:t>
            </a:r>
            <a:r>
              <a:rPr lang="en-IN" sz="2000" dirty="0" err="1">
                <a:latin typeface="+mn-lt"/>
              </a:rPr>
              <a:t>RowSet</a:t>
            </a:r>
            <a:r>
              <a:rPr lang="en-IN" sz="2000" dirty="0">
                <a:latin typeface="+mn-lt"/>
              </a:rPr>
              <a:t> interface are as follows:</a:t>
            </a:r>
          </a:p>
          <a:p>
            <a:r>
              <a:rPr lang="en-IN" sz="2000" b="1" dirty="0">
                <a:latin typeface="+mn-lt"/>
              </a:rPr>
              <a:t>    1.   </a:t>
            </a:r>
            <a:r>
              <a:rPr lang="en-IN" sz="2000" dirty="0" err="1">
                <a:latin typeface="+mn-lt"/>
              </a:rPr>
              <a:t>JdbcRowSet</a:t>
            </a:r>
            <a:endParaRPr lang="en-IN" sz="2000" dirty="0">
              <a:latin typeface="+mn-lt"/>
            </a:endParaRPr>
          </a:p>
          <a:p>
            <a:r>
              <a:rPr lang="en-IN" sz="2000" b="1" dirty="0">
                <a:latin typeface="+mn-lt"/>
              </a:rPr>
              <a:t>    2.  </a:t>
            </a:r>
            <a:r>
              <a:rPr lang="en-IN" sz="2000" dirty="0" err="1">
                <a:latin typeface="+mn-lt"/>
              </a:rPr>
              <a:t>CachedRowSet</a:t>
            </a:r>
            <a:endParaRPr lang="en-IN" sz="2000" dirty="0">
              <a:latin typeface="+mn-lt"/>
            </a:endParaRPr>
          </a:p>
          <a:p>
            <a:r>
              <a:rPr lang="en-IN" sz="2000" b="1" dirty="0">
                <a:latin typeface="+mn-lt"/>
              </a:rPr>
              <a:t>    3.  </a:t>
            </a:r>
            <a:r>
              <a:rPr lang="en-IN" sz="2000" dirty="0" err="1">
                <a:latin typeface="+mn-lt"/>
              </a:rPr>
              <a:t>WebRowSet</a:t>
            </a:r>
            <a:endParaRPr lang="en-IN" sz="2000" dirty="0">
              <a:latin typeface="+mn-lt"/>
            </a:endParaRPr>
          </a:p>
          <a:p>
            <a:r>
              <a:rPr lang="en-IN" sz="2000" dirty="0">
                <a:latin typeface="+mn-lt"/>
              </a:rPr>
              <a:t>   </a:t>
            </a:r>
            <a:r>
              <a:rPr lang="en-IN" sz="2000" b="1" dirty="0">
                <a:latin typeface="+mn-lt"/>
              </a:rPr>
              <a:t> 4.  </a:t>
            </a:r>
            <a:r>
              <a:rPr lang="en-IN" sz="2000" dirty="0" err="1">
                <a:latin typeface="+mn-lt"/>
              </a:rPr>
              <a:t>JoinRowSet</a:t>
            </a:r>
            <a:endParaRPr lang="en-IN" sz="2000" dirty="0">
              <a:latin typeface="+mn-lt"/>
            </a:endParaRPr>
          </a:p>
          <a:p>
            <a:r>
              <a:rPr lang="en-IN" sz="2000" b="1" dirty="0">
                <a:latin typeface="+mn-lt"/>
              </a:rPr>
              <a:t>    5.  </a:t>
            </a:r>
            <a:r>
              <a:rPr lang="en-IN" sz="2000" dirty="0" err="1">
                <a:latin typeface="+mn-lt"/>
              </a:rPr>
              <a:t>FilteredRowSet</a:t>
            </a:r>
            <a:endParaRPr lang="en-IN" dirty="0">
              <a:latin typeface="+mn-lt"/>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76200"/>
            <a:ext cx="9144000" cy="6858000"/>
            <a:chOff x="0" y="0"/>
            <a:chExt cx="9144000" cy="6858000"/>
          </a:xfrm>
        </p:grpSpPr>
        <p:pic>
          <p:nvPicPr>
            <p:cNvPr id="3" name="object 3"/>
            <p:cNvPicPr/>
            <p:nvPr/>
          </p:nvPicPr>
          <p:blipFill>
            <a:blip r:embed="rId2" cstate="print"/>
            <a:stretch>
              <a:fillRect/>
            </a:stretch>
          </p:blipFill>
          <p:spPr>
            <a:xfrm>
              <a:off x="0" y="0"/>
              <a:ext cx="9143999" cy="6857998"/>
            </a:xfrm>
            <a:prstGeom prst="rect">
              <a:avLst/>
            </a:prstGeom>
          </p:spPr>
        </p:pic>
        <p:pic>
          <p:nvPicPr>
            <p:cNvPr id="4" name="object 4"/>
            <p:cNvPicPr/>
            <p:nvPr/>
          </p:nvPicPr>
          <p:blipFill>
            <a:blip r:embed="rId3" cstate="print"/>
            <a:stretch>
              <a:fillRect/>
            </a:stretch>
          </p:blipFill>
          <p:spPr>
            <a:xfrm>
              <a:off x="1857755" y="3072383"/>
              <a:ext cx="5430012" cy="2802636"/>
            </a:xfrm>
            <a:prstGeom prst="rect">
              <a:avLst/>
            </a:prstGeom>
          </p:spPr>
        </p:pic>
      </p:grpSp>
      <p:sp>
        <p:nvSpPr>
          <p:cNvPr id="5" name="object 5"/>
          <p:cNvSpPr txBox="1">
            <a:spLocks noGrp="1"/>
          </p:cNvSpPr>
          <p:nvPr>
            <p:ph type="title"/>
          </p:nvPr>
        </p:nvSpPr>
        <p:spPr>
          <a:xfrm>
            <a:off x="-1" y="1524000"/>
            <a:ext cx="9143999" cy="580286"/>
          </a:xfrm>
          <a:prstGeom prst="rect">
            <a:avLst/>
          </a:prstGeom>
          <a:solidFill>
            <a:srgbClr val="1F487C"/>
          </a:solidFill>
        </p:spPr>
        <p:txBody>
          <a:bodyPr vert="horz" wrap="square" lIns="0" tIns="26034" rIns="0" bIns="0" rtlCol="0">
            <a:spAutoFit/>
          </a:bodyPr>
          <a:lstStyle/>
          <a:p>
            <a:pPr marL="184150" algn="ctr">
              <a:lnSpc>
                <a:spcPct val="100000"/>
              </a:lnSpc>
              <a:spcBef>
                <a:spcPts val="204"/>
              </a:spcBef>
            </a:pPr>
            <a:r>
              <a:rPr lang="en-IN" sz="3600" b="1" spc="-10" dirty="0" err="1">
                <a:latin typeface="Arial MT"/>
                <a:cs typeface="Arial MT"/>
              </a:rPr>
              <a:t>JdbcRowSet</a:t>
            </a:r>
            <a:endParaRPr sz="3600" b="1" spc="-10" dirty="0">
              <a:latin typeface="Arial MT"/>
              <a:cs typeface="Arial MT"/>
            </a:endParaRPr>
          </a:p>
        </p:txBody>
      </p:sp>
      <p:pic>
        <p:nvPicPr>
          <p:cNvPr id="7" name="object 7"/>
          <p:cNvPicPr/>
          <p:nvPr/>
        </p:nvPicPr>
        <p:blipFill>
          <a:blip r:embed="rId4" cstate="print"/>
          <a:stretch>
            <a:fillRect/>
          </a:stretch>
        </p:blipFill>
        <p:spPr>
          <a:xfrm>
            <a:off x="8317992" y="6031991"/>
            <a:ext cx="609600" cy="609599"/>
          </a:xfrm>
          <a:prstGeom prst="rect">
            <a:avLst/>
          </a:prstGeom>
        </p:spPr>
      </p:pic>
      <p:sp>
        <p:nvSpPr>
          <p:cNvPr id="8" name="TextBox 7">
            <a:extLst>
              <a:ext uri="{FF2B5EF4-FFF2-40B4-BE49-F238E27FC236}">
                <a16:creationId xmlns:a16="http://schemas.microsoft.com/office/drawing/2014/main" id="{15166CBA-2DC9-7064-0643-9E1EB32A2B5C}"/>
              </a:ext>
            </a:extLst>
          </p:cNvPr>
          <p:cNvSpPr txBox="1"/>
          <p:nvPr/>
        </p:nvSpPr>
        <p:spPr>
          <a:xfrm>
            <a:off x="489915" y="2522981"/>
            <a:ext cx="8077200" cy="2814617"/>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en-US" sz="2000" dirty="0">
                <a:latin typeface="+mn-lt"/>
              </a:rPr>
              <a:t>It basically acts as a wrapper around the </a:t>
            </a:r>
            <a:r>
              <a:rPr lang="en-US" sz="2000" dirty="0" err="1">
                <a:latin typeface="+mn-lt"/>
              </a:rPr>
              <a:t>ResultSet</a:t>
            </a:r>
            <a:r>
              <a:rPr lang="en-US" sz="2000" dirty="0">
                <a:latin typeface="+mn-lt"/>
              </a:rPr>
              <a:t> object with some </a:t>
            </a:r>
            <a:r>
              <a:rPr lang="en-US" sz="2000" dirty="0" err="1">
                <a:latin typeface="+mn-lt"/>
              </a:rPr>
              <a:t>additionalfunctionality</a:t>
            </a:r>
            <a:r>
              <a:rPr lang="en-US" sz="2000" dirty="0">
                <a:latin typeface="+mn-lt"/>
              </a:rPr>
              <a:t>.</a:t>
            </a:r>
          </a:p>
          <a:p>
            <a:pPr marL="342900" indent="-342900">
              <a:lnSpc>
                <a:spcPct val="150000"/>
              </a:lnSpc>
              <a:buFont typeface="Arial" panose="020B0604020202020204" pitchFamily="34" charset="0"/>
              <a:buChar char="•"/>
            </a:pPr>
            <a:r>
              <a:rPr lang="en-US" sz="2000" dirty="0">
                <a:latin typeface="+mn-lt"/>
              </a:rPr>
              <a:t>It is only connected </a:t>
            </a:r>
            <a:r>
              <a:rPr lang="en-US" sz="2000" dirty="0" err="1">
                <a:latin typeface="+mn-lt"/>
              </a:rPr>
              <a:t>RowSet</a:t>
            </a:r>
            <a:r>
              <a:rPr lang="en-US" sz="2000" dirty="0">
                <a:latin typeface="+mn-lt"/>
              </a:rPr>
              <a:t> in the family.</a:t>
            </a:r>
          </a:p>
          <a:p>
            <a:pPr marL="342900" indent="-342900">
              <a:lnSpc>
                <a:spcPct val="150000"/>
              </a:lnSpc>
              <a:buFont typeface="Arial" panose="020B0604020202020204" pitchFamily="34" charset="0"/>
              <a:buChar char="•"/>
            </a:pPr>
            <a:r>
              <a:rPr lang="en-US" sz="2000" dirty="0">
                <a:latin typeface="+mn-lt"/>
              </a:rPr>
              <a:t>The primary advantage of using </a:t>
            </a:r>
            <a:r>
              <a:rPr lang="en-US" sz="2000" dirty="0" err="1">
                <a:latin typeface="+mn-lt"/>
              </a:rPr>
              <a:t>JdbcRowSet</a:t>
            </a:r>
            <a:r>
              <a:rPr lang="en-US" sz="2000" dirty="0">
                <a:latin typeface="+mn-lt"/>
              </a:rPr>
              <a:t> is that it enables the </a:t>
            </a:r>
            <a:r>
              <a:rPr lang="en-US" sz="2000" dirty="0" err="1">
                <a:latin typeface="+mn-lt"/>
              </a:rPr>
              <a:t>ResultSet</a:t>
            </a:r>
            <a:r>
              <a:rPr lang="en-US" sz="2000" dirty="0">
                <a:latin typeface="+mn-lt"/>
              </a:rPr>
              <a:t> object </a:t>
            </a:r>
            <a:r>
              <a:rPr lang="en-US" sz="2000" dirty="0" err="1">
                <a:latin typeface="+mn-lt"/>
              </a:rPr>
              <a:t>tobe</a:t>
            </a:r>
            <a:r>
              <a:rPr lang="en-US" sz="2000" dirty="0">
                <a:latin typeface="+mn-lt"/>
              </a:rPr>
              <a:t> used as a JavaBeans component. </a:t>
            </a:r>
          </a:p>
          <a:p>
            <a:pPr marL="342900" indent="-342900">
              <a:lnSpc>
                <a:spcPct val="150000"/>
              </a:lnSpc>
              <a:buFont typeface="Arial" panose="020B0604020202020204" pitchFamily="34" charset="0"/>
              <a:buChar char="•"/>
            </a:pPr>
            <a:r>
              <a:rPr lang="en-US" sz="2000" dirty="0">
                <a:latin typeface="+mn-lt"/>
              </a:rPr>
              <a:t>It is scrollable and updatable capabilities to the </a:t>
            </a:r>
            <a:r>
              <a:rPr lang="en-US" sz="2000" dirty="0" err="1">
                <a:latin typeface="+mn-lt"/>
              </a:rPr>
              <a:t>ResultSet</a:t>
            </a:r>
            <a:r>
              <a:rPr lang="en-US" sz="2000" dirty="0">
                <a:latin typeface="+mn-lt"/>
              </a:rPr>
              <a:t> object.</a:t>
            </a:r>
            <a:endParaRPr lang="en-IN" sz="2000" dirty="0">
              <a:latin typeface="+mn-lt"/>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69240" y="1696592"/>
            <a:ext cx="8605519" cy="566822"/>
          </a:xfrm>
          <a:prstGeom prst="rect">
            <a:avLst/>
          </a:prstGeom>
        </p:spPr>
        <p:txBody>
          <a:bodyPr vert="horz" wrap="square" lIns="0" tIns="12700" rIns="0" bIns="0" rtlCol="0">
            <a:spAutoFit/>
          </a:bodyPr>
          <a:lstStyle/>
          <a:p>
            <a:pPr marL="12700">
              <a:lnSpc>
                <a:spcPct val="100000"/>
              </a:lnSpc>
              <a:spcBef>
                <a:spcPts val="100"/>
              </a:spcBef>
            </a:pPr>
            <a:r>
              <a:rPr lang="en-IN" sz="3000" dirty="0">
                <a:latin typeface="Calibri"/>
                <a:cs typeface="Calibri"/>
              </a:rPr>
              <a:t>	</a:t>
            </a:r>
            <a:r>
              <a:rPr lang="en-IN" sz="3000" b="1" dirty="0">
                <a:latin typeface="Calibri"/>
                <a:cs typeface="Calibri"/>
              </a:rPr>
              <a:t>		</a:t>
            </a:r>
            <a:r>
              <a:rPr lang="en-IN" sz="3600" b="1" dirty="0" err="1">
                <a:latin typeface="Calibri"/>
                <a:cs typeface="Calibri"/>
              </a:rPr>
              <a:t>CachedRowSet</a:t>
            </a:r>
            <a:endParaRPr sz="3000" b="1" dirty="0">
              <a:latin typeface="Calibri"/>
              <a:cs typeface="Calibri"/>
            </a:endParaRPr>
          </a:p>
        </p:txBody>
      </p:sp>
      <p:sp>
        <p:nvSpPr>
          <p:cNvPr id="10" name="object 10"/>
          <p:cNvSpPr/>
          <p:nvPr/>
        </p:nvSpPr>
        <p:spPr>
          <a:xfrm>
            <a:off x="6643116" y="6073140"/>
            <a:ext cx="2501265" cy="215265"/>
          </a:xfrm>
          <a:custGeom>
            <a:avLst/>
            <a:gdLst/>
            <a:ahLst/>
            <a:cxnLst/>
            <a:rect l="l" t="t" r="r" b="b"/>
            <a:pathLst>
              <a:path w="2501265" h="215264">
                <a:moveTo>
                  <a:pt x="2500883" y="0"/>
                </a:moveTo>
                <a:lnTo>
                  <a:pt x="0" y="0"/>
                </a:lnTo>
                <a:lnTo>
                  <a:pt x="0" y="214884"/>
                </a:lnTo>
                <a:lnTo>
                  <a:pt x="2500883" y="214884"/>
                </a:lnTo>
                <a:lnTo>
                  <a:pt x="2500883" y="0"/>
                </a:lnTo>
                <a:close/>
              </a:path>
            </a:pathLst>
          </a:custGeom>
          <a:solidFill>
            <a:srgbClr val="F1F1F1"/>
          </a:solidFill>
        </p:spPr>
        <p:txBody>
          <a:bodyPr wrap="square" lIns="0" tIns="0" rIns="0" bIns="0" rtlCol="0"/>
          <a:lstStyle/>
          <a:p>
            <a:endParaRPr/>
          </a:p>
        </p:txBody>
      </p:sp>
      <p:sp>
        <p:nvSpPr>
          <p:cNvPr id="16" name="TextBox 15">
            <a:extLst>
              <a:ext uri="{FF2B5EF4-FFF2-40B4-BE49-F238E27FC236}">
                <a16:creationId xmlns:a16="http://schemas.microsoft.com/office/drawing/2014/main" id="{A0345A00-63DA-AD46-E8E4-BE3AC8220AB5}"/>
              </a:ext>
            </a:extLst>
          </p:cNvPr>
          <p:cNvSpPr txBox="1"/>
          <p:nvPr/>
        </p:nvSpPr>
        <p:spPr>
          <a:xfrm>
            <a:off x="685800" y="2590800"/>
            <a:ext cx="7696200" cy="2352952"/>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en-US" sz="2000" dirty="0" err="1">
                <a:latin typeface="+mn-lt"/>
              </a:rPr>
              <a:t>CachedRowSet</a:t>
            </a:r>
            <a:r>
              <a:rPr lang="en-US" sz="2000" dirty="0">
                <a:latin typeface="+mn-lt"/>
              </a:rPr>
              <a:t> object is unique because it can operate without being connected </a:t>
            </a:r>
            <a:r>
              <a:rPr lang="en-US" sz="2000" dirty="0" err="1">
                <a:latin typeface="+mn-lt"/>
              </a:rPr>
              <a:t>toits</a:t>
            </a:r>
            <a:r>
              <a:rPr lang="en-US" sz="2000" dirty="0">
                <a:latin typeface="+mn-lt"/>
              </a:rPr>
              <a:t> data source. We call this a “disconnected </a:t>
            </a:r>
            <a:r>
              <a:rPr lang="en-US" sz="2000" dirty="0" err="1">
                <a:latin typeface="+mn-lt"/>
              </a:rPr>
              <a:t>RowSet</a:t>
            </a:r>
            <a:r>
              <a:rPr lang="en-US" sz="2000" dirty="0">
                <a:latin typeface="+mn-lt"/>
              </a:rPr>
              <a:t> object”.</a:t>
            </a:r>
          </a:p>
          <a:p>
            <a:pPr marL="342900" indent="-342900">
              <a:lnSpc>
                <a:spcPct val="150000"/>
              </a:lnSpc>
              <a:buFont typeface="Arial" panose="020B0604020202020204" pitchFamily="34" charset="0"/>
              <a:buChar char="•"/>
            </a:pPr>
            <a:r>
              <a:rPr lang="en-US" sz="2000" dirty="0">
                <a:latin typeface="+mn-lt"/>
              </a:rPr>
              <a:t>it caches its data in memory so that it can operate on its own data instead of </a:t>
            </a:r>
            <a:r>
              <a:rPr lang="en-US" sz="2000" dirty="0" err="1">
                <a:latin typeface="+mn-lt"/>
              </a:rPr>
              <a:t>thedata</a:t>
            </a:r>
            <a:r>
              <a:rPr lang="en-US" sz="2000" dirty="0">
                <a:latin typeface="+mn-lt"/>
              </a:rPr>
              <a:t> stored in a database.</a:t>
            </a:r>
            <a:endParaRPr lang="en-IN" sz="2000" dirty="0">
              <a:latin typeface="+mn-lt"/>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69240" y="1696592"/>
            <a:ext cx="8605519" cy="566822"/>
          </a:xfrm>
          <a:prstGeom prst="rect">
            <a:avLst/>
          </a:prstGeom>
        </p:spPr>
        <p:txBody>
          <a:bodyPr vert="horz" wrap="square" lIns="0" tIns="12700" rIns="0" bIns="0" rtlCol="0">
            <a:spAutoFit/>
          </a:bodyPr>
          <a:lstStyle/>
          <a:p>
            <a:pPr marL="12700">
              <a:lnSpc>
                <a:spcPct val="100000"/>
              </a:lnSpc>
              <a:spcBef>
                <a:spcPts val="100"/>
              </a:spcBef>
            </a:pPr>
            <a:r>
              <a:rPr lang="en-IN" sz="3000" dirty="0">
                <a:latin typeface="Calibri"/>
                <a:cs typeface="Calibri"/>
              </a:rPr>
              <a:t>			</a:t>
            </a:r>
            <a:r>
              <a:rPr lang="en-IN" sz="3600" b="1" dirty="0" err="1">
                <a:latin typeface="Calibri"/>
                <a:cs typeface="Calibri"/>
              </a:rPr>
              <a:t>WebRowSet</a:t>
            </a:r>
            <a:endParaRPr sz="3000" b="1" dirty="0">
              <a:latin typeface="Calibri"/>
              <a:cs typeface="Calibri"/>
            </a:endParaRPr>
          </a:p>
        </p:txBody>
      </p:sp>
      <p:pic>
        <p:nvPicPr>
          <p:cNvPr id="4" name="object 4"/>
          <p:cNvPicPr/>
          <p:nvPr/>
        </p:nvPicPr>
        <p:blipFill>
          <a:blip r:embed="rId2" cstate="print"/>
          <a:stretch>
            <a:fillRect/>
          </a:stretch>
        </p:blipFill>
        <p:spPr>
          <a:xfrm>
            <a:off x="8317992" y="6031991"/>
            <a:ext cx="609600" cy="609599"/>
          </a:xfrm>
          <a:prstGeom prst="rect">
            <a:avLst/>
          </a:prstGeom>
        </p:spPr>
      </p:pic>
      <p:sp>
        <p:nvSpPr>
          <p:cNvPr id="5" name="TextBox 4">
            <a:extLst>
              <a:ext uri="{FF2B5EF4-FFF2-40B4-BE49-F238E27FC236}">
                <a16:creationId xmlns:a16="http://schemas.microsoft.com/office/drawing/2014/main" id="{4461C9A0-FB22-1CC3-EB2C-E5F191E85159}"/>
              </a:ext>
            </a:extLst>
          </p:cNvPr>
          <p:cNvSpPr txBox="1"/>
          <p:nvPr/>
        </p:nvSpPr>
        <p:spPr>
          <a:xfrm>
            <a:off x="609600" y="2590800"/>
            <a:ext cx="7708392" cy="3276282"/>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en-US" sz="2000" dirty="0">
                <a:latin typeface="+mn-lt"/>
              </a:rPr>
              <a:t>It extends </a:t>
            </a:r>
            <a:r>
              <a:rPr lang="en-US" sz="2000" dirty="0" err="1">
                <a:latin typeface="+mn-lt"/>
              </a:rPr>
              <a:t>CachedRowSet</a:t>
            </a:r>
            <a:r>
              <a:rPr lang="en-US" sz="2000" dirty="0">
                <a:latin typeface="+mn-lt"/>
              </a:rPr>
              <a:t> capabilities but is very special in the sense that in </a:t>
            </a:r>
            <a:r>
              <a:rPr lang="en-US" sz="2000" dirty="0" err="1">
                <a:latin typeface="+mn-lt"/>
              </a:rPr>
              <a:t>additionto</a:t>
            </a:r>
            <a:r>
              <a:rPr lang="en-US" sz="2000" dirty="0">
                <a:latin typeface="+mn-lt"/>
              </a:rPr>
              <a:t> providing all the features of </a:t>
            </a:r>
            <a:r>
              <a:rPr lang="en-US" sz="2000" dirty="0" err="1">
                <a:latin typeface="+mn-lt"/>
              </a:rPr>
              <a:t>CachedRowSet</a:t>
            </a:r>
            <a:r>
              <a:rPr lang="en-US" sz="2000" dirty="0">
                <a:latin typeface="+mn-lt"/>
              </a:rPr>
              <a:t>, it can read and write XML document.</a:t>
            </a:r>
          </a:p>
          <a:p>
            <a:pPr marL="342900" indent="-342900">
              <a:lnSpc>
                <a:spcPct val="150000"/>
              </a:lnSpc>
              <a:buFont typeface="Arial" panose="020B0604020202020204" pitchFamily="34" charset="0"/>
              <a:buChar char="•"/>
            </a:pPr>
            <a:r>
              <a:rPr lang="en-US" sz="2000" dirty="0">
                <a:latin typeface="+mn-lt"/>
              </a:rPr>
              <a:t>it can write itself to an XML document and can also read that XML document </a:t>
            </a:r>
            <a:r>
              <a:rPr lang="en-US" sz="2000" dirty="0" err="1">
                <a:latin typeface="+mn-lt"/>
              </a:rPr>
              <a:t>toconvert</a:t>
            </a:r>
            <a:r>
              <a:rPr lang="en-US" sz="2000" dirty="0">
                <a:latin typeface="+mn-lt"/>
              </a:rPr>
              <a:t> itself back to a </a:t>
            </a:r>
            <a:r>
              <a:rPr lang="en-US" sz="2000" dirty="0" err="1">
                <a:latin typeface="+mn-lt"/>
              </a:rPr>
              <a:t>WebRowSet</a:t>
            </a:r>
            <a:r>
              <a:rPr lang="en-US" sz="2000" dirty="0">
                <a:latin typeface="+mn-lt"/>
              </a:rPr>
              <a:t>.</a:t>
            </a:r>
          </a:p>
          <a:p>
            <a:pPr marL="342900" indent="-342900">
              <a:lnSpc>
                <a:spcPct val="150000"/>
              </a:lnSpc>
              <a:buFont typeface="Arial" panose="020B0604020202020204" pitchFamily="34" charset="0"/>
              <a:buChar char="•"/>
            </a:pPr>
            <a:r>
              <a:rPr lang="en-US" sz="2000" dirty="0">
                <a:latin typeface="+mn-lt"/>
              </a:rPr>
              <a:t>it is mainly used in enterprise application scenario or in web service communication.</a:t>
            </a:r>
            <a:endParaRPr lang="en-IN" sz="2000" dirty="0">
              <a:latin typeface="+mn-lt"/>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69240" y="1696592"/>
            <a:ext cx="8605519" cy="505908"/>
          </a:xfrm>
          <a:prstGeom prst="rect">
            <a:avLst/>
          </a:prstGeom>
        </p:spPr>
        <p:txBody>
          <a:bodyPr vert="horz" wrap="square" lIns="0" tIns="13335" rIns="0" bIns="0" rtlCol="0">
            <a:spAutoFit/>
          </a:bodyPr>
          <a:lstStyle/>
          <a:p>
            <a:pPr marL="1206500">
              <a:lnSpc>
                <a:spcPct val="100000"/>
              </a:lnSpc>
              <a:spcBef>
                <a:spcPts val="105"/>
              </a:spcBef>
            </a:pPr>
            <a:r>
              <a:rPr lang="en-IN" sz="3200" b="1" dirty="0">
                <a:latin typeface="Arial"/>
                <a:cs typeface="Arial"/>
              </a:rPr>
              <a:t>	</a:t>
            </a:r>
            <a:r>
              <a:rPr lang="en-IN" sz="3200" b="1" dirty="0" err="1">
                <a:latin typeface="Arial"/>
                <a:cs typeface="Arial"/>
              </a:rPr>
              <a:t>FilteredRowSet</a:t>
            </a:r>
            <a:endParaRPr sz="3200" b="1" dirty="0">
              <a:latin typeface="Arial"/>
              <a:cs typeface="Arial"/>
            </a:endParaRPr>
          </a:p>
        </p:txBody>
      </p:sp>
      <p:sp>
        <p:nvSpPr>
          <p:cNvPr id="47" name="object 47"/>
          <p:cNvSpPr txBox="1"/>
          <p:nvPr/>
        </p:nvSpPr>
        <p:spPr>
          <a:xfrm>
            <a:off x="6644131" y="6734047"/>
            <a:ext cx="941705" cy="147955"/>
          </a:xfrm>
          <a:prstGeom prst="rect">
            <a:avLst/>
          </a:prstGeom>
        </p:spPr>
        <p:txBody>
          <a:bodyPr vert="horz" wrap="square" lIns="0" tIns="12700" rIns="0" bIns="0" rtlCol="0">
            <a:spAutoFit/>
          </a:bodyPr>
          <a:lstStyle/>
          <a:p>
            <a:pPr marL="12700">
              <a:lnSpc>
                <a:spcPct val="100000"/>
              </a:lnSpc>
              <a:spcBef>
                <a:spcPts val="100"/>
              </a:spcBef>
            </a:pPr>
            <a:r>
              <a:rPr sz="800" dirty="0">
                <a:latin typeface="Calibri"/>
                <a:cs typeface="Calibri"/>
              </a:rPr>
              <a:t>Image</a:t>
            </a:r>
            <a:r>
              <a:rPr sz="800" spc="-40" dirty="0">
                <a:latin typeface="Calibri"/>
                <a:cs typeface="Calibri"/>
              </a:rPr>
              <a:t> </a:t>
            </a:r>
            <a:r>
              <a:rPr sz="800" dirty="0">
                <a:latin typeface="Calibri"/>
                <a:cs typeface="Calibri"/>
              </a:rPr>
              <a:t>source</a:t>
            </a:r>
            <a:r>
              <a:rPr sz="800" spc="-5" dirty="0">
                <a:latin typeface="Calibri"/>
                <a:cs typeface="Calibri"/>
              </a:rPr>
              <a:t> </a:t>
            </a:r>
            <a:r>
              <a:rPr sz="800" dirty="0">
                <a:latin typeface="Calibri"/>
                <a:cs typeface="Calibri"/>
              </a:rPr>
              <a:t>:</a:t>
            </a:r>
            <a:r>
              <a:rPr sz="800" spc="-20" dirty="0">
                <a:latin typeface="Calibri"/>
                <a:cs typeface="Calibri"/>
              </a:rPr>
              <a:t> </a:t>
            </a:r>
            <a:r>
              <a:rPr sz="800" spc="-10" dirty="0">
                <a:latin typeface="Calibri"/>
                <a:cs typeface="Calibri"/>
              </a:rPr>
              <a:t>Google</a:t>
            </a:r>
            <a:endParaRPr sz="800">
              <a:latin typeface="Calibri"/>
              <a:cs typeface="Calibri"/>
            </a:endParaRPr>
          </a:p>
        </p:txBody>
      </p:sp>
      <p:sp>
        <p:nvSpPr>
          <p:cNvPr id="75" name="TextBox 74">
            <a:extLst>
              <a:ext uri="{FF2B5EF4-FFF2-40B4-BE49-F238E27FC236}">
                <a16:creationId xmlns:a16="http://schemas.microsoft.com/office/drawing/2014/main" id="{609072C8-C29F-B21F-0698-898FB41DF70F}"/>
              </a:ext>
            </a:extLst>
          </p:cNvPr>
          <p:cNvSpPr txBox="1"/>
          <p:nvPr/>
        </p:nvSpPr>
        <p:spPr>
          <a:xfrm>
            <a:off x="533400" y="2514600"/>
            <a:ext cx="7924800" cy="1891287"/>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en-US" sz="2000" dirty="0">
                <a:latin typeface="+mn-lt"/>
              </a:rPr>
              <a:t>It is Jonrowe an extension of </a:t>
            </a:r>
            <a:r>
              <a:rPr lang="en-US" sz="2000" dirty="0" err="1">
                <a:latin typeface="+mn-lt"/>
              </a:rPr>
              <a:t>WebRowSet</a:t>
            </a:r>
            <a:r>
              <a:rPr lang="en-US" sz="2000" dirty="0">
                <a:latin typeface="+mn-lt"/>
              </a:rPr>
              <a:t>.</a:t>
            </a:r>
          </a:p>
          <a:p>
            <a:pPr marL="342900" indent="-342900">
              <a:lnSpc>
                <a:spcPct val="150000"/>
              </a:lnSpc>
              <a:buFont typeface="Arial" panose="020B0604020202020204" pitchFamily="34" charset="0"/>
              <a:buChar char="•"/>
            </a:pPr>
            <a:r>
              <a:rPr lang="en-US" sz="2000" dirty="0">
                <a:latin typeface="+mn-lt"/>
              </a:rPr>
              <a:t>filtering data based on criteria to fetch selected rows from the data source so that we can work with the relevant data.</a:t>
            </a:r>
          </a:p>
          <a:p>
            <a:pPr marL="342900" indent="-342900">
              <a:lnSpc>
                <a:spcPct val="150000"/>
              </a:lnSpc>
              <a:buFont typeface="Arial" panose="020B0604020202020204" pitchFamily="34" charset="0"/>
              <a:buChar char="•"/>
            </a:pPr>
            <a:r>
              <a:rPr lang="en-US" sz="2000" dirty="0">
                <a:latin typeface="+mn-lt"/>
              </a:rPr>
              <a:t>It is something like using the WHERE clause without writing an SQL.</a:t>
            </a:r>
            <a:endParaRPr lang="en-IN" sz="2000" dirty="0">
              <a:latin typeface="+mn-lt"/>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69240" y="1696592"/>
            <a:ext cx="8605519" cy="505908"/>
          </a:xfrm>
          <a:prstGeom prst="rect">
            <a:avLst/>
          </a:prstGeom>
        </p:spPr>
        <p:txBody>
          <a:bodyPr vert="horz" wrap="square" lIns="0" tIns="13335" rIns="0" bIns="0" rtlCol="0">
            <a:spAutoFit/>
          </a:bodyPr>
          <a:lstStyle/>
          <a:p>
            <a:pPr marL="2463800">
              <a:lnSpc>
                <a:spcPct val="100000"/>
              </a:lnSpc>
              <a:spcBef>
                <a:spcPts val="105"/>
              </a:spcBef>
            </a:pPr>
            <a:r>
              <a:rPr lang="en-IN" sz="3200" b="1" dirty="0" err="1">
                <a:latin typeface="Arial"/>
                <a:cs typeface="Arial"/>
              </a:rPr>
              <a:t>JoinRowSet</a:t>
            </a:r>
            <a:r>
              <a:rPr lang="en-IN" sz="3200" b="1" dirty="0">
                <a:latin typeface="Arial"/>
                <a:cs typeface="Arial"/>
              </a:rPr>
              <a:t> Interface</a:t>
            </a:r>
            <a:endParaRPr sz="3200" b="1" dirty="0">
              <a:latin typeface="Arial"/>
              <a:cs typeface="Arial"/>
            </a:endParaRPr>
          </a:p>
        </p:txBody>
      </p:sp>
      <p:sp>
        <p:nvSpPr>
          <p:cNvPr id="3" name="object 3"/>
          <p:cNvSpPr txBox="1"/>
          <p:nvPr/>
        </p:nvSpPr>
        <p:spPr>
          <a:xfrm>
            <a:off x="337515" y="2391257"/>
            <a:ext cx="8209915" cy="2286267"/>
          </a:xfrm>
          <a:prstGeom prst="rect">
            <a:avLst/>
          </a:prstGeom>
        </p:spPr>
        <p:txBody>
          <a:bodyPr vert="horz" wrap="square" lIns="0" tIns="12700" rIns="0" bIns="0" rtlCol="0">
            <a:spAutoFit/>
          </a:bodyPr>
          <a:lstStyle/>
          <a:p>
            <a:pPr marL="355600" marR="5715" indent="-342900" algn="just">
              <a:lnSpc>
                <a:spcPct val="150000"/>
              </a:lnSpc>
              <a:spcBef>
                <a:spcPts val="100"/>
              </a:spcBef>
              <a:buClr>
                <a:srgbClr val="000000"/>
              </a:buClr>
              <a:buFont typeface="Arial" panose="020B0604020202020204" pitchFamily="34" charset="0"/>
              <a:buChar char="•"/>
              <a:tabLst>
                <a:tab pos="208279" algn="l"/>
              </a:tabLst>
            </a:pPr>
            <a:r>
              <a:rPr lang="en-US" sz="2000" dirty="0">
                <a:latin typeface="+mn-lt"/>
                <a:cs typeface="Arial MT"/>
              </a:rPr>
              <a:t>It provides capabilities of </a:t>
            </a:r>
            <a:r>
              <a:rPr lang="en-US" sz="2000" dirty="0" err="1">
                <a:latin typeface="+mn-lt"/>
                <a:cs typeface="Arial MT"/>
              </a:rPr>
              <a:t>WebRowSet</a:t>
            </a:r>
            <a:r>
              <a:rPr lang="en-US" sz="2000" dirty="0">
                <a:latin typeface="+mn-lt"/>
                <a:cs typeface="Arial MT"/>
              </a:rPr>
              <a:t> and </a:t>
            </a:r>
            <a:r>
              <a:rPr lang="en-US" sz="2000" dirty="0" err="1">
                <a:latin typeface="+mn-lt"/>
                <a:cs typeface="Arial MT"/>
              </a:rPr>
              <a:t>CachedRowSet</a:t>
            </a:r>
            <a:r>
              <a:rPr lang="en-US" sz="2000" dirty="0">
                <a:latin typeface="+mn-lt"/>
                <a:cs typeface="Arial MT"/>
              </a:rPr>
              <a:t>, we can perform a SQL JOIN operation without connecting to a data source.</a:t>
            </a:r>
          </a:p>
          <a:p>
            <a:pPr marL="355600" marR="5715" indent="-342900" algn="just">
              <a:lnSpc>
                <a:spcPct val="150000"/>
              </a:lnSpc>
              <a:spcBef>
                <a:spcPts val="100"/>
              </a:spcBef>
              <a:buClr>
                <a:srgbClr val="000000"/>
              </a:buClr>
              <a:buFont typeface="Arial" panose="020B0604020202020204" pitchFamily="34" charset="0"/>
              <a:buChar char="•"/>
              <a:tabLst>
                <a:tab pos="208279" algn="l"/>
              </a:tabLst>
            </a:pPr>
            <a:r>
              <a:rPr lang="en-US" sz="2000" dirty="0">
                <a:latin typeface="+mn-lt"/>
                <a:cs typeface="Arial MT"/>
              </a:rPr>
              <a:t>It enables us to create SQL JOIN between </a:t>
            </a:r>
            <a:r>
              <a:rPr lang="en-US" sz="2000" dirty="0" err="1">
                <a:latin typeface="+mn-lt"/>
                <a:cs typeface="Arial MT"/>
              </a:rPr>
              <a:t>RowSet</a:t>
            </a:r>
            <a:r>
              <a:rPr lang="en-US" sz="2000" dirty="0">
                <a:latin typeface="+mn-lt"/>
                <a:cs typeface="Arial MT"/>
              </a:rPr>
              <a:t> objects and Related records from different </a:t>
            </a:r>
            <a:r>
              <a:rPr lang="en-US" sz="2000" dirty="0" err="1">
                <a:latin typeface="+mn-lt"/>
                <a:cs typeface="Arial MT"/>
              </a:rPr>
              <a:t>RowSets</a:t>
            </a:r>
            <a:r>
              <a:rPr lang="en-US" sz="2000" dirty="0">
                <a:latin typeface="+mn-lt"/>
                <a:cs typeface="Arial MT"/>
              </a:rPr>
              <a:t> can be combined to form this </a:t>
            </a:r>
            <a:r>
              <a:rPr lang="en-US" sz="2000" dirty="0" err="1">
                <a:latin typeface="+mn-lt"/>
                <a:cs typeface="Arial MT"/>
              </a:rPr>
              <a:t>RowSet</a:t>
            </a:r>
            <a:r>
              <a:rPr lang="en-US" sz="2000" dirty="0">
                <a:latin typeface="+mn-lt"/>
                <a:cs typeface="Arial MT"/>
              </a:rPr>
              <a:t> object.</a:t>
            </a:r>
            <a:endParaRPr sz="2000" dirty="0">
              <a:latin typeface="+mn-lt"/>
              <a:cs typeface="Arial MT"/>
            </a:endParaRPr>
          </a:p>
        </p:txBody>
      </p:sp>
      <p:pic>
        <p:nvPicPr>
          <p:cNvPr id="4" name="object 4"/>
          <p:cNvPicPr/>
          <p:nvPr/>
        </p:nvPicPr>
        <p:blipFill>
          <a:blip r:embed="rId2" cstate="print"/>
          <a:stretch>
            <a:fillRect/>
          </a:stretch>
        </p:blipFill>
        <p:spPr>
          <a:xfrm>
            <a:off x="8317992" y="6031991"/>
            <a:ext cx="609600" cy="609599"/>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69240" y="1696592"/>
            <a:ext cx="8605519" cy="566181"/>
          </a:xfrm>
          <a:prstGeom prst="rect">
            <a:avLst/>
          </a:prstGeom>
        </p:spPr>
        <p:txBody>
          <a:bodyPr vert="horz" wrap="square" lIns="0" tIns="12065" rIns="0" bIns="0" rtlCol="0">
            <a:spAutoFit/>
          </a:bodyPr>
          <a:lstStyle/>
          <a:p>
            <a:pPr marL="2755265">
              <a:lnSpc>
                <a:spcPct val="100000"/>
              </a:lnSpc>
              <a:spcBef>
                <a:spcPts val="95"/>
              </a:spcBef>
            </a:pPr>
            <a:r>
              <a:rPr lang="en-US" sz="3600" b="1" spc="-50" dirty="0" err="1">
                <a:latin typeface="+mj-lt"/>
              </a:rPr>
              <a:t>Jdbc</a:t>
            </a:r>
            <a:r>
              <a:rPr lang="en-US" sz="3600" b="1" spc="-50" dirty="0">
                <a:latin typeface="+mj-lt"/>
              </a:rPr>
              <a:t> with Oracle</a:t>
            </a:r>
            <a:endParaRPr sz="3600" b="1" spc="-50" dirty="0">
              <a:latin typeface="+mj-lt"/>
            </a:endParaRPr>
          </a:p>
        </p:txBody>
      </p:sp>
      <p:pic>
        <p:nvPicPr>
          <p:cNvPr id="3" name="object 3"/>
          <p:cNvPicPr/>
          <p:nvPr/>
        </p:nvPicPr>
        <p:blipFill>
          <a:blip r:embed="rId2" cstate="print"/>
          <a:stretch>
            <a:fillRect/>
          </a:stretch>
        </p:blipFill>
        <p:spPr>
          <a:xfrm>
            <a:off x="8317992" y="6031991"/>
            <a:ext cx="609600" cy="609599"/>
          </a:xfrm>
          <a:prstGeom prst="rect">
            <a:avLst/>
          </a:prstGeom>
        </p:spPr>
      </p:pic>
      <p:sp>
        <p:nvSpPr>
          <p:cNvPr id="4" name="object 4"/>
          <p:cNvSpPr txBox="1"/>
          <p:nvPr/>
        </p:nvSpPr>
        <p:spPr>
          <a:xfrm>
            <a:off x="294843" y="2771013"/>
            <a:ext cx="8554085" cy="3480440"/>
          </a:xfrm>
          <a:prstGeom prst="rect">
            <a:avLst/>
          </a:prstGeom>
        </p:spPr>
        <p:txBody>
          <a:bodyPr vert="horz" wrap="square" lIns="0" tIns="12700" rIns="0" bIns="0" rtlCol="0">
            <a:spAutoFit/>
          </a:bodyPr>
          <a:lstStyle/>
          <a:p>
            <a:pPr marL="2540" algn="just">
              <a:spcBef>
                <a:spcPts val="100"/>
              </a:spcBef>
              <a:buSzPct val="94444"/>
              <a:tabLst>
                <a:tab pos="91440" algn="l"/>
              </a:tabLst>
            </a:pPr>
            <a:r>
              <a:rPr lang="en-US" sz="2400" b="1" i="0" dirty="0">
                <a:solidFill>
                  <a:srgbClr val="610B38"/>
                </a:solidFill>
                <a:effectLst/>
                <a:highlight>
                  <a:srgbClr val="FFFFFF"/>
                </a:highlight>
                <a:latin typeface="erdana"/>
              </a:rPr>
              <a:t>Java Database Connectivity with 5 Steps</a:t>
            </a:r>
          </a:p>
          <a:p>
            <a:pPr marL="2540" algn="just">
              <a:spcBef>
                <a:spcPts val="100"/>
              </a:spcBef>
              <a:buSzPct val="94444"/>
              <a:tabLst>
                <a:tab pos="91440" algn="l"/>
              </a:tabLst>
            </a:pPr>
            <a:endParaRPr lang="en-US" dirty="0">
              <a:solidFill>
                <a:srgbClr val="610B38"/>
              </a:solidFill>
              <a:highlight>
                <a:srgbClr val="FFFFFF"/>
              </a:highlight>
              <a:latin typeface="erdana"/>
            </a:endParaRPr>
          </a:p>
          <a:p>
            <a:pPr algn="just"/>
            <a:r>
              <a:rPr lang="en-US" b="0" i="0" dirty="0">
                <a:solidFill>
                  <a:srgbClr val="333333"/>
                </a:solidFill>
                <a:effectLst/>
                <a:highlight>
                  <a:srgbClr val="FFFFFF"/>
                </a:highlight>
                <a:latin typeface="inter-regular"/>
              </a:rPr>
              <a:t>There are 5 steps to connect any java application with the database using JDBC. These steps are as follows:</a:t>
            </a:r>
          </a:p>
          <a:p>
            <a:pPr algn="just">
              <a:buFont typeface="Arial" panose="020B0604020202020204" pitchFamily="34" charset="0"/>
              <a:buChar char="•"/>
            </a:pPr>
            <a:r>
              <a:rPr lang="en-US" b="0" i="0" dirty="0">
                <a:solidFill>
                  <a:srgbClr val="000000"/>
                </a:solidFill>
                <a:effectLst/>
                <a:highlight>
                  <a:srgbClr val="FFFFFF"/>
                </a:highlight>
                <a:latin typeface="inter-regular"/>
              </a:rPr>
              <a:t>Register the Driver class</a:t>
            </a:r>
          </a:p>
          <a:p>
            <a:pPr algn="just">
              <a:buFont typeface="Arial" panose="020B0604020202020204" pitchFamily="34" charset="0"/>
              <a:buChar char="•"/>
            </a:pPr>
            <a:r>
              <a:rPr lang="en-US" b="0" i="0" dirty="0">
                <a:solidFill>
                  <a:srgbClr val="000000"/>
                </a:solidFill>
                <a:effectLst/>
                <a:highlight>
                  <a:srgbClr val="FFFFFF"/>
                </a:highlight>
                <a:latin typeface="inter-regular"/>
              </a:rPr>
              <a:t>Create connection</a:t>
            </a:r>
          </a:p>
          <a:p>
            <a:pPr algn="just">
              <a:buFont typeface="Arial" panose="020B0604020202020204" pitchFamily="34" charset="0"/>
              <a:buChar char="•"/>
            </a:pPr>
            <a:r>
              <a:rPr lang="en-US" b="0" i="0" dirty="0">
                <a:solidFill>
                  <a:srgbClr val="000000"/>
                </a:solidFill>
                <a:effectLst/>
                <a:highlight>
                  <a:srgbClr val="FFFFFF"/>
                </a:highlight>
                <a:latin typeface="inter-regular"/>
              </a:rPr>
              <a:t>Create statement</a:t>
            </a:r>
          </a:p>
          <a:p>
            <a:pPr algn="just">
              <a:buFont typeface="Arial" panose="020B0604020202020204" pitchFamily="34" charset="0"/>
              <a:buChar char="•"/>
            </a:pPr>
            <a:r>
              <a:rPr lang="en-US" b="0" i="0" dirty="0">
                <a:solidFill>
                  <a:srgbClr val="000000"/>
                </a:solidFill>
                <a:effectLst/>
                <a:highlight>
                  <a:srgbClr val="FFFFFF"/>
                </a:highlight>
                <a:latin typeface="inter-regular"/>
              </a:rPr>
              <a:t>Execute queries</a:t>
            </a:r>
          </a:p>
          <a:p>
            <a:pPr algn="just">
              <a:buFont typeface="Arial" panose="020B0604020202020204" pitchFamily="34" charset="0"/>
              <a:buChar char="•"/>
            </a:pPr>
            <a:r>
              <a:rPr lang="en-US" b="0" i="0" dirty="0">
                <a:solidFill>
                  <a:srgbClr val="000000"/>
                </a:solidFill>
                <a:effectLst/>
                <a:highlight>
                  <a:srgbClr val="FFFFFF"/>
                </a:highlight>
                <a:latin typeface="inter-regular"/>
              </a:rPr>
              <a:t>Close connection</a:t>
            </a:r>
          </a:p>
          <a:p>
            <a:pPr marL="2540" algn="just">
              <a:spcBef>
                <a:spcPts val="100"/>
              </a:spcBef>
              <a:buSzPct val="94444"/>
              <a:tabLst>
                <a:tab pos="91440" algn="l"/>
              </a:tabLst>
            </a:pPr>
            <a:endParaRPr lang="en-US" b="0" i="0" dirty="0">
              <a:solidFill>
                <a:srgbClr val="610B38"/>
              </a:solidFill>
              <a:effectLst/>
              <a:highlight>
                <a:srgbClr val="FFFFFF"/>
              </a:highlight>
              <a:latin typeface="erdana"/>
            </a:endParaRPr>
          </a:p>
          <a:p>
            <a:pPr marL="2540" algn="just">
              <a:spcBef>
                <a:spcPts val="100"/>
              </a:spcBef>
              <a:buSzPct val="94444"/>
              <a:tabLst>
                <a:tab pos="91440" algn="l"/>
              </a:tabLst>
            </a:pPr>
            <a:endParaRPr lang="en-US" b="0" i="0" dirty="0">
              <a:solidFill>
                <a:srgbClr val="610B38"/>
              </a:solidFill>
              <a:effectLst/>
              <a:highlight>
                <a:srgbClr val="FFFFFF"/>
              </a:highlight>
              <a:latin typeface="erdana"/>
            </a:endParaRPr>
          </a:p>
          <a:p>
            <a:pPr marL="2540">
              <a:lnSpc>
                <a:spcPct val="100000"/>
              </a:lnSpc>
              <a:spcBef>
                <a:spcPts val="100"/>
              </a:spcBef>
              <a:buSzPct val="94444"/>
              <a:tabLst>
                <a:tab pos="91440" algn="l"/>
              </a:tabLst>
            </a:pPr>
            <a:endParaRPr sz="1800" dirty="0">
              <a:latin typeface="Arial MT"/>
              <a:cs typeface="Arial MT"/>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1000" y="1676400"/>
            <a:ext cx="8605519" cy="504625"/>
          </a:xfrm>
          <a:prstGeom prst="rect">
            <a:avLst/>
          </a:prstGeom>
        </p:spPr>
        <p:txBody>
          <a:bodyPr vert="horz" wrap="square" lIns="0" tIns="12065" rIns="0" bIns="0" rtlCol="0">
            <a:spAutoFit/>
          </a:bodyPr>
          <a:lstStyle/>
          <a:p>
            <a:pPr marL="2755265">
              <a:spcBef>
                <a:spcPts val="95"/>
              </a:spcBef>
            </a:pPr>
            <a:r>
              <a:rPr lang="en-US" sz="3200" b="1" i="0" dirty="0">
                <a:effectLst/>
                <a:latin typeface="+mj-lt"/>
              </a:rPr>
              <a:t>1) Register the driver class</a:t>
            </a:r>
            <a:endParaRPr sz="3200" b="1" spc="-50" dirty="0">
              <a:latin typeface="+mj-lt"/>
            </a:endParaRPr>
          </a:p>
        </p:txBody>
      </p:sp>
      <p:pic>
        <p:nvPicPr>
          <p:cNvPr id="3" name="object 3"/>
          <p:cNvPicPr/>
          <p:nvPr/>
        </p:nvPicPr>
        <p:blipFill>
          <a:blip r:embed="rId2" cstate="print"/>
          <a:stretch>
            <a:fillRect/>
          </a:stretch>
        </p:blipFill>
        <p:spPr>
          <a:xfrm>
            <a:off x="8317992" y="6031991"/>
            <a:ext cx="609600" cy="609599"/>
          </a:xfrm>
          <a:prstGeom prst="rect">
            <a:avLst/>
          </a:prstGeom>
        </p:spPr>
      </p:pic>
      <p:sp>
        <p:nvSpPr>
          <p:cNvPr id="4" name="object 4"/>
          <p:cNvSpPr txBox="1"/>
          <p:nvPr/>
        </p:nvSpPr>
        <p:spPr>
          <a:xfrm>
            <a:off x="294843" y="2771013"/>
            <a:ext cx="8554085" cy="869469"/>
          </a:xfrm>
          <a:prstGeom prst="rect">
            <a:avLst/>
          </a:prstGeom>
        </p:spPr>
        <p:txBody>
          <a:bodyPr vert="horz" wrap="square" lIns="0" tIns="12700" rIns="0" bIns="0" rtlCol="0">
            <a:spAutoFit/>
          </a:bodyPr>
          <a:lstStyle/>
          <a:p>
            <a:pPr marL="2540" algn="just">
              <a:spcBef>
                <a:spcPts val="100"/>
              </a:spcBef>
              <a:buSzPct val="94444"/>
              <a:tabLst>
                <a:tab pos="91440" algn="l"/>
              </a:tabLst>
            </a:pPr>
            <a:endParaRPr lang="en-US" b="0" i="0" dirty="0">
              <a:solidFill>
                <a:srgbClr val="610B38"/>
              </a:solidFill>
              <a:effectLst/>
              <a:highlight>
                <a:srgbClr val="FFFFFF"/>
              </a:highlight>
              <a:latin typeface="erdana"/>
            </a:endParaRPr>
          </a:p>
          <a:p>
            <a:pPr marL="2540" algn="just">
              <a:spcBef>
                <a:spcPts val="100"/>
              </a:spcBef>
              <a:buSzPct val="94444"/>
              <a:tabLst>
                <a:tab pos="91440" algn="l"/>
              </a:tabLst>
            </a:pPr>
            <a:endParaRPr lang="en-US" b="0" i="0" dirty="0">
              <a:solidFill>
                <a:srgbClr val="610B38"/>
              </a:solidFill>
              <a:effectLst/>
              <a:highlight>
                <a:srgbClr val="FFFFFF"/>
              </a:highlight>
              <a:latin typeface="erdana"/>
            </a:endParaRPr>
          </a:p>
          <a:p>
            <a:pPr marL="2540">
              <a:lnSpc>
                <a:spcPct val="100000"/>
              </a:lnSpc>
              <a:spcBef>
                <a:spcPts val="100"/>
              </a:spcBef>
              <a:buSzPct val="94444"/>
              <a:tabLst>
                <a:tab pos="91440" algn="l"/>
              </a:tabLst>
            </a:pPr>
            <a:endParaRPr sz="1800" dirty="0">
              <a:latin typeface="Arial MT"/>
              <a:cs typeface="Arial MT"/>
            </a:endParaRPr>
          </a:p>
        </p:txBody>
      </p:sp>
      <p:graphicFrame>
        <p:nvGraphicFramePr>
          <p:cNvPr id="5" name="Table 4">
            <a:extLst>
              <a:ext uri="{FF2B5EF4-FFF2-40B4-BE49-F238E27FC236}">
                <a16:creationId xmlns:a16="http://schemas.microsoft.com/office/drawing/2014/main" id="{2EDC77BE-3EAF-FC54-929A-CEC39F673956}"/>
              </a:ext>
            </a:extLst>
          </p:cNvPr>
          <p:cNvGraphicFramePr>
            <a:graphicFrameLocks noGrp="1"/>
          </p:cNvGraphicFramePr>
          <p:nvPr>
            <p:extLst>
              <p:ext uri="{D42A27DB-BD31-4B8C-83A1-F6EECF244321}">
                <p14:modId xmlns:p14="http://schemas.microsoft.com/office/powerpoint/2010/main" val="3756721741"/>
              </p:ext>
            </p:extLst>
          </p:nvPr>
        </p:nvGraphicFramePr>
        <p:xfrm>
          <a:off x="533400" y="2438400"/>
          <a:ext cx="7784592" cy="4236720"/>
        </p:xfrm>
        <a:graphic>
          <a:graphicData uri="http://schemas.openxmlformats.org/drawingml/2006/table">
            <a:tbl>
              <a:tblPr/>
              <a:tblGrid>
                <a:gridCol w="7784592">
                  <a:extLst>
                    <a:ext uri="{9D8B030D-6E8A-4147-A177-3AD203B41FA5}">
                      <a16:colId xmlns:a16="http://schemas.microsoft.com/office/drawing/2014/main" val="3225787217"/>
                    </a:ext>
                  </a:extLst>
                </a:gridCol>
              </a:tblGrid>
              <a:tr h="939533">
                <a:tc>
                  <a:txBody>
                    <a:bodyPr/>
                    <a:lstStyle/>
                    <a:p>
                      <a:pPr algn="just"/>
                      <a:endParaRPr lang="en-US" dirty="0">
                        <a:solidFill>
                          <a:srgbClr val="333333"/>
                        </a:solidFill>
                        <a:effectLst/>
                        <a:latin typeface="inter-regular"/>
                      </a:endParaRPr>
                    </a:p>
                    <a:p>
                      <a:pPr algn="just"/>
                      <a:r>
                        <a:rPr lang="en-US" dirty="0">
                          <a:solidFill>
                            <a:srgbClr val="333333"/>
                          </a:solidFill>
                          <a:effectLst/>
                          <a:latin typeface="+mn-lt"/>
                        </a:rPr>
                        <a:t>The </a:t>
                      </a:r>
                      <a:r>
                        <a:rPr lang="en-US" b="1" dirty="0" err="1">
                          <a:solidFill>
                            <a:srgbClr val="333333"/>
                          </a:solidFill>
                          <a:effectLst/>
                          <a:latin typeface="+mn-lt"/>
                        </a:rPr>
                        <a:t>forName</a:t>
                      </a:r>
                      <a:r>
                        <a:rPr lang="en-US" b="1" dirty="0">
                          <a:solidFill>
                            <a:srgbClr val="333333"/>
                          </a:solidFill>
                          <a:effectLst/>
                          <a:latin typeface="+mn-lt"/>
                        </a:rPr>
                        <a:t>()</a:t>
                      </a:r>
                      <a:r>
                        <a:rPr lang="en-US" dirty="0">
                          <a:solidFill>
                            <a:srgbClr val="333333"/>
                          </a:solidFill>
                          <a:effectLst/>
                          <a:latin typeface="+mn-lt"/>
                        </a:rPr>
                        <a:t> method of Class </a:t>
                      </a:r>
                      <a:r>
                        <a:rPr lang="en-US" dirty="0" err="1">
                          <a:solidFill>
                            <a:srgbClr val="333333"/>
                          </a:solidFill>
                          <a:effectLst/>
                          <a:latin typeface="+mn-lt"/>
                        </a:rPr>
                        <a:t>class</a:t>
                      </a:r>
                      <a:r>
                        <a:rPr lang="en-US" dirty="0">
                          <a:solidFill>
                            <a:srgbClr val="333333"/>
                          </a:solidFill>
                          <a:effectLst/>
                          <a:latin typeface="+mn-lt"/>
                        </a:rPr>
                        <a:t> is used to register the driver class. This method is used to dynamically load the driver class.</a:t>
                      </a:r>
                    </a:p>
                    <a:p>
                      <a:pPr algn="just"/>
                      <a:endParaRPr lang="en-US" sz="2000" dirty="0">
                        <a:solidFill>
                          <a:srgbClr val="333333"/>
                        </a:solidFill>
                        <a:effectLst/>
                        <a:latin typeface="inter-regular"/>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altLang="en-US" sz="2400" b="0" i="0" u="none" strike="noStrike" cap="none" normalizeH="0" baseline="0" dirty="0">
                          <a:ln>
                            <a:noFill/>
                          </a:ln>
                          <a:solidFill>
                            <a:srgbClr val="610B4B"/>
                          </a:solidFill>
                          <a:effectLst/>
                          <a:latin typeface="erdana"/>
                        </a:rPr>
                        <a:t>Syntax of </a:t>
                      </a:r>
                      <a:r>
                        <a:rPr kumimoji="0" lang="en-US" altLang="en-US" sz="2400" b="0" i="0" u="none" strike="noStrike" cap="none" normalizeH="0" baseline="0" dirty="0" err="1">
                          <a:ln>
                            <a:noFill/>
                          </a:ln>
                          <a:solidFill>
                            <a:srgbClr val="610B4B"/>
                          </a:solidFill>
                          <a:effectLst/>
                          <a:latin typeface="erdana"/>
                        </a:rPr>
                        <a:t>forName</a:t>
                      </a:r>
                      <a:r>
                        <a:rPr kumimoji="0" lang="en-US" altLang="en-US" sz="2400" b="0" i="0" u="none" strike="noStrike" cap="none" normalizeH="0" baseline="0" dirty="0">
                          <a:ln>
                            <a:noFill/>
                          </a:ln>
                          <a:solidFill>
                            <a:srgbClr val="610B4B"/>
                          </a:solidFill>
                          <a:effectLst/>
                          <a:latin typeface="erdana"/>
                        </a:rPr>
                        <a:t>() method</a:t>
                      </a: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altLang="en-US" sz="1800" b="1" i="0" u="none" strike="noStrike" cap="none" normalizeH="0" baseline="0" dirty="0">
                          <a:ln>
                            <a:noFill/>
                          </a:ln>
                          <a:solidFill>
                            <a:srgbClr val="006699"/>
                          </a:solidFill>
                          <a:effectLst/>
                          <a:latin typeface="inter-regular"/>
                        </a:rPr>
                        <a:t>public</a:t>
                      </a:r>
                      <a:r>
                        <a:rPr kumimoji="0" lang="en-US" altLang="en-US" sz="1800" b="0" i="0" u="none" strike="noStrike" cap="none" normalizeH="0" baseline="0" dirty="0">
                          <a:ln>
                            <a:noFill/>
                          </a:ln>
                          <a:solidFill>
                            <a:srgbClr val="000000"/>
                          </a:solidFill>
                          <a:effectLst/>
                          <a:latin typeface="inter-regular"/>
                        </a:rPr>
                        <a:t> </a:t>
                      </a:r>
                      <a:r>
                        <a:rPr kumimoji="0" lang="en-US" altLang="en-US" sz="1800" b="1" i="0" u="none" strike="noStrike" cap="none" normalizeH="0" baseline="0" dirty="0">
                          <a:ln>
                            <a:noFill/>
                          </a:ln>
                          <a:solidFill>
                            <a:srgbClr val="006699"/>
                          </a:solidFill>
                          <a:effectLst/>
                          <a:latin typeface="inter-regular"/>
                        </a:rPr>
                        <a:t>static</a:t>
                      </a:r>
                      <a:r>
                        <a:rPr kumimoji="0" lang="en-US" altLang="en-US" sz="1800" b="0" i="0" u="none" strike="noStrike" cap="none" normalizeH="0" baseline="0" dirty="0">
                          <a:ln>
                            <a:noFill/>
                          </a:ln>
                          <a:solidFill>
                            <a:srgbClr val="000000"/>
                          </a:solidFill>
                          <a:effectLst/>
                          <a:latin typeface="inter-regular"/>
                        </a:rPr>
                        <a:t> </a:t>
                      </a:r>
                      <a:r>
                        <a:rPr kumimoji="0" lang="en-US" altLang="en-US" sz="1800" b="1" i="0" u="none" strike="noStrike" cap="none" normalizeH="0" baseline="0" dirty="0">
                          <a:ln>
                            <a:noFill/>
                          </a:ln>
                          <a:solidFill>
                            <a:srgbClr val="006699"/>
                          </a:solidFill>
                          <a:effectLst/>
                          <a:latin typeface="inter-regular"/>
                        </a:rPr>
                        <a:t>void</a:t>
                      </a:r>
                      <a:r>
                        <a:rPr kumimoji="0" lang="en-US" altLang="en-US" sz="1800" b="0" i="0" u="none" strike="noStrike" cap="none" normalizeH="0" baseline="0" dirty="0">
                          <a:ln>
                            <a:noFill/>
                          </a:ln>
                          <a:solidFill>
                            <a:srgbClr val="000000"/>
                          </a:solidFill>
                          <a:effectLst/>
                          <a:latin typeface="inter-regular"/>
                        </a:rPr>
                        <a:t> </a:t>
                      </a:r>
                      <a:r>
                        <a:rPr kumimoji="0" lang="en-US" altLang="en-US" sz="1800" b="0" i="0" u="none" strike="noStrike" cap="none" normalizeH="0" baseline="0" dirty="0" err="1">
                          <a:ln>
                            <a:noFill/>
                          </a:ln>
                          <a:solidFill>
                            <a:srgbClr val="000000"/>
                          </a:solidFill>
                          <a:effectLst/>
                          <a:latin typeface="inter-regular"/>
                        </a:rPr>
                        <a:t>forName</a:t>
                      </a:r>
                      <a:r>
                        <a:rPr kumimoji="0" lang="en-US" altLang="en-US" sz="1800" b="0" i="0" u="none" strike="noStrike" cap="none" normalizeH="0" baseline="0" dirty="0">
                          <a:ln>
                            <a:noFill/>
                          </a:ln>
                          <a:solidFill>
                            <a:srgbClr val="000000"/>
                          </a:solidFill>
                          <a:effectLst/>
                          <a:latin typeface="inter-regular"/>
                        </a:rPr>
                        <a:t>(String </a:t>
                      </a:r>
                      <a:r>
                        <a:rPr kumimoji="0" lang="en-US" altLang="en-US" sz="1800" b="0" i="0" u="none" strike="noStrike" cap="none" normalizeH="0" baseline="0" dirty="0" err="1">
                          <a:ln>
                            <a:noFill/>
                          </a:ln>
                          <a:solidFill>
                            <a:srgbClr val="000000"/>
                          </a:solidFill>
                          <a:effectLst/>
                          <a:latin typeface="inter-regular"/>
                        </a:rPr>
                        <a:t>className</a:t>
                      </a:r>
                      <a:r>
                        <a:rPr kumimoji="0" lang="en-US" altLang="en-US" sz="1800" b="0" i="0" u="none" strike="noStrike" cap="none" normalizeH="0" baseline="0" dirty="0">
                          <a:ln>
                            <a:noFill/>
                          </a:ln>
                          <a:solidFill>
                            <a:srgbClr val="000000"/>
                          </a:solidFill>
                          <a:effectLst/>
                          <a:latin typeface="inter-regular"/>
                        </a:rPr>
                        <a:t>)</a:t>
                      </a:r>
                      <a:r>
                        <a:rPr kumimoji="0" lang="en-US" altLang="en-US" sz="1800" b="1" i="0" u="none" strike="noStrike" cap="none" normalizeH="0" baseline="0" dirty="0">
                          <a:ln>
                            <a:noFill/>
                          </a:ln>
                          <a:solidFill>
                            <a:srgbClr val="006699"/>
                          </a:solidFill>
                          <a:effectLst/>
                          <a:latin typeface="inter-regular"/>
                        </a:rPr>
                        <a:t>throws</a:t>
                      </a:r>
                      <a:r>
                        <a:rPr kumimoji="0" lang="en-US" altLang="en-US" sz="1800" b="0" i="0" u="none" strike="noStrike" cap="none" normalizeH="0" baseline="0" dirty="0">
                          <a:ln>
                            <a:noFill/>
                          </a:ln>
                          <a:solidFill>
                            <a:srgbClr val="000000"/>
                          </a:solidFill>
                          <a:effectLst/>
                          <a:latin typeface="inter-regular"/>
                        </a:rPr>
                        <a:t> </a:t>
                      </a:r>
                      <a:r>
                        <a:rPr kumimoji="0" lang="en-US" altLang="en-US" sz="1800" b="0" i="0" u="none" strike="noStrike" cap="none" normalizeH="0" baseline="0" dirty="0" err="1">
                          <a:ln>
                            <a:noFill/>
                          </a:ln>
                          <a:solidFill>
                            <a:srgbClr val="000000"/>
                          </a:solidFill>
                          <a:effectLst/>
                          <a:latin typeface="inter-regular"/>
                        </a:rPr>
                        <a:t>ClassNotFoundException</a:t>
                      </a:r>
                      <a:r>
                        <a:rPr kumimoji="0" lang="en-US" altLang="en-US" sz="1800" b="0" i="0" u="none" strike="noStrike" cap="none" normalizeH="0" baseline="0" dirty="0">
                          <a:ln>
                            <a:noFill/>
                          </a:ln>
                          <a:solidFill>
                            <a:srgbClr val="000000"/>
                          </a:solidFill>
                          <a:effectLst/>
                          <a:latin typeface="inter-regular"/>
                        </a:rPr>
                        <a:t> </a:t>
                      </a: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cap="none" normalizeH="0" baseline="0" dirty="0">
                        <a:ln>
                          <a:noFill/>
                        </a:ln>
                        <a:solidFill>
                          <a:srgbClr val="000000"/>
                        </a:solidFill>
                        <a:effectLst/>
                        <a:latin typeface="inter-regular"/>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lang="en-US" sz="2400" b="1" dirty="0">
                        <a:solidFill>
                          <a:srgbClr val="7030A0"/>
                        </a:solidFill>
                        <a:effectLst/>
                        <a:latin typeface="+mn-lt"/>
                        <a:ea typeface="+mn-ea"/>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2400" b="1" u="sng" dirty="0">
                          <a:solidFill>
                            <a:srgbClr val="7030A0"/>
                          </a:solidFill>
                          <a:effectLst/>
                          <a:latin typeface="+mn-lt"/>
                          <a:ea typeface="+mn-ea"/>
                          <a:cs typeface="+mn-cs"/>
                        </a:rPr>
                        <a:t>Example to register the </a:t>
                      </a:r>
                      <a:r>
                        <a:rPr lang="en-US" sz="2400" b="1" u="sng" dirty="0" err="1">
                          <a:solidFill>
                            <a:srgbClr val="7030A0"/>
                          </a:solidFill>
                          <a:effectLst/>
                          <a:latin typeface="+mn-lt"/>
                          <a:ea typeface="+mn-ea"/>
                          <a:cs typeface="+mn-cs"/>
                        </a:rPr>
                        <a:t>OracleDriver</a:t>
                      </a:r>
                      <a:r>
                        <a:rPr lang="en-US" sz="2400" b="1" u="sng" dirty="0">
                          <a:solidFill>
                            <a:srgbClr val="7030A0"/>
                          </a:solidFill>
                          <a:effectLst/>
                          <a:latin typeface="+mn-lt"/>
                          <a:ea typeface="+mn-ea"/>
                          <a:cs typeface="+mn-cs"/>
                        </a:rPr>
                        <a:t> class</a:t>
                      </a:r>
                    </a:p>
                    <a:p>
                      <a:pPr marL="0" marR="0" lvl="0" indent="0" algn="just" defTabSz="914400" rtl="0" eaLnBrk="1" fontAlgn="auto" latinLnBrk="0" hangingPunct="1">
                        <a:lnSpc>
                          <a:spcPct val="100000"/>
                        </a:lnSpc>
                        <a:spcBef>
                          <a:spcPts val="0"/>
                        </a:spcBef>
                        <a:spcAft>
                          <a:spcPts val="0"/>
                        </a:spcAft>
                        <a:buClrTx/>
                        <a:buSzTx/>
                        <a:buFontTx/>
                        <a:buNone/>
                        <a:tabLst/>
                        <a:defRPr/>
                      </a:pPr>
                      <a:r>
                        <a:rPr lang="en-US" b="0" i="0" dirty="0">
                          <a:solidFill>
                            <a:schemeClr val="tx1"/>
                          </a:solidFill>
                          <a:effectLst/>
                          <a:latin typeface="+mn-lt"/>
                          <a:ea typeface="+mn-ea"/>
                          <a:cs typeface="+mn-cs"/>
                        </a:rPr>
                        <a:t>Here, Java program is loading oracle driver to </a:t>
                      </a:r>
                      <a:r>
                        <a:rPr lang="en-US" b="0" i="0" dirty="0" err="1">
                          <a:solidFill>
                            <a:schemeClr val="tx1"/>
                          </a:solidFill>
                          <a:effectLst/>
                          <a:latin typeface="+mn-lt"/>
                          <a:ea typeface="+mn-ea"/>
                          <a:cs typeface="+mn-cs"/>
                        </a:rPr>
                        <a:t>esteblish</a:t>
                      </a:r>
                      <a:r>
                        <a:rPr lang="en-US" b="0" i="0" dirty="0">
                          <a:solidFill>
                            <a:schemeClr val="tx1"/>
                          </a:solidFill>
                          <a:effectLst/>
                          <a:latin typeface="+mn-lt"/>
                          <a:ea typeface="+mn-ea"/>
                          <a:cs typeface="+mn-cs"/>
                        </a:rPr>
                        <a:t> database connection.</a:t>
                      </a:r>
                    </a:p>
                    <a:p>
                      <a:pPr marL="0" marR="0" lvl="0" indent="0" algn="just" defTabSz="914400" rtl="0" eaLnBrk="1" fontAlgn="auto" latinLnBrk="0" hangingPunct="1">
                        <a:lnSpc>
                          <a:spcPct val="100000"/>
                        </a:lnSpc>
                        <a:spcBef>
                          <a:spcPts val="0"/>
                        </a:spcBef>
                        <a:spcAft>
                          <a:spcPts val="0"/>
                        </a:spcAft>
                        <a:buClrTx/>
                        <a:buSzTx/>
                        <a:buFontTx/>
                        <a:buNone/>
                        <a:tabLst/>
                        <a:defRPr/>
                      </a:pPr>
                      <a:r>
                        <a:rPr lang="en-IN" b="0" i="0" dirty="0" err="1">
                          <a:solidFill>
                            <a:schemeClr val="tx1"/>
                          </a:solidFill>
                          <a:effectLst/>
                          <a:latin typeface="+mn-lt"/>
                          <a:ea typeface="+mn-ea"/>
                          <a:cs typeface="+mn-cs"/>
                        </a:rPr>
                        <a:t>Class.forName</a:t>
                      </a:r>
                      <a:r>
                        <a:rPr lang="en-IN" b="0" i="0" dirty="0">
                          <a:solidFill>
                            <a:schemeClr val="tx2">
                              <a:lumMod val="50000"/>
                            </a:schemeClr>
                          </a:solidFill>
                          <a:effectLst/>
                          <a:latin typeface="+mn-lt"/>
                          <a:ea typeface="+mn-ea"/>
                          <a:cs typeface="+mn-cs"/>
                        </a:rPr>
                        <a:t>("</a:t>
                      </a:r>
                      <a:r>
                        <a:rPr lang="en-IN" b="0" i="0" dirty="0" err="1">
                          <a:solidFill>
                            <a:schemeClr val="tx2">
                              <a:lumMod val="50000"/>
                            </a:schemeClr>
                          </a:solidFill>
                          <a:effectLst/>
                          <a:latin typeface="+mn-lt"/>
                          <a:ea typeface="+mn-ea"/>
                          <a:cs typeface="+mn-cs"/>
                        </a:rPr>
                        <a:t>oracle.jdbc.driver.OracleDriver</a:t>
                      </a:r>
                      <a:r>
                        <a:rPr lang="en-IN" b="0" i="0" dirty="0">
                          <a:solidFill>
                            <a:schemeClr val="tx2">
                              <a:lumMod val="50000"/>
                            </a:schemeClr>
                          </a:solidFill>
                          <a:effectLst/>
                          <a:latin typeface="+mn-lt"/>
                          <a:ea typeface="+mn-ea"/>
                          <a:cs typeface="+mn-cs"/>
                        </a:rPr>
                        <a:t>"</a:t>
                      </a:r>
                      <a:r>
                        <a:rPr lang="en-IN" b="0" i="0" dirty="0">
                          <a:solidFill>
                            <a:schemeClr val="tx1"/>
                          </a:solidFill>
                          <a:effectLst/>
                          <a:latin typeface="+mn-lt"/>
                          <a:ea typeface="+mn-ea"/>
                          <a:cs typeface="+mn-cs"/>
                        </a:rPr>
                        <a:t>); </a:t>
                      </a:r>
                      <a:endParaRPr lang="en-US" b="0" dirty="0">
                        <a:solidFill>
                          <a:schemeClr val="tx1"/>
                        </a:solidFill>
                        <a:effectLst/>
                        <a:latin typeface="+mn-lt"/>
                        <a:ea typeface="+mn-ea"/>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altLang="en-US" sz="1800" b="0" i="0" u="none" strike="noStrike" cap="none" normalizeH="0" baseline="0" dirty="0">
                          <a:ln>
                            <a:noFill/>
                          </a:ln>
                          <a:solidFill>
                            <a:srgbClr val="000000"/>
                          </a:solidFill>
                          <a:effectLst/>
                          <a:latin typeface="inter-regular"/>
                        </a:rPr>
                        <a:t>  </a:t>
                      </a:r>
                      <a:endParaRPr kumimoji="0" lang="en-US" altLang="en-US" sz="1800" b="0" i="0" u="none" strike="noStrike" cap="none" normalizeH="0" baseline="0" dirty="0">
                        <a:ln>
                          <a:noFill/>
                        </a:ln>
                        <a:solidFill>
                          <a:srgbClr val="333333"/>
                        </a:solidFill>
                        <a:effectLst/>
                        <a:latin typeface="inter-regular"/>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cap="none" normalizeH="0" baseline="0" dirty="0">
                        <a:ln>
                          <a:noFill/>
                        </a:ln>
                        <a:solidFill>
                          <a:srgbClr val="610B4B"/>
                        </a:solidFill>
                        <a:effectLst/>
                        <a:latin typeface="erdana"/>
                      </a:endParaRPr>
                    </a:p>
                    <a:p>
                      <a:pPr algn="just"/>
                      <a:endParaRPr lang="en-US" dirty="0">
                        <a:solidFill>
                          <a:srgbClr val="333333"/>
                        </a:solidFill>
                        <a:effectLst/>
                        <a:latin typeface="inter-regular"/>
                      </a:endParaRPr>
                    </a:p>
                  </a:txBody>
                  <a:tcPr anchor="ctr">
                    <a:lnL>
                      <a:noFill/>
                    </a:lnL>
                    <a:lnR>
                      <a:noFill/>
                    </a:lnR>
                    <a:lnT>
                      <a:noFill/>
                    </a:lnT>
                    <a:lnB>
                      <a:noFill/>
                    </a:lnB>
                    <a:solidFill>
                      <a:srgbClr val="FFFFFF"/>
                    </a:solidFill>
                  </a:tcPr>
                </a:tc>
                <a:extLst>
                  <a:ext uri="{0D108BD9-81ED-4DB2-BD59-A6C34878D82A}">
                    <a16:rowId xmlns:a16="http://schemas.microsoft.com/office/drawing/2014/main" val="3513960265"/>
                  </a:ext>
                </a:extLst>
              </a:tr>
            </a:tbl>
          </a:graphicData>
        </a:graphic>
      </p:graphicFrame>
    </p:spTree>
    <p:extLst>
      <p:ext uri="{BB962C8B-B14F-4D97-AF65-F5344CB8AC3E}">
        <p14:creationId xmlns:p14="http://schemas.microsoft.com/office/powerpoint/2010/main" val="383995276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62000" y="1676400"/>
            <a:ext cx="8605519" cy="504625"/>
          </a:xfrm>
          <a:prstGeom prst="rect">
            <a:avLst/>
          </a:prstGeom>
        </p:spPr>
        <p:txBody>
          <a:bodyPr vert="horz" wrap="square" lIns="0" tIns="12065" rIns="0" bIns="0" rtlCol="0">
            <a:spAutoFit/>
          </a:bodyPr>
          <a:lstStyle/>
          <a:p>
            <a:pPr marL="2755265">
              <a:spcBef>
                <a:spcPts val="95"/>
              </a:spcBef>
            </a:pPr>
            <a:r>
              <a:rPr lang="en-US" sz="3200" b="1" i="0" dirty="0">
                <a:effectLst/>
                <a:latin typeface="erdana"/>
              </a:rPr>
              <a:t>2) Create the connection object</a:t>
            </a:r>
            <a:endParaRPr sz="3200" b="1" spc="-50" dirty="0"/>
          </a:p>
        </p:txBody>
      </p:sp>
      <p:pic>
        <p:nvPicPr>
          <p:cNvPr id="3" name="object 3"/>
          <p:cNvPicPr/>
          <p:nvPr/>
        </p:nvPicPr>
        <p:blipFill>
          <a:blip r:embed="rId2" cstate="print"/>
          <a:stretch>
            <a:fillRect/>
          </a:stretch>
        </p:blipFill>
        <p:spPr>
          <a:xfrm>
            <a:off x="8317992" y="6031991"/>
            <a:ext cx="609600" cy="609599"/>
          </a:xfrm>
          <a:prstGeom prst="rect">
            <a:avLst/>
          </a:prstGeom>
        </p:spPr>
      </p:pic>
      <p:sp>
        <p:nvSpPr>
          <p:cNvPr id="4" name="object 4"/>
          <p:cNvSpPr txBox="1"/>
          <p:nvPr/>
        </p:nvSpPr>
        <p:spPr>
          <a:xfrm>
            <a:off x="294843" y="2771013"/>
            <a:ext cx="8554085" cy="869469"/>
          </a:xfrm>
          <a:prstGeom prst="rect">
            <a:avLst/>
          </a:prstGeom>
        </p:spPr>
        <p:txBody>
          <a:bodyPr vert="horz" wrap="square" lIns="0" tIns="12700" rIns="0" bIns="0" rtlCol="0">
            <a:spAutoFit/>
          </a:bodyPr>
          <a:lstStyle/>
          <a:p>
            <a:pPr marL="2540" algn="just">
              <a:spcBef>
                <a:spcPts val="100"/>
              </a:spcBef>
              <a:buSzPct val="94444"/>
              <a:tabLst>
                <a:tab pos="91440" algn="l"/>
              </a:tabLst>
            </a:pPr>
            <a:endParaRPr lang="en-US" b="0" i="0" dirty="0">
              <a:solidFill>
                <a:srgbClr val="610B38"/>
              </a:solidFill>
              <a:effectLst/>
              <a:highlight>
                <a:srgbClr val="FFFFFF"/>
              </a:highlight>
              <a:latin typeface="erdana"/>
            </a:endParaRPr>
          </a:p>
          <a:p>
            <a:pPr marL="2540" algn="just">
              <a:spcBef>
                <a:spcPts val="100"/>
              </a:spcBef>
              <a:buSzPct val="94444"/>
              <a:tabLst>
                <a:tab pos="91440" algn="l"/>
              </a:tabLst>
            </a:pPr>
            <a:endParaRPr lang="en-US" b="0" i="0" dirty="0">
              <a:solidFill>
                <a:srgbClr val="610B38"/>
              </a:solidFill>
              <a:effectLst/>
              <a:highlight>
                <a:srgbClr val="FFFFFF"/>
              </a:highlight>
              <a:latin typeface="erdana"/>
            </a:endParaRPr>
          </a:p>
          <a:p>
            <a:pPr marL="2540">
              <a:lnSpc>
                <a:spcPct val="100000"/>
              </a:lnSpc>
              <a:spcBef>
                <a:spcPts val="100"/>
              </a:spcBef>
              <a:buSzPct val="94444"/>
              <a:tabLst>
                <a:tab pos="91440" algn="l"/>
              </a:tabLst>
            </a:pPr>
            <a:endParaRPr sz="1800" dirty="0">
              <a:latin typeface="Arial MT"/>
              <a:cs typeface="Arial MT"/>
            </a:endParaRPr>
          </a:p>
        </p:txBody>
      </p:sp>
      <p:graphicFrame>
        <p:nvGraphicFramePr>
          <p:cNvPr id="5" name="Table 4">
            <a:extLst>
              <a:ext uri="{FF2B5EF4-FFF2-40B4-BE49-F238E27FC236}">
                <a16:creationId xmlns:a16="http://schemas.microsoft.com/office/drawing/2014/main" id="{2EDC77BE-3EAF-FC54-929A-CEC39F673956}"/>
              </a:ext>
            </a:extLst>
          </p:cNvPr>
          <p:cNvGraphicFramePr>
            <a:graphicFrameLocks noGrp="1"/>
          </p:cNvGraphicFramePr>
          <p:nvPr>
            <p:extLst>
              <p:ext uri="{D42A27DB-BD31-4B8C-83A1-F6EECF244321}">
                <p14:modId xmlns:p14="http://schemas.microsoft.com/office/powerpoint/2010/main" val="1624758056"/>
              </p:ext>
            </p:extLst>
          </p:nvPr>
        </p:nvGraphicFramePr>
        <p:xfrm>
          <a:off x="533400" y="2334954"/>
          <a:ext cx="7924800" cy="4084320"/>
        </p:xfrm>
        <a:graphic>
          <a:graphicData uri="http://schemas.openxmlformats.org/drawingml/2006/table">
            <a:tbl>
              <a:tblPr/>
              <a:tblGrid>
                <a:gridCol w="7924800">
                  <a:extLst>
                    <a:ext uri="{9D8B030D-6E8A-4147-A177-3AD203B41FA5}">
                      <a16:colId xmlns:a16="http://schemas.microsoft.com/office/drawing/2014/main" val="3225787217"/>
                    </a:ext>
                  </a:extLst>
                </a:gridCol>
              </a:tblGrid>
              <a:tr h="939533">
                <a:tc>
                  <a:txBody>
                    <a:bodyPr/>
                    <a:lstStyle/>
                    <a:p>
                      <a:pPr algn="just"/>
                      <a:r>
                        <a:rPr lang="en-US" b="0" i="0" dirty="0">
                          <a:solidFill>
                            <a:schemeClr val="tx1"/>
                          </a:solidFill>
                          <a:effectLst/>
                          <a:latin typeface="+mn-lt"/>
                          <a:ea typeface="+mn-ea"/>
                          <a:cs typeface="+mn-cs"/>
                        </a:rPr>
                        <a:t>The </a:t>
                      </a:r>
                      <a:r>
                        <a:rPr lang="en-US" b="1" i="0" dirty="0" err="1">
                          <a:solidFill>
                            <a:schemeClr val="tx1"/>
                          </a:solidFill>
                          <a:effectLst/>
                          <a:latin typeface="+mn-lt"/>
                          <a:ea typeface="+mn-ea"/>
                          <a:cs typeface="+mn-cs"/>
                        </a:rPr>
                        <a:t>getConnection</a:t>
                      </a:r>
                      <a:r>
                        <a:rPr lang="en-US" b="1" i="0" dirty="0">
                          <a:solidFill>
                            <a:schemeClr val="tx1"/>
                          </a:solidFill>
                          <a:effectLst/>
                          <a:latin typeface="+mn-lt"/>
                          <a:ea typeface="+mn-ea"/>
                          <a:cs typeface="+mn-cs"/>
                        </a:rPr>
                        <a:t>()</a:t>
                      </a:r>
                      <a:r>
                        <a:rPr lang="en-US" b="0" i="0" dirty="0">
                          <a:solidFill>
                            <a:schemeClr val="tx1"/>
                          </a:solidFill>
                          <a:effectLst/>
                          <a:latin typeface="+mn-lt"/>
                          <a:ea typeface="+mn-ea"/>
                          <a:cs typeface="+mn-cs"/>
                        </a:rPr>
                        <a:t> method of </a:t>
                      </a:r>
                      <a:r>
                        <a:rPr lang="en-US" b="0" i="0" dirty="0" err="1">
                          <a:solidFill>
                            <a:schemeClr val="tx1"/>
                          </a:solidFill>
                          <a:effectLst/>
                          <a:latin typeface="+mn-lt"/>
                          <a:ea typeface="+mn-ea"/>
                          <a:cs typeface="+mn-cs"/>
                        </a:rPr>
                        <a:t>DriverManager</a:t>
                      </a:r>
                      <a:r>
                        <a:rPr lang="en-US" b="0" i="0" dirty="0">
                          <a:solidFill>
                            <a:schemeClr val="tx1"/>
                          </a:solidFill>
                          <a:effectLst/>
                          <a:latin typeface="+mn-lt"/>
                          <a:ea typeface="+mn-ea"/>
                          <a:cs typeface="+mn-cs"/>
                        </a:rPr>
                        <a:t> class is used to establish connection with the database.</a:t>
                      </a:r>
                    </a:p>
                    <a:p>
                      <a:pPr algn="just"/>
                      <a:endParaRPr lang="en-US" sz="2000" dirty="0">
                        <a:solidFill>
                          <a:srgbClr val="333333"/>
                        </a:solidFill>
                        <a:effectLst/>
                        <a:latin typeface="inter-regular"/>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altLang="en-US" sz="2400" b="0" i="0" u="none" strike="noStrike" cap="none" normalizeH="0" baseline="0" dirty="0">
                          <a:ln>
                            <a:noFill/>
                          </a:ln>
                          <a:solidFill>
                            <a:srgbClr val="610B4B"/>
                          </a:solidFill>
                          <a:effectLst/>
                          <a:latin typeface="erdana"/>
                        </a:rPr>
                        <a:t>Syntax of </a:t>
                      </a:r>
                      <a:r>
                        <a:rPr kumimoji="0" lang="en-US" altLang="en-US" sz="2400" b="0" i="0" u="none" strike="noStrike" cap="none" normalizeH="0" baseline="0" dirty="0" err="1">
                          <a:ln>
                            <a:noFill/>
                          </a:ln>
                          <a:solidFill>
                            <a:srgbClr val="610B4B"/>
                          </a:solidFill>
                          <a:effectLst/>
                          <a:latin typeface="erdana"/>
                        </a:rPr>
                        <a:t>getConnection</a:t>
                      </a:r>
                      <a:r>
                        <a:rPr kumimoji="0" lang="en-US" altLang="en-US" sz="2400" b="0" i="0" u="none" strike="noStrike" cap="none" normalizeH="0" baseline="0" dirty="0">
                          <a:ln>
                            <a:noFill/>
                          </a:ln>
                          <a:solidFill>
                            <a:srgbClr val="610B4B"/>
                          </a:solidFill>
                          <a:effectLst/>
                          <a:latin typeface="erdana"/>
                        </a:rPr>
                        <a:t>() method</a:t>
                      </a:r>
                    </a:p>
                    <a:p>
                      <a:r>
                        <a:rPr lang="en-US" b="0" i="0" dirty="0">
                          <a:solidFill>
                            <a:schemeClr val="tx1"/>
                          </a:solidFill>
                          <a:effectLst/>
                          <a:latin typeface="+mn-lt"/>
                          <a:ea typeface="+mn-ea"/>
                          <a:cs typeface="+mn-cs"/>
                        </a:rPr>
                        <a:t>1) </a:t>
                      </a:r>
                      <a:r>
                        <a:rPr lang="en-US" b="1" i="0" dirty="0">
                          <a:solidFill>
                            <a:schemeClr val="accent1">
                              <a:lumMod val="50000"/>
                            </a:schemeClr>
                          </a:solidFill>
                          <a:effectLst/>
                          <a:latin typeface="+mn-lt"/>
                          <a:ea typeface="+mn-ea"/>
                          <a:cs typeface="+mn-cs"/>
                        </a:rPr>
                        <a:t>public</a:t>
                      </a:r>
                      <a:r>
                        <a:rPr lang="en-US" b="0" i="0" dirty="0">
                          <a:solidFill>
                            <a:schemeClr val="accent1">
                              <a:lumMod val="50000"/>
                            </a:schemeClr>
                          </a:solidFill>
                          <a:effectLst/>
                          <a:latin typeface="+mn-lt"/>
                          <a:ea typeface="+mn-ea"/>
                          <a:cs typeface="+mn-cs"/>
                        </a:rPr>
                        <a:t> </a:t>
                      </a:r>
                      <a:r>
                        <a:rPr lang="en-US" b="1" i="0" dirty="0">
                          <a:solidFill>
                            <a:schemeClr val="accent1">
                              <a:lumMod val="50000"/>
                            </a:schemeClr>
                          </a:solidFill>
                          <a:effectLst/>
                          <a:latin typeface="+mn-lt"/>
                          <a:ea typeface="+mn-ea"/>
                          <a:cs typeface="+mn-cs"/>
                        </a:rPr>
                        <a:t>static</a:t>
                      </a:r>
                      <a:r>
                        <a:rPr lang="en-US" b="0" i="0" dirty="0">
                          <a:solidFill>
                            <a:schemeClr val="accent1">
                              <a:lumMod val="50000"/>
                            </a:schemeClr>
                          </a:solidFill>
                          <a:effectLst/>
                          <a:latin typeface="+mn-lt"/>
                          <a:ea typeface="+mn-ea"/>
                          <a:cs typeface="+mn-cs"/>
                        </a:rPr>
                        <a:t> </a:t>
                      </a:r>
                      <a:r>
                        <a:rPr lang="en-US" b="0" i="0" dirty="0">
                          <a:solidFill>
                            <a:schemeClr val="tx1"/>
                          </a:solidFill>
                          <a:effectLst/>
                          <a:latin typeface="+mn-lt"/>
                          <a:ea typeface="+mn-ea"/>
                          <a:cs typeface="+mn-cs"/>
                        </a:rPr>
                        <a:t>Connection </a:t>
                      </a:r>
                      <a:r>
                        <a:rPr lang="en-US" b="0" i="0" dirty="0" err="1">
                          <a:solidFill>
                            <a:schemeClr val="tx1"/>
                          </a:solidFill>
                          <a:effectLst/>
                          <a:latin typeface="+mn-lt"/>
                          <a:ea typeface="+mn-ea"/>
                          <a:cs typeface="+mn-cs"/>
                        </a:rPr>
                        <a:t>getConnection</a:t>
                      </a:r>
                      <a:r>
                        <a:rPr lang="en-US" b="0" i="0" dirty="0">
                          <a:solidFill>
                            <a:schemeClr val="tx1"/>
                          </a:solidFill>
                          <a:effectLst/>
                          <a:latin typeface="+mn-lt"/>
                          <a:ea typeface="+mn-ea"/>
                          <a:cs typeface="+mn-cs"/>
                        </a:rPr>
                        <a:t>(String </a:t>
                      </a:r>
                      <a:r>
                        <a:rPr lang="en-US" b="0" i="0" dirty="0" err="1">
                          <a:solidFill>
                            <a:schemeClr val="tx1"/>
                          </a:solidFill>
                          <a:effectLst/>
                          <a:latin typeface="+mn-lt"/>
                          <a:ea typeface="+mn-ea"/>
                          <a:cs typeface="+mn-cs"/>
                        </a:rPr>
                        <a:t>url</a:t>
                      </a:r>
                      <a:r>
                        <a:rPr lang="en-US" b="0" i="0" dirty="0">
                          <a:solidFill>
                            <a:schemeClr val="tx1"/>
                          </a:solidFill>
                          <a:effectLst/>
                          <a:latin typeface="+mn-lt"/>
                          <a:ea typeface="+mn-ea"/>
                          <a:cs typeface="+mn-cs"/>
                        </a:rPr>
                        <a:t>)</a:t>
                      </a:r>
                      <a:r>
                        <a:rPr lang="en-US" b="1" i="0" dirty="0">
                          <a:solidFill>
                            <a:schemeClr val="accent1">
                              <a:lumMod val="50000"/>
                            </a:schemeClr>
                          </a:solidFill>
                          <a:effectLst/>
                          <a:latin typeface="+mn-lt"/>
                          <a:ea typeface="+mn-ea"/>
                          <a:cs typeface="+mn-cs"/>
                        </a:rPr>
                        <a:t>throws</a:t>
                      </a:r>
                      <a:r>
                        <a:rPr lang="en-US" b="0" i="0" dirty="0">
                          <a:solidFill>
                            <a:schemeClr val="tx1"/>
                          </a:solidFill>
                          <a:effectLst/>
                          <a:latin typeface="+mn-lt"/>
                          <a:ea typeface="+mn-ea"/>
                          <a:cs typeface="+mn-cs"/>
                        </a:rPr>
                        <a:t> </a:t>
                      </a:r>
                      <a:r>
                        <a:rPr lang="en-US" b="0" i="0" dirty="0" err="1">
                          <a:solidFill>
                            <a:schemeClr val="tx1"/>
                          </a:solidFill>
                          <a:effectLst/>
                          <a:latin typeface="+mn-lt"/>
                          <a:ea typeface="+mn-ea"/>
                          <a:cs typeface="+mn-cs"/>
                        </a:rPr>
                        <a:t>SQLException</a:t>
                      </a:r>
                      <a:r>
                        <a:rPr lang="en-US" b="0" i="0" dirty="0">
                          <a:solidFill>
                            <a:schemeClr val="tx1"/>
                          </a:solidFill>
                          <a:effectLst/>
                          <a:latin typeface="+mn-lt"/>
                          <a:ea typeface="+mn-ea"/>
                          <a:cs typeface="+mn-cs"/>
                        </a:rPr>
                        <a:t>  </a:t>
                      </a:r>
                    </a:p>
                    <a:p>
                      <a:r>
                        <a:rPr lang="en-US" b="0" i="0" dirty="0">
                          <a:solidFill>
                            <a:schemeClr val="tx1"/>
                          </a:solidFill>
                          <a:effectLst/>
                          <a:latin typeface="+mn-lt"/>
                          <a:ea typeface="+mn-ea"/>
                          <a:cs typeface="+mn-cs"/>
                        </a:rPr>
                        <a:t>2) </a:t>
                      </a:r>
                      <a:r>
                        <a:rPr lang="en-US" b="1" i="0" dirty="0">
                          <a:solidFill>
                            <a:schemeClr val="accent1">
                              <a:lumMod val="50000"/>
                            </a:schemeClr>
                          </a:solidFill>
                          <a:effectLst/>
                          <a:latin typeface="+mn-lt"/>
                          <a:ea typeface="+mn-ea"/>
                          <a:cs typeface="+mn-cs"/>
                        </a:rPr>
                        <a:t>public</a:t>
                      </a:r>
                      <a:r>
                        <a:rPr lang="en-US" b="0" i="0" dirty="0">
                          <a:solidFill>
                            <a:schemeClr val="accent1">
                              <a:lumMod val="50000"/>
                            </a:schemeClr>
                          </a:solidFill>
                          <a:effectLst/>
                          <a:latin typeface="+mn-lt"/>
                          <a:ea typeface="+mn-ea"/>
                          <a:cs typeface="+mn-cs"/>
                        </a:rPr>
                        <a:t> </a:t>
                      </a:r>
                      <a:r>
                        <a:rPr lang="en-US" b="1" i="0" dirty="0">
                          <a:solidFill>
                            <a:schemeClr val="accent1">
                              <a:lumMod val="50000"/>
                            </a:schemeClr>
                          </a:solidFill>
                          <a:effectLst/>
                          <a:latin typeface="+mn-lt"/>
                          <a:ea typeface="+mn-ea"/>
                          <a:cs typeface="+mn-cs"/>
                        </a:rPr>
                        <a:t>static</a:t>
                      </a:r>
                      <a:r>
                        <a:rPr lang="en-US" b="0" i="0" dirty="0">
                          <a:solidFill>
                            <a:schemeClr val="accent1">
                              <a:lumMod val="50000"/>
                            </a:schemeClr>
                          </a:solidFill>
                          <a:effectLst/>
                          <a:latin typeface="+mn-lt"/>
                          <a:ea typeface="+mn-ea"/>
                          <a:cs typeface="+mn-cs"/>
                        </a:rPr>
                        <a:t> </a:t>
                      </a:r>
                      <a:r>
                        <a:rPr lang="en-US" b="0" i="0" dirty="0">
                          <a:solidFill>
                            <a:schemeClr val="tx1"/>
                          </a:solidFill>
                          <a:effectLst/>
                          <a:latin typeface="+mn-lt"/>
                          <a:ea typeface="+mn-ea"/>
                          <a:cs typeface="+mn-cs"/>
                        </a:rPr>
                        <a:t>Connection </a:t>
                      </a:r>
                      <a:r>
                        <a:rPr lang="en-US" b="0" i="0" dirty="0" err="1">
                          <a:solidFill>
                            <a:schemeClr val="tx1"/>
                          </a:solidFill>
                          <a:effectLst/>
                          <a:latin typeface="+mn-lt"/>
                          <a:ea typeface="+mn-ea"/>
                          <a:cs typeface="+mn-cs"/>
                        </a:rPr>
                        <a:t>getConnection</a:t>
                      </a:r>
                      <a:r>
                        <a:rPr lang="en-US" b="0" i="0" dirty="0">
                          <a:solidFill>
                            <a:schemeClr val="tx1"/>
                          </a:solidFill>
                          <a:effectLst/>
                          <a:latin typeface="+mn-lt"/>
                          <a:ea typeface="+mn-ea"/>
                          <a:cs typeface="+mn-cs"/>
                        </a:rPr>
                        <a:t>(String </a:t>
                      </a:r>
                      <a:r>
                        <a:rPr lang="en-US" b="0" i="0" dirty="0" err="1">
                          <a:solidFill>
                            <a:schemeClr val="tx1"/>
                          </a:solidFill>
                          <a:effectLst/>
                          <a:latin typeface="+mn-lt"/>
                          <a:ea typeface="+mn-ea"/>
                          <a:cs typeface="+mn-cs"/>
                        </a:rPr>
                        <a:t>url,String</a:t>
                      </a:r>
                      <a:r>
                        <a:rPr lang="en-US" b="0" i="0" dirty="0">
                          <a:solidFill>
                            <a:schemeClr val="tx1"/>
                          </a:solidFill>
                          <a:effectLst/>
                          <a:latin typeface="+mn-lt"/>
                          <a:ea typeface="+mn-ea"/>
                          <a:cs typeface="+mn-cs"/>
                        </a:rPr>
                        <a:t> </a:t>
                      </a:r>
                      <a:r>
                        <a:rPr lang="en-US" b="0" i="0" dirty="0" err="1">
                          <a:solidFill>
                            <a:schemeClr val="tx1"/>
                          </a:solidFill>
                          <a:effectLst/>
                          <a:latin typeface="+mn-lt"/>
                          <a:ea typeface="+mn-ea"/>
                          <a:cs typeface="+mn-cs"/>
                        </a:rPr>
                        <a:t>name,String</a:t>
                      </a:r>
                      <a:r>
                        <a:rPr lang="en-US" b="0" i="0" dirty="0">
                          <a:solidFill>
                            <a:schemeClr val="tx1"/>
                          </a:solidFill>
                          <a:effectLst/>
                          <a:latin typeface="+mn-lt"/>
                          <a:ea typeface="+mn-ea"/>
                          <a:cs typeface="+mn-cs"/>
                        </a:rPr>
                        <a:t> password)  </a:t>
                      </a:r>
                    </a:p>
                    <a:p>
                      <a:r>
                        <a:rPr lang="en-US" b="1" i="0" dirty="0">
                          <a:solidFill>
                            <a:schemeClr val="accent1">
                              <a:lumMod val="50000"/>
                            </a:schemeClr>
                          </a:solidFill>
                          <a:effectLst/>
                          <a:latin typeface="+mn-lt"/>
                          <a:ea typeface="+mn-ea"/>
                          <a:cs typeface="+mn-cs"/>
                        </a:rPr>
                        <a:t>throws</a:t>
                      </a:r>
                      <a:r>
                        <a:rPr lang="en-US" b="0" i="0" dirty="0">
                          <a:solidFill>
                            <a:schemeClr val="tx1"/>
                          </a:solidFill>
                          <a:effectLst/>
                          <a:latin typeface="+mn-lt"/>
                          <a:ea typeface="+mn-ea"/>
                          <a:cs typeface="+mn-cs"/>
                        </a:rPr>
                        <a:t> </a:t>
                      </a:r>
                      <a:r>
                        <a:rPr lang="en-US" b="0" i="0" dirty="0" err="1">
                          <a:solidFill>
                            <a:schemeClr val="tx1"/>
                          </a:solidFill>
                          <a:effectLst/>
                          <a:latin typeface="+mn-lt"/>
                          <a:ea typeface="+mn-ea"/>
                          <a:cs typeface="+mn-cs"/>
                        </a:rPr>
                        <a:t>SQLException</a:t>
                      </a:r>
                      <a:r>
                        <a:rPr lang="en-US" b="0" i="0" dirty="0">
                          <a:solidFill>
                            <a:schemeClr val="tx1"/>
                          </a:solidFill>
                          <a:effectLst/>
                          <a:latin typeface="+mn-lt"/>
                          <a:ea typeface="+mn-ea"/>
                          <a:cs typeface="+mn-cs"/>
                        </a:rPr>
                        <a:t>  </a:t>
                      </a: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cap="none" normalizeH="0" baseline="0" dirty="0">
                        <a:ln>
                          <a:noFill/>
                        </a:ln>
                        <a:solidFill>
                          <a:srgbClr val="000000"/>
                        </a:solidFill>
                        <a:effectLst/>
                        <a:latin typeface="inter-regular"/>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2800" b="0" u="sng" dirty="0">
                          <a:solidFill>
                            <a:srgbClr val="7030A0"/>
                          </a:solidFill>
                          <a:effectLst/>
                          <a:latin typeface="+mn-lt"/>
                          <a:ea typeface="+mn-ea"/>
                          <a:cs typeface="+mn-cs"/>
                        </a:rPr>
                        <a:t>Example to establish connection with the Oracle database</a:t>
                      </a:r>
                    </a:p>
                    <a:p>
                      <a:r>
                        <a:rPr lang="en-IN" b="0" i="0" dirty="0">
                          <a:solidFill>
                            <a:schemeClr val="tx1"/>
                          </a:solidFill>
                          <a:effectLst/>
                          <a:latin typeface="+mn-lt"/>
                          <a:ea typeface="+mn-ea"/>
                          <a:cs typeface="+mn-cs"/>
                        </a:rPr>
                        <a:t>Connection con=</a:t>
                      </a:r>
                      <a:r>
                        <a:rPr lang="en-IN" b="0" i="0" dirty="0" err="1">
                          <a:solidFill>
                            <a:schemeClr val="tx1"/>
                          </a:solidFill>
                          <a:effectLst/>
                          <a:latin typeface="+mn-lt"/>
                          <a:ea typeface="+mn-ea"/>
                          <a:cs typeface="+mn-cs"/>
                        </a:rPr>
                        <a:t>DriverManager.getConnection</a:t>
                      </a:r>
                      <a:r>
                        <a:rPr lang="en-IN" b="0" i="0" dirty="0">
                          <a:solidFill>
                            <a:schemeClr val="tx1"/>
                          </a:solidFill>
                          <a:effectLst/>
                          <a:latin typeface="+mn-lt"/>
                          <a:ea typeface="+mn-ea"/>
                          <a:cs typeface="+mn-cs"/>
                        </a:rPr>
                        <a:t>(  </a:t>
                      </a:r>
                      <a:r>
                        <a:rPr lang="en-IN" b="0" i="0" dirty="0">
                          <a:solidFill>
                            <a:srgbClr val="002060"/>
                          </a:solidFill>
                          <a:effectLst/>
                          <a:latin typeface="+mn-lt"/>
                          <a:ea typeface="+mn-ea"/>
                          <a:cs typeface="+mn-cs"/>
                        </a:rPr>
                        <a:t>"</a:t>
                      </a:r>
                      <a:r>
                        <a:rPr lang="en-IN" b="0" i="0" dirty="0" err="1">
                          <a:solidFill>
                            <a:srgbClr val="002060"/>
                          </a:solidFill>
                          <a:effectLst/>
                          <a:latin typeface="+mn-lt"/>
                          <a:ea typeface="+mn-ea"/>
                          <a:cs typeface="+mn-cs"/>
                        </a:rPr>
                        <a:t>jdbc:oracle:thin</a:t>
                      </a:r>
                      <a:r>
                        <a:rPr lang="en-IN" b="0" i="0" dirty="0">
                          <a:solidFill>
                            <a:srgbClr val="002060"/>
                          </a:solidFill>
                          <a:effectLst/>
                          <a:latin typeface="+mn-lt"/>
                          <a:ea typeface="+mn-ea"/>
                          <a:cs typeface="+mn-cs"/>
                        </a:rPr>
                        <a:t>:@localhost:1521:xe","system","password");</a:t>
                      </a: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cap="none" normalizeH="0" baseline="0" dirty="0">
                        <a:ln>
                          <a:noFill/>
                        </a:ln>
                        <a:solidFill>
                          <a:srgbClr val="333333"/>
                        </a:solidFill>
                        <a:effectLst/>
                        <a:latin typeface="inter-regular"/>
                      </a:endParaRPr>
                    </a:p>
                  </a:txBody>
                  <a:tcPr anchor="ctr">
                    <a:lnL>
                      <a:noFill/>
                    </a:lnL>
                    <a:lnR>
                      <a:noFill/>
                    </a:lnR>
                    <a:lnT>
                      <a:noFill/>
                    </a:lnT>
                    <a:lnB>
                      <a:noFill/>
                    </a:lnB>
                    <a:solidFill>
                      <a:srgbClr val="FFFFFF"/>
                    </a:solidFill>
                  </a:tcPr>
                </a:tc>
                <a:extLst>
                  <a:ext uri="{0D108BD9-81ED-4DB2-BD59-A6C34878D82A}">
                    <a16:rowId xmlns:a16="http://schemas.microsoft.com/office/drawing/2014/main" val="3513960265"/>
                  </a:ext>
                </a:extLst>
              </a:tr>
            </a:tbl>
          </a:graphicData>
        </a:graphic>
      </p:graphicFrame>
    </p:spTree>
    <p:extLst>
      <p:ext uri="{BB962C8B-B14F-4D97-AF65-F5344CB8AC3E}">
        <p14:creationId xmlns:p14="http://schemas.microsoft.com/office/powerpoint/2010/main" val="105607622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3400" y="1738404"/>
            <a:ext cx="8605519" cy="504625"/>
          </a:xfrm>
          <a:prstGeom prst="rect">
            <a:avLst/>
          </a:prstGeom>
        </p:spPr>
        <p:txBody>
          <a:bodyPr vert="horz" wrap="square" lIns="0" tIns="12065" rIns="0" bIns="0" rtlCol="0">
            <a:spAutoFit/>
          </a:bodyPr>
          <a:lstStyle/>
          <a:p>
            <a:pPr marL="2755265">
              <a:spcBef>
                <a:spcPts val="95"/>
              </a:spcBef>
            </a:pPr>
            <a:r>
              <a:rPr lang="en-US" sz="3200" b="1" i="0" dirty="0">
                <a:effectLst/>
                <a:latin typeface="erdana"/>
              </a:rPr>
              <a:t>3) Create the Statement object</a:t>
            </a:r>
            <a:endParaRPr spc="-50" dirty="0"/>
          </a:p>
        </p:txBody>
      </p:sp>
      <p:pic>
        <p:nvPicPr>
          <p:cNvPr id="3" name="object 3"/>
          <p:cNvPicPr/>
          <p:nvPr/>
        </p:nvPicPr>
        <p:blipFill>
          <a:blip r:embed="rId2" cstate="print"/>
          <a:stretch>
            <a:fillRect/>
          </a:stretch>
        </p:blipFill>
        <p:spPr>
          <a:xfrm>
            <a:off x="8317992" y="6031991"/>
            <a:ext cx="609600" cy="609599"/>
          </a:xfrm>
          <a:prstGeom prst="rect">
            <a:avLst/>
          </a:prstGeom>
        </p:spPr>
      </p:pic>
      <p:sp>
        <p:nvSpPr>
          <p:cNvPr id="4" name="object 4"/>
          <p:cNvSpPr txBox="1"/>
          <p:nvPr/>
        </p:nvSpPr>
        <p:spPr>
          <a:xfrm>
            <a:off x="294843" y="2771013"/>
            <a:ext cx="8554085" cy="869469"/>
          </a:xfrm>
          <a:prstGeom prst="rect">
            <a:avLst/>
          </a:prstGeom>
        </p:spPr>
        <p:txBody>
          <a:bodyPr vert="horz" wrap="square" lIns="0" tIns="12700" rIns="0" bIns="0" rtlCol="0">
            <a:spAutoFit/>
          </a:bodyPr>
          <a:lstStyle/>
          <a:p>
            <a:pPr marL="2540" algn="just">
              <a:spcBef>
                <a:spcPts val="100"/>
              </a:spcBef>
              <a:buSzPct val="94444"/>
              <a:tabLst>
                <a:tab pos="91440" algn="l"/>
              </a:tabLst>
            </a:pPr>
            <a:endParaRPr lang="en-US" b="0" i="0" dirty="0">
              <a:solidFill>
                <a:srgbClr val="610B38"/>
              </a:solidFill>
              <a:effectLst/>
              <a:highlight>
                <a:srgbClr val="FFFFFF"/>
              </a:highlight>
              <a:latin typeface="erdana"/>
            </a:endParaRPr>
          </a:p>
          <a:p>
            <a:pPr marL="2540" algn="just">
              <a:spcBef>
                <a:spcPts val="100"/>
              </a:spcBef>
              <a:buSzPct val="94444"/>
              <a:tabLst>
                <a:tab pos="91440" algn="l"/>
              </a:tabLst>
            </a:pPr>
            <a:endParaRPr lang="en-US" b="0" i="0" dirty="0">
              <a:solidFill>
                <a:srgbClr val="610B38"/>
              </a:solidFill>
              <a:effectLst/>
              <a:highlight>
                <a:srgbClr val="FFFFFF"/>
              </a:highlight>
              <a:latin typeface="erdana"/>
            </a:endParaRPr>
          </a:p>
          <a:p>
            <a:pPr marL="2540">
              <a:lnSpc>
                <a:spcPct val="100000"/>
              </a:lnSpc>
              <a:spcBef>
                <a:spcPts val="100"/>
              </a:spcBef>
              <a:buSzPct val="94444"/>
              <a:tabLst>
                <a:tab pos="91440" algn="l"/>
              </a:tabLst>
            </a:pPr>
            <a:endParaRPr sz="1800" dirty="0">
              <a:latin typeface="Arial MT"/>
              <a:cs typeface="Arial MT"/>
            </a:endParaRPr>
          </a:p>
        </p:txBody>
      </p:sp>
      <p:graphicFrame>
        <p:nvGraphicFramePr>
          <p:cNvPr id="5" name="Table 4">
            <a:extLst>
              <a:ext uri="{FF2B5EF4-FFF2-40B4-BE49-F238E27FC236}">
                <a16:creationId xmlns:a16="http://schemas.microsoft.com/office/drawing/2014/main" id="{2EDC77BE-3EAF-FC54-929A-CEC39F673956}"/>
              </a:ext>
            </a:extLst>
          </p:cNvPr>
          <p:cNvGraphicFramePr>
            <a:graphicFrameLocks noGrp="1"/>
          </p:cNvGraphicFramePr>
          <p:nvPr>
            <p:extLst>
              <p:ext uri="{D42A27DB-BD31-4B8C-83A1-F6EECF244321}">
                <p14:modId xmlns:p14="http://schemas.microsoft.com/office/powerpoint/2010/main" val="413335949"/>
              </p:ext>
            </p:extLst>
          </p:nvPr>
        </p:nvGraphicFramePr>
        <p:xfrm>
          <a:off x="533400" y="2334954"/>
          <a:ext cx="7924800" cy="3352800"/>
        </p:xfrm>
        <a:graphic>
          <a:graphicData uri="http://schemas.openxmlformats.org/drawingml/2006/table">
            <a:tbl>
              <a:tblPr/>
              <a:tblGrid>
                <a:gridCol w="7924800">
                  <a:extLst>
                    <a:ext uri="{9D8B030D-6E8A-4147-A177-3AD203B41FA5}">
                      <a16:colId xmlns:a16="http://schemas.microsoft.com/office/drawing/2014/main" val="3225787217"/>
                    </a:ext>
                  </a:extLst>
                </a:gridCol>
              </a:tblGrid>
              <a:tr h="939533">
                <a:tc>
                  <a:txBody>
                    <a:bodyPr/>
                    <a:lstStyle/>
                    <a:p>
                      <a:pPr algn="just"/>
                      <a:endParaRPr lang="en-US" b="0" i="0" dirty="0">
                        <a:solidFill>
                          <a:schemeClr val="tx1"/>
                        </a:solidFill>
                        <a:effectLst/>
                        <a:latin typeface="+mn-lt"/>
                        <a:ea typeface="+mn-ea"/>
                        <a:cs typeface="+mn-cs"/>
                      </a:endParaRPr>
                    </a:p>
                    <a:p>
                      <a:pPr algn="just"/>
                      <a:r>
                        <a:rPr lang="en-US" b="0" i="0" dirty="0">
                          <a:solidFill>
                            <a:schemeClr val="tx1"/>
                          </a:solidFill>
                          <a:effectLst/>
                          <a:latin typeface="+mn-lt"/>
                          <a:ea typeface="+mn-ea"/>
                          <a:cs typeface="+mn-cs"/>
                        </a:rPr>
                        <a:t>The </a:t>
                      </a:r>
                      <a:r>
                        <a:rPr lang="en-US" b="0" i="0" dirty="0" err="1">
                          <a:solidFill>
                            <a:schemeClr val="tx1"/>
                          </a:solidFill>
                          <a:effectLst/>
                          <a:latin typeface="+mn-lt"/>
                          <a:ea typeface="+mn-ea"/>
                          <a:cs typeface="+mn-cs"/>
                        </a:rPr>
                        <a:t>createStatement</a:t>
                      </a:r>
                      <a:r>
                        <a:rPr lang="en-US" b="0" i="0" dirty="0">
                          <a:solidFill>
                            <a:schemeClr val="tx1"/>
                          </a:solidFill>
                          <a:effectLst/>
                          <a:latin typeface="+mn-lt"/>
                          <a:ea typeface="+mn-ea"/>
                          <a:cs typeface="+mn-cs"/>
                        </a:rPr>
                        <a:t>() method of Connection interface is used to create statement. The object of statement is responsible to execute queries with the database.</a:t>
                      </a:r>
                    </a:p>
                    <a:p>
                      <a:pPr algn="just"/>
                      <a:endParaRPr lang="en-US" dirty="0">
                        <a:solidFill>
                          <a:srgbClr val="333333"/>
                        </a:solidFill>
                        <a:effectLst/>
                        <a:latin typeface="inter-regular"/>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altLang="en-US" sz="2400" b="0" i="0" u="none" strike="noStrike" cap="none" normalizeH="0" baseline="0" dirty="0">
                          <a:ln>
                            <a:noFill/>
                          </a:ln>
                          <a:solidFill>
                            <a:srgbClr val="610B4B"/>
                          </a:solidFill>
                          <a:effectLst/>
                          <a:latin typeface="erdana"/>
                        </a:rPr>
                        <a:t>Syntax of </a:t>
                      </a:r>
                      <a:r>
                        <a:rPr kumimoji="0" lang="en-US" altLang="en-US" sz="2400" b="0" i="0" u="none" strike="noStrike" cap="none" normalizeH="0" baseline="0" dirty="0" err="1">
                          <a:ln>
                            <a:noFill/>
                          </a:ln>
                          <a:solidFill>
                            <a:srgbClr val="610B4B"/>
                          </a:solidFill>
                          <a:effectLst/>
                          <a:latin typeface="erdana"/>
                        </a:rPr>
                        <a:t>createStatement</a:t>
                      </a:r>
                      <a:r>
                        <a:rPr kumimoji="0" lang="en-US" altLang="en-US" sz="2400" b="0" i="0" u="none" strike="noStrike" cap="none" normalizeH="0" baseline="0" dirty="0">
                          <a:ln>
                            <a:noFill/>
                          </a:ln>
                          <a:solidFill>
                            <a:srgbClr val="610B4B"/>
                          </a:solidFill>
                          <a:effectLst/>
                          <a:latin typeface="erdana"/>
                        </a:rPr>
                        <a:t>() method</a:t>
                      </a:r>
                    </a:p>
                    <a:p>
                      <a:pPr marL="0" marR="0" lvl="0" indent="0" algn="just" defTabSz="914400" rtl="0" eaLnBrk="1" fontAlgn="auto" latinLnBrk="0" hangingPunct="1">
                        <a:lnSpc>
                          <a:spcPct val="100000"/>
                        </a:lnSpc>
                        <a:spcBef>
                          <a:spcPts val="0"/>
                        </a:spcBef>
                        <a:spcAft>
                          <a:spcPts val="0"/>
                        </a:spcAft>
                        <a:buClrTx/>
                        <a:buSzTx/>
                        <a:buFontTx/>
                        <a:buNone/>
                        <a:tabLst/>
                        <a:defRPr/>
                      </a:pPr>
                      <a:r>
                        <a:rPr lang="en-US" b="1" i="0" dirty="0">
                          <a:solidFill>
                            <a:srgbClr val="002060"/>
                          </a:solidFill>
                          <a:effectLst/>
                          <a:latin typeface="+mn-lt"/>
                          <a:ea typeface="+mn-ea"/>
                          <a:cs typeface="+mn-cs"/>
                        </a:rPr>
                        <a:t>public</a:t>
                      </a:r>
                      <a:r>
                        <a:rPr lang="en-US" b="0" i="0" dirty="0">
                          <a:solidFill>
                            <a:schemeClr val="tx1"/>
                          </a:solidFill>
                          <a:effectLst/>
                          <a:latin typeface="+mn-lt"/>
                          <a:ea typeface="+mn-ea"/>
                          <a:cs typeface="+mn-cs"/>
                        </a:rPr>
                        <a:t> Statement </a:t>
                      </a:r>
                      <a:r>
                        <a:rPr lang="en-US" b="0" i="0" dirty="0" err="1">
                          <a:solidFill>
                            <a:schemeClr val="tx1"/>
                          </a:solidFill>
                          <a:effectLst/>
                          <a:latin typeface="+mn-lt"/>
                          <a:ea typeface="+mn-ea"/>
                          <a:cs typeface="+mn-cs"/>
                        </a:rPr>
                        <a:t>createStatement</a:t>
                      </a:r>
                      <a:r>
                        <a:rPr lang="en-US" b="0" i="0" dirty="0">
                          <a:solidFill>
                            <a:schemeClr val="tx1"/>
                          </a:solidFill>
                          <a:effectLst/>
                          <a:latin typeface="+mn-lt"/>
                          <a:ea typeface="+mn-ea"/>
                          <a:cs typeface="+mn-cs"/>
                        </a:rPr>
                        <a:t>()</a:t>
                      </a:r>
                      <a:r>
                        <a:rPr lang="en-US" b="1" i="0" dirty="0">
                          <a:solidFill>
                            <a:srgbClr val="002060"/>
                          </a:solidFill>
                          <a:effectLst/>
                          <a:latin typeface="+mn-lt"/>
                          <a:ea typeface="+mn-ea"/>
                          <a:cs typeface="+mn-cs"/>
                        </a:rPr>
                        <a:t>throws</a:t>
                      </a:r>
                      <a:r>
                        <a:rPr lang="en-US" b="0" i="0" dirty="0">
                          <a:solidFill>
                            <a:schemeClr val="tx1"/>
                          </a:solidFill>
                          <a:effectLst/>
                          <a:latin typeface="+mn-lt"/>
                          <a:ea typeface="+mn-ea"/>
                          <a:cs typeface="+mn-cs"/>
                        </a:rPr>
                        <a:t> </a:t>
                      </a:r>
                      <a:r>
                        <a:rPr lang="en-US" b="0" i="0" dirty="0" err="1">
                          <a:solidFill>
                            <a:schemeClr val="tx1"/>
                          </a:solidFill>
                          <a:effectLst/>
                          <a:latin typeface="+mn-lt"/>
                          <a:ea typeface="+mn-ea"/>
                          <a:cs typeface="+mn-cs"/>
                        </a:rPr>
                        <a:t>SQLException</a:t>
                      </a:r>
                      <a:endParaRPr lang="en-US" b="0" i="0" dirty="0">
                        <a:solidFill>
                          <a:schemeClr val="tx1"/>
                        </a:solidFill>
                        <a:effectLst/>
                        <a:latin typeface="+mn-lt"/>
                        <a:ea typeface="+mn-ea"/>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lang="en-US" b="0" i="0" dirty="0">
                        <a:solidFill>
                          <a:schemeClr val="tx1"/>
                        </a:solidFill>
                        <a:effectLst/>
                        <a:latin typeface="+mn-lt"/>
                        <a:ea typeface="+mn-ea"/>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cap="none" normalizeH="0" baseline="0" dirty="0">
                        <a:ln>
                          <a:noFill/>
                        </a:ln>
                        <a:solidFill>
                          <a:srgbClr val="000000"/>
                        </a:solidFill>
                        <a:effectLst/>
                        <a:latin typeface="inter-regular"/>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2800" b="0" u="sng" dirty="0">
                          <a:solidFill>
                            <a:srgbClr val="7030A0"/>
                          </a:solidFill>
                          <a:effectLst/>
                          <a:latin typeface="+mn-lt"/>
                          <a:ea typeface="+mn-ea"/>
                          <a:cs typeface="+mn-cs"/>
                        </a:rPr>
                        <a:t>Example to create the statement object</a:t>
                      </a:r>
                    </a:p>
                    <a:p>
                      <a:pPr marL="0" marR="0" lvl="0" indent="0" algn="just" defTabSz="914400" rtl="0" eaLnBrk="1" fontAlgn="auto" latinLnBrk="0" hangingPunct="1">
                        <a:lnSpc>
                          <a:spcPct val="100000"/>
                        </a:lnSpc>
                        <a:spcBef>
                          <a:spcPts val="0"/>
                        </a:spcBef>
                        <a:spcAft>
                          <a:spcPts val="0"/>
                        </a:spcAft>
                        <a:buClrTx/>
                        <a:buSzTx/>
                        <a:buFontTx/>
                        <a:buNone/>
                        <a:tabLst/>
                        <a:defRPr/>
                      </a:pPr>
                      <a:r>
                        <a:rPr lang="en-IN" b="0" i="0" dirty="0">
                          <a:solidFill>
                            <a:schemeClr val="tx1"/>
                          </a:solidFill>
                          <a:effectLst/>
                          <a:latin typeface="+mn-lt"/>
                          <a:ea typeface="+mn-ea"/>
                          <a:cs typeface="+mn-cs"/>
                        </a:rPr>
                        <a:t>Statement </a:t>
                      </a:r>
                      <a:r>
                        <a:rPr lang="en-IN" b="0" i="0" dirty="0" err="1">
                          <a:solidFill>
                            <a:schemeClr val="tx1"/>
                          </a:solidFill>
                          <a:effectLst/>
                          <a:latin typeface="+mn-lt"/>
                          <a:ea typeface="+mn-ea"/>
                          <a:cs typeface="+mn-cs"/>
                        </a:rPr>
                        <a:t>stmt</a:t>
                      </a:r>
                      <a:r>
                        <a:rPr lang="en-IN" b="0" i="0" dirty="0">
                          <a:solidFill>
                            <a:schemeClr val="tx1"/>
                          </a:solidFill>
                          <a:effectLst/>
                          <a:latin typeface="+mn-lt"/>
                          <a:ea typeface="+mn-ea"/>
                          <a:cs typeface="+mn-cs"/>
                        </a:rPr>
                        <a:t>=</a:t>
                      </a:r>
                      <a:r>
                        <a:rPr lang="en-IN" b="0" i="0" dirty="0" err="1">
                          <a:solidFill>
                            <a:schemeClr val="tx1"/>
                          </a:solidFill>
                          <a:effectLst/>
                          <a:latin typeface="+mn-lt"/>
                          <a:ea typeface="+mn-ea"/>
                          <a:cs typeface="+mn-cs"/>
                        </a:rPr>
                        <a:t>con.createStatement</a:t>
                      </a:r>
                      <a:r>
                        <a:rPr lang="en-IN" b="0" i="0" dirty="0">
                          <a:solidFill>
                            <a:schemeClr val="tx1"/>
                          </a:solidFill>
                          <a:effectLst/>
                          <a:latin typeface="+mn-lt"/>
                          <a:ea typeface="+mn-ea"/>
                          <a:cs typeface="+mn-cs"/>
                        </a:rPr>
                        <a:t>(); </a:t>
                      </a:r>
                      <a:endParaRPr kumimoji="0" lang="en-US" altLang="en-US" sz="1800" b="0" i="0" u="none" strike="noStrike" cap="none" normalizeH="0" baseline="0" dirty="0">
                        <a:ln>
                          <a:noFill/>
                        </a:ln>
                        <a:solidFill>
                          <a:srgbClr val="333333"/>
                        </a:solidFill>
                        <a:effectLst/>
                        <a:latin typeface="inter-regular"/>
                      </a:endParaRPr>
                    </a:p>
                  </a:txBody>
                  <a:tcPr anchor="ctr">
                    <a:lnL>
                      <a:noFill/>
                    </a:lnL>
                    <a:lnR>
                      <a:noFill/>
                    </a:lnR>
                    <a:lnT>
                      <a:noFill/>
                    </a:lnT>
                    <a:lnB>
                      <a:noFill/>
                    </a:lnB>
                    <a:solidFill>
                      <a:srgbClr val="FFFFFF"/>
                    </a:solidFill>
                  </a:tcPr>
                </a:tc>
                <a:extLst>
                  <a:ext uri="{0D108BD9-81ED-4DB2-BD59-A6C34878D82A}">
                    <a16:rowId xmlns:a16="http://schemas.microsoft.com/office/drawing/2014/main" val="3513960265"/>
                  </a:ext>
                </a:extLst>
              </a:tr>
            </a:tbl>
          </a:graphicData>
        </a:graphic>
      </p:graphicFrame>
    </p:spTree>
    <p:extLst>
      <p:ext uri="{BB962C8B-B14F-4D97-AF65-F5344CB8AC3E}">
        <p14:creationId xmlns:p14="http://schemas.microsoft.com/office/powerpoint/2010/main" val="254721950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0" y="1676400"/>
            <a:ext cx="8605519" cy="504625"/>
          </a:xfrm>
          <a:prstGeom prst="rect">
            <a:avLst/>
          </a:prstGeom>
        </p:spPr>
        <p:txBody>
          <a:bodyPr vert="horz" wrap="square" lIns="0" tIns="12065" rIns="0" bIns="0" rtlCol="0">
            <a:spAutoFit/>
          </a:bodyPr>
          <a:lstStyle/>
          <a:p>
            <a:pPr marL="2755265">
              <a:spcBef>
                <a:spcPts val="95"/>
              </a:spcBef>
            </a:pPr>
            <a:r>
              <a:rPr lang="en-IN" sz="3200" b="1" i="0" dirty="0">
                <a:effectLst/>
                <a:latin typeface="erdana"/>
              </a:rPr>
              <a:t>4) Execute the query</a:t>
            </a:r>
            <a:endParaRPr lang="en-US" sz="3200" b="1" spc="-50" dirty="0"/>
          </a:p>
        </p:txBody>
      </p:sp>
      <p:pic>
        <p:nvPicPr>
          <p:cNvPr id="3" name="object 3"/>
          <p:cNvPicPr/>
          <p:nvPr/>
        </p:nvPicPr>
        <p:blipFill>
          <a:blip r:embed="rId2" cstate="print"/>
          <a:stretch>
            <a:fillRect/>
          </a:stretch>
        </p:blipFill>
        <p:spPr>
          <a:xfrm>
            <a:off x="8317992" y="6031991"/>
            <a:ext cx="609600" cy="609599"/>
          </a:xfrm>
          <a:prstGeom prst="rect">
            <a:avLst/>
          </a:prstGeom>
        </p:spPr>
      </p:pic>
      <p:sp>
        <p:nvSpPr>
          <p:cNvPr id="4" name="object 4"/>
          <p:cNvSpPr txBox="1"/>
          <p:nvPr/>
        </p:nvSpPr>
        <p:spPr>
          <a:xfrm>
            <a:off x="294843" y="2771013"/>
            <a:ext cx="8554085" cy="869469"/>
          </a:xfrm>
          <a:prstGeom prst="rect">
            <a:avLst/>
          </a:prstGeom>
        </p:spPr>
        <p:txBody>
          <a:bodyPr vert="horz" wrap="square" lIns="0" tIns="12700" rIns="0" bIns="0" rtlCol="0">
            <a:spAutoFit/>
          </a:bodyPr>
          <a:lstStyle/>
          <a:p>
            <a:pPr marL="2540" algn="just">
              <a:spcBef>
                <a:spcPts val="100"/>
              </a:spcBef>
              <a:buSzPct val="94444"/>
              <a:tabLst>
                <a:tab pos="91440" algn="l"/>
              </a:tabLst>
            </a:pPr>
            <a:endParaRPr lang="en-US" b="0" i="0" dirty="0">
              <a:solidFill>
                <a:srgbClr val="610B38"/>
              </a:solidFill>
              <a:effectLst/>
              <a:highlight>
                <a:srgbClr val="FFFFFF"/>
              </a:highlight>
              <a:latin typeface="erdana"/>
            </a:endParaRPr>
          </a:p>
          <a:p>
            <a:pPr marL="2540" algn="just">
              <a:spcBef>
                <a:spcPts val="100"/>
              </a:spcBef>
              <a:buSzPct val="94444"/>
              <a:tabLst>
                <a:tab pos="91440" algn="l"/>
              </a:tabLst>
            </a:pPr>
            <a:endParaRPr lang="en-US" b="0" i="0" dirty="0">
              <a:solidFill>
                <a:srgbClr val="610B38"/>
              </a:solidFill>
              <a:effectLst/>
              <a:highlight>
                <a:srgbClr val="FFFFFF"/>
              </a:highlight>
              <a:latin typeface="erdana"/>
            </a:endParaRPr>
          </a:p>
          <a:p>
            <a:pPr marL="2540">
              <a:lnSpc>
                <a:spcPct val="100000"/>
              </a:lnSpc>
              <a:spcBef>
                <a:spcPts val="100"/>
              </a:spcBef>
              <a:buSzPct val="94444"/>
              <a:tabLst>
                <a:tab pos="91440" algn="l"/>
              </a:tabLst>
            </a:pPr>
            <a:endParaRPr sz="1800" dirty="0">
              <a:latin typeface="Arial MT"/>
              <a:cs typeface="Arial MT"/>
            </a:endParaRPr>
          </a:p>
        </p:txBody>
      </p:sp>
      <p:graphicFrame>
        <p:nvGraphicFramePr>
          <p:cNvPr id="5" name="Table 4">
            <a:extLst>
              <a:ext uri="{FF2B5EF4-FFF2-40B4-BE49-F238E27FC236}">
                <a16:creationId xmlns:a16="http://schemas.microsoft.com/office/drawing/2014/main" id="{2EDC77BE-3EAF-FC54-929A-CEC39F673956}"/>
              </a:ext>
            </a:extLst>
          </p:cNvPr>
          <p:cNvGraphicFramePr>
            <a:graphicFrameLocks noGrp="1"/>
          </p:cNvGraphicFramePr>
          <p:nvPr>
            <p:extLst>
              <p:ext uri="{D42A27DB-BD31-4B8C-83A1-F6EECF244321}">
                <p14:modId xmlns:p14="http://schemas.microsoft.com/office/powerpoint/2010/main" val="1933155458"/>
              </p:ext>
            </p:extLst>
          </p:nvPr>
        </p:nvGraphicFramePr>
        <p:xfrm>
          <a:off x="533400" y="2334954"/>
          <a:ext cx="8153400" cy="4023360"/>
        </p:xfrm>
        <a:graphic>
          <a:graphicData uri="http://schemas.openxmlformats.org/drawingml/2006/table">
            <a:tbl>
              <a:tblPr/>
              <a:tblGrid>
                <a:gridCol w="8153400">
                  <a:extLst>
                    <a:ext uri="{9D8B030D-6E8A-4147-A177-3AD203B41FA5}">
                      <a16:colId xmlns:a16="http://schemas.microsoft.com/office/drawing/2014/main" val="3225787217"/>
                    </a:ext>
                  </a:extLst>
                </a:gridCol>
              </a:tblGrid>
              <a:tr h="939533">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b="0" i="0" dirty="0">
                          <a:solidFill>
                            <a:schemeClr val="tx1"/>
                          </a:solidFill>
                          <a:effectLst/>
                          <a:latin typeface="+mn-lt"/>
                          <a:ea typeface="+mn-ea"/>
                          <a:cs typeface="+mn-cs"/>
                        </a:rPr>
                        <a:t>The </a:t>
                      </a:r>
                      <a:r>
                        <a:rPr lang="en-US" b="0" i="0" dirty="0" err="1">
                          <a:solidFill>
                            <a:schemeClr val="tx1"/>
                          </a:solidFill>
                          <a:effectLst/>
                          <a:latin typeface="+mn-lt"/>
                          <a:ea typeface="+mn-ea"/>
                          <a:cs typeface="+mn-cs"/>
                        </a:rPr>
                        <a:t>executeQuery</a:t>
                      </a:r>
                      <a:r>
                        <a:rPr lang="en-US" b="0" i="0" dirty="0">
                          <a:solidFill>
                            <a:schemeClr val="tx1"/>
                          </a:solidFill>
                          <a:effectLst/>
                          <a:latin typeface="+mn-lt"/>
                          <a:ea typeface="+mn-ea"/>
                          <a:cs typeface="+mn-cs"/>
                        </a:rPr>
                        <a:t>() method of Statement interface is used to execute queries to the database. This method returns the object of </a:t>
                      </a:r>
                      <a:r>
                        <a:rPr lang="en-US" b="0" i="0" dirty="0" err="1">
                          <a:solidFill>
                            <a:schemeClr val="tx1"/>
                          </a:solidFill>
                          <a:effectLst/>
                          <a:latin typeface="+mn-lt"/>
                          <a:ea typeface="+mn-ea"/>
                          <a:cs typeface="+mn-cs"/>
                        </a:rPr>
                        <a:t>ResultSet</a:t>
                      </a:r>
                      <a:r>
                        <a:rPr lang="en-US" b="0" i="0" dirty="0">
                          <a:solidFill>
                            <a:schemeClr val="tx1"/>
                          </a:solidFill>
                          <a:effectLst/>
                          <a:latin typeface="+mn-lt"/>
                          <a:ea typeface="+mn-ea"/>
                          <a:cs typeface="+mn-cs"/>
                        </a:rPr>
                        <a:t> that can be used to get all the records of a table.</a:t>
                      </a:r>
                    </a:p>
                    <a:p>
                      <a:pPr marL="0" marR="0" lvl="0" indent="0" algn="just" defTabSz="914400" rtl="0" eaLnBrk="1" fontAlgn="auto" latinLnBrk="0" hangingPunct="1">
                        <a:lnSpc>
                          <a:spcPct val="100000"/>
                        </a:lnSpc>
                        <a:spcBef>
                          <a:spcPts val="0"/>
                        </a:spcBef>
                        <a:spcAft>
                          <a:spcPts val="0"/>
                        </a:spcAft>
                        <a:buClrTx/>
                        <a:buSzTx/>
                        <a:buFontTx/>
                        <a:buNone/>
                        <a:tabLst/>
                        <a:defRPr/>
                      </a:pPr>
                      <a:endParaRPr lang="en-US" b="0" i="0" dirty="0">
                        <a:solidFill>
                          <a:schemeClr val="tx1"/>
                        </a:solidFill>
                        <a:effectLst/>
                        <a:latin typeface="+mn-lt"/>
                        <a:ea typeface="+mn-ea"/>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lang="en-IN" sz="2400" b="0" i="0" dirty="0">
                          <a:solidFill>
                            <a:srgbClr val="7030A0"/>
                          </a:solidFill>
                          <a:effectLst/>
                          <a:latin typeface="+mn-lt"/>
                          <a:ea typeface="+mn-ea"/>
                          <a:cs typeface="+mn-cs"/>
                        </a:rPr>
                        <a:t>Syntax of </a:t>
                      </a:r>
                      <a:r>
                        <a:rPr lang="en-IN" sz="2400" b="0" i="0" dirty="0" err="1">
                          <a:solidFill>
                            <a:srgbClr val="7030A0"/>
                          </a:solidFill>
                          <a:effectLst/>
                          <a:latin typeface="+mn-lt"/>
                          <a:ea typeface="+mn-ea"/>
                          <a:cs typeface="+mn-cs"/>
                        </a:rPr>
                        <a:t>executeQuery</a:t>
                      </a:r>
                      <a:r>
                        <a:rPr lang="en-IN" sz="2400" b="0" i="0" dirty="0">
                          <a:solidFill>
                            <a:srgbClr val="7030A0"/>
                          </a:solidFill>
                          <a:effectLst/>
                          <a:latin typeface="+mn-lt"/>
                          <a:ea typeface="+mn-ea"/>
                          <a:cs typeface="+mn-cs"/>
                        </a:rPr>
                        <a:t>() method</a:t>
                      </a:r>
                    </a:p>
                    <a:p>
                      <a:pPr marL="0" marR="0" lvl="0" indent="0" algn="just" defTabSz="914400" rtl="0" eaLnBrk="1" fontAlgn="auto" latinLnBrk="0" hangingPunct="1">
                        <a:lnSpc>
                          <a:spcPct val="100000"/>
                        </a:lnSpc>
                        <a:spcBef>
                          <a:spcPts val="0"/>
                        </a:spcBef>
                        <a:spcAft>
                          <a:spcPts val="0"/>
                        </a:spcAft>
                        <a:buClrTx/>
                        <a:buSzTx/>
                        <a:buFontTx/>
                        <a:buNone/>
                        <a:tabLst/>
                        <a:defRPr/>
                      </a:pPr>
                      <a:r>
                        <a:rPr lang="en-US" b="1" i="0" dirty="0">
                          <a:solidFill>
                            <a:srgbClr val="002060"/>
                          </a:solidFill>
                          <a:effectLst/>
                          <a:latin typeface="+mn-lt"/>
                          <a:ea typeface="+mn-ea"/>
                          <a:cs typeface="+mn-cs"/>
                        </a:rPr>
                        <a:t>public</a:t>
                      </a:r>
                      <a:r>
                        <a:rPr lang="en-US" b="0" i="0" dirty="0">
                          <a:solidFill>
                            <a:schemeClr val="tx1"/>
                          </a:solidFill>
                          <a:effectLst/>
                          <a:latin typeface="+mn-lt"/>
                          <a:ea typeface="+mn-ea"/>
                          <a:cs typeface="+mn-cs"/>
                        </a:rPr>
                        <a:t> </a:t>
                      </a:r>
                      <a:r>
                        <a:rPr lang="en-US" b="0" i="0" dirty="0" err="1">
                          <a:solidFill>
                            <a:schemeClr val="tx1"/>
                          </a:solidFill>
                          <a:effectLst/>
                          <a:latin typeface="+mn-lt"/>
                          <a:ea typeface="+mn-ea"/>
                          <a:cs typeface="+mn-cs"/>
                        </a:rPr>
                        <a:t>ResultSet</a:t>
                      </a:r>
                      <a:r>
                        <a:rPr lang="en-US" b="0" i="0" dirty="0">
                          <a:solidFill>
                            <a:schemeClr val="tx1"/>
                          </a:solidFill>
                          <a:effectLst/>
                          <a:latin typeface="+mn-lt"/>
                          <a:ea typeface="+mn-ea"/>
                          <a:cs typeface="+mn-cs"/>
                        </a:rPr>
                        <a:t> </a:t>
                      </a:r>
                      <a:r>
                        <a:rPr lang="en-US" b="0" i="0" dirty="0" err="1">
                          <a:solidFill>
                            <a:schemeClr val="tx1"/>
                          </a:solidFill>
                          <a:effectLst/>
                          <a:latin typeface="+mn-lt"/>
                          <a:ea typeface="+mn-ea"/>
                          <a:cs typeface="+mn-cs"/>
                        </a:rPr>
                        <a:t>executeQuery</a:t>
                      </a:r>
                      <a:r>
                        <a:rPr lang="en-US" b="0" i="0" dirty="0">
                          <a:solidFill>
                            <a:schemeClr val="tx1"/>
                          </a:solidFill>
                          <a:effectLst/>
                          <a:latin typeface="+mn-lt"/>
                          <a:ea typeface="+mn-ea"/>
                          <a:cs typeface="+mn-cs"/>
                        </a:rPr>
                        <a:t>(String </a:t>
                      </a:r>
                      <a:r>
                        <a:rPr lang="en-US" b="0" i="0" dirty="0" err="1">
                          <a:solidFill>
                            <a:schemeClr val="tx1"/>
                          </a:solidFill>
                          <a:effectLst/>
                          <a:latin typeface="+mn-lt"/>
                          <a:ea typeface="+mn-ea"/>
                          <a:cs typeface="+mn-cs"/>
                        </a:rPr>
                        <a:t>sql</a:t>
                      </a:r>
                      <a:r>
                        <a:rPr lang="en-US" b="0" i="0" dirty="0">
                          <a:solidFill>
                            <a:schemeClr val="tx1"/>
                          </a:solidFill>
                          <a:effectLst/>
                          <a:latin typeface="+mn-lt"/>
                          <a:ea typeface="+mn-ea"/>
                          <a:cs typeface="+mn-cs"/>
                        </a:rPr>
                        <a:t>)</a:t>
                      </a:r>
                      <a:r>
                        <a:rPr lang="en-US" b="1" i="0" dirty="0">
                          <a:solidFill>
                            <a:srgbClr val="002060"/>
                          </a:solidFill>
                          <a:effectLst/>
                          <a:latin typeface="+mn-lt"/>
                          <a:ea typeface="+mn-ea"/>
                          <a:cs typeface="+mn-cs"/>
                        </a:rPr>
                        <a:t>throws</a:t>
                      </a:r>
                      <a:r>
                        <a:rPr lang="en-US" b="0" i="0" dirty="0">
                          <a:solidFill>
                            <a:schemeClr val="tx1"/>
                          </a:solidFill>
                          <a:effectLst/>
                          <a:latin typeface="+mn-lt"/>
                          <a:ea typeface="+mn-ea"/>
                          <a:cs typeface="+mn-cs"/>
                        </a:rPr>
                        <a:t> </a:t>
                      </a:r>
                      <a:r>
                        <a:rPr lang="en-US" b="0" i="0" dirty="0" err="1">
                          <a:solidFill>
                            <a:schemeClr val="tx1"/>
                          </a:solidFill>
                          <a:effectLst/>
                          <a:latin typeface="+mn-lt"/>
                          <a:ea typeface="+mn-ea"/>
                          <a:cs typeface="+mn-cs"/>
                        </a:rPr>
                        <a:t>SQLException</a:t>
                      </a:r>
                      <a:r>
                        <a:rPr lang="en-US" b="0" i="0" dirty="0">
                          <a:solidFill>
                            <a:schemeClr val="tx1"/>
                          </a:solidFill>
                          <a:effectLst/>
                          <a:latin typeface="+mn-lt"/>
                          <a:ea typeface="+mn-ea"/>
                          <a:cs typeface="+mn-cs"/>
                        </a:rPr>
                        <a:t> </a:t>
                      </a:r>
                      <a:endParaRPr lang="en-IN" b="0" i="0" dirty="0">
                        <a:solidFill>
                          <a:srgbClr val="7030A0"/>
                        </a:solidFill>
                        <a:effectLst/>
                        <a:latin typeface="+mn-lt"/>
                        <a:ea typeface="+mn-ea"/>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lang="en-US" b="0" i="0" dirty="0">
                        <a:solidFill>
                          <a:schemeClr val="tx1"/>
                        </a:solidFill>
                        <a:effectLst/>
                        <a:latin typeface="+mn-lt"/>
                        <a:ea typeface="+mn-ea"/>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cap="none" normalizeH="0" baseline="0" dirty="0">
                        <a:ln>
                          <a:noFill/>
                        </a:ln>
                        <a:solidFill>
                          <a:srgbClr val="000000"/>
                        </a:solidFill>
                        <a:effectLst/>
                        <a:latin typeface="inter-regular"/>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lang="en-IN" sz="2800" b="1" u="sng" dirty="0">
                          <a:solidFill>
                            <a:srgbClr val="7030A0"/>
                          </a:solidFill>
                          <a:effectLst/>
                          <a:latin typeface="+mn-lt"/>
                          <a:ea typeface="+mn-ea"/>
                          <a:cs typeface="+mn-cs"/>
                        </a:rPr>
                        <a:t>Example to execute query</a:t>
                      </a:r>
                    </a:p>
                    <a:p>
                      <a:r>
                        <a:rPr lang="en-IN" sz="2000" b="0" i="0" dirty="0" err="1">
                          <a:solidFill>
                            <a:schemeClr val="tx1"/>
                          </a:solidFill>
                          <a:effectLst/>
                          <a:latin typeface="+mn-lt"/>
                          <a:ea typeface="+mn-ea"/>
                          <a:cs typeface="+mn-cs"/>
                        </a:rPr>
                        <a:t>ResultSet</a:t>
                      </a:r>
                      <a:r>
                        <a:rPr lang="en-IN" sz="2000" b="0" i="0" dirty="0">
                          <a:solidFill>
                            <a:schemeClr val="tx1"/>
                          </a:solidFill>
                          <a:effectLst/>
                          <a:latin typeface="+mn-lt"/>
                          <a:ea typeface="+mn-ea"/>
                          <a:cs typeface="+mn-cs"/>
                        </a:rPr>
                        <a:t> </a:t>
                      </a:r>
                      <a:r>
                        <a:rPr lang="en-IN" sz="2000" b="0" i="0" dirty="0" err="1">
                          <a:solidFill>
                            <a:schemeClr val="tx1"/>
                          </a:solidFill>
                          <a:effectLst/>
                          <a:latin typeface="+mn-lt"/>
                          <a:ea typeface="+mn-ea"/>
                          <a:cs typeface="+mn-cs"/>
                        </a:rPr>
                        <a:t>rs</a:t>
                      </a:r>
                      <a:r>
                        <a:rPr lang="en-IN" sz="2000" b="0" i="0" dirty="0">
                          <a:solidFill>
                            <a:schemeClr val="tx1"/>
                          </a:solidFill>
                          <a:effectLst/>
                          <a:latin typeface="+mn-lt"/>
                          <a:ea typeface="+mn-ea"/>
                          <a:cs typeface="+mn-cs"/>
                        </a:rPr>
                        <a:t>=</a:t>
                      </a:r>
                      <a:r>
                        <a:rPr lang="en-IN" sz="2000" b="0" i="0" dirty="0" err="1">
                          <a:solidFill>
                            <a:schemeClr val="tx1"/>
                          </a:solidFill>
                          <a:effectLst/>
                          <a:latin typeface="+mn-lt"/>
                          <a:ea typeface="+mn-ea"/>
                          <a:cs typeface="+mn-cs"/>
                        </a:rPr>
                        <a:t>stmt.executeQuery</a:t>
                      </a:r>
                      <a:r>
                        <a:rPr lang="en-IN" sz="2000" b="0" i="0" dirty="0">
                          <a:solidFill>
                            <a:srgbClr val="002060"/>
                          </a:solidFill>
                          <a:effectLst/>
                          <a:latin typeface="+mn-lt"/>
                          <a:ea typeface="+mn-ea"/>
                          <a:cs typeface="+mn-cs"/>
                        </a:rPr>
                        <a:t>("select * from emp"</a:t>
                      </a:r>
                      <a:r>
                        <a:rPr lang="en-IN" sz="2000" b="0" i="0" dirty="0">
                          <a:solidFill>
                            <a:schemeClr val="tx1"/>
                          </a:solidFill>
                          <a:effectLst/>
                          <a:latin typeface="+mn-lt"/>
                          <a:ea typeface="+mn-ea"/>
                          <a:cs typeface="+mn-cs"/>
                        </a:rPr>
                        <a:t>);  </a:t>
                      </a:r>
                    </a:p>
                    <a:p>
                      <a:r>
                        <a:rPr lang="en-IN" sz="2000" b="1" i="0" dirty="0">
                          <a:solidFill>
                            <a:schemeClr val="accent5">
                              <a:lumMod val="50000"/>
                            </a:schemeClr>
                          </a:solidFill>
                          <a:effectLst/>
                          <a:latin typeface="+mn-lt"/>
                          <a:ea typeface="+mn-ea"/>
                          <a:cs typeface="+mn-cs"/>
                        </a:rPr>
                        <a:t>while</a:t>
                      </a:r>
                      <a:r>
                        <a:rPr lang="en-IN" sz="2000" b="0" i="0" dirty="0">
                          <a:solidFill>
                            <a:schemeClr val="tx1"/>
                          </a:solidFill>
                          <a:effectLst/>
                          <a:latin typeface="+mn-lt"/>
                          <a:ea typeface="+mn-ea"/>
                          <a:cs typeface="+mn-cs"/>
                        </a:rPr>
                        <a:t>(</a:t>
                      </a:r>
                      <a:r>
                        <a:rPr lang="en-IN" sz="2000" b="0" i="0" dirty="0" err="1">
                          <a:solidFill>
                            <a:schemeClr val="tx1"/>
                          </a:solidFill>
                          <a:effectLst/>
                          <a:latin typeface="+mn-lt"/>
                          <a:ea typeface="+mn-ea"/>
                          <a:cs typeface="+mn-cs"/>
                        </a:rPr>
                        <a:t>rs.next</a:t>
                      </a:r>
                      <a:r>
                        <a:rPr lang="en-IN" sz="2000" b="0" i="0" dirty="0">
                          <a:solidFill>
                            <a:schemeClr val="tx1"/>
                          </a:solidFill>
                          <a:effectLst/>
                          <a:latin typeface="+mn-lt"/>
                          <a:ea typeface="+mn-ea"/>
                          <a:cs typeface="+mn-cs"/>
                        </a:rPr>
                        <a:t>()){  </a:t>
                      </a:r>
                    </a:p>
                    <a:p>
                      <a:r>
                        <a:rPr lang="en-IN" sz="2000" b="0" i="0" dirty="0" err="1">
                          <a:solidFill>
                            <a:schemeClr val="tx1"/>
                          </a:solidFill>
                          <a:effectLst/>
                          <a:latin typeface="+mn-lt"/>
                          <a:ea typeface="+mn-ea"/>
                          <a:cs typeface="+mn-cs"/>
                        </a:rPr>
                        <a:t>System.out.println</a:t>
                      </a:r>
                      <a:r>
                        <a:rPr lang="en-IN" sz="2000" b="0" i="0" dirty="0">
                          <a:solidFill>
                            <a:schemeClr val="tx1"/>
                          </a:solidFill>
                          <a:effectLst/>
                          <a:latin typeface="+mn-lt"/>
                          <a:ea typeface="+mn-ea"/>
                          <a:cs typeface="+mn-cs"/>
                        </a:rPr>
                        <a:t>(</a:t>
                      </a:r>
                      <a:r>
                        <a:rPr lang="en-IN" sz="2000" b="0" i="0" dirty="0" err="1">
                          <a:solidFill>
                            <a:schemeClr val="tx1"/>
                          </a:solidFill>
                          <a:effectLst/>
                          <a:latin typeface="+mn-lt"/>
                          <a:ea typeface="+mn-ea"/>
                          <a:cs typeface="+mn-cs"/>
                        </a:rPr>
                        <a:t>rs.getInt</a:t>
                      </a:r>
                      <a:r>
                        <a:rPr lang="en-IN" sz="2000" b="0" i="0" dirty="0">
                          <a:solidFill>
                            <a:schemeClr val="tx1"/>
                          </a:solidFill>
                          <a:effectLst/>
                          <a:latin typeface="+mn-lt"/>
                          <a:ea typeface="+mn-ea"/>
                          <a:cs typeface="+mn-cs"/>
                        </a:rPr>
                        <a:t>(1)+" "+</a:t>
                      </a:r>
                      <a:r>
                        <a:rPr lang="en-IN" sz="2000" b="0" i="0" dirty="0" err="1">
                          <a:solidFill>
                            <a:schemeClr val="tx1"/>
                          </a:solidFill>
                          <a:effectLst/>
                          <a:latin typeface="+mn-lt"/>
                          <a:ea typeface="+mn-ea"/>
                          <a:cs typeface="+mn-cs"/>
                        </a:rPr>
                        <a:t>rs.getString</a:t>
                      </a:r>
                      <a:r>
                        <a:rPr lang="en-IN" sz="2000" b="0" i="0" dirty="0">
                          <a:solidFill>
                            <a:schemeClr val="tx1"/>
                          </a:solidFill>
                          <a:effectLst/>
                          <a:latin typeface="+mn-lt"/>
                          <a:ea typeface="+mn-ea"/>
                          <a:cs typeface="+mn-cs"/>
                        </a:rPr>
                        <a:t>(2));  </a:t>
                      </a:r>
                    </a:p>
                    <a:p>
                      <a:r>
                        <a:rPr lang="en-IN" sz="2000" b="0" i="0" dirty="0">
                          <a:solidFill>
                            <a:schemeClr val="tx1"/>
                          </a:solidFill>
                          <a:effectLst/>
                          <a:latin typeface="+mn-lt"/>
                          <a:ea typeface="+mn-ea"/>
                          <a:cs typeface="+mn-cs"/>
                        </a:rPr>
                        <a:t>}  </a:t>
                      </a:r>
                    </a:p>
                  </a:txBody>
                  <a:tcPr anchor="ctr">
                    <a:lnL>
                      <a:noFill/>
                    </a:lnL>
                    <a:lnR>
                      <a:noFill/>
                    </a:lnR>
                    <a:lnT>
                      <a:noFill/>
                    </a:lnT>
                    <a:lnB>
                      <a:noFill/>
                    </a:lnB>
                    <a:solidFill>
                      <a:srgbClr val="FFFFFF"/>
                    </a:solidFill>
                  </a:tcPr>
                </a:tc>
                <a:extLst>
                  <a:ext uri="{0D108BD9-81ED-4DB2-BD59-A6C34878D82A}">
                    <a16:rowId xmlns:a16="http://schemas.microsoft.com/office/drawing/2014/main" val="3513960265"/>
                  </a:ext>
                </a:extLst>
              </a:tr>
            </a:tbl>
          </a:graphicData>
        </a:graphic>
      </p:graphicFrame>
    </p:spTree>
    <p:extLst>
      <p:ext uri="{BB962C8B-B14F-4D97-AF65-F5344CB8AC3E}">
        <p14:creationId xmlns:p14="http://schemas.microsoft.com/office/powerpoint/2010/main" val="297974475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6200" y="1728366"/>
            <a:ext cx="8605519" cy="504625"/>
          </a:xfrm>
          <a:prstGeom prst="rect">
            <a:avLst/>
          </a:prstGeom>
        </p:spPr>
        <p:txBody>
          <a:bodyPr vert="horz" wrap="square" lIns="0" tIns="12065" rIns="0" bIns="0" rtlCol="0">
            <a:spAutoFit/>
          </a:bodyPr>
          <a:lstStyle/>
          <a:p>
            <a:pPr marL="2755265">
              <a:spcBef>
                <a:spcPts val="95"/>
              </a:spcBef>
            </a:pPr>
            <a:r>
              <a:rPr lang="en-US" sz="3200" b="1" i="0" dirty="0">
                <a:effectLst/>
                <a:latin typeface="erdana"/>
              </a:rPr>
              <a:t>5) Close the connection object</a:t>
            </a:r>
            <a:endParaRPr lang="en-US" sz="3200" b="1" spc="-50" dirty="0"/>
          </a:p>
        </p:txBody>
      </p:sp>
      <p:pic>
        <p:nvPicPr>
          <p:cNvPr id="3" name="object 3"/>
          <p:cNvPicPr/>
          <p:nvPr/>
        </p:nvPicPr>
        <p:blipFill>
          <a:blip r:embed="rId2" cstate="print"/>
          <a:stretch>
            <a:fillRect/>
          </a:stretch>
        </p:blipFill>
        <p:spPr>
          <a:xfrm>
            <a:off x="8317992" y="6031991"/>
            <a:ext cx="609600" cy="609599"/>
          </a:xfrm>
          <a:prstGeom prst="rect">
            <a:avLst/>
          </a:prstGeom>
        </p:spPr>
      </p:pic>
      <p:sp>
        <p:nvSpPr>
          <p:cNvPr id="4" name="object 4"/>
          <p:cNvSpPr txBox="1"/>
          <p:nvPr/>
        </p:nvSpPr>
        <p:spPr>
          <a:xfrm>
            <a:off x="294843" y="2771013"/>
            <a:ext cx="8554085" cy="869469"/>
          </a:xfrm>
          <a:prstGeom prst="rect">
            <a:avLst/>
          </a:prstGeom>
        </p:spPr>
        <p:txBody>
          <a:bodyPr vert="horz" wrap="square" lIns="0" tIns="12700" rIns="0" bIns="0" rtlCol="0">
            <a:spAutoFit/>
          </a:bodyPr>
          <a:lstStyle/>
          <a:p>
            <a:pPr marL="2540" algn="just">
              <a:spcBef>
                <a:spcPts val="100"/>
              </a:spcBef>
              <a:buSzPct val="94444"/>
              <a:tabLst>
                <a:tab pos="91440" algn="l"/>
              </a:tabLst>
            </a:pPr>
            <a:endParaRPr lang="en-US" b="0" i="0" dirty="0">
              <a:solidFill>
                <a:srgbClr val="610B38"/>
              </a:solidFill>
              <a:effectLst/>
              <a:highlight>
                <a:srgbClr val="FFFFFF"/>
              </a:highlight>
              <a:latin typeface="erdana"/>
            </a:endParaRPr>
          </a:p>
          <a:p>
            <a:pPr marL="2540" algn="just">
              <a:spcBef>
                <a:spcPts val="100"/>
              </a:spcBef>
              <a:buSzPct val="94444"/>
              <a:tabLst>
                <a:tab pos="91440" algn="l"/>
              </a:tabLst>
            </a:pPr>
            <a:endParaRPr lang="en-US" b="0" i="0" dirty="0">
              <a:solidFill>
                <a:srgbClr val="610B38"/>
              </a:solidFill>
              <a:effectLst/>
              <a:highlight>
                <a:srgbClr val="FFFFFF"/>
              </a:highlight>
              <a:latin typeface="erdana"/>
            </a:endParaRPr>
          </a:p>
          <a:p>
            <a:pPr marL="2540">
              <a:lnSpc>
                <a:spcPct val="100000"/>
              </a:lnSpc>
              <a:spcBef>
                <a:spcPts val="100"/>
              </a:spcBef>
              <a:buSzPct val="94444"/>
              <a:tabLst>
                <a:tab pos="91440" algn="l"/>
              </a:tabLst>
            </a:pPr>
            <a:endParaRPr sz="1800" dirty="0">
              <a:latin typeface="Arial MT"/>
              <a:cs typeface="Arial MT"/>
            </a:endParaRPr>
          </a:p>
        </p:txBody>
      </p:sp>
      <p:graphicFrame>
        <p:nvGraphicFramePr>
          <p:cNvPr id="5" name="Table 4">
            <a:extLst>
              <a:ext uri="{FF2B5EF4-FFF2-40B4-BE49-F238E27FC236}">
                <a16:creationId xmlns:a16="http://schemas.microsoft.com/office/drawing/2014/main" id="{2EDC77BE-3EAF-FC54-929A-CEC39F673956}"/>
              </a:ext>
            </a:extLst>
          </p:cNvPr>
          <p:cNvGraphicFramePr>
            <a:graphicFrameLocks noGrp="1"/>
          </p:cNvGraphicFramePr>
          <p:nvPr>
            <p:extLst>
              <p:ext uri="{D42A27DB-BD31-4B8C-83A1-F6EECF244321}">
                <p14:modId xmlns:p14="http://schemas.microsoft.com/office/powerpoint/2010/main" val="1160726797"/>
              </p:ext>
            </p:extLst>
          </p:nvPr>
        </p:nvGraphicFramePr>
        <p:xfrm>
          <a:off x="469392" y="2362200"/>
          <a:ext cx="8153400" cy="3108960"/>
        </p:xfrm>
        <a:graphic>
          <a:graphicData uri="http://schemas.openxmlformats.org/drawingml/2006/table">
            <a:tbl>
              <a:tblPr/>
              <a:tblGrid>
                <a:gridCol w="8153400">
                  <a:extLst>
                    <a:ext uri="{9D8B030D-6E8A-4147-A177-3AD203B41FA5}">
                      <a16:colId xmlns:a16="http://schemas.microsoft.com/office/drawing/2014/main" val="3225787217"/>
                    </a:ext>
                  </a:extLst>
                </a:gridCol>
              </a:tblGrid>
              <a:tr h="939533">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lang="en-US" b="0" i="0" dirty="0">
                        <a:solidFill>
                          <a:schemeClr val="tx1"/>
                        </a:solidFill>
                        <a:effectLst/>
                        <a:latin typeface="+mn-lt"/>
                        <a:ea typeface="+mn-ea"/>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lang="en-US" b="0" i="0" dirty="0">
                          <a:solidFill>
                            <a:schemeClr val="tx1"/>
                          </a:solidFill>
                          <a:effectLst/>
                          <a:latin typeface="+mn-lt"/>
                          <a:ea typeface="+mn-ea"/>
                          <a:cs typeface="+mn-cs"/>
                        </a:rPr>
                        <a:t>By closing connection object statement and </a:t>
                      </a:r>
                      <a:r>
                        <a:rPr lang="en-US" b="0" i="0" dirty="0" err="1">
                          <a:solidFill>
                            <a:schemeClr val="tx1"/>
                          </a:solidFill>
                          <a:effectLst/>
                          <a:latin typeface="+mn-lt"/>
                          <a:ea typeface="+mn-ea"/>
                          <a:cs typeface="+mn-cs"/>
                        </a:rPr>
                        <a:t>ResultSet</a:t>
                      </a:r>
                      <a:r>
                        <a:rPr lang="en-US" b="0" i="0" dirty="0">
                          <a:solidFill>
                            <a:schemeClr val="tx1"/>
                          </a:solidFill>
                          <a:effectLst/>
                          <a:latin typeface="+mn-lt"/>
                          <a:ea typeface="+mn-ea"/>
                          <a:cs typeface="+mn-cs"/>
                        </a:rPr>
                        <a:t> will be closed automatically. The close() method of Connection interface is used to close the connection.</a:t>
                      </a:r>
                    </a:p>
                    <a:p>
                      <a:pPr marL="0" marR="0" lvl="0" indent="0" algn="just" defTabSz="914400" rtl="0" eaLnBrk="1" fontAlgn="auto" latinLnBrk="0" hangingPunct="1">
                        <a:lnSpc>
                          <a:spcPct val="100000"/>
                        </a:lnSpc>
                        <a:spcBef>
                          <a:spcPts val="0"/>
                        </a:spcBef>
                        <a:spcAft>
                          <a:spcPts val="0"/>
                        </a:spcAft>
                        <a:buClrTx/>
                        <a:buSzTx/>
                        <a:buFontTx/>
                        <a:buNone/>
                        <a:tabLst/>
                        <a:defRPr/>
                      </a:pPr>
                      <a:endParaRPr lang="en-US" b="0" i="0" dirty="0">
                        <a:solidFill>
                          <a:schemeClr val="tx1"/>
                        </a:solidFill>
                        <a:effectLst/>
                        <a:latin typeface="+mn-lt"/>
                        <a:ea typeface="+mn-ea"/>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lang="en-IN" sz="2000" b="0" i="0" dirty="0">
                          <a:solidFill>
                            <a:srgbClr val="7030A0"/>
                          </a:solidFill>
                          <a:effectLst/>
                          <a:latin typeface="+mn-lt"/>
                          <a:ea typeface="+mn-ea"/>
                          <a:cs typeface="+mn-cs"/>
                        </a:rPr>
                        <a:t>Syntax of close() method</a:t>
                      </a:r>
                    </a:p>
                    <a:p>
                      <a:pPr marL="0" marR="0" lvl="0" indent="0" algn="just" defTabSz="914400" rtl="0" eaLnBrk="1" fontAlgn="auto" latinLnBrk="0" hangingPunct="1">
                        <a:lnSpc>
                          <a:spcPct val="100000"/>
                        </a:lnSpc>
                        <a:spcBef>
                          <a:spcPts val="0"/>
                        </a:spcBef>
                        <a:spcAft>
                          <a:spcPts val="0"/>
                        </a:spcAft>
                        <a:buClrTx/>
                        <a:buSzTx/>
                        <a:buFontTx/>
                        <a:buNone/>
                        <a:tabLst/>
                        <a:defRPr/>
                      </a:pPr>
                      <a:r>
                        <a:rPr lang="en-US" b="1" i="0" dirty="0">
                          <a:solidFill>
                            <a:schemeClr val="accent1">
                              <a:lumMod val="50000"/>
                            </a:schemeClr>
                          </a:solidFill>
                          <a:effectLst/>
                          <a:latin typeface="+mn-lt"/>
                          <a:ea typeface="+mn-ea"/>
                          <a:cs typeface="+mn-cs"/>
                        </a:rPr>
                        <a:t>public</a:t>
                      </a:r>
                      <a:r>
                        <a:rPr lang="en-US" b="0" i="0" dirty="0">
                          <a:solidFill>
                            <a:schemeClr val="accent1">
                              <a:lumMod val="50000"/>
                            </a:schemeClr>
                          </a:solidFill>
                          <a:effectLst/>
                          <a:latin typeface="+mn-lt"/>
                          <a:ea typeface="+mn-ea"/>
                          <a:cs typeface="+mn-cs"/>
                        </a:rPr>
                        <a:t> </a:t>
                      </a:r>
                      <a:r>
                        <a:rPr lang="en-US" b="1" i="0" dirty="0">
                          <a:solidFill>
                            <a:schemeClr val="accent1">
                              <a:lumMod val="50000"/>
                            </a:schemeClr>
                          </a:solidFill>
                          <a:effectLst/>
                          <a:latin typeface="+mn-lt"/>
                          <a:ea typeface="+mn-ea"/>
                          <a:cs typeface="+mn-cs"/>
                        </a:rPr>
                        <a:t>void</a:t>
                      </a:r>
                      <a:r>
                        <a:rPr lang="en-US" b="0" i="0" dirty="0">
                          <a:solidFill>
                            <a:schemeClr val="accent1">
                              <a:lumMod val="50000"/>
                            </a:schemeClr>
                          </a:solidFill>
                          <a:effectLst/>
                          <a:latin typeface="+mn-lt"/>
                          <a:ea typeface="+mn-ea"/>
                          <a:cs typeface="+mn-cs"/>
                        </a:rPr>
                        <a:t> </a:t>
                      </a:r>
                      <a:r>
                        <a:rPr lang="en-US" b="0" i="0" dirty="0">
                          <a:solidFill>
                            <a:schemeClr val="tx1"/>
                          </a:solidFill>
                          <a:effectLst/>
                          <a:latin typeface="+mn-lt"/>
                          <a:ea typeface="+mn-ea"/>
                          <a:cs typeface="+mn-cs"/>
                        </a:rPr>
                        <a:t>close()</a:t>
                      </a:r>
                      <a:r>
                        <a:rPr lang="en-US" b="1" i="0" dirty="0">
                          <a:solidFill>
                            <a:schemeClr val="accent1">
                              <a:lumMod val="50000"/>
                            </a:schemeClr>
                          </a:solidFill>
                          <a:effectLst/>
                          <a:latin typeface="+mn-lt"/>
                          <a:ea typeface="+mn-ea"/>
                          <a:cs typeface="+mn-cs"/>
                        </a:rPr>
                        <a:t>throws</a:t>
                      </a:r>
                      <a:r>
                        <a:rPr lang="en-US" b="0" i="0" dirty="0">
                          <a:solidFill>
                            <a:schemeClr val="tx1"/>
                          </a:solidFill>
                          <a:effectLst/>
                          <a:latin typeface="+mn-lt"/>
                          <a:ea typeface="+mn-ea"/>
                          <a:cs typeface="+mn-cs"/>
                        </a:rPr>
                        <a:t> </a:t>
                      </a:r>
                      <a:r>
                        <a:rPr lang="en-US" b="0" i="0" dirty="0" err="1">
                          <a:solidFill>
                            <a:schemeClr val="tx1"/>
                          </a:solidFill>
                          <a:effectLst/>
                          <a:latin typeface="+mn-lt"/>
                          <a:ea typeface="+mn-ea"/>
                          <a:cs typeface="+mn-cs"/>
                        </a:rPr>
                        <a:t>SQLException</a:t>
                      </a:r>
                      <a:endParaRPr lang="en-US" b="0" i="0" dirty="0">
                        <a:solidFill>
                          <a:schemeClr val="tx1"/>
                        </a:solidFill>
                        <a:effectLst/>
                        <a:latin typeface="+mn-lt"/>
                        <a:ea typeface="+mn-ea"/>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lang="en-US" b="0" i="0" dirty="0">
                        <a:solidFill>
                          <a:schemeClr val="tx1"/>
                        </a:solidFill>
                        <a:effectLst/>
                        <a:latin typeface="+mn-lt"/>
                        <a:ea typeface="+mn-ea"/>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cap="none" normalizeH="0" baseline="0" dirty="0">
                        <a:ln>
                          <a:noFill/>
                        </a:ln>
                        <a:solidFill>
                          <a:srgbClr val="000000"/>
                        </a:solidFill>
                        <a:effectLst/>
                        <a:latin typeface="inter-regular"/>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lang="en-IN" sz="2800" b="1" u="sng" dirty="0">
                          <a:solidFill>
                            <a:srgbClr val="7030A0"/>
                          </a:solidFill>
                          <a:effectLst/>
                          <a:latin typeface="+mn-lt"/>
                          <a:ea typeface="+mn-ea"/>
                          <a:cs typeface="+mn-cs"/>
                        </a:rPr>
                        <a:t>Example to close connection</a:t>
                      </a:r>
                    </a:p>
                    <a:p>
                      <a:pPr marL="0" marR="0" lvl="0" indent="0" algn="just" defTabSz="914400" rtl="0" eaLnBrk="1" fontAlgn="auto" latinLnBrk="0" hangingPunct="1">
                        <a:lnSpc>
                          <a:spcPct val="100000"/>
                        </a:lnSpc>
                        <a:spcBef>
                          <a:spcPts val="0"/>
                        </a:spcBef>
                        <a:spcAft>
                          <a:spcPts val="0"/>
                        </a:spcAft>
                        <a:buClrTx/>
                        <a:buSzTx/>
                        <a:buFontTx/>
                        <a:buNone/>
                        <a:tabLst/>
                        <a:defRPr/>
                      </a:pPr>
                      <a:r>
                        <a:rPr lang="en-IN" sz="2400" b="0" i="0" dirty="0" err="1">
                          <a:solidFill>
                            <a:schemeClr val="tx1"/>
                          </a:solidFill>
                          <a:effectLst/>
                          <a:latin typeface="+mn-lt"/>
                          <a:ea typeface="+mn-ea"/>
                          <a:cs typeface="+mn-cs"/>
                        </a:rPr>
                        <a:t>con.close</a:t>
                      </a:r>
                      <a:r>
                        <a:rPr lang="en-IN" sz="2400" b="0" i="0" dirty="0">
                          <a:solidFill>
                            <a:schemeClr val="tx1"/>
                          </a:solidFill>
                          <a:effectLst/>
                          <a:latin typeface="+mn-lt"/>
                          <a:ea typeface="+mn-ea"/>
                          <a:cs typeface="+mn-cs"/>
                        </a:rPr>
                        <a:t>();</a:t>
                      </a:r>
                      <a:endParaRPr lang="en-IN" sz="2400" b="1" u="sng" dirty="0">
                        <a:solidFill>
                          <a:srgbClr val="7030A0"/>
                        </a:solidFill>
                        <a:effectLst/>
                        <a:latin typeface="+mn-lt"/>
                        <a:ea typeface="+mn-ea"/>
                        <a:cs typeface="+mn-cs"/>
                      </a:endParaRPr>
                    </a:p>
                  </a:txBody>
                  <a:tcPr anchor="ctr">
                    <a:lnL>
                      <a:noFill/>
                    </a:lnL>
                    <a:lnR>
                      <a:noFill/>
                    </a:lnR>
                    <a:lnT>
                      <a:noFill/>
                    </a:lnT>
                    <a:lnB>
                      <a:noFill/>
                    </a:lnB>
                    <a:solidFill>
                      <a:srgbClr val="FFFFFF"/>
                    </a:solidFill>
                  </a:tcPr>
                </a:tc>
                <a:extLst>
                  <a:ext uri="{0D108BD9-81ED-4DB2-BD59-A6C34878D82A}">
                    <a16:rowId xmlns:a16="http://schemas.microsoft.com/office/drawing/2014/main" val="3513960265"/>
                  </a:ext>
                </a:extLst>
              </a:tr>
            </a:tbl>
          </a:graphicData>
        </a:graphic>
      </p:graphicFrame>
    </p:spTree>
    <p:extLst>
      <p:ext uri="{BB962C8B-B14F-4D97-AF65-F5344CB8AC3E}">
        <p14:creationId xmlns:p14="http://schemas.microsoft.com/office/powerpoint/2010/main" val="134800634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744637" y="3571466"/>
            <a:ext cx="10677728" cy="843180"/>
          </a:xfrm>
          <a:prstGeom prst="rect">
            <a:avLst/>
          </a:prstGeom>
        </p:spPr>
        <p:txBody>
          <a:bodyPr vert="horz" wrap="square" lIns="0" tIns="12065" rIns="0" bIns="0" rtlCol="0">
            <a:spAutoFit/>
          </a:bodyPr>
          <a:lstStyle/>
          <a:p>
            <a:pPr marL="2755265">
              <a:spcBef>
                <a:spcPts val="95"/>
              </a:spcBef>
            </a:pPr>
            <a:r>
              <a:rPr lang="en-US" sz="5400" b="1" spc="-50" dirty="0">
                <a:highlight>
                  <a:srgbClr val="C0C0C0"/>
                </a:highlight>
              </a:rPr>
              <a:t>JDBC with Oracle and </a:t>
            </a:r>
            <a:r>
              <a:rPr lang="en-US" sz="5400" b="1" spc="-50" dirty="0" err="1">
                <a:highlight>
                  <a:srgbClr val="C0C0C0"/>
                </a:highlight>
              </a:rPr>
              <a:t>Mysql</a:t>
            </a:r>
            <a:endParaRPr lang="en-US" sz="5400" b="1" spc="-50" dirty="0">
              <a:highlight>
                <a:srgbClr val="C0C0C0"/>
              </a:highlight>
            </a:endParaRPr>
          </a:p>
        </p:txBody>
      </p:sp>
      <p:pic>
        <p:nvPicPr>
          <p:cNvPr id="3" name="object 3"/>
          <p:cNvPicPr/>
          <p:nvPr/>
        </p:nvPicPr>
        <p:blipFill>
          <a:blip r:embed="rId2" cstate="print"/>
          <a:stretch>
            <a:fillRect/>
          </a:stretch>
        </p:blipFill>
        <p:spPr>
          <a:xfrm>
            <a:off x="8317992" y="6031991"/>
            <a:ext cx="609600" cy="609599"/>
          </a:xfrm>
          <a:prstGeom prst="rect">
            <a:avLst/>
          </a:prstGeom>
        </p:spPr>
      </p:pic>
      <p:sp>
        <p:nvSpPr>
          <p:cNvPr id="4" name="object 4"/>
          <p:cNvSpPr txBox="1"/>
          <p:nvPr/>
        </p:nvSpPr>
        <p:spPr>
          <a:xfrm>
            <a:off x="294843" y="2771013"/>
            <a:ext cx="8554085" cy="869469"/>
          </a:xfrm>
          <a:prstGeom prst="rect">
            <a:avLst/>
          </a:prstGeom>
        </p:spPr>
        <p:txBody>
          <a:bodyPr vert="horz" wrap="square" lIns="0" tIns="12700" rIns="0" bIns="0" rtlCol="0">
            <a:spAutoFit/>
          </a:bodyPr>
          <a:lstStyle/>
          <a:p>
            <a:pPr marL="2540" algn="just">
              <a:spcBef>
                <a:spcPts val="100"/>
              </a:spcBef>
              <a:buSzPct val="94444"/>
              <a:tabLst>
                <a:tab pos="91440" algn="l"/>
              </a:tabLst>
            </a:pPr>
            <a:endParaRPr lang="en-US" b="0" i="0" dirty="0">
              <a:solidFill>
                <a:srgbClr val="610B38"/>
              </a:solidFill>
              <a:effectLst/>
              <a:highlight>
                <a:srgbClr val="FFFFFF"/>
              </a:highlight>
              <a:latin typeface="erdana"/>
            </a:endParaRPr>
          </a:p>
          <a:p>
            <a:pPr marL="2540" algn="just">
              <a:spcBef>
                <a:spcPts val="100"/>
              </a:spcBef>
              <a:buSzPct val="94444"/>
              <a:tabLst>
                <a:tab pos="91440" algn="l"/>
              </a:tabLst>
            </a:pPr>
            <a:endParaRPr lang="en-US" b="0" i="0" dirty="0">
              <a:solidFill>
                <a:srgbClr val="610B38"/>
              </a:solidFill>
              <a:effectLst/>
              <a:highlight>
                <a:srgbClr val="FFFFFF"/>
              </a:highlight>
              <a:latin typeface="erdana"/>
            </a:endParaRPr>
          </a:p>
          <a:p>
            <a:pPr marL="2540">
              <a:lnSpc>
                <a:spcPct val="100000"/>
              </a:lnSpc>
              <a:spcBef>
                <a:spcPts val="100"/>
              </a:spcBef>
              <a:buSzPct val="94444"/>
              <a:tabLst>
                <a:tab pos="91440" algn="l"/>
              </a:tabLst>
            </a:pPr>
            <a:endParaRPr sz="1800" dirty="0">
              <a:latin typeface="Arial MT"/>
              <a:cs typeface="Arial MT"/>
            </a:endParaRPr>
          </a:p>
        </p:txBody>
      </p:sp>
    </p:spTree>
    <p:extLst>
      <p:ext uri="{BB962C8B-B14F-4D97-AF65-F5344CB8AC3E}">
        <p14:creationId xmlns:p14="http://schemas.microsoft.com/office/powerpoint/2010/main" val="89300122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42660" y="1659576"/>
            <a:ext cx="9534728" cy="504625"/>
          </a:xfrm>
          <a:prstGeom prst="rect">
            <a:avLst/>
          </a:prstGeom>
        </p:spPr>
        <p:txBody>
          <a:bodyPr vert="horz" wrap="square" lIns="0" tIns="12065" rIns="0" bIns="0" rtlCol="0">
            <a:spAutoFit/>
          </a:bodyPr>
          <a:lstStyle/>
          <a:p>
            <a:pPr marL="2755265">
              <a:spcBef>
                <a:spcPts val="95"/>
              </a:spcBef>
            </a:pPr>
            <a:r>
              <a:rPr lang="en-US" sz="3200" b="1" i="0" dirty="0">
                <a:effectLst/>
                <a:latin typeface="erdana"/>
              </a:rPr>
              <a:t>Java Database Connectivity with Oracle</a:t>
            </a:r>
            <a:endParaRPr lang="en-US" sz="3200" b="1" spc="-50" dirty="0"/>
          </a:p>
        </p:txBody>
      </p:sp>
      <p:pic>
        <p:nvPicPr>
          <p:cNvPr id="3" name="object 3"/>
          <p:cNvPicPr/>
          <p:nvPr/>
        </p:nvPicPr>
        <p:blipFill>
          <a:blip r:embed="rId2" cstate="print"/>
          <a:stretch>
            <a:fillRect/>
          </a:stretch>
        </p:blipFill>
        <p:spPr>
          <a:xfrm>
            <a:off x="8317992" y="6031991"/>
            <a:ext cx="609600" cy="609599"/>
          </a:xfrm>
          <a:prstGeom prst="rect">
            <a:avLst/>
          </a:prstGeom>
        </p:spPr>
      </p:pic>
      <p:sp>
        <p:nvSpPr>
          <p:cNvPr id="4" name="object 4"/>
          <p:cNvSpPr txBox="1"/>
          <p:nvPr/>
        </p:nvSpPr>
        <p:spPr>
          <a:xfrm>
            <a:off x="294843" y="2771013"/>
            <a:ext cx="8554085" cy="869469"/>
          </a:xfrm>
          <a:prstGeom prst="rect">
            <a:avLst/>
          </a:prstGeom>
        </p:spPr>
        <p:txBody>
          <a:bodyPr vert="horz" wrap="square" lIns="0" tIns="12700" rIns="0" bIns="0" rtlCol="0">
            <a:spAutoFit/>
          </a:bodyPr>
          <a:lstStyle/>
          <a:p>
            <a:pPr marL="2540" algn="just">
              <a:spcBef>
                <a:spcPts val="100"/>
              </a:spcBef>
              <a:buSzPct val="94444"/>
              <a:tabLst>
                <a:tab pos="91440" algn="l"/>
              </a:tabLst>
            </a:pPr>
            <a:endParaRPr lang="en-US" b="0" i="0" dirty="0">
              <a:solidFill>
                <a:srgbClr val="610B38"/>
              </a:solidFill>
              <a:effectLst/>
              <a:highlight>
                <a:srgbClr val="FFFFFF"/>
              </a:highlight>
              <a:latin typeface="erdana"/>
            </a:endParaRPr>
          </a:p>
          <a:p>
            <a:pPr marL="2540" algn="just">
              <a:spcBef>
                <a:spcPts val="100"/>
              </a:spcBef>
              <a:buSzPct val="94444"/>
              <a:tabLst>
                <a:tab pos="91440" algn="l"/>
              </a:tabLst>
            </a:pPr>
            <a:endParaRPr lang="en-US" b="0" i="0" dirty="0">
              <a:solidFill>
                <a:srgbClr val="610B38"/>
              </a:solidFill>
              <a:effectLst/>
              <a:highlight>
                <a:srgbClr val="FFFFFF"/>
              </a:highlight>
              <a:latin typeface="erdana"/>
            </a:endParaRPr>
          </a:p>
          <a:p>
            <a:pPr marL="2540">
              <a:lnSpc>
                <a:spcPct val="100000"/>
              </a:lnSpc>
              <a:spcBef>
                <a:spcPts val="100"/>
              </a:spcBef>
              <a:buSzPct val="94444"/>
              <a:tabLst>
                <a:tab pos="91440" algn="l"/>
              </a:tabLst>
            </a:pPr>
            <a:endParaRPr sz="1800" dirty="0">
              <a:latin typeface="Arial MT"/>
              <a:cs typeface="Arial MT"/>
            </a:endParaRPr>
          </a:p>
        </p:txBody>
      </p:sp>
      <p:sp>
        <p:nvSpPr>
          <p:cNvPr id="6" name="TextBox 5">
            <a:extLst>
              <a:ext uri="{FF2B5EF4-FFF2-40B4-BE49-F238E27FC236}">
                <a16:creationId xmlns:a16="http://schemas.microsoft.com/office/drawing/2014/main" id="{C0EEB7B1-CD13-41D5-318F-138DC3BE1DFD}"/>
              </a:ext>
            </a:extLst>
          </p:cNvPr>
          <p:cNvSpPr txBox="1"/>
          <p:nvPr/>
        </p:nvSpPr>
        <p:spPr>
          <a:xfrm>
            <a:off x="294843" y="2366472"/>
            <a:ext cx="8391957" cy="3970318"/>
          </a:xfrm>
          <a:prstGeom prst="rect">
            <a:avLst/>
          </a:prstGeom>
          <a:noFill/>
        </p:spPr>
        <p:txBody>
          <a:bodyPr wrap="square" rtlCol="0">
            <a:spAutoFit/>
          </a:bodyPr>
          <a:lstStyle/>
          <a:p>
            <a:pPr algn="just"/>
            <a:r>
              <a:rPr lang="en-US" b="0" i="0" dirty="0">
                <a:solidFill>
                  <a:schemeClr val="tx1">
                    <a:lumMod val="95000"/>
                    <a:lumOff val="5000"/>
                  </a:schemeClr>
                </a:solidFill>
                <a:effectLst/>
                <a:highlight>
                  <a:srgbClr val="FFFFFF"/>
                </a:highlight>
                <a:latin typeface="inter-regular"/>
              </a:rPr>
              <a:t>To connect java application with the oracle database, we need to follow 5 following steps. In this example, we are using Oracle 10g as the database. So we need to know following information for the oracle database:</a:t>
            </a:r>
          </a:p>
          <a:p>
            <a:pPr algn="just"/>
            <a:endParaRPr lang="en-US" b="0" i="0" dirty="0">
              <a:solidFill>
                <a:schemeClr val="tx1">
                  <a:lumMod val="95000"/>
                  <a:lumOff val="5000"/>
                </a:schemeClr>
              </a:solidFill>
              <a:effectLst/>
              <a:highlight>
                <a:srgbClr val="FFFFFF"/>
              </a:highlight>
              <a:latin typeface="inter-regular"/>
            </a:endParaRPr>
          </a:p>
          <a:p>
            <a:pPr marL="342900" indent="-342900" algn="just">
              <a:buFont typeface="+mj-lt"/>
              <a:buAutoNum type="arabicPeriod"/>
            </a:pPr>
            <a:r>
              <a:rPr lang="en-US" b="1" i="0" dirty="0">
                <a:solidFill>
                  <a:srgbClr val="000000"/>
                </a:solidFill>
                <a:effectLst/>
                <a:highlight>
                  <a:srgbClr val="FFFFFF"/>
                </a:highlight>
                <a:latin typeface="inter-bold"/>
              </a:rPr>
              <a:t>Driver class: </a:t>
            </a:r>
            <a:r>
              <a:rPr lang="en-US" b="0" i="0" dirty="0">
                <a:solidFill>
                  <a:srgbClr val="000000"/>
                </a:solidFill>
                <a:effectLst/>
                <a:highlight>
                  <a:srgbClr val="FFFFFF"/>
                </a:highlight>
                <a:latin typeface="inter-regular"/>
              </a:rPr>
              <a:t>The driver class for the oracle database is </a:t>
            </a:r>
            <a:r>
              <a:rPr lang="en-US" b="1" i="0" dirty="0" err="1">
                <a:solidFill>
                  <a:srgbClr val="000000"/>
                </a:solidFill>
                <a:effectLst/>
                <a:highlight>
                  <a:srgbClr val="FFFFFF"/>
                </a:highlight>
                <a:latin typeface="inter-bold"/>
              </a:rPr>
              <a:t>oracle.jdbc.driver.OracleDriver</a:t>
            </a:r>
            <a:r>
              <a:rPr lang="en-US" b="0" i="0" dirty="0">
                <a:solidFill>
                  <a:srgbClr val="000000"/>
                </a:solidFill>
                <a:effectLst/>
                <a:highlight>
                  <a:srgbClr val="FFFFFF"/>
                </a:highlight>
                <a:latin typeface="inter-regular"/>
              </a:rPr>
              <a:t>.</a:t>
            </a:r>
          </a:p>
          <a:p>
            <a:pPr marL="342900" indent="-342900" algn="just">
              <a:buFont typeface="+mj-lt"/>
              <a:buAutoNum type="arabicPeriod"/>
            </a:pPr>
            <a:r>
              <a:rPr lang="en-US" b="1" i="0" dirty="0">
                <a:solidFill>
                  <a:srgbClr val="000000"/>
                </a:solidFill>
                <a:effectLst/>
                <a:highlight>
                  <a:srgbClr val="FFFFFF"/>
                </a:highlight>
                <a:latin typeface="inter-bold"/>
              </a:rPr>
              <a:t>Connection URL: </a:t>
            </a:r>
            <a:r>
              <a:rPr lang="en-US" b="0" i="0" dirty="0">
                <a:solidFill>
                  <a:srgbClr val="000000"/>
                </a:solidFill>
                <a:effectLst/>
                <a:highlight>
                  <a:srgbClr val="FFFFFF"/>
                </a:highlight>
                <a:latin typeface="inter-regular"/>
              </a:rPr>
              <a:t>The connection URL for the oracle10G database is </a:t>
            </a:r>
            <a:r>
              <a:rPr lang="en-US" b="1" i="0" dirty="0" err="1">
                <a:solidFill>
                  <a:srgbClr val="000000"/>
                </a:solidFill>
                <a:effectLst/>
                <a:highlight>
                  <a:srgbClr val="FFFFFF"/>
                </a:highlight>
                <a:latin typeface="inter-bold"/>
              </a:rPr>
              <a:t>jdbc:oracle:thin</a:t>
            </a:r>
            <a:r>
              <a:rPr lang="en-US" b="1" i="0" dirty="0">
                <a:solidFill>
                  <a:srgbClr val="000000"/>
                </a:solidFill>
                <a:effectLst/>
                <a:highlight>
                  <a:srgbClr val="FFFFFF"/>
                </a:highlight>
                <a:latin typeface="inter-bold"/>
              </a:rPr>
              <a:t>:@localhost:1521:xe</a:t>
            </a:r>
            <a:r>
              <a:rPr lang="en-US" b="0" i="0" dirty="0">
                <a:solidFill>
                  <a:srgbClr val="000000"/>
                </a:solidFill>
                <a:effectLst/>
                <a:highlight>
                  <a:srgbClr val="FFFFFF"/>
                </a:highlight>
                <a:latin typeface="inter-regular"/>
              </a:rPr>
              <a:t> where </a:t>
            </a:r>
            <a:r>
              <a:rPr lang="en-US" b="0" i="0" dirty="0" err="1">
                <a:solidFill>
                  <a:srgbClr val="000000"/>
                </a:solidFill>
                <a:effectLst/>
                <a:highlight>
                  <a:srgbClr val="FFFFFF"/>
                </a:highlight>
                <a:latin typeface="inter-regular"/>
              </a:rPr>
              <a:t>jdbc</a:t>
            </a:r>
            <a:r>
              <a:rPr lang="en-US" b="0" i="0" dirty="0">
                <a:solidFill>
                  <a:srgbClr val="000000"/>
                </a:solidFill>
                <a:effectLst/>
                <a:highlight>
                  <a:srgbClr val="FFFFFF"/>
                </a:highlight>
                <a:latin typeface="inter-regular"/>
              </a:rPr>
              <a:t> is the API, oracle is the database, thin is the driver, localhost is the server name on which oracle is running, we may also use IP address, 1521 is the port number and XE is the Oracle service name. You may get all these information from the </a:t>
            </a:r>
            <a:r>
              <a:rPr lang="en-US" b="0" i="0" dirty="0" err="1">
                <a:solidFill>
                  <a:srgbClr val="000000"/>
                </a:solidFill>
                <a:effectLst/>
                <a:highlight>
                  <a:srgbClr val="FFFFFF"/>
                </a:highlight>
                <a:latin typeface="inter-regular"/>
              </a:rPr>
              <a:t>tnsnames.ora</a:t>
            </a:r>
            <a:r>
              <a:rPr lang="en-US" b="0" i="0" dirty="0">
                <a:solidFill>
                  <a:srgbClr val="000000"/>
                </a:solidFill>
                <a:effectLst/>
                <a:highlight>
                  <a:srgbClr val="FFFFFF"/>
                </a:highlight>
                <a:latin typeface="inter-regular"/>
              </a:rPr>
              <a:t> file.</a:t>
            </a:r>
          </a:p>
          <a:p>
            <a:pPr marL="342900" indent="-342900" algn="just">
              <a:buFont typeface="+mj-lt"/>
              <a:buAutoNum type="arabicPeriod"/>
            </a:pPr>
            <a:r>
              <a:rPr lang="en-US" b="1" i="0" dirty="0">
                <a:solidFill>
                  <a:srgbClr val="000000"/>
                </a:solidFill>
                <a:effectLst/>
                <a:highlight>
                  <a:srgbClr val="FFFFFF"/>
                </a:highlight>
                <a:latin typeface="inter-bold"/>
              </a:rPr>
              <a:t>Username: </a:t>
            </a:r>
            <a:r>
              <a:rPr lang="en-US" b="0" i="0" dirty="0">
                <a:solidFill>
                  <a:srgbClr val="000000"/>
                </a:solidFill>
                <a:effectLst/>
                <a:highlight>
                  <a:srgbClr val="FFFFFF"/>
                </a:highlight>
                <a:latin typeface="inter-regular"/>
              </a:rPr>
              <a:t>The default username for the oracle database is </a:t>
            </a:r>
            <a:r>
              <a:rPr lang="en-US" b="1" i="0" dirty="0">
                <a:solidFill>
                  <a:srgbClr val="000000"/>
                </a:solidFill>
                <a:effectLst/>
                <a:highlight>
                  <a:srgbClr val="FFFFFF"/>
                </a:highlight>
                <a:latin typeface="inter-bold"/>
              </a:rPr>
              <a:t>system</a:t>
            </a:r>
            <a:r>
              <a:rPr lang="en-US" b="0" i="0" dirty="0">
                <a:solidFill>
                  <a:srgbClr val="000000"/>
                </a:solidFill>
                <a:effectLst/>
                <a:highlight>
                  <a:srgbClr val="FFFFFF"/>
                </a:highlight>
                <a:latin typeface="inter-regular"/>
              </a:rPr>
              <a:t>.</a:t>
            </a:r>
          </a:p>
          <a:p>
            <a:pPr marL="342900" indent="-342900" algn="just">
              <a:buFont typeface="+mj-lt"/>
              <a:buAutoNum type="arabicPeriod"/>
            </a:pPr>
            <a:r>
              <a:rPr lang="en-US" b="1" i="0" dirty="0">
                <a:solidFill>
                  <a:srgbClr val="000000"/>
                </a:solidFill>
                <a:effectLst/>
                <a:highlight>
                  <a:srgbClr val="FFFFFF"/>
                </a:highlight>
                <a:latin typeface="inter-bold"/>
              </a:rPr>
              <a:t>Password: </a:t>
            </a:r>
            <a:r>
              <a:rPr lang="en-US" b="0" i="0" dirty="0">
                <a:solidFill>
                  <a:srgbClr val="000000"/>
                </a:solidFill>
                <a:effectLst/>
                <a:highlight>
                  <a:srgbClr val="FFFFFF"/>
                </a:highlight>
                <a:latin typeface="inter-regular"/>
              </a:rPr>
              <a:t>It is the password given by the user at the time of installing the oracle database.</a:t>
            </a:r>
          </a:p>
        </p:txBody>
      </p:sp>
    </p:spTree>
    <p:extLst>
      <p:ext uri="{BB962C8B-B14F-4D97-AF65-F5344CB8AC3E}">
        <p14:creationId xmlns:p14="http://schemas.microsoft.com/office/powerpoint/2010/main" val="120558108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302271" y="1710732"/>
            <a:ext cx="9636760" cy="504625"/>
          </a:xfrm>
          <a:prstGeom prst="rect">
            <a:avLst/>
          </a:prstGeom>
        </p:spPr>
        <p:txBody>
          <a:bodyPr vert="horz" wrap="square" lIns="0" tIns="12065" rIns="0" bIns="0" rtlCol="0">
            <a:spAutoFit/>
          </a:bodyPr>
          <a:lstStyle/>
          <a:p>
            <a:pPr marL="2755265">
              <a:spcBef>
                <a:spcPts val="95"/>
              </a:spcBef>
            </a:pPr>
            <a:r>
              <a:rPr lang="en-US" sz="3200" b="1" i="0" dirty="0">
                <a:effectLst/>
                <a:latin typeface="erdana"/>
              </a:rPr>
              <a:t>Java Database Connectivity with Oracle</a:t>
            </a:r>
            <a:endParaRPr lang="en-US" sz="3200" b="1" spc="-50" dirty="0"/>
          </a:p>
        </p:txBody>
      </p:sp>
      <p:pic>
        <p:nvPicPr>
          <p:cNvPr id="3" name="object 3"/>
          <p:cNvPicPr/>
          <p:nvPr/>
        </p:nvPicPr>
        <p:blipFill>
          <a:blip r:embed="rId2" cstate="print"/>
          <a:stretch>
            <a:fillRect/>
          </a:stretch>
        </p:blipFill>
        <p:spPr>
          <a:xfrm>
            <a:off x="8317992" y="6031991"/>
            <a:ext cx="609600" cy="609599"/>
          </a:xfrm>
          <a:prstGeom prst="rect">
            <a:avLst/>
          </a:prstGeom>
        </p:spPr>
      </p:pic>
      <p:sp>
        <p:nvSpPr>
          <p:cNvPr id="4" name="object 4"/>
          <p:cNvSpPr txBox="1"/>
          <p:nvPr/>
        </p:nvSpPr>
        <p:spPr>
          <a:xfrm>
            <a:off x="294843" y="2771013"/>
            <a:ext cx="8554085" cy="869469"/>
          </a:xfrm>
          <a:prstGeom prst="rect">
            <a:avLst/>
          </a:prstGeom>
        </p:spPr>
        <p:txBody>
          <a:bodyPr vert="horz" wrap="square" lIns="0" tIns="12700" rIns="0" bIns="0" rtlCol="0">
            <a:spAutoFit/>
          </a:bodyPr>
          <a:lstStyle/>
          <a:p>
            <a:pPr marL="2540" algn="just">
              <a:spcBef>
                <a:spcPts val="100"/>
              </a:spcBef>
              <a:buSzPct val="94444"/>
              <a:tabLst>
                <a:tab pos="91440" algn="l"/>
              </a:tabLst>
            </a:pPr>
            <a:endParaRPr lang="en-US" b="0" i="0" dirty="0">
              <a:solidFill>
                <a:srgbClr val="610B38"/>
              </a:solidFill>
              <a:effectLst/>
              <a:highlight>
                <a:srgbClr val="FFFFFF"/>
              </a:highlight>
              <a:latin typeface="erdana"/>
            </a:endParaRPr>
          </a:p>
          <a:p>
            <a:pPr marL="2540" algn="just">
              <a:spcBef>
                <a:spcPts val="100"/>
              </a:spcBef>
              <a:buSzPct val="94444"/>
              <a:tabLst>
                <a:tab pos="91440" algn="l"/>
              </a:tabLst>
            </a:pPr>
            <a:endParaRPr lang="en-US" b="0" i="0" dirty="0">
              <a:solidFill>
                <a:srgbClr val="610B38"/>
              </a:solidFill>
              <a:effectLst/>
              <a:highlight>
                <a:srgbClr val="FFFFFF"/>
              </a:highlight>
              <a:latin typeface="erdana"/>
            </a:endParaRPr>
          </a:p>
          <a:p>
            <a:pPr marL="2540">
              <a:lnSpc>
                <a:spcPct val="100000"/>
              </a:lnSpc>
              <a:spcBef>
                <a:spcPts val="100"/>
              </a:spcBef>
              <a:buSzPct val="94444"/>
              <a:tabLst>
                <a:tab pos="91440" algn="l"/>
              </a:tabLst>
            </a:pPr>
            <a:endParaRPr sz="1800" dirty="0">
              <a:latin typeface="Arial MT"/>
              <a:cs typeface="Arial MT"/>
            </a:endParaRPr>
          </a:p>
        </p:txBody>
      </p:sp>
      <p:sp>
        <p:nvSpPr>
          <p:cNvPr id="6" name="TextBox 5">
            <a:extLst>
              <a:ext uri="{FF2B5EF4-FFF2-40B4-BE49-F238E27FC236}">
                <a16:creationId xmlns:a16="http://schemas.microsoft.com/office/drawing/2014/main" id="{C0EEB7B1-CD13-41D5-318F-138DC3BE1DFD}"/>
              </a:ext>
            </a:extLst>
          </p:cNvPr>
          <p:cNvSpPr txBox="1"/>
          <p:nvPr/>
        </p:nvSpPr>
        <p:spPr>
          <a:xfrm>
            <a:off x="294843" y="2469612"/>
            <a:ext cx="8391957" cy="2677656"/>
          </a:xfrm>
          <a:prstGeom prst="rect">
            <a:avLst/>
          </a:prstGeom>
          <a:noFill/>
        </p:spPr>
        <p:txBody>
          <a:bodyPr wrap="square" rtlCol="0">
            <a:spAutoFit/>
          </a:bodyPr>
          <a:lstStyle/>
          <a:p>
            <a:pPr algn="just"/>
            <a:r>
              <a:rPr lang="en-IN" sz="2400" b="1" i="0" dirty="0">
                <a:solidFill>
                  <a:schemeClr val="tx1"/>
                </a:solidFill>
                <a:effectLst/>
                <a:highlight>
                  <a:srgbClr val="FFFFFF"/>
                </a:highlight>
                <a:latin typeface="inter-regular"/>
              </a:rPr>
              <a:t>Create a Table</a:t>
            </a:r>
          </a:p>
          <a:p>
            <a:pPr algn="just"/>
            <a:r>
              <a:rPr lang="en-US" b="0" i="0" dirty="0">
                <a:solidFill>
                  <a:schemeClr val="tx1"/>
                </a:solidFill>
                <a:effectLst/>
                <a:highlight>
                  <a:srgbClr val="FFFFFF"/>
                </a:highlight>
                <a:latin typeface="inter-regular"/>
              </a:rPr>
              <a:t>Before establishing connection, let's first create a table in oracle database. Following is the SQL query to create a table</a:t>
            </a:r>
            <a:r>
              <a:rPr lang="en-US" b="0" i="0" dirty="0">
                <a:solidFill>
                  <a:srgbClr val="333333"/>
                </a:solidFill>
                <a:effectLst/>
                <a:highlight>
                  <a:srgbClr val="FFFFFF"/>
                </a:highlight>
                <a:latin typeface="inter-regular"/>
              </a:rPr>
              <a:t>.</a:t>
            </a:r>
          </a:p>
          <a:p>
            <a:pPr algn="just"/>
            <a:r>
              <a:rPr lang="en-US" b="0" i="0" dirty="0">
                <a:solidFill>
                  <a:srgbClr val="000000"/>
                </a:solidFill>
                <a:effectLst/>
                <a:latin typeface="inter-regular"/>
              </a:rPr>
              <a:t>create table emp(id number(</a:t>
            </a:r>
            <a:r>
              <a:rPr lang="en-US" b="0" i="0" dirty="0">
                <a:solidFill>
                  <a:srgbClr val="C00000"/>
                </a:solidFill>
                <a:effectLst/>
                <a:latin typeface="inter-regular"/>
              </a:rPr>
              <a:t>10</a:t>
            </a:r>
            <a:r>
              <a:rPr lang="en-US" b="0" i="0" dirty="0">
                <a:solidFill>
                  <a:srgbClr val="000000"/>
                </a:solidFill>
                <a:effectLst/>
                <a:latin typeface="inter-regular"/>
              </a:rPr>
              <a:t>),name varchar2(</a:t>
            </a:r>
            <a:r>
              <a:rPr lang="en-US" b="0" i="0" dirty="0">
                <a:solidFill>
                  <a:srgbClr val="C00000"/>
                </a:solidFill>
                <a:effectLst/>
                <a:latin typeface="inter-regular"/>
              </a:rPr>
              <a:t>40</a:t>
            </a:r>
            <a:r>
              <a:rPr lang="en-US" b="0" i="0" dirty="0">
                <a:solidFill>
                  <a:srgbClr val="000000"/>
                </a:solidFill>
                <a:effectLst/>
                <a:latin typeface="inter-regular"/>
              </a:rPr>
              <a:t>),age number(</a:t>
            </a:r>
            <a:r>
              <a:rPr lang="en-US" b="0" i="0" dirty="0">
                <a:solidFill>
                  <a:srgbClr val="C00000"/>
                </a:solidFill>
                <a:effectLst/>
                <a:latin typeface="inter-regular"/>
              </a:rPr>
              <a:t>3</a:t>
            </a:r>
            <a:r>
              <a:rPr lang="en-US" b="0" i="0" dirty="0">
                <a:solidFill>
                  <a:srgbClr val="000000"/>
                </a:solidFill>
                <a:effectLst/>
                <a:latin typeface="inter-regular"/>
              </a:rPr>
              <a:t>));</a:t>
            </a:r>
            <a:endParaRPr lang="en-US" dirty="0">
              <a:solidFill>
                <a:srgbClr val="333333"/>
              </a:solidFill>
              <a:highlight>
                <a:srgbClr val="FFFFFF"/>
              </a:highlight>
              <a:latin typeface="inter-regular"/>
            </a:endParaRPr>
          </a:p>
          <a:p>
            <a:pPr algn="just"/>
            <a:endParaRPr lang="en-US" b="0" i="0" dirty="0">
              <a:solidFill>
                <a:srgbClr val="333333"/>
              </a:solidFill>
              <a:effectLst/>
              <a:highlight>
                <a:srgbClr val="FFFFFF"/>
              </a:highlight>
              <a:latin typeface="inter-regular"/>
            </a:endParaRPr>
          </a:p>
          <a:p>
            <a:pPr algn="just"/>
            <a:r>
              <a:rPr lang="en-US" b="0" dirty="0">
                <a:solidFill>
                  <a:srgbClr val="610B4B"/>
                </a:solidFill>
                <a:effectLst/>
                <a:highlight>
                  <a:srgbClr val="FFFFFF"/>
                </a:highlight>
                <a:latin typeface="tahoma" panose="020B0604030504040204" pitchFamily="34" charset="0"/>
              </a:rPr>
              <a:t>Example to Connect Java Application with Oracle database</a:t>
            </a:r>
          </a:p>
          <a:p>
            <a:pPr algn="just"/>
            <a:r>
              <a:rPr lang="en-US" b="0" i="0" dirty="0">
                <a:solidFill>
                  <a:srgbClr val="333333"/>
                </a:solidFill>
                <a:effectLst/>
                <a:highlight>
                  <a:srgbClr val="FFFFFF"/>
                </a:highlight>
                <a:latin typeface="inter-regular"/>
              </a:rPr>
              <a:t>In this example, we are connecting to an Oracle database and getting data from </a:t>
            </a:r>
            <a:r>
              <a:rPr lang="en-US" b="1" i="0" dirty="0">
                <a:solidFill>
                  <a:srgbClr val="333333"/>
                </a:solidFill>
                <a:effectLst/>
                <a:highlight>
                  <a:srgbClr val="FFFFFF"/>
                </a:highlight>
                <a:latin typeface="inter-bold"/>
              </a:rPr>
              <a:t>emp</a:t>
            </a:r>
            <a:r>
              <a:rPr lang="en-US" b="0" i="0" dirty="0">
                <a:solidFill>
                  <a:srgbClr val="333333"/>
                </a:solidFill>
                <a:effectLst/>
                <a:highlight>
                  <a:srgbClr val="FFFFFF"/>
                </a:highlight>
                <a:latin typeface="inter-regular"/>
              </a:rPr>
              <a:t> table. Here, </a:t>
            </a:r>
            <a:r>
              <a:rPr lang="en-US" b="1" i="0" dirty="0">
                <a:solidFill>
                  <a:srgbClr val="333333"/>
                </a:solidFill>
                <a:effectLst/>
                <a:highlight>
                  <a:srgbClr val="FFFFFF"/>
                </a:highlight>
                <a:latin typeface="inter-bold"/>
              </a:rPr>
              <a:t>system</a:t>
            </a:r>
            <a:r>
              <a:rPr lang="en-US" b="0" i="0" dirty="0">
                <a:solidFill>
                  <a:srgbClr val="333333"/>
                </a:solidFill>
                <a:effectLst/>
                <a:highlight>
                  <a:srgbClr val="FFFFFF"/>
                </a:highlight>
                <a:latin typeface="inter-regular"/>
              </a:rPr>
              <a:t> and </a:t>
            </a:r>
            <a:r>
              <a:rPr lang="en-US" b="1" i="0" dirty="0">
                <a:solidFill>
                  <a:srgbClr val="333333"/>
                </a:solidFill>
                <a:effectLst/>
                <a:highlight>
                  <a:srgbClr val="FFFFFF"/>
                </a:highlight>
                <a:latin typeface="inter-bold"/>
              </a:rPr>
              <a:t>oracle</a:t>
            </a:r>
            <a:r>
              <a:rPr lang="en-US" b="0" i="0" dirty="0">
                <a:solidFill>
                  <a:srgbClr val="333333"/>
                </a:solidFill>
                <a:effectLst/>
                <a:highlight>
                  <a:srgbClr val="FFFFFF"/>
                </a:highlight>
                <a:latin typeface="inter-regular"/>
              </a:rPr>
              <a:t> are the username and password of the Oracle database.</a:t>
            </a:r>
            <a:endParaRPr lang="en-US" b="0" i="0" dirty="0">
              <a:solidFill>
                <a:srgbClr val="000000"/>
              </a:solidFill>
              <a:effectLst/>
              <a:highlight>
                <a:srgbClr val="FFFFFF"/>
              </a:highlight>
              <a:latin typeface="inter-regular"/>
            </a:endParaRPr>
          </a:p>
        </p:txBody>
      </p:sp>
    </p:spTree>
    <p:extLst>
      <p:ext uri="{BB962C8B-B14F-4D97-AF65-F5344CB8AC3E}">
        <p14:creationId xmlns:p14="http://schemas.microsoft.com/office/powerpoint/2010/main" val="420186595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667000" y="1782686"/>
            <a:ext cx="11887200" cy="381515"/>
          </a:xfrm>
          <a:prstGeom prst="rect">
            <a:avLst/>
          </a:prstGeom>
        </p:spPr>
        <p:txBody>
          <a:bodyPr vert="horz" wrap="square" lIns="0" tIns="12065" rIns="0" bIns="0" rtlCol="0">
            <a:spAutoFit/>
          </a:bodyPr>
          <a:lstStyle/>
          <a:p>
            <a:pPr marL="2755265">
              <a:spcBef>
                <a:spcPts val="95"/>
              </a:spcBef>
            </a:pPr>
            <a:r>
              <a:rPr lang="en-US" sz="2400" b="1" dirty="0">
                <a:solidFill>
                  <a:schemeClr val="tx1">
                    <a:lumMod val="95000"/>
                    <a:lumOff val="5000"/>
                  </a:schemeClr>
                </a:solidFill>
                <a:effectLst/>
                <a:latin typeface="tahoma" panose="020B0604030504040204" pitchFamily="34" charset="0"/>
              </a:rPr>
              <a:t>Example to Connect Java Application with Oracle database</a:t>
            </a:r>
            <a:endParaRPr lang="en-US" sz="2400" b="1" spc="-50" dirty="0">
              <a:solidFill>
                <a:schemeClr val="tx1">
                  <a:lumMod val="95000"/>
                  <a:lumOff val="5000"/>
                </a:schemeClr>
              </a:solidFill>
            </a:endParaRPr>
          </a:p>
        </p:txBody>
      </p:sp>
      <p:pic>
        <p:nvPicPr>
          <p:cNvPr id="3" name="object 3"/>
          <p:cNvPicPr/>
          <p:nvPr/>
        </p:nvPicPr>
        <p:blipFill>
          <a:blip r:embed="rId2" cstate="print"/>
          <a:stretch>
            <a:fillRect/>
          </a:stretch>
        </p:blipFill>
        <p:spPr>
          <a:xfrm>
            <a:off x="8317992" y="6031991"/>
            <a:ext cx="609600" cy="609599"/>
          </a:xfrm>
          <a:prstGeom prst="rect">
            <a:avLst/>
          </a:prstGeom>
        </p:spPr>
      </p:pic>
      <p:sp>
        <p:nvSpPr>
          <p:cNvPr id="4" name="object 4"/>
          <p:cNvSpPr txBox="1"/>
          <p:nvPr/>
        </p:nvSpPr>
        <p:spPr>
          <a:xfrm>
            <a:off x="294843" y="2771013"/>
            <a:ext cx="8554085" cy="869469"/>
          </a:xfrm>
          <a:prstGeom prst="rect">
            <a:avLst/>
          </a:prstGeom>
        </p:spPr>
        <p:txBody>
          <a:bodyPr vert="horz" wrap="square" lIns="0" tIns="12700" rIns="0" bIns="0" rtlCol="0">
            <a:spAutoFit/>
          </a:bodyPr>
          <a:lstStyle/>
          <a:p>
            <a:pPr marL="2540" algn="just">
              <a:spcBef>
                <a:spcPts val="100"/>
              </a:spcBef>
              <a:buSzPct val="94444"/>
              <a:tabLst>
                <a:tab pos="91440" algn="l"/>
              </a:tabLst>
            </a:pPr>
            <a:endParaRPr lang="en-US" b="0" i="0" dirty="0">
              <a:solidFill>
                <a:srgbClr val="610B38"/>
              </a:solidFill>
              <a:effectLst/>
              <a:highlight>
                <a:srgbClr val="FFFFFF"/>
              </a:highlight>
              <a:latin typeface="erdana"/>
            </a:endParaRPr>
          </a:p>
          <a:p>
            <a:pPr marL="2540" algn="just">
              <a:spcBef>
                <a:spcPts val="100"/>
              </a:spcBef>
              <a:buSzPct val="94444"/>
              <a:tabLst>
                <a:tab pos="91440" algn="l"/>
              </a:tabLst>
            </a:pPr>
            <a:endParaRPr lang="en-US" b="0" i="0" dirty="0">
              <a:solidFill>
                <a:srgbClr val="610B38"/>
              </a:solidFill>
              <a:effectLst/>
              <a:highlight>
                <a:srgbClr val="FFFFFF"/>
              </a:highlight>
              <a:latin typeface="erdana"/>
            </a:endParaRPr>
          </a:p>
          <a:p>
            <a:pPr marL="2540">
              <a:lnSpc>
                <a:spcPct val="100000"/>
              </a:lnSpc>
              <a:spcBef>
                <a:spcPts val="100"/>
              </a:spcBef>
              <a:buSzPct val="94444"/>
              <a:tabLst>
                <a:tab pos="91440" algn="l"/>
              </a:tabLst>
            </a:pPr>
            <a:endParaRPr sz="1800" dirty="0">
              <a:latin typeface="Arial MT"/>
              <a:cs typeface="Arial MT"/>
            </a:endParaRPr>
          </a:p>
        </p:txBody>
      </p:sp>
      <p:sp>
        <p:nvSpPr>
          <p:cNvPr id="6" name="TextBox 5">
            <a:extLst>
              <a:ext uri="{FF2B5EF4-FFF2-40B4-BE49-F238E27FC236}">
                <a16:creationId xmlns:a16="http://schemas.microsoft.com/office/drawing/2014/main" id="{C0EEB7B1-CD13-41D5-318F-138DC3BE1DFD}"/>
              </a:ext>
            </a:extLst>
          </p:cNvPr>
          <p:cNvSpPr txBox="1"/>
          <p:nvPr/>
        </p:nvSpPr>
        <p:spPr>
          <a:xfrm>
            <a:off x="294843" y="2240385"/>
            <a:ext cx="8391957" cy="4616648"/>
          </a:xfrm>
          <a:prstGeom prst="rect">
            <a:avLst/>
          </a:prstGeom>
          <a:noFill/>
        </p:spPr>
        <p:txBody>
          <a:bodyPr wrap="square" rtlCol="0">
            <a:spAutoFit/>
          </a:bodyPr>
          <a:lstStyle/>
          <a:p>
            <a:pPr algn="just"/>
            <a:r>
              <a:rPr lang="en-IN" sz="1400" b="1" i="0" dirty="0">
                <a:solidFill>
                  <a:srgbClr val="006699"/>
                </a:solidFill>
                <a:effectLst/>
                <a:latin typeface="inter-regular"/>
              </a:rPr>
              <a:t>import</a:t>
            </a:r>
            <a:r>
              <a:rPr lang="en-IN" sz="1400" b="0" i="0" dirty="0">
                <a:solidFill>
                  <a:srgbClr val="000000"/>
                </a:solidFill>
                <a:effectLst/>
                <a:latin typeface="inter-regular"/>
              </a:rPr>
              <a:t> </a:t>
            </a:r>
            <a:r>
              <a:rPr lang="en-IN" sz="1400" b="0" i="0" dirty="0" err="1">
                <a:solidFill>
                  <a:srgbClr val="000000"/>
                </a:solidFill>
                <a:effectLst/>
                <a:latin typeface="inter-regular"/>
              </a:rPr>
              <a:t>java.sql</a:t>
            </a:r>
            <a:r>
              <a:rPr lang="en-IN" sz="1400" b="0" i="0" dirty="0">
                <a:solidFill>
                  <a:srgbClr val="000000"/>
                </a:solidFill>
                <a:effectLst/>
                <a:latin typeface="inter-regular"/>
              </a:rPr>
              <a:t>.*;  </a:t>
            </a:r>
          </a:p>
          <a:p>
            <a:pPr algn="just"/>
            <a:r>
              <a:rPr lang="en-IN" sz="1400" b="1" i="0" dirty="0">
                <a:solidFill>
                  <a:srgbClr val="006699"/>
                </a:solidFill>
                <a:effectLst/>
                <a:latin typeface="inter-regular"/>
              </a:rPr>
              <a:t>class</a:t>
            </a:r>
            <a:r>
              <a:rPr lang="en-IN" sz="1400" b="0" i="0" dirty="0">
                <a:solidFill>
                  <a:srgbClr val="000000"/>
                </a:solidFill>
                <a:effectLst/>
                <a:latin typeface="inter-regular"/>
              </a:rPr>
              <a:t> </a:t>
            </a:r>
            <a:r>
              <a:rPr lang="en-IN" sz="1400" b="0" i="0" dirty="0" err="1">
                <a:solidFill>
                  <a:srgbClr val="000000"/>
                </a:solidFill>
                <a:effectLst/>
                <a:latin typeface="inter-regular"/>
              </a:rPr>
              <a:t>OracleCon</a:t>
            </a:r>
            <a:r>
              <a:rPr lang="en-IN" sz="1400" b="0" i="0" dirty="0">
                <a:solidFill>
                  <a:srgbClr val="000000"/>
                </a:solidFill>
                <a:effectLst/>
                <a:latin typeface="inter-regular"/>
              </a:rPr>
              <a:t>{  </a:t>
            </a:r>
          </a:p>
          <a:p>
            <a:pPr algn="just"/>
            <a:r>
              <a:rPr lang="en-IN" sz="1400" b="1" i="0" dirty="0">
                <a:solidFill>
                  <a:srgbClr val="006699"/>
                </a:solidFill>
                <a:effectLst/>
                <a:latin typeface="inter-regular"/>
              </a:rPr>
              <a:t>public</a:t>
            </a:r>
            <a:r>
              <a:rPr lang="en-IN" sz="1400" b="0" i="0" dirty="0">
                <a:solidFill>
                  <a:srgbClr val="000000"/>
                </a:solidFill>
                <a:effectLst/>
                <a:latin typeface="inter-regular"/>
              </a:rPr>
              <a:t> </a:t>
            </a:r>
            <a:r>
              <a:rPr lang="en-IN" sz="1400" b="1" i="0" dirty="0">
                <a:solidFill>
                  <a:srgbClr val="006699"/>
                </a:solidFill>
                <a:effectLst/>
                <a:latin typeface="inter-regular"/>
              </a:rPr>
              <a:t>static</a:t>
            </a:r>
            <a:r>
              <a:rPr lang="en-IN" sz="1400" b="0" i="0" dirty="0">
                <a:solidFill>
                  <a:srgbClr val="000000"/>
                </a:solidFill>
                <a:effectLst/>
                <a:latin typeface="inter-regular"/>
              </a:rPr>
              <a:t> </a:t>
            </a:r>
            <a:r>
              <a:rPr lang="en-IN" sz="1400" b="1" i="0" dirty="0">
                <a:solidFill>
                  <a:srgbClr val="006699"/>
                </a:solidFill>
                <a:effectLst/>
                <a:latin typeface="inter-regular"/>
              </a:rPr>
              <a:t>void</a:t>
            </a:r>
            <a:r>
              <a:rPr lang="en-IN" sz="1400" b="0" i="0" dirty="0">
                <a:solidFill>
                  <a:srgbClr val="000000"/>
                </a:solidFill>
                <a:effectLst/>
                <a:latin typeface="inter-regular"/>
              </a:rPr>
              <a:t> main(String </a:t>
            </a:r>
            <a:r>
              <a:rPr lang="en-IN" sz="1400" b="0" i="0" dirty="0" err="1">
                <a:solidFill>
                  <a:srgbClr val="000000"/>
                </a:solidFill>
                <a:effectLst/>
                <a:latin typeface="inter-regular"/>
              </a:rPr>
              <a:t>args</a:t>
            </a:r>
            <a:r>
              <a:rPr lang="en-IN" sz="1400" b="0" i="0" dirty="0">
                <a:solidFill>
                  <a:srgbClr val="000000"/>
                </a:solidFill>
                <a:effectLst/>
                <a:latin typeface="inter-regular"/>
              </a:rPr>
              <a:t>[]){  </a:t>
            </a:r>
          </a:p>
          <a:p>
            <a:pPr algn="just"/>
            <a:r>
              <a:rPr lang="en-IN" sz="1400" b="1" i="0" dirty="0">
                <a:solidFill>
                  <a:srgbClr val="006699"/>
                </a:solidFill>
                <a:effectLst/>
                <a:latin typeface="inter-regular"/>
              </a:rPr>
              <a:t>try</a:t>
            </a:r>
            <a:r>
              <a:rPr lang="en-IN" sz="1400" b="0" i="0" dirty="0">
                <a:solidFill>
                  <a:srgbClr val="000000"/>
                </a:solidFill>
                <a:effectLst/>
                <a:latin typeface="inter-regular"/>
              </a:rPr>
              <a:t>{  </a:t>
            </a:r>
          </a:p>
          <a:p>
            <a:pPr algn="just"/>
            <a:r>
              <a:rPr lang="en-IN" sz="1400" b="0" i="0" dirty="0">
                <a:solidFill>
                  <a:srgbClr val="008200"/>
                </a:solidFill>
                <a:effectLst/>
                <a:latin typeface="inter-regular"/>
              </a:rPr>
              <a:t>//step1 load the driver class</a:t>
            </a:r>
            <a:r>
              <a:rPr lang="en-IN" sz="1400" b="0" i="0" dirty="0">
                <a:solidFill>
                  <a:srgbClr val="000000"/>
                </a:solidFill>
                <a:effectLst/>
                <a:latin typeface="inter-regular"/>
              </a:rPr>
              <a:t>  </a:t>
            </a:r>
          </a:p>
          <a:p>
            <a:pPr algn="just"/>
            <a:r>
              <a:rPr lang="en-IN" sz="1400" b="0" i="0" dirty="0" err="1">
                <a:solidFill>
                  <a:srgbClr val="000000"/>
                </a:solidFill>
                <a:effectLst/>
                <a:latin typeface="inter-regular"/>
              </a:rPr>
              <a:t>Class.forName</a:t>
            </a:r>
            <a:r>
              <a:rPr lang="en-IN" sz="1400" b="0" i="0" dirty="0">
                <a:solidFill>
                  <a:srgbClr val="000000"/>
                </a:solidFill>
                <a:effectLst/>
                <a:latin typeface="inter-regular"/>
              </a:rPr>
              <a:t>(</a:t>
            </a:r>
            <a:r>
              <a:rPr lang="en-IN" sz="1400" b="0" i="0" dirty="0">
                <a:solidFill>
                  <a:srgbClr val="0000FF"/>
                </a:solidFill>
                <a:effectLst/>
                <a:latin typeface="inter-regular"/>
              </a:rPr>
              <a:t>"</a:t>
            </a:r>
            <a:r>
              <a:rPr lang="en-IN" sz="1400" b="0" i="0" dirty="0" err="1">
                <a:solidFill>
                  <a:srgbClr val="0000FF"/>
                </a:solidFill>
                <a:effectLst/>
                <a:latin typeface="inter-regular"/>
              </a:rPr>
              <a:t>oracle.jdbc.driver.OracleDriver</a:t>
            </a:r>
            <a:r>
              <a:rPr lang="en-IN" sz="1400" b="0" i="0" dirty="0">
                <a:solidFill>
                  <a:srgbClr val="0000FF"/>
                </a:solidFill>
                <a:effectLst/>
                <a:latin typeface="inter-regular"/>
              </a:rPr>
              <a:t>"</a:t>
            </a:r>
            <a:r>
              <a:rPr lang="en-IN" sz="1400" b="0" i="0" dirty="0">
                <a:solidFill>
                  <a:srgbClr val="000000"/>
                </a:solidFill>
                <a:effectLst/>
                <a:latin typeface="inter-regular"/>
              </a:rPr>
              <a:t>);  </a:t>
            </a:r>
          </a:p>
          <a:p>
            <a:pPr algn="just"/>
            <a:r>
              <a:rPr lang="en-IN" sz="1400" b="0" i="0" dirty="0">
                <a:solidFill>
                  <a:srgbClr val="008200"/>
                </a:solidFill>
                <a:effectLst/>
                <a:latin typeface="inter-regular"/>
              </a:rPr>
              <a:t>//step2 create  the connection object</a:t>
            </a:r>
            <a:r>
              <a:rPr lang="en-IN" sz="1400" b="0" i="0" dirty="0">
                <a:solidFill>
                  <a:srgbClr val="000000"/>
                </a:solidFill>
                <a:effectLst/>
                <a:latin typeface="inter-regular"/>
              </a:rPr>
              <a:t>  </a:t>
            </a:r>
          </a:p>
          <a:p>
            <a:pPr algn="just"/>
            <a:r>
              <a:rPr lang="en-IN" sz="1400" b="0" i="0" dirty="0">
                <a:solidFill>
                  <a:srgbClr val="000000"/>
                </a:solidFill>
                <a:effectLst/>
                <a:latin typeface="inter-regular"/>
              </a:rPr>
              <a:t>Connection con=</a:t>
            </a:r>
            <a:r>
              <a:rPr lang="en-IN" sz="1400" b="0" i="0" dirty="0" err="1">
                <a:solidFill>
                  <a:srgbClr val="000000"/>
                </a:solidFill>
                <a:effectLst/>
                <a:latin typeface="inter-regular"/>
              </a:rPr>
              <a:t>DriverManager.getConnection</a:t>
            </a:r>
            <a:r>
              <a:rPr lang="en-IN" sz="1400" b="0" i="0" dirty="0">
                <a:solidFill>
                  <a:srgbClr val="000000"/>
                </a:solidFill>
                <a:effectLst/>
                <a:latin typeface="inter-regular"/>
              </a:rPr>
              <a:t>(  </a:t>
            </a:r>
          </a:p>
          <a:p>
            <a:pPr algn="just"/>
            <a:r>
              <a:rPr lang="en-IN" sz="1400" b="0" i="0" dirty="0">
                <a:solidFill>
                  <a:srgbClr val="0000FF"/>
                </a:solidFill>
                <a:effectLst/>
                <a:latin typeface="inter-regular"/>
              </a:rPr>
              <a:t>"</a:t>
            </a:r>
            <a:r>
              <a:rPr lang="en-IN" sz="1400" b="0" i="0" dirty="0" err="1">
                <a:solidFill>
                  <a:srgbClr val="0000FF"/>
                </a:solidFill>
                <a:effectLst/>
                <a:latin typeface="inter-regular"/>
              </a:rPr>
              <a:t>jdbc:oracle:thin</a:t>
            </a:r>
            <a:r>
              <a:rPr lang="en-IN" sz="1400" b="0" i="0" dirty="0">
                <a:solidFill>
                  <a:srgbClr val="0000FF"/>
                </a:solidFill>
                <a:effectLst/>
                <a:latin typeface="inter-regular"/>
              </a:rPr>
              <a:t>:@localhost:1521:xe"</a:t>
            </a:r>
            <a:r>
              <a:rPr lang="en-IN" sz="1400" b="0" i="0" dirty="0">
                <a:solidFill>
                  <a:srgbClr val="000000"/>
                </a:solidFill>
                <a:effectLst/>
                <a:latin typeface="inter-regular"/>
              </a:rPr>
              <a:t>,</a:t>
            </a:r>
            <a:r>
              <a:rPr lang="en-IN" sz="1400" b="0" i="0" dirty="0">
                <a:solidFill>
                  <a:srgbClr val="0000FF"/>
                </a:solidFill>
                <a:effectLst/>
                <a:latin typeface="inter-regular"/>
              </a:rPr>
              <a:t>"system"</a:t>
            </a:r>
            <a:r>
              <a:rPr lang="en-IN" sz="1400" b="0" i="0" dirty="0">
                <a:solidFill>
                  <a:srgbClr val="000000"/>
                </a:solidFill>
                <a:effectLst/>
                <a:latin typeface="inter-regular"/>
              </a:rPr>
              <a:t>,</a:t>
            </a:r>
            <a:r>
              <a:rPr lang="en-IN" sz="1400" b="0" i="0" dirty="0">
                <a:solidFill>
                  <a:srgbClr val="0000FF"/>
                </a:solidFill>
                <a:effectLst/>
                <a:latin typeface="inter-regular"/>
              </a:rPr>
              <a:t>"oracle"</a:t>
            </a:r>
            <a:r>
              <a:rPr lang="en-IN" sz="1400" b="0" i="0" dirty="0">
                <a:solidFill>
                  <a:srgbClr val="000000"/>
                </a:solidFill>
                <a:effectLst/>
                <a:latin typeface="inter-regular"/>
              </a:rPr>
              <a:t>);    </a:t>
            </a:r>
          </a:p>
          <a:p>
            <a:pPr algn="just"/>
            <a:r>
              <a:rPr lang="en-IN" sz="1400" b="0" i="0" dirty="0">
                <a:solidFill>
                  <a:srgbClr val="008200"/>
                </a:solidFill>
                <a:effectLst/>
                <a:latin typeface="inter-regular"/>
              </a:rPr>
              <a:t>//step3 create the statement object</a:t>
            </a:r>
            <a:r>
              <a:rPr lang="en-IN" sz="1400" b="0" i="0" dirty="0">
                <a:solidFill>
                  <a:srgbClr val="000000"/>
                </a:solidFill>
                <a:effectLst/>
                <a:latin typeface="inter-regular"/>
              </a:rPr>
              <a:t>  </a:t>
            </a:r>
          </a:p>
          <a:p>
            <a:pPr algn="just"/>
            <a:r>
              <a:rPr lang="en-IN" sz="1400" b="0" i="0" dirty="0">
                <a:solidFill>
                  <a:srgbClr val="000000"/>
                </a:solidFill>
                <a:effectLst/>
                <a:latin typeface="inter-regular"/>
              </a:rPr>
              <a:t>Statement </a:t>
            </a:r>
            <a:r>
              <a:rPr lang="en-IN" sz="1400" b="0" i="0" dirty="0" err="1">
                <a:solidFill>
                  <a:srgbClr val="000000"/>
                </a:solidFill>
                <a:effectLst/>
                <a:latin typeface="inter-regular"/>
              </a:rPr>
              <a:t>stmt</a:t>
            </a:r>
            <a:r>
              <a:rPr lang="en-IN" sz="1400" b="0" i="0" dirty="0">
                <a:solidFill>
                  <a:srgbClr val="000000"/>
                </a:solidFill>
                <a:effectLst/>
                <a:latin typeface="inter-regular"/>
              </a:rPr>
              <a:t>=</a:t>
            </a:r>
            <a:r>
              <a:rPr lang="en-IN" sz="1400" b="0" i="0" dirty="0" err="1">
                <a:solidFill>
                  <a:srgbClr val="000000"/>
                </a:solidFill>
                <a:effectLst/>
                <a:latin typeface="inter-regular"/>
              </a:rPr>
              <a:t>con.createStatement</a:t>
            </a:r>
            <a:r>
              <a:rPr lang="en-IN" sz="1400" b="0" i="0" dirty="0">
                <a:solidFill>
                  <a:srgbClr val="000000"/>
                </a:solidFill>
                <a:effectLst/>
                <a:latin typeface="inter-regular"/>
              </a:rPr>
              <a:t>();    </a:t>
            </a:r>
          </a:p>
          <a:p>
            <a:pPr algn="just"/>
            <a:r>
              <a:rPr lang="en-IN" sz="1400" b="0" i="0" dirty="0">
                <a:solidFill>
                  <a:srgbClr val="008200"/>
                </a:solidFill>
                <a:effectLst/>
                <a:latin typeface="inter-regular"/>
              </a:rPr>
              <a:t>//step4 execute query</a:t>
            </a:r>
            <a:r>
              <a:rPr lang="en-IN" sz="1400" b="0" i="0" dirty="0">
                <a:solidFill>
                  <a:srgbClr val="000000"/>
                </a:solidFill>
                <a:effectLst/>
                <a:latin typeface="inter-regular"/>
              </a:rPr>
              <a:t>  </a:t>
            </a:r>
          </a:p>
          <a:p>
            <a:pPr algn="just"/>
            <a:r>
              <a:rPr lang="en-IN" sz="1400" b="0" i="0" dirty="0" err="1">
                <a:solidFill>
                  <a:srgbClr val="000000"/>
                </a:solidFill>
                <a:effectLst/>
                <a:latin typeface="inter-regular"/>
              </a:rPr>
              <a:t>ResultSet</a:t>
            </a:r>
            <a:r>
              <a:rPr lang="en-IN" sz="1400" b="0" i="0" dirty="0">
                <a:solidFill>
                  <a:srgbClr val="000000"/>
                </a:solidFill>
                <a:effectLst/>
                <a:latin typeface="inter-regular"/>
              </a:rPr>
              <a:t> </a:t>
            </a:r>
            <a:r>
              <a:rPr lang="en-IN" sz="1400" b="0" i="0" dirty="0" err="1">
                <a:solidFill>
                  <a:srgbClr val="000000"/>
                </a:solidFill>
                <a:effectLst/>
                <a:latin typeface="inter-regular"/>
              </a:rPr>
              <a:t>rs</a:t>
            </a:r>
            <a:r>
              <a:rPr lang="en-IN" sz="1400" b="0" i="0" dirty="0">
                <a:solidFill>
                  <a:srgbClr val="000000"/>
                </a:solidFill>
                <a:effectLst/>
                <a:latin typeface="inter-regular"/>
              </a:rPr>
              <a:t>=</a:t>
            </a:r>
            <a:r>
              <a:rPr lang="en-IN" sz="1400" b="0" i="0" dirty="0" err="1">
                <a:solidFill>
                  <a:srgbClr val="000000"/>
                </a:solidFill>
                <a:effectLst/>
                <a:latin typeface="inter-regular"/>
              </a:rPr>
              <a:t>stmt.executeQuery</a:t>
            </a:r>
            <a:r>
              <a:rPr lang="en-IN" sz="1400" b="0" i="0" dirty="0">
                <a:solidFill>
                  <a:srgbClr val="000000"/>
                </a:solidFill>
                <a:effectLst/>
                <a:latin typeface="inter-regular"/>
              </a:rPr>
              <a:t>(</a:t>
            </a:r>
            <a:r>
              <a:rPr lang="en-IN" sz="1400" b="0" i="0" dirty="0">
                <a:solidFill>
                  <a:srgbClr val="0000FF"/>
                </a:solidFill>
                <a:effectLst/>
                <a:latin typeface="inter-regular"/>
              </a:rPr>
              <a:t>"select * from emp"</a:t>
            </a:r>
            <a:r>
              <a:rPr lang="en-IN" sz="1400" b="0" i="0" dirty="0">
                <a:solidFill>
                  <a:srgbClr val="000000"/>
                </a:solidFill>
                <a:effectLst/>
                <a:latin typeface="inter-regular"/>
              </a:rPr>
              <a:t>);  </a:t>
            </a:r>
          </a:p>
          <a:p>
            <a:pPr algn="just"/>
            <a:r>
              <a:rPr lang="en-IN" sz="1400" b="1" i="0" dirty="0">
                <a:solidFill>
                  <a:srgbClr val="006699"/>
                </a:solidFill>
                <a:effectLst/>
                <a:latin typeface="inter-regular"/>
              </a:rPr>
              <a:t>while</a:t>
            </a:r>
            <a:r>
              <a:rPr lang="en-IN" sz="1400" b="0" i="0" dirty="0">
                <a:solidFill>
                  <a:srgbClr val="000000"/>
                </a:solidFill>
                <a:effectLst/>
                <a:latin typeface="inter-regular"/>
              </a:rPr>
              <a:t>(</a:t>
            </a:r>
            <a:r>
              <a:rPr lang="en-IN" sz="1400" b="0" i="0" dirty="0" err="1">
                <a:solidFill>
                  <a:srgbClr val="000000"/>
                </a:solidFill>
                <a:effectLst/>
                <a:latin typeface="inter-regular"/>
              </a:rPr>
              <a:t>rs.next</a:t>
            </a:r>
            <a:r>
              <a:rPr lang="en-IN" sz="1400" b="0" i="0" dirty="0">
                <a:solidFill>
                  <a:srgbClr val="000000"/>
                </a:solidFill>
                <a:effectLst/>
                <a:latin typeface="inter-regular"/>
              </a:rPr>
              <a:t>())</a:t>
            </a:r>
          </a:p>
          <a:p>
            <a:pPr algn="just"/>
            <a:r>
              <a:rPr lang="en-IN" sz="1400" b="0" i="0" dirty="0" err="1">
                <a:solidFill>
                  <a:srgbClr val="000000"/>
                </a:solidFill>
                <a:effectLst/>
                <a:latin typeface="inter-regular"/>
              </a:rPr>
              <a:t>System.out.println</a:t>
            </a:r>
            <a:r>
              <a:rPr lang="en-IN" sz="1400" b="0" i="0" dirty="0">
                <a:solidFill>
                  <a:srgbClr val="000000"/>
                </a:solidFill>
                <a:effectLst/>
                <a:latin typeface="inter-regular"/>
              </a:rPr>
              <a:t>(</a:t>
            </a:r>
            <a:r>
              <a:rPr lang="en-IN" sz="1400" b="0" i="0" dirty="0" err="1">
                <a:solidFill>
                  <a:srgbClr val="000000"/>
                </a:solidFill>
                <a:effectLst/>
                <a:latin typeface="inter-regular"/>
              </a:rPr>
              <a:t>rs.getInt</a:t>
            </a:r>
            <a:r>
              <a:rPr lang="en-IN" sz="1400" b="0" i="0" dirty="0">
                <a:solidFill>
                  <a:srgbClr val="000000"/>
                </a:solidFill>
                <a:effectLst/>
                <a:latin typeface="inter-regular"/>
              </a:rPr>
              <a:t>(</a:t>
            </a:r>
            <a:r>
              <a:rPr lang="en-IN" sz="1400" b="0" i="0" dirty="0">
                <a:solidFill>
                  <a:srgbClr val="C00000"/>
                </a:solidFill>
                <a:effectLst/>
                <a:latin typeface="inter-regular"/>
              </a:rPr>
              <a:t>1</a:t>
            </a:r>
            <a:r>
              <a:rPr lang="en-IN" sz="1400" b="0" i="0" dirty="0">
                <a:solidFill>
                  <a:srgbClr val="000000"/>
                </a:solidFill>
                <a:effectLst/>
                <a:latin typeface="inter-regular"/>
              </a:rPr>
              <a:t>)+</a:t>
            </a:r>
            <a:r>
              <a:rPr lang="en-IN" sz="1400" b="0" i="0" dirty="0">
                <a:solidFill>
                  <a:srgbClr val="0000FF"/>
                </a:solidFill>
                <a:effectLst/>
                <a:latin typeface="inter-regular"/>
              </a:rPr>
              <a:t>"  "</a:t>
            </a:r>
            <a:r>
              <a:rPr lang="en-IN" sz="1400" b="0" i="0" dirty="0">
                <a:solidFill>
                  <a:srgbClr val="000000"/>
                </a:solidFill>
                <a:effectLst/>
                <a:latin typeface="inter-regular"/>
              </a:rPr>
              <a:t>+</a:t>
            </a:r>
            <a:r>
              <a:rPr lang="en-IN" sz="1400" b="0" i="0" dirty="0" err="1">
                <a:solidFill>
                  <a:srgbClr val="000000"/>
                </a:solidFill>
                <a:effectLst/>
                <a:latin typeface="inter-regular"/>
              </a:rPr>
              <a:t>rs.getString</a:t>
            </a:r>
            <a:r>
              <a:rPr lang="en-IN" sz="1400" b="0" i="0" dirty="0">
                <a:solidFill>
                  <a:srgbClr val="000000"/>
                </a:solidFill>
                <a:effectLst/>
                <a:latin typeface="inter-regular"/>
              </a:rPr>
              <a:t>(</a:t>
            </a:r>
            <a:r>
              <a:rPr lang="en-IN" sz="1400" b="0" i="0" dirty="0">
                <a:solidFill>
                  <a:srgbClr val="C00000"/>
                </a:solidFill>
                <a:effectLst/>
                <a:latin typeface="inter-regular"/>
              </a:rPr>
              <a:t>2</a:t>
            </a:r>
            <a:r>
              <a:rPr lang="en-IN" sz="1400" b="0" i="0" dirty="0">
                <a:solidFill>
                  <a:srgbClr val="000000"/>
                </a:solidFill>
                <a:effectLst/>
                <a:latin typeface="inter-regular"/>
              </a:rPr>
              <a:t>)+</a:t>
            </a:r>
            <a:r>
              <a:rPr lang="en-IN" sz="1400" b="0" i="0" dirty="0">
                <a:solidFill>
                  <a:srgbClr val="0000FF"/>
                </a:solidFill>
                <a:effectLst/>
                <a:latin typeface="inter-regular"/>
              </a:rPr>
              <a:t>"  "</a:t>
            </a:r>
            <a:r>
              <a:rPr lang="en-IN" sz="1400" b="0" i="0" dirty="0">
                <a:solidFill>
                  <a:srgbClr val="000000"/>
                </a:solidFill>
                <a:effectLst/>
                <a:latin typeface="inter-regular"/>
              </a:rPr>
              <a:t>+</a:t>
            </a:r>
            <a:r>
              <a:rPr lang="en-IN" sz="1400" b="0" i="0" dirty="0" err="1">
                <a:solidFill>
                  <a:srgbClr val="000000"/>
                </a:solidFill>
                <a:effectLst/>
                <a:latin typeface="inter-regular"/>
              </a:rPr>
              <a:t>rs.getString</a:t>
            </a:r>
            <a:r>
              <a:rPr lang="en-IN" sz="1400" b="0" i="0" dirty="0">
                <a:solidFill>
                  <a:srgbClr val="000000"/>
                </a:solidFill>
                <a:effectLst/>
                <a:latin typeface="inter-regular"/>
              </a:rPr>
              <a:t>(</a:t>
            </a:r>
            <a:r>
              <a:rPr lang="en-IN" sz="1400" b="0" i="0" dirty="0">
                <a:solidFill>
                  <a:srgbClr val="C00000"/>
                </a:solidFill>
                <a:effectLst/>
                <a:latin typeface="inter-regular"/>
              </a:rPr>
              <a:t>3</a:t>
            </a:r>
            <a:r>
              <a:rPr lang="en-IN" sz="1400" b="0" i="0" dirty="0">
                <a:solidFill>
                  <a:srgbClr val="000000"/>
                </a:solidFill>
                <a:effectLst/>
                <a:latin typeface="inter-regular"/>
              </a:rPr>
              <a:t>));    </a:t>
            </a:r>
          </a:p>
          <a:p>
            <a:pPr algn="just"/>
            <a:r>
              <a:rPr lang="en-IN" sz="1400" b="0" i="0" dirty="0">
                <a:solidFill>
                  <a:srgbClr val="008200"/>
                </a:solidFill>
                <a:effectLst/>
                <a:latin typeface="inter-regular"/>
              </a:rPr>
              <a:t>//step5 close the connection object</a:t>
            </a:r>
            <a:r>
              <a:rPr lang="en-IN" sz="1400" b="0" i="0" dirty="0">
                <a:solidFill>
                  <a:srgbClr val="000000"/>
                </a:solidFill>
                <a:effectLst/>
                <a:latin typeface="inter-regular"/>
              </a:rPr>
              <a:t>  </a:t>
            </a:r>
          </a:p>
          <a:p>
            <a:pPr algn="just"/>
            <a:r>
              <a:rPr lang="en-IN" sz="1400" b="0" i="0" dirty="0" err="1">
                <a:solidFill>
                  <a:srgbClr val="000000"/>
                </a:solidFill>
                <a:effectLst/>
                <a:latin typeface="inter-regular"/>
              </a:rPr>
              <a:t>con.close</a:t>
            </a:r>
            <a:r>
              <a:rPr lang="en-IN" sz="1400" b="0" i="0" dirty="0">
                <a:solidFill>
                  <a:srgbClr val="000000"/>
                </a:solidFill>
                <a:effectLst/>
                <a:latin typeface="inter-regular"/>
              </a:rPr>
              <a:t>();    </a:t>
            </a:r>
          </a:p>
          <a:p>
            <a:pPr algn="just"/>
            <a:r>
              <a:rPr lang="en-IN" sz="1400" b="0" i="0" dirty="0">
                <a:solidFill>
                  <a:srgbClr val="000000"/>
                </a:solidFill>
                <a:effectLst/>
                <a:latin typeface="inter-regular"/>
              </a:rPr>
              <a:t>}</a:t>
            </a:r>
          </a:p>
          <a:p>
            <a:pPr algn="just"/>
            <a:r>
              <a:rPr lang="en-IN" sz="1400" b="1" i="0" dirty="0">
                <a:solidFill>
                  <a:srgbClr val="006699"/>
                </a:solidFill>
                <a:effectLst/>
                <a:latin typeface="inter-regular"/>
              </a:rPr>
              <a:t>catch</a:t>
            </a:r>
            <a:r>
              <a:rPr lang="en-IN" sz="1400" b="0" i="0" dirty="0">
                <a:solidFill>
                  <a:srgbClr val="000000"/>
                </a:solidFill>
                <a:effectLst/>
                <a:latin typeface="inter-regular"/>
              </a:rPr>
              <a:t>(Exception e){ </a:t>
            </a:r>
            <a:r>
              <a:rPr lang="en-IN" sz="1400" b="0" i="0" dirty="0" err="1">
                <a:solidFill>
                  <a:srgbClr val="000000"/>
                </a:solidFill>
                <a:effectLst/>
                <a:latin typeface="inter-regular"/>
              </a:rPr>
              <a:t>System.out.println</a:t>
            </a:r>
            <a:r>
              <a:rPr lang="en-IN" sz="1400" b="0" i="0" dirty="0">
                <a:solidFill>
                  <a:srgbClr val="000000"/>
                </a:solidFill>
                <a:effectLst/>
                <a:latin typeface="inter-regular"/>
              </a:rPr>
              <a:t>(e);}</a:t>
            </a:r>
          </a:p>
          <a:p>
            <a:pPr algn="just"/>
            <a:r>
              <a:rPr lang="en-IN" sz="1400" b="0" i="0" dirty="0">
                <a:solidFill>
                  <a:srgbClr val="000000"/>
                </a:solidFill>
                <a:effectLst/>
                <a:latin typeface="inter-regular"/>
              </a:rPr>
              <a:t>}  </a:t>
            </a:r>
          </a:p>
          <a:p>
            <a:pPr algn="just"/>
            <a:r>
              <a:rPr lang="en-IN" sz="1400" b="0" i="0" dirty="0">
                <a:solidFill>
                  <a:srgbClr val="000000"/>
                </a:solidFill>
                <a:effectLst/>
                <a:latin typeface="inter-regular"/>
              </a:rPr>
              <a:t>}  </a:t>
            </a:r>
          </a:p>
        </p:txBody>
      </p:sp>
    </p:spTree>
    <p:extLst>
      <p:ext uri="{BB962C8B-B14F-4D97-AF65-F5344CB8AC3E}">
        <p14:creationId xmlns:p14="http://schemas.microsoft.com/office/powerpoint/2010/main" val="42941130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645004" y="1752600"/>
            <a:ext cx="11811000" cy="381515"/>
          </a:xfrm>
          <a:prstGeom prst="rect">
            <a:avLst/>
          </a:prstGeom>
        </p:spPr>
        <p:txBody>
          <a:bodyPr vert="horz" wrap="square" lIns="0" tIns="12065" rIns="0" bIns="0" rtlCol="0">
            <a:spAutoFit/>
          </a:bodyPr>
          <a:lstStyle/>
          <a:p>
            <a:pPr marL="2755265">
              <a:spcBef>
                <a:spcPts val="95"/>
              </a:spcBef>
            </a:pPr>
            <a:r>
              <a:rPr lang="en-US" sz="2400" b="1" dirty="0">
                <a:solidFill>
                  <a:schemeClr val="tx1">
                    <a:lumMod val="95000"/>
                    <a:lumOff val="5000"/>
                  </a:schemeClr>
                </a:solidFill>
                <a:effectLst/>
                <a:latin typeface="tahoma" panose="020B0604030504040204" pitchFamily="34" charset="0"/>
              </a:rPr>
              <a:t>Example to Connect Java Application with MySQL database</a:t>
            </a:r>
            <a:endParaRPr lang="en-US" sz="2400" b="1" spc="-50" dirty="0">
              <a:solidFill>
                <a:schemeClr val="tx1">
                  <a:lumMod val="95000"/>
                  <a:lumOff val="5000"/>
                </a:schemeClr>
              </a:solidFill>
            </a:endParaRPr>
          </a:p>
        </p:txBody>
      </p:sp>
      <p:pic>
        <p:nvPicPr>
          <p:cNvPr id="3" name="object 3"/>
          <p:cNvPicPr/>
          <p:nvPr/>
        </p:nvPicPr>
        <p:blipFill>
          <a:blip r:embed="rId2" cstate="print"/>
          <a:stretch>
            <a:fillRect/>
          </a:stretch>
        </p:blipFill>
        <p:spPr>
          <a:xfrm>
            <a:off x="8317992" y="6031991"/>
            <a:ext cx="609600" cy="609599"/>
          </a:xfrm>
          <a:prstGeom prst="rect">
            <a:avLst/>
          </a:prstGeom>
        </p:spPr>
      </p:pic>
      <p:sp>
        <p:nvSpPr>
          <p:cNvPr id="4" name="object 4"/>
          <p:cNvSpPr txBox="1"/>
          <p:nvPr/>
        </p:nvSpPr>
        <p:spPr>
          <a:xfrm>
            <a:off x="294843" y="2771013"/>
            <a:ext cx="8554085" cy="869469"/>
          </a:xfrm>
          <a:prstGeom prst="rect">
            <a:avLst/>
          </a:prstGeom>
        </p:spPr>
        <p:txBody>
          <a:bodyPr vert="horz" wrap="square" lIns="0" tIns="12700" rIns="0" bIns="0" rtlCol="0">
            <a:spAutoFit/>
          </a:bodyPr>
          <a:lstStyle/>
          <a:p>
            <a:pPr marL="2540" algn="just">
              <a:spcBef>
                <a:spcPts val="100"/>
              </a:spcBef>
              <a:buSzPct val="94444"/>
              <a:tabLst>
                <a:tab pos="91440" algn="l"/>
              </a:tabLst>
            </a:pPr>
            <a:endParaRPr lang="en-US" b="0" i="0" dirty="0">
              <a:solidFill>
                <a:srgbClr val="610B38"/>
              </a:solidFill>
              <a:effectLst/>
              <a:highlight>
                <a:srgbClr val="FFFFFF"/>
              </a:highlight>
              <a:latin typeface="erdana"/>
            </a:endParaRPr>
          </a:p>
          <a:p>
            <a:pPr marL="2540" algn="just">
              <a:spcBef>
                <a:spcPts val="100"/>
              </a:spcBef>
              <a:buSzPct val="94444"/>
              <a:tabLst>
                <a:tab pos="91440" algn="l"/>
              </a:tabLst>
            </a:pPr>
            <a:endParaRPr lang="en-US" b="0" i="0" dirty="0">
              <a:solidFill>
                <a:srgbClr val="610B38"/>
              </a:solidFill>
              <a:effectLst/>
              <a:highlight>
                <a:srgbClr val="FFFFFF"/>
              </a:highlight>
              <a:latin typeface="erdana"/>
            </a:endParaRPr>
          </a:p>
          <a:p>
            <a:pPr marL="2540">
              <a:lnSpc>
                <a:spcPct val="100000"/>
              </a:lnSpc>
              <a:spcBef>
                <a:spcPts val="100"/>
              </a:spcBef>
              <a:buSzPct val="94444"/>
              <a:tabLst>
                <a:tab pos="91440" algn="l"/>
              </a:tabLst>
            </a:pPr>
            <a:endParaRPr sz="1800" dirty="0">
              <a:latin typeface="Arial MT"/>
              <a:cs typeface="Arial MT"/>
            </a:endParaRPr>
          </a:p>
        </p:txBody>
      </p:sp>
      <p:sp>
        <p:nvSpPr>
          <p:cNvPr id="5" name="TextBox 4">
            <a:extLst>
              <a:ext uri="{FF2B5EF4-FFF2-40B4-BE49-F238E27FC236}">
                <a16:creationId xmlns:a16="http://schemas.microsoft.com/office/drawing/2014/main" id="{D8535420-4CD1-6CE5-66C1-318A4F1DD5CB}"/>
              </a:ext>
            </a:extLst>
          </p:cNvPr>
          <p:cNvSpPr txBox="1"/>
          <p:nvPr/>
        </p:nvSpPr>
        <p:spPr>
          <a:xfrm>
            <a:off x="533400" y="2590800"/>
            <a:ext cx="8229600" cy="3754874"/>
          </a:xfrm>
          <a:prstGeom prst="rect">
            <a:avLst/>
          </a:prstGeom>
          <a:noFill/>
        </p:spPr>
        <p:txBody>
          <a:bodyPr wrap="square" rtlCol="0">
            <a:spAutoFit/>
          </a:bodyPr>
          <a:lstStyle/>
          <a:p>
            <a:pPr marL="342900" indent="-342900" algn="just">
              <a:buFont typeface="+mj-lt"/>
              <a:buAutoNum type="arabicPeriod"/>
            </a:pPr>
            <a:r>
              <a:rPr lang="en-US" sz="2000" b="1" i="0" dirty="0">
                <a:solidFill>
                  <a:srgbClr val="000000"/>
                </a:solidFill>
                <a:effectLst/>
                <a:highlight>
                  <a:srgbClr val="FFFFFF"/>
                </a:highlight>
                <a:latin typeface="inter-bold"/>
              </a:rPr>
              <a:t>Driver class: </a:t>
            </a:r>
            <a:r>
              <a:rPr lang="en-US" sz="2000" b="0" i="0" dirty="0">
                <a:solidFill>
                  <a:srgbClr val="000000"/>
                </a:solidFill>
                <a:effectLst/>
                <a:highlight>
                  <a:srgbClr val="FFFFFF"/>
                </a:highlight>
                <a:latin typeface="inter-regular"/>
              </a:rPr>
              <a:t>The driver class for the </a:t>
            </a:r>
            <a:r>
              <a:rPr lang="en-US" sz="2000" b="0" i="0" dirty="0" err="1">
                <a:solidFill>
                  <a:srgbClr val="000000"/>
                </a:solidFill>
                <a:effectLst/>
                <a:highlight>
                  <a:srgbClr val="FFFFFF"/>
                </a:highlight>
                <a:latin typeface="inter-regular"/>
              </a:rPr>
              <a:t>mysql</a:t>
            </a:r>
            <a:r>
              <a:rPr lang="en-US" sz="2000" b="0" i="0" dirty="0">
                <a:solidFill>
                  <a:srgbClr val="000000"/>
                </a:solidFill>
                <a:effectLst/>
                <a:highlight>
                  <a:srgbClr val="FFFFFF"/>
                </a:highlight>
                <a:latin typeface="inter-regular"/>
              </a:rPr>
              <a:t> database is </a:t>
            </a:r>
            <a:r>
              <a:rPr lang="en-US" sz="2000" b="1" dirty="0" err="1">
                <a:solidFill>
                  <a:srgbClr val="000000"/>
                </a:solidFill>
                <a:highlight>
                  <a:srgbClr val="FFFFFF"/>
                </a:highlight>
                <a:latin typeface="inter-bold"/>
              </a:rPr>
              <a:t>com.mysql.jdbc.</a:t>
            </a:r>
            <a:r>
              <a:rPr lang="en-US" sz="2000" b="1" i="0" dirty="0" err="1">
                <a:solidFill>
                  <a:srgbClr val="000000"/>
                </a:solidFill>
                <a:effectLst/>
                <a:highlight>
                  <a:srgbClr val="FFFFFF"/>
                </a:highlight>
                <a:latin typeface="inter-bold"/>
              </a:rPr>
              <a:t>Driver</a:t>
            </a:r>
            <a:r>
              <a:rPr lang="en-US" sz="2000" b="0" i="0" dirty="0">
                <a:solidFill>
                  <a:srgbClr val="000000"/>
                </a:solidFill>
                <a:effectLst/>
                <a:highlight>
                  <a:srgbClr val="FFFFFF"/>
                </a:highlight>
                <a:latin typeface="inter-regular"/>
              </a:rPr>
              <a:t>.</a:t>
            </a:r>
          </a:p>
          <a:p>
            <a:pPr marL="342900" indent="-342900" algn="just">
              <a:buFont typeface="+mj-lt"/>
              <a:buAutoNum type="arabicPeriod"/>
            </a:pPr>
            <a:r>
              <a:rPr lang="en-US" sz="2000" b="1" i="0" dirty="0">
                <a:solidFill>
                  <a:srgbClr val="000000"/>
                </a:solidFill>
                <a:effectLst/>
                <a:highlight>
                  <a:srgbClr val="FFFFFF"/>
                </a:highlight>
                <a:latin typeface="inter-bold"/>
              </a:rPr>
              <a:t>Connection URL: </a:t>
            </a:r>
            <a:r>
              <a:rPr lang="en-US" sz="2000" b="0" i="0" dirty="0">
                <a:solidFill>
                  <a:srgbClr val="000000"/>
                </a:solidFill>
                <a:effectLst/>
                <a:highlight>
                  <a:srgbClr val="FFFFFF"/>
                </a:highlight>
                <a:latin typeface="inter-regular"/>
              </a:rPr>
              <a:t>The connection URL for the </a:t>
            </a:r>
            <a:r>
              <a:rPr lang="en-US" sz="2000" b="0" i="0" dirty="0" err="1">
                <a:solidFill>
                  <a:srgbClr val="000000"/>
                </a:solidFill>
                <a:effectLst/>
                <a:highlight>
                  <a:srgbClr val="FFFFFF"/>
                </a:highlight>
                <a:latin typeface="inter-regular"/>
              </a:rPr>
              <a:t>mysql</a:t>
            </a:r>
            <a:r>
              <a:rPr lang="en-US" sz="2000" b="0" i="0" dirty="0">
                <a:solidFill>
                  <a:srgbClr val="000000"/>
                </a:solidFill>
                <a:effectLst/>
                <a:highlight>
                  <a:srgbClr val="FFFFFF"/>
                </a:highlight>
                <a:latin typeface="inter-regular"/>
              </a:rPr>
              <a:t> database is </a:t>
            </a:r>
            <a:r>
              <a:rPr lang="en-US" sz="2000" b="1" i="0" dirty="0" err="1">
                <a:solidFill>
                  <a:srgbClr val="000000"/>
                </a:solidFill>
                <a:effectLst/>
                <a:highlight>
                  <a:srgbClr val="FFFFFF"/>
                </a:highlight>
                <a:latin typeface="inter-bold"/>
              </a:rPr>
              <a:t>jdbc:</a:t>
            </a:r>
            <a:r>
              <a:rPr lang="en-US" sz="2000" b="1" dirty="0" err="1">
                <a:solidFill>
                  <a:srgbClr val="000000"/>
                </a:solidFill>
                <a:highlight>
                  <a:srgbClr val="FFFFFF"/>
                </a:highlight>
                <a:latin typeface="inter-bold"/>
              </a:rPr>
              <a:t>mysql</a:t>
            </a:r>
            <a:r>
              <a:rPr lang="en-US" sz="2000" b="1" dirty="0">
                <a:solidFill>
                  <a:srgbClr val="000000"/>
                </a:solidFill>
                <a:highlight>
                  <a:srgbClr val="FFFFFF"/>
                </a:highlight>
                <a:latin typeface="inter-bold"/>
              </a:rPr>
              <a:t>://</a:t>
            </a:r>
            <a:r>
              <a:rPr lang="en-US" sz="2000" b="1" i="0" dirty="0">
                <a:solidFill>
                  <a:srgbClr val="000000"/>
                </a:solidFill>
                <a:effectLst/>
                <a:highlight>
                  <a:srgbClr val="FFFFFF"/>
                </a:highlight>
                <a:latin typeface="inter-bold"/>
              </a:rPr>
              <a:t>localhost:3306/</a:t>
            </a:r>
            <a:r>
              <a:rPr lang="en-US" sz="2000" b="1" i="0" dirty="0" err="1">
                <a:solidFill>
                  <a:srgbClr val="000000"/>
                </a:solidFill>
                <a:effectLst/>
                <a:highlight>
                  <a:srgbClr val="FFFFFF"/>
                </a:highlight>
                <a:latin typeface="inter-bold"/>
              </a:rPr>
              <a:t>sonoo</a:t>
            </a:r>
            <a:r>
              <a:rPr lang="en-US" sz="2000" b="0" i="0" dirty="0">
                <a:solidFill>
                  <a:srgbClr val="000000"/>
                </a:solidFill>
                <a:effectLst/>
                <a:highlight>
                  <a:srgbClr val="FFFFFF"/>
                </a:highlight>
                <a:latin typeface="inter-regular"/>
              </a:rPr>
              <a:t> where </a:t>
            </a:r>
            <a:r>
              <a:rPr lang="en-US" sz="2000" b="0" i="0" dirty="0" err="1">
                <a:solidFill>
                  <a:srgbClr val="000000"/>
                </a:solidFill>
                <a:effectLst/>
                <a:highlight>
                  <a:srgbClr val="FFFFFF"/>
                </a:highlight>
                <a:latin typeface="inter-regular"/>
              </a:rPr>
              <a:t>jdbc</a:t>
            </a:r>
            <a:r>
              <a:rPr lang="en-US" sz="2000" b="0" i="0" dirty="0">
                <a:solidFill>
                  <a:srgbClr val="000000"/>
                </a:solidFill>
                <a:effectLst/>
                <a:highlight>
                  <a:srgbClr val="FFFFFF"/>
                </a:highlight>
                <a:latin typeface="inter-regular"/>
              </a:rPr>
              <a:t> is the API, </a:t>
            </a:r>
            <a:r>
              <a:rPr lang="en-US" sz="2000" b="0" i="0" dirty="0" err="1">
                <a:solidFill>
                  <a:srgbClr val="000000"/>
                </a:solidFill>
                <a:effectLst/>
                <a:highlight>
                  <a:srgbClr val="FFFFFF"/>
                </a:highlight>
                <a:latin typeface="inter-regular"/>
              </a:rPr>
              <a:t>mysql</a:t>
            </a:r>
            <a:r>
              <a:rPr lang="en-US" sz="2000" b="0" i="0" dirty="0">
                <a:solidFill>
                  <a:srgbClr val="000000"/>
                </a:solidFill>
                <a:effectLst/>
                <a:highlight>
                  <a:srgbClr val="FFFFFF"/>
                </a:highlight>
                <a:latin typeface="inter-regular"/>
              </a:rPr>
              <a:t> is the database, localhost is the server name on which </a:t>
            </a:r>
            <a:r>
              <a:rPr lang="en-US" sz="2000" b="0" i="0" dirty="0" err="1">
                <a:solidFill>
                  <a:srgbClr val="000000"/>
                </a:solidFill>
                <a:effectLst/>
                <a:highlight>
                  <a:srgbClr val="FFFFFF"/>
                </a:highlight>
                <a:latin typeface="inter-regular"/>
              </a:rPr>
              <a:t>mysql</a:t>
            </a:r>
            <a:r>
              <a:rPr lang="en-US" sz="2000" b="0" i="0" dirty="0">
                <a:solidFill>
                  <a:srgbClr val="000000"/>
                </a:solidFill>
                <a:effectLst/>
                <a:highlight>
                  <a:srgbClr val="FFFFFF"/>
                </a:highlight>
                <a:latin typeface="inter-regular"/>
              </a:rPr>
              <a:t> is running, we may also use IP address, 3306 is the port number and </a:t>
            </a:r>
            <a:r>
              <a:rPr lang="en-US" sz="2000" b="0" i="0" dirty="0" err="1">
                <a:solidFill>
                  <a:srgbClr val="000000"/>
                </a:solidFill>
                <a:effectLst/>
                <a:highlight>
                  <a:srgbClr val="FFFFFF"/>
                </a:highlight>
                <a:latin typeface="inter-regular"/>
              </a:rPr>
              <a:t>sonoo</a:t>
            </a:r>
            <a:r>
              <a:rPr lang="en-US" sz="2000" b="0" i="0" dirty="0">
                <a:solidFill>
                  <a:srgbClr val="000000"/>
                </a:solidFill>
                <a:effectLst/>
                <a:highlight>
                  <a:srgbClr val="FFFFFF"/>
                </a:highlight>
                <a:latin typeface="inter-regular"/>
              </a:rPr>
              <a:t> is the database name. </a:t>
            </a:r>
            <a:r>
              <a:rPr lang="en-US" sz="2000" dirty="0">
                <a:solidFill>
                  <a:srgbClr val="000000"/>
                </a:solidFill>
                <a:highlight>
                  <a:srgbClr val="FFFFFF"/>
                </a:highlight>
                <a:latin typeface="inter-regular"/>
              </a:rPr>
              <a:t>we</a:t>
            </a:r>
            <a:r>
              <a:rPr lang="en-US" sz="2000" b="0" i="0" dirty="0">
                <a:solidFill>
                  <a:srgbClr val="000000"/>
                </a:solidFill>
                <a:effectLst/>
                <a:highlight>
                  <a:srgbClr val="FFFFFF"/>
                </a:highlight>
                <a:latin typeface="inter-regular"/>
              </a:rPr>
              <a:t> may use any database, in such case, we need to replace the </a:t>
            </a:r>
            <a:r>
              <a:rPr lang="en-US" sz="2000" b="0" i="0" dirty="0" err="1">
                <a:solidFill>
                  <a:srgbClr val="000000"/>
                </a:solidFill>
                <a:effectLst/>
                <a:highlight>
                  <a:srgbClr val="FFFFFF"/>
                </a:highlight>
                <a:latin typeface="inter-regular"/>
              </a:rPr>
              <a:t>sonoo</a:t>
            </a:r>
            <a:r>
              <a:rPr lang="en-US" sz="2000" b="0" i="0" dirty="0">
                <a:solidFill>
                  <a:srgbClr val="000000"/>
                </a:solidFill>
                <a:effectLst/>
                <a:highlight>
                  <a:srgbClr val="FFFFFF"/>
                </a:highlight>
                <a:latin typeface="inter-regular"/>
              </a:rPr>
              <a:t> with our database name. </a:t>
            </a:r>
          </a:p>
          <a:p>
            <a:pPr marL="342900" indent="-342900" algn="just">
              <a:buFont typeface="+mj-lt"/>
              <a:buAutoNum type="arabicPeriod"/>
            </a:pPr>
            <a:r>
              <a:rPr lang="en-US" sz="2000" b="1" i="0" dirty="0">
                <a:solidFill>
                  <a:srgbClr val="000000"/>
                </a:solidFill>
                <a:effectLst/>
                <a:highlight>
                  <a:srgbClr val="FFFFFF"/>
                </a:highlight>
                <a:latin typeface="inter-bold"/>
              </a:rPr>
              <a:t>Username: </a:t>
            </a:r>
            <a:r>
              <a:rPr lang="en-US" sz="2000" b="0" i="0" dirty="0">
                <a:solidFill>
                  <a:srgbClr val="000000"/>
                </a:solidFill>
                <a:effectLst/>
                <a:highlight>
                  <a:srgbClr val="FFFFFF"/>
                </a:highlight>
                <a:latin typeface="inter-regular"/>
              </a:rPr>
              <a:t>The default username for the </a:t>
            </a:r>
            <a:r>
              <a:rPr lang="en-US" sz="2000" b="0" i="0" dirty="0" err="1">
                <a:solidFill>
                  <a:srgbClr val="000000"/>
                </a:solidFill>
                <a:effectLst/>
                <a:highlight>
                  <a:srgbClr val="FFFFFF"/>
                </a:highlight>
                <a:latin typeface="inter-regular"/>
              </a:rPr>
              <a:t>mysql</a:t>
            </a:r>
            <a:r>
              <a:rPr lang="en-US" sz="2000" b="0" i="0" dirty="0">
                <a:solidFill>
                  <a:srgbClr val="000000"/>
                </a:solidFill>
                <a:effectLst/>
                <a:highlight>
                  <a:srgbClr val="FFFFFF"/>
                </a:highlight>
                <a:latin typeface="inter-regular"/>
              </a:rPr>
              <a:t> database is </a:t>
            </a:r>
            <a:r>
              <a:rPr lang="en-US" sz="2000" b="1" dirty="0">
                <a:solidFill>
                  <a:srgbClr val="000000"/>
                </a:solidFill>
                <a:highlight>
                  <a:srgbClr val="FFFFFF"/>
                </a:highlight>
                <a:latin typeface="inter-bold"/>
              </a:rPr>
              <a:t>root</a:t>
            </a:r>
            <a:r>
              <a:rPr lang="en-US" sz="2000" b="0" i="0" dirty="0">
                <a:solidFill>
                  <a:srgbClr val="000000"/>
                </a:solidFill>
                <a:effectLst/>
                <a:highlight>
                  <a:srgbClr val="FFFFFF"/>
                </a:highlight>
                <a:latin typeface="inter-regular"/>
              </a:rPr>
              <a:t>.</a:t>
            </a:r>
          </a:p>
          <a:p>
            <a:pPr marL="342900" indent="-342900" algn="just">
              <a:buFont typeface="+mj-lt"/>
              <a:buAutoNum type="arabicPeriod"/>
            </a:pPr>
            <a:r>
              <a:rPr lang="en-US" sz="2000" b="1" i="0" dirty="0">
                <a:solidFill>
                  <a:srgbClr val="000000"/>
                </a:solidFill>
                <a:effectLst/>
                <a:highlight>
                  <a:srgbClr val="FFFFFF"/>
                </a:highlight>
                <a:latin typeface="inter-bold"/>
              </a:rPr>
              <a:t>Password: </a:t>
            </a:r>
            <a:r>
              <a:rPr lang="en-US" sz="2000" b="0" i="0" dirty="0">
                <a:solidFill>
                  <a:srgbClr val="000000"/>
                </a:solidFill>
                <a:effectLst/>
                <a:highlight>
                  <a:srgbClr val="FFFFFF"/>
                </a:highlight>
                <a:latin typeface="inter-regular"/>
              </a:rPr>
              <a:t>It is the password given by the user at the time of installing the </a:t>
            </a:r>
            <a:r>
              <a:rPr lang="en-US" sz="2000" b="0" i="0" dirty="0" err="1">
                <a:solidFill>
                  <a:srgbClr val="000000"/>
                </a:solidFill>
                <a:effectLst/>
                <a:highlight>
                  <a:srgbClr val="FFFFFF"/>
                </a:highlight>
                <a:latin typeface="inter-regular"/>
              </a:rPr>
              <a:t>mysql</a:t>
            </a:r>
            <a:r>
              <a:rPr lang="en-US" sz="2000" b="0" i="0" dirty="0">
                <a:solidFill>
                  <a:srgbClr val="000000"/>
                </a:solidFill>
                <a:effectLst/>
                <a:highlight>
                  <a:srgbClr val="FFFFFF"/>
                </a:highlight>
                <a:latin typeface="inter-regular"/>
              </a:rPr>
              <a:t> database.</a:t>
            </a:r>
          </a:p>
          <a:p>
            <a:endParaRPr lang="en-IN" dirty="0"/>
          </a:p>
        </p:txBody>
      </p:sp>
    </p:spTree>
    <p:extLst>
      <p:ext uri="{BB962C8B-B14F-4D97-AF65-F5344CB8AC3E}">
        <p14:creationId xmlns:p14="http://schemas.microsoft.com/office/powerpoint/2010/main" val="185216457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737701" y="1784314"/>
            <a:ext cx="11887200" cy="381515"/>
          </a:xfrm>
          <a:prstGeom prst="rect">
            <a:avLst/>
          </a:prstGeom>
        </p:spPr>
        <p:txBody>
          <a:bodyPr vert="horz" wrap="square" lIns="0" tIns="12065" rIns="0" bIns="0" rtlCol="0">
            <a:spAutoFit/>
          </a:bodyPr>
          <a:lstStyle/>
          <a:p>
            <a:pPr marL="2755265">
              <a:spcBef>
                <a:spcPts val="95"/>
              </a:spcBef>
            </a:pPr>
            <a:r>
              <a:rPr lang="en-US" sz="2400" b="1" dirty="0">
                <a:solidFill>
                  <a:schemeClr val="tx1">
                    <a:lumMod val="95000"/>
                    <a:lumOff val="5000"/>
                  </a:schemeClr>
                </a:solidFill>
                <a:effectLst/>
                <a:latin typeface="tahoma" panose="020B0604030504040204" pitchFamily="34" charset="0"/>
              </a:rPr>
              <a:t>Example to Connect Java Application with </a:t>
            </a:r>
            <a:r>
              <a:rPr lang="en-US" sz="2400" b="1" dirty="0">
                <a:solidFill>
                  <a:schemeClr val="tx1">
                    <a:lumMod val="95000"/>
                    <a:lumOff val="5000"/>
                  </a:schemeClr>
                </a:solidFill>
                <a:latin typeface="tahoma" panose="020B0604030504040204" pitchFamily="34" charset="0"/>
              </a:rPr>
              <a:t>MySQL</a:t>
            </a:r>
            <a:r>
              <a:rPr lang="en-US" sz="2400" b="1" dirty="0">
                <a:solidFill>
                  <a:schemeClr val="tx1">
                    <a:lumMod val="95000"/>
                    <a:lumOff val="5000"/>
                  </a:schemeClr>
                </a:solidFill>
                <a:effectLst/>
                <a:latin typeface="tahoma" panose="020B0604030504040204" pitchFamily="34" charset="0"/>
              </a:rPr>
              <a:t> database</a:t>
            </a:r>
            <a:endParaRPr lang="en-US" sz="2400" b="1" spc="-50" dirty="0">
              <a:solidFill>
                <a:schemeClr val="tx1">
                  <a:lumMod val="95000"/>
                  <a:lumOff val="5000"/>
                </a:schemeClr>
              </a:solidFill>
            </a:endParaRPr>
          </a:p>
        </p:txBody>
      </p:sp>
      <p:pic>
        <p:nvPicPr>
          <p:cNvPr id="3" name="object 3"/>
          <p:cNvPicPr/>
          <p:nvPr/>
        </p:nvPicPr>
        <p:blipFill>
          <a:blip r:embed="rId2" cstate="print"/>
          <a:stretch>
            <a:fillRect/>
          </a:stretch>
        </p:blipFill>
        <p:spPr>
          <a:xfrm>
            <a:off x="8317992" y="6031991"/>
            <a:ext cx="609600" cy="609599"/>
          </a:xfrm>
          <a:prstGeom prst="rect">
            <a:avLst/>
          </a:prstGeom>
        </p:spPr>
      </p:pic>
      <p:sp>
        <p:nvSpPr>
          <p:cNvPr id="4" name="object 4"/>
          <p:cNvSpPr txBox="1"/>
          <p:nvPr/>
        </p:nvSpPr>
        <p:spPr>
          <a:xfrm>
            <a:off x="294843" y="2771013"/>
            <a:ext cx="8554085" cy="869469"/>
          </a:xfrm>
          <a:prstGeom prst="rect">
            <a:avLst/>
          </a:prstGeom>
        </p:spPr>
        <p:txBody>
          <a:bodyPr vert="horz" wrap="square" lIns="0" tIns="12700" rIns="0" bIns="0" rtlCol="0">
            <a:spAutoFit/>
          </a:bodyPr>
          <a:lstStyle/>
          <a:p>
            <a:pPr marL="2540" algn="just">
              <a:spcBef>
                <a:spcPts val="100"/>
              </a:spcBef>
              <a:buSzPct val="94444"/>
              <a:tabLst>
                <a:tab pos="91440" algn="l"/>
              </a:tabLst>
            </a:pPr>
            <a:endParaRPr lang="en-US" b="0" i="0" dirty="0">
              <a:solidFill>
                <a:srgbClr val="610B38"/>
              </a:solidFill>
              <a:effectLst/>
              <a:highlight>
                <a:srgbClr val="FFFFFF"/>
              </a:highlight>
              <a:latin typeface="erdana"/>
            </a:endParaRPr>
          </a:p>
          <a:p>
            <a:pPr marL="2540" algn="just">
              <a:spcBef>
                <a:spcPts val="100"/>
              </a:spcBef>
              <a:buSzPct val="94444"/>
              <a:tabLst>
                <a:tab pos="91440" algn="l"/>
              </a:tabLst>
            </a:pPr>
            <a:endParaRPr lang="en-US" b="0" i="0" dirty="0">
              <a:solidFill>
                <a:srgbClr val="610B38"/>
              </a:solidFill>
              <a:effectLst/>
              <a:highlight>
                <a:srgbClr val="FFFFFF"/>
              </a:highlight>
              <a:latin typeface="erdana"/>
            </a:endParaRPr>
          </a:p>
          <a:p>
            <a:pPr marL="2540">
              <a:lnSpc>
                <a:spcPct val="100000"/>
              </a:lnSpc>
              <a:spcBef>
                <a:spcPts val="100"/>
              </a:spcBef>
              <a:buSzPct val="94444"/>
              <a:tabLst>
                <a:tab pos="91440" algn="l"/>
              </a:tabLst>
            </a:pPr>
            <a:endParaRPr sz="1800" dirty="0">
              <a:latin typeface="Arial MT"/>
              <a:cs typeface="Arial MT"/>
            </a:endParaRPr>
          </a:p>
        </p:txBody>
      </p:sp>
      <p:sp>
        <p:nvSpPr>
          <p:cNvPr id="6" name="TextBox 5">
            <a:extLst>
              <a:ext uri="{FF2B5EF4-FFF2-40B4-BE49-F238E27FC236}">
                <a16:creationId xmlns:a16="http://schemas.microsoft.com/office/drawing/2014/main" id="{C0EEB7B1-CD13-41D5-318F-138DC3BE1DFD}"/>
              </a:ext>
            </a:extLst>
          </p:cNvPr>
          <p:cNvSpPr txBox="1"/>
          <p:nvPr/>
        </p:nvSpPr>
        <p:spPr>
          <a:xfrm>
            <a:off x="294843" y="2240385"/>
            <a:ext cx="8391957" cy="4524315"/>
          </a:xfrm>
          <a:prstGeom prst="rect">
            <a:avLst/>
          </a:prstGeom>
          <a:noFill/>
        </p:spPr>
        <p:txBody>
          <a:bodyPr wrap="square" rtlCol="0">
            <a:spAutoFit/>
          </a:bodyPr>
          <a:lstStyle/>
          <a:p>
            <a:pPr algn="just"/>
            <a:r>
              <a:rPr lang="en-IN" sz="1600" b="1" i="0" dirty="0">
                <a:solidFill>
                  <a:srgbClr val="006699"/>
                </a:solidFill>
                <a:effectLst/>
                <a:latin typeface="inter-regular"/>
              </a:rPr>
              <a:t>import</a:t>
            </a:r>
            <a:r>
              <a:rPr lang="en-IN" sz="1600" b="0" i="0" dirty="0">
                <a:solidFill>
                  <a:srgbClr val="000000"/>
                </a:solidFill>
                <a:effectLst/>
                <a:latin typeface="inter-regular"/>
              </a:rPr>
              <a:t> </a:t>
            </a:r>
            <a:r>
              <a:rPr lang="en-IN" sz="1600" b="0" i="0" dirty="0" err="1">
                <a:solidFill>
                  <a:srgbClr val="000000"/>
                </a:solidFill>
                <a:effectLst/>
                <a:latin typeface="inter-regular"/>
              </a:rPr>
              <a:t>java.sql</a:t>
            </a:r>
            <a:r>
              <a:rPr lang="en-IN" sz="1600" b="0" i="0" dirty="0">
                <a:solidFill>
                  <a:srgbClr val="000000"/>
                </a:solidFill>
                <a:effectLst/>
                <a:latin typeface="inter-regular"/>
              </a:rPr>
              <a:t>.*;  </a:t>
            </a:r>
          </a:p>
          <a:p>
            <a:pPr algn="just"/>
            <a:r>
              <a:rPr lang="en-IN" sz="1600" b="1" i="0" dirty="0">
                <a:solidFill>
                  <a:srgbClr val="006699"/>
                </a:solidFill>
                <a:effectLst/>
                <a:latin typeface="inter-regular"/>
              </a:rPr>
              <a:t>class</a:t>
            </a:r>
            <a:r>
              <a:rPr lang="en-IN" sz="1600" b="0" i="0" dirty="0">
                <a:solidFill>
                  <a:srgbClr val="000000"/>
                </a:solidFill>
                <a:effectLst/>
                <a:latin typeface="inter-regular"/>
              </a:rPr>
              <a:t> </a:t>
            </a:r>
            <a:r>
              <a:rPr lang="en-IN" sz="1600" dirty="0" err="1">
                <a:solidFill>
                  <a:srgbClr val="000000"/>
                </a:solidFill>
                <a:latin typeface="inter-regular"/>
              </a:rPr>
              <a:t>Mysql</a:t>
            </a:r>
            <a:r>
              <a:rPr lang="en-IN" sz="1600" b="0" i="0" dirty="0" err="1">
                <a:solidFill>
                  <a:srgbClr val="000000"/>
                </a:solidFill>
                <a:effectLst/>
                <a:latin typeface="inter-regular"/>
              </a:rPr>
              <a:t>Con</a:t>
            </a:r>
            <a:r>
              <a:rPr lang="en-IN" sz="1600" b="0" i="0" dirty="0">
                <a:solidFill>
                  <a:srgbClr val="000000"/>
                </a:solidFill>
                <a:effectLst/>
                <a:latin typeface="inter-regular"/>
              </a:rPr>
              <a:t>{  </a:t>
            </a:r>
          </a:p>
          <a:p>
            <a:pPr algn="just"/>
            <a:r>
              <a:rPr lang="en-IN" sz="1600" b="1" i="0" dirty="0">
                <a:solidFill>
                  <a:srgbClr val="006699"/>
                </a:solidFill>
                <a:effectLst/>
                <a:latin typeface="inter-regular"/>
              </a:rPr>
              <a:t>public</a:t>
            </a:r>
            <a:r>
              <a:rPr lang="en-IN" sz="1600" b="0" i="0" dirty="0">
                <a:solidFill>
                  <a:srgbClr val="000000"/>
                </a:solidFill>
                <a:effectLst/>
                <a:latin typeface="inter-regular"/>
              </a:rPr>
              <a:t> </a:t>
            </a:r>
            <a:r>
              <a:rPr lang="en-IN" sz="1600" b="1" i="0" dirty="0">
                <a:solidFill>
                  <a:srgbClr val="006699"/>
                </a:solidFill>
                <a:effectLst/>
                <a:latin typeface="inter-regular"/>
              </a:rPr>
              <a:t>static</a:t>
            </a:r>
            <a:r>
              <a:rPr lang="en-IN" sz="1600" b="0" i="0" dirty="0">
                <a:solidFill>
                  <a:srgbClr val="000000"/>
                </a:solidFill>
                <a:effectLst/>
                <a:latin typeface="inter-regular"/>
              </a:rPr>
              <a:t> </a:t>
            </a:r>
            <a:r>
              <a:rPr lang="en-IN" sz="1600" b="1" i="0" dirty="0">
                <a:solidFill>
                  <a:srgbClr val="006699"/>
                </a:solidFill>
                <a:effectLst/>
                <a:latin typeface="inter-regular"/>
              </a:rPr>
              <a:t>void</a:t>
            </a:r>
            <a:r>
              <a:rPr lang="en-IN" sz="1600" b="0" i="0" dirty="0">
                <a:solidFill>
                  <a:srgbClr val="000000"/>
                </a:solidFill>
                <a:effectLst/>
                <a:latin typeface="inter-regular"/>
              </a:rPr>
              <a:t> main(String </a:t>
            </a:r>
            <a:r>
              <a:rPr lang="en-IN" sz="1600" b="0" i="0" dirty="0" err="1">
                <a:solidFill>
                  <a:srgbClr val="000000"/>
                </a:solidFill>
                <a:effectLst/>
                <a:latin typeface="inter-regular"/>
              </a:rPr>
              <a:t>args</a:t>
            </a:r>
            <a:r>
              <a:rPr lang="en-IN" sz="1600" b="0" i="0" dirty="0">
                <a:solidFill>
                  <a:srgbClr val="000000"/>
                </a:solidFill>
                <a:effectLst/>
                <a:latin typeface="inter-regular"/>
              </a:rPr>
              <a:t>[]){  </a:t>
            </a:r>
          </a:p>
          <a:p>
            <a:pPr algn="just"/>
            <a:r>
              <a:rPr lang="en-IN" sz="1600" b="1" i="0" dirty="0">
                <a:solidFill>
                  <a:srgbClr val="006699"/>
                </a:solidFill>
                <a:effectLst/>
                <a:latin typeface="inter-regular"/>
              </a:rPr>
              <a:t>try</a:t>
            </a:r>
            <a:r>
              <a:rPr lang="en-IN" sz="1600" b="0" i="0" dirty="0">
                <a:solidFill>
                  <a:srgbClr val="000000"/>
                </a:solidFill>
                <a:effectLst/>
                <a:latin typeface="inter-regular"/>
              </a:rPr>
              <a:t>{   </a:t>
            </a:r>
          </a:p>
          <a:p>
            <a:pPr algn="just"/>
            <a:r>
              <a:rPr lang="en-IN" sz="1600" b="0" i="0" dirty="0" err="1">
                <a:solidFill>
                  <a:srgbClr val="000000"/>
                </a:solidFill>
                <a:effectLst/>
                <a:latin typeface="inter-regular"/>
              </a:rPr>
              <a:t>Class.forName</a:t>
            </a:r>
            <a:r>
              <a:rPr lang="en-IN" sz="1600" b="0" i="0" dirty="0">
                <a:solidFill>
                  <a:srgbClr val="000000"/>
                </a:solidFill>
                <a:effectLst/>
                <a:latin typeface="inter-regular"/>
              </a:rPr>
              <a:t>(</a:t>
            </a:r>
            <a:r>
              <a:rPr lang="en-IN" sz="1600" b="0" i="0" dirty="0">
                <a:solidFill>
                  <a:srgbClr val="0000FF"/>
                </a:solidFill>
                <a:effectLst/>
                <a:latin typeface="inter-regular"/>
              </a:rPr>
              <a:t>“</a:t>
            </a:r>
            <a:r>
              <a:rPr lang="en-IN" sz="1600" b="0" i="0" dirty="0" err="1">
                <a:solidFill>
                  <a:srgbClr val="0000FF"/>
                </a:solidFill>
                <a:effectLst/>
                <a:latin typeface="inter-regular"/>
              </a:rPr>
              <a:t>com.mysql.jdbc.Driver</a:t>
            </a:r>
            <a:r>
              <a:rPr lang="en-IN" sz="1600" b="0" i="0" dirty="0">
                <a:solidFill>
                  <a:srgbClr val="0000FF"/>
                </a:solidFill>
                <a:effectLst/>
                <a:latin typeface="inter-regular"/>
              </a:rPr>
              <a:t>"</a:t>
            </a:r>
            <a:r>
              <a:rPr lang="en-IN" sz="1600" b="0" i="0" dirty="0">
                <a:solidFill>
                  <a:srgbClr val="000000"/>
                </a:solidFill>
                <a:effectLst/>
                <a:latin typeface="inter-regular"/>
              </a:rPr>
              <a:t>);  </a:t>
            </a:r>
          </a:p>
          <a:p>
            <a:pPr algn="just"/>
            <a:r>
              <a:rPr lang="en-IN" sz="1600" b="0" i="0" dirty="0">
                <a:solidFill>
                  <a:srgbClr val="000000"/>
                </a:solidFill>
                <a:effectLst/>
                <a:latin typeface="inter-regular"/>
              </a:rPr>
              <a:t>Connection con=</a:t>
            </a:r>
            <a:r>
              <a:rPr lang="en-IN" sz="1600" b="0" i="0" dirty="0" err="1">
                <a:solidFill>
                  <a:srgbClr val="000000"/>
                </a:solidFill>
                <a:effectLst/>
                <a:latin typeface="inter-regular"/>
              </a:rPr>
              <a:t>DriverManager.getConnection</a:t>
            </a:r>
            <a:r>
              <a:rPr lang="en-IN" sz="1600" b="0" i="0" dirty="0">
                <a:solidFill>
                  <a:srgbClr val="000000"/>
                </a:solidFill>
                <a:effectLst/>
                <a:latin typeface="inter-regular"/>
              </a:rPr>
              <a:t>(  </a:t>
            </a:r>
          </a:p>
          <a:p>
            <a:pPr algn="just"/>
            <a:r>
              <a:rPr lang="en-IN" sz="1600" b="0" i="0" dirty="0">
                <a:solidFill>
                  <a:srgbClr val="0000FF"/>
                </a:solidFill>
                <a:effectLst/>
                <a:latin typeface="inter-regular"/>
              </a:rPr>
              <a:t>“</a:t>
            </a:r>
            <a:r>
              <a:rPr lang="en-IN" sz="1600" b="0" i="0" dirty="0" err="1">
                <a:solidFill>
                  <a:srgbClr val="0000FF"/>
                </a:solidFill>
                <a:effectLst/>
                <a:latin typeface="inter-regular"/>
              </a:rPr>
              <a:t>jdbc:mysql</a:t>
            </a:r>
            <a:r>
              <a:rPr lang="en-IN" sz="1600" b="0" i="0" dirty="0">
                <a:solidFill>
                  <a:srgbClr val="0000FF"/>
                </a:solidFill>
                <a:effectLst/>
                <a:latin typeface="inter-regular"/>
              </a:rPr>
              <a:t>://localhost:3306/</a:t>
            </a:r>
            <a:r>
              <a:rPr lang="en-IN" sz="1600" b="0" i="0" dirty="0" err="1">
                <a:solidFill>
                  <a:srgbClr val="0000FF"/>
                </a:solidFill>
                <a:effectLst/>
                <a:latin typeface="inter-regular"/>
              </a:rPr>
              <a:t>sonoo</a:t>
            </a:r>
            <a:r>
              <a:rPr lang="en-IN" sz="1600" dirty="0">
                <a:solidFill>
                  <a:srgbClr val="0000FF"/>
                </a:solidFill>
                <a:latin typeface="inter-regular"/>
              </a:rPr>
              <a:t>”</a:t>
            </a:r>
            <a:r>
              <a:rPr lang="en-IN" sz="1600" b="0" i="0" dirty="0">
                <a:solidFill>
                  <a:srgbClr val="0000FF"/>
                </a:solidFill>
                <a:effectLst/>
                <a:latin typeface="inter-regular"/>
              </a:rPr>
              <a:t>,”</a:t>
            </a:r>
            <a:r>
              <a:rPr lang="en-IN" sz="1600" b="0" i="0" dirty="0" err="1">
                <a:solidFill>
                  <a:srgbClr val="0000FF"/>
                </a:solidFill>
                <a:effectLst/>
                <a:latin typeface="inter-regular"/>
              </a:rPr>
              <a:t>root“,”root</a:t>
            </a:r>
            <a:r>
              <a:rPr lang="en-IN" sz="1600" b="0" i="0" dirty="0">
                <a:solidFill>
                  <a:srgbClr val="0000FF"/>
                </a:solidFill>
                <a:effectLst/>
                <a:latin typeface="inter-regular"/>
              </a:rPr>
              <a:t>”</a:t>
            </a:r>
            <a:r>
              <a:rPr lang="en-IN" sz="1600" b="0" i="0" dirty="0">
                <a:solidFill>
                  <a:srgbClr val="000000"/>
                </a:solidFill>
                <a:effectLst/>
                <a:latin typeface="inter-regular"/>
              </a:rPr>
              <a:t>);    </a:t>
            </a:r>
          </a:p>
          <a:p>
            <a:pPr algn="just"/>
            <a:r>
              <a:rPr lang="en-IN" sz="1600" b="0" i="0" dirty="0">
                <a:solidFill>
                  <a:srgbClr val="008200"/>
                </a:solidFill>
                <a:effectLst/>
                <a:latin typeface="inter-regular"/>
              </a:rPr>
              <a:t>//here </a:t>
            </a:r>
            <a:r>
              <a:rPr lang="en-IN" sz="1600" b="0" i="0" dirty="0" err="1">
                <a:solidFill>
                  <a:srgbClr val="008200"/>
                </a:solidFill>
                <a:effectLst/>
                <a:latin typeface="inter-regular"/>
              </a:rPr>
              <a:t>sonoo</a:t>
            </a:r>
            <a:r>
              <a:rPr lang="en-IN" sz="1600" b="0" i="0" dirty="0">
                <a:solidFill>
                  <a:srgbClr val="008200"/>
                </a:solidFill>
                <a:effectLst/>
                <a:latin typeface="inter-regular"/>
              </a:rPr>
              <a:t> is </a:t>
            </a:r>
            <a:r>
              <a:rPr lang="en-IN" sz="1600" b="0" i="0" dirty="0" err="1">
                <a:solidFill>
                  <a:srgbClr val="008200"/>
                </a:solidFill>
                <a:effectLst/>
                <a:latin typeface="inter-regular"/>
              </a:rPr>
              <a:t>databse</a:t>
            </a:r>
            <a:r>
              <a:rPr lang="en-IN" sz="1600" b="0" i="0" dirty="0">
                <a:solidFill>
                  <a:srgbClr val="008200"/>
                </a:solidFill>
                <a:effectLst/>
                <a:latin typeface="inter-regular"/>
              </a:rPr>
              <a:t> name, root is username </a:t>
            </a:r>
            <a:r>
              <a:rPr lang="en-IN" sz="1600" dirty="0">
                <a:solidFill>
                  <a:srgbClr val="008200"/>
                </a:solidFill>
                <a:latin typeface="inter-regular"/>
              </a:rPr>
              <a:t>and password</a:t>
            </a:r>
          </a:p>
          <a:p>
            <a:pPr algn="just"/>
            <a:r>
              <a:rPr lang="en-IN" sz="1600" b="0" i="0" dirty="0">
                <a:solidFill>
                  <a:srgbClr val="000000"/>
                </a:solidFill>
                <a:effectLst/>
                <a:latin typeface="inter-regular"/>
              </a:rPr>
              <a:t>Statement </a:t>
            </a:r>
            <a:r>
              <a:rPr lang="en-IN" sz="1600" b="0" i="0" dirty="0" err="1">
                <a:solidFill>
                  <a:srgbClr val="000000"/>
                </a:solidFill>
                <a:effectLst/>
                <a:latin typeface="inter-regular"/>
              </a:rPr>
              <a:t>stmt</a:t>
            </a:r>
            <a:r>
              <a:rPr lang="en-IN" sz="1600" b="0" i="0" dirty="0">
                <a:solidFill>
                  <a:srgbClr val="000000"/>
                </a:solidFill>
                <a:effectLst/>
                <a:latin typeface="inter-regular"/>
              </a:rPr>
              <a:t>=</a:t>
            </a:r>
            <a:r>
              <a:rPr lang="en-IN" sz="1600" b="0" i="0" dirty="0" err="1">
                <a:solidFill>
                  <a:srgbClr val="000000"/>
                </a:solidFill>
                <a:effectLst/>
                <a:latin typeface="inter-regular"/>
              </a:rPr>
              <a:t>con.createStatement</a:t>
            </a:r>
            <a:r>
              <a:rPr lang="en-IN" sz="1600" b="0" i="0" dirty="0">
                <a:solidFill>
                  <a:srgbClr val="000000"/>
                </a:solidFill>
                <a:effectLst/>
                <a:latin typeface="inter-regular"/>
              </a:rPr>
              <a:t>();    </a:t>
            </a:r>
          </a:p>
          <a:p>
            <a:pPr algn="just"/>
            <a:r>
              <a:rPr lang="en-IN" sz="1600" b="0" i="0" dirty="0" err="1">
                <a:solidFill>
                  <a:srgbClr val="000000"/>
                </a:solidFill>
                <a:effectLst/>
                <a:latin typeface="inter-regular"/>
              </a:rPr>
              <a:t>ResultSet</a:t>
            </a:r>
            <a:r>
              <a:rPr lang="en-IN" sz="1600" b="0" i="0" dirty="0">
                <a:solidFill>
                  <a:srgbClr val="000000"/>
                </a:solidFill>
                <a:effectLst/>
                <a:latin typeface="inter-regular"/>
              </a:rPr>
              <a:t> </a:t>
            </a:r>
            <a:r>
              <a:rPr lang="en-IN" sz="1600" b="0" i="0" dirty="0" err="1">
                <a:solidFill>
                  <a:srgbClr val="000000"/>
                </a:solidFill>
                <a:effectLst/>
                <a:latin typeface="inter-regular"/>
              </a:rPr>
              <a:t>rs</a:t>
            </a:r>
            <a:r>
              <a:rPr lang="en-IN" sz="1600" b="0" i="0" dirty="0">
                <a:solidFill>
                  <a:srgbClr val="000000"/>
                </a:solidFill>
                <a:effectLst/>
                <a:latin typeface="inter-regular"/>
              </a:rPr>
              <a:t>=</a:t>
            </a:r>
            <a:r>
              <a:rPr lang="en-IN" sz="1600" b="0" i="0" dirty="0" err="1">
                <a:solidFill>
                  <a:srgbClr val="000000"/>
                </a:solidFill>
                <a:effectLst/>
                <a:latin typeface="inter-regular"/>
              </a:rPr>
              <a:t>stmt.executeQuery</a:t>
            </a:r>
            <a:r>
              <a:rPr lang="en-IN" sz="1600" b="0" i="0" dirty="0">
                <a:solidFill>
                  <a:srgbClr val="000000"/>
                </a:solidFill>
                <a:effectLst/>
                <a:latin typeface="inter-regular"/>
              </a:rPr>
              <a:t>(</a:t>
            </a:r>
            <a:r>
              <a:rPr lang="en-IN" sz="1600" b="0" i="0" dirty="0">
                <a:solidFill>
                  <a:srgbClr val="0000FF"/>
                </a:solidFill>
                <a:effectLst/>
                <a:latin typeface="inter-regular"/>
              </a:rPr>
              <a:t>"select * from emp"</a:t>
            </a:r>
            <a:r>
              <a:rPr lang="en-IN" sz="1600" b="0" i="0" dirty="0">
                <a:solidFill>
                  <a:srgbClr val="000000"/>
                </a:solidFill>
                <a:effectLst/>
                <a:latin typeface="inter-regular"/>
              </a:rPr>
              <a:t>);  </a:t>
            </a:r>
          </a:p>
          <a:p>
            <a:pPr algn="just"/>
            <a:r>
              <a:rPr lang="en-IN" sz="1600" b="1" i="0" dirty="0">
                <a:solidFill>
                  <a:srgbClr val="006699"/>
                </a:solidFill>
                <a:effectLst/>
                <a:latin typeface="inter-regular"/>
              </a:rPr>
              <a:t>while</a:t>
            </a:r>
            <a:r>
              <a:rPr lang="en-IN" sz="1600" b="0" i="0" dirty="0">
                <a:solidFill>
                  <a:srgbClr val="000000"/>
                </a:solidFill>
                <a:effectLst/>
                <a:latin typeface="inter-regular"/>
              </a:rPr>
              <a:t>(</a:t>
            </a:r>
            <a:r>
              <a:rPr lang="en-IN" sz="1600" b="0" i="0" dirty="0" err="1">
                <a:solidFill>
                  <a:srgbClr val="000000"/>
                </a:solidFill>
                <a:effectLst/>
                <a:latin typeface="inter-regular"/>
              </a:rPr>
              <a:t>rs.next</a:t>
            </a:r>
            <a:r>
              <a:rPr lang="en-IN" sz="1600" b="0" i="0" dirty="0">
                <a:solidFill>
                  <a:srgbClr val="000000"/>
                </a:solidFill>
                <a:effectLst/>
                <a:latin typeface="inter-regular"/>
              </a:rPr>
              <a:t>())</a:t>
            </a:r>
          </a:p>
          <a:p>
            <a:pPr algn="just"/>
            <a:r>
              <a:rPr lang="en-IN" sz="1600" b="0" i="0" dirty="0" err="1">
                <a:solidFill>
                  <a:srgbClr val="000000"/>
                </a:solidFill>
                <a:effectLst/>
                <a:latin typeface="inter-regular"/>
              </a:rPr>
              <a:t>System.out.println</a:t>
            </a:r>
            <a:r>
              <a:rPr lang="en-IN" sz="1600" b="0" i="0" dirty="0">
                <a:solidFill>
                  <a:srgbClr val="000000"/>
                </a:solidFill>
                <a:effectLst/>
                <a:latin typeface="inter-regular"/>
              </a:rPr>
              <a:t>(</a:t>
            </a:r>
            <a:r>
              <a:rPr lang="en-IN" sz="1600" b="0" i="0" dirty="0" err="1">
                <a:solidFill>
                  <a:srgbClr val="000000"/>
                </a:solidFill>
                <a:effectLst/>
                <a:latin typeface="inter-regular"/>
              </a:rPr>
              <a:t>rs.getInt</a:t>
            </a:r>
            <a:r>
              <a:rPr lang="en-IN" sz="1600" b="0" i="0" dirty="0">
                <a:solidFill>
                  <a:srgbClr val="000000"/>
                </a:solidFill>
                <a:effectLst/>
                <a:latin typeface="inter-regular"/>
              </a:rPr>
              <a:t>(</a:t>
            </a:r>
            <a:r>
              <a:rPr lang="en-IN" sz="1600" b="0" i="0" dirty="0">
                <a:solidFill>
                  <a:srgbClr val="C00000"/>
                </a:solidFill>
                <a:effectLst/>
                <a:latin typeface="inter-regular"/>
              </a:rPr>
              <a:t>1</a:t>
            </a:r>
            <a:r>
              <a:rPr lang="en-IN" sz="1600" b="0" i="0" dirty="0">
                <a:solidFill>
                  <a:srgbClr val="000000"/>
                </a:solidFill>
                <a:effectLst/>
                <a:latin typeface="inter-regular"/>
              </a:rPr>
              <a:t>)+</a:t>
            </a:r>
            <a:r>
              <a:rPr lang="en-IN" sz="1600" b="0" i="0" dirty="0">
                <a:solidFill>
                  <a:srgbClr val="0000FF"/>
                </a:solidFill>
                <a:effectLst/>
                <a:latin typeface="inter-regular"/>
              </a:rPr>
              <a:t>"  "</a:t>
            </a:r>
            <a:r>
              <a:rPr lang="en-IN" sz="1600" b="0" i="0" dirty="0">
                <a:solidFill>
                  <a:srgbClr val="000000"/>
                </a:solidFill>
                <a:effectLst/>
                <a:latin typeface="inter-regular"/>
              </a:rPr>
              <a:t>+</a:t>
            </a:r>
            <a:r>
              <a:rPr lang="en-IN" sz="1600" b="0" i="0" dirty="0" err="1">
                <a:solidFill>
                  <a:srgbClr val="000000"/>
                </a:solidFill>
                <a:effectLst/>
                <a:latin typeface="inter-regular"/>
              </a:rPr>
              <a:t>rs.getString</a:t>
            </a:r>
            <a:r>
              <a:rPr lang="en-IN" sz="1600" b="0" i="0" dirty="0">
                <a:solidFill>
                  <a:srgbClr val="000000"/>
                </a:solidFill>
                <a:effectLst/>
                <a:latin typeface="inter-regular"/>
              </a:rPr>
              <a:t>(</a:t>
            </a:r>
            <a:r>
              <a:rPr lang="en-IN" sz="1600" b="0" i="0" dirty="0">
                <a:solidFill>
                  <a:srgbClr val="C00000"/>
                </a:solidFill>
                <a:effectLst/>
                <a:latin typeface="inter-regular"/>
              </a:rPr>
              <a:t>2</a:t>
            </a:r>
            <a:r>
              <a:rPr lang="en-IN" sz="1600" b="0" i="0" dirty="0">
                <a:solidFill>
                  <a:srgbClr val="000000"/>
                </a:solidFill>
                <a:effectLst/>
                <a:latin typeface="inter-regular"/>
              </a:rPr>
              <a:t>)+</a:t>
            </a:r>
            <a:r>
              <a:rPr lang="en-IN" sz="1600" b="0" i="0" dirty="0">
                <a:solidFill>
                  <a:srgbClr val="0000FF"/>
                </a:solidFill>
                <a:effectLst/>
                <a:latin typeface="inter-regular"/>
              </a:rPr>
              <a:t>"  "</a:t>
            </a:r>
            <a:r>
              <a:rPr lang="en-IN" sz="1600" b="0" i="0" dirty="0">
                <a:solidFill>
                  <a:srgbClr val="000000"/>
                </a:solidFill>
                <a:effectLst/>
                <a:latin typeface="inter-regular"/>
              </a:rPr>
              <a:t>+</a:t>
            </a:r>
            <a:r>
              <a:rPr lang="en-IN" sz="1600" b="0" i="0" dirty="0" err="1">
                <a:solidFill>
                  <a:srgbClr val="000000"/>
                </a:solidFill>
                <a:effectLst/>
                <a:latin typeface="inter-regular"/>
              </a:rPr>
              <a:t>rs.getString</a:t>
            </a:r>
            <a:r>
              <a:rPr lang="en-IN" sz="1600" b="0" i="0" dirty="0">
                <a:solidFill>
                  <a:srgbClr val="000000"/>
                </a:solidFill>
                <a:effectLst/>
                <a:latin typeface="inter-regular"/>
              </a:rPr>
              <a:t>(</a:t>
            </a:r>
            <a:r>
              <a:rPr lang="en-IN" sz="1600" b="0" i="0" dirty="0">
                <a:solidFill>
                  <a:srgbClr val="C00000"/>
                </a:solidFill>
                <a:effectLst/>
                <a:latin typeface="inter-regular"/>
              </a:rPr>
              <a:t>3</a:t>
            </a:r>
            <a:r>
              <a:rPr lang="en-IN" sz="1600" b="0" i="0" dirty="0">
                <a:solidFill>
                  <a:srgbClr val="000000"/>
                </a:solidFill>
                <a:effectLst/>
                <a:latin typeface="inter-regular"/>
              </a:rPr>
              <a:t>));     </a:t>
            </a:r>
          </a:p>
          <a:p>
            <a:pPr algn="just"/>
            <a:r>
              <a:rPr lang="en-IN" sz="1600" b="0" i="0" dirty="0" err="1">
                <a:solidFill>
                  <a:srgbClr val="000000"/>
                </a:solidFill>
                <a:effectLst/>
                <a:latin typeface="inter-regular"/>
              </a:rPr>
              <a:t>con.close</a:t>
            </a:r>
            <a:r>
              <a:rPr lang="en-IN" sz="1600" b="0" i="0" dirty="0">
                <a:solidFill>
                  <a:srgbClr val="000000"/>
                </a:solidFill>
                <a:effectLst/>
                <a:latin typeface="inter-regular"/>
              </a:rPr>
              <a:t>();    </a:t>
            </a:r>
          </a:p>
          <a:p>
            <a:pPr algn="just"/>
            <a:r>
              <a:rPr lang="en-IN" sz="1600" b="0" i="0" dirty="0">
                <a:solidFill>
                  <a:srgbClr val="000000"/>
                </a:solidFill>
                <a:effectLst/>
                <a:latin typeface="inter-regular"/>
              </a:rPr>
              <a:t>}</a:t>
            </a:r>
          </a:p>
          <a:p>
            <a:pPr algn="just"/>
            <a:r>
              <a:rPr lang="en-IN" sz="1600" b="1" i="0" dirty="0">
                <a:solidFill>
                  <a:srgbClr val="006699"/>
                </a:solidFill>
                <a:effectLst/>
                <a:latin typeface="inter-regular"/>
              </a:rPr>
              <a:t>catch</a:t>
            </a:r>
            <a:r>
              <a:rPr lang="en-IN" sz="1600" b="0" i="0" dirty="0">
                <a:solidFill>
                  <a:srgbClr val="000000"/>
                </a:solidFill>
                <a:effectLst/>
                <a:latin typeface="inter-regular"/>
              </a:rPr>
              <a:t>(Exception e){ </a:t>
            </a:r>
            <a:r>
              <a:rPr lang="en-IN" sz="1600" b="0" i="0" dirty="0" err="1">
                <a:solidFill>
                  <a:srgbClr val="000000"/>
                </a:solidFill>
                <a:effectLst/>
                <a:latin typeface="inter-regular"/>
              </a:rPr>
              <a:t>System.out.println</a:t>
            </a:r>
            <a:r>
              <a:rPr lang="en-IN" sz="1600" b="0" i="0" dirty="0">
                <a:solidFill>
                  <a:srgbClr val="000000"/>
                </a:solidFill>
                <a:effectLst/>
                <a:latin typeface="inter-regular"/>
              </a:rPr>
              <a:t>(e);</a:t>
            </a:r>
          </a:p>
          <a:p>
            <a:pPr algn="just"/>
            <a:r>
              <a:rPr lang="en-IN" sz="1600" b="0" i="0" dirty="0">
                <a:solidFill>
                  <a:srgbClr val="000000"/>
                </a:solidFill>
                <a:effectLst/>
                <a:latin typeface="inter-regular"/>
              </a:rPr>
              <a:t>}</a:t>
            </a:r>
          </a:p>
          <a:p>
            <a:pPr algn="just"/>
            <a:r>
              <a:rPr lang="en-IN" sz="1600" b="0" i="0" dirty="0">
                <a:solidFill>
                  <a:srgbClr val="000000"/>
                </a:solidFill>
                <a:effectLst/>
                <a:latin typeface="inter-regular"/>
              </a:rPr>
              <a:t>}  </a:t>
            </a:r>
          </a:p>
          <a:p>
            <a:pPr algn="just"/>
            <a:r>
              <a:rPr lang="en-IN" sz="1600" b="0" i="0" dirty="0">
                <a:solidFill>
                  <a:srgbClr val="000000"/>
                </a:solidFill>
                <a:effectLst/>
                <a:latin typeface="inter-regular"/>
              </a:rPr>
              <a:t>}  </a:t>
            </a:r>
          </a:p>
        </p:txBody>
      </p:sp>
    </p:spTree>
    <p:extLst>
      <p:ext uri="{BB962C8B-B14F-4D97-AF65-F5344CB8AC3E}">
        <p14:creationId xmlns:p14="http://schemas.microsoft.com/office/powerpoint/2010/main" val="49451992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90600" y="3640482"/>
            <a:ext cx="9165996" cy="627736"/>
          </a:xfrm>
          <a:prstGeom prst="rect">
            <a:avLst/>
          </a:prstGeom>
        </p:spPr>
        <p:txBody>
          <a:bodyPr vert="horz" wrap="square" lIns="0" tIns="12065" rIns="0" bIns="0" rtlCol="0">
            <a:spAutoFit/>
          </a:bodyPr>
          <a:lstStyle/>
          <a:p>
            <a:pPr marL="2755265">
              <a:spcBef>
                <a:spcPts val="95"/>
              </a:spcBef>
            </a:pPr>
            <a:r>
              <a:rPr lang="en-US" sz="4000" b="1" spc="-50" dirty="0">
                <a:solidFill>
                  <a:schemeClr val="tx1">
                    <a:lumMod val="95000"/>
                    <a:lumOff val="5000"/>
                  </a:schemeClr>
                </a:solidFill>
                <a:highlight>
                  <a:srgbClr val="C0C0C0"/>
                </a:highlight>
                <a:latin typeface="+mj-lt"/>
              </a:rPr>
              <a:t>Maven Integration with Eclipse</a:t>
            </a:r>
          </a:p>
        </p:txBody>
      </p:sp>
      <p:pic>
        <p:nvPicPr>
          <p:cNvPr id="3" name="object 3"/>
          <p:cNvPicPr/>
          <p:nvPr/>
        </p:nvPicPr>
        <p:blipFill>
          <a:blip r:embed="rId2" cstate="print"/>
          <a:stretch>
            <a:fillRect/>
          </a:stretch>
        </p:blipFill>
        <p:spPr>
          <a:xfrm>
            <a:off x="8317992" y="6031991"/>
            <a:ext cx="609600" cy="609599"/>
          </a:xfrm>
          <a:prstGeom prst="rect">
            <a:avLst/>
          </a:prstGeom>
        </p:spPr>
      </p:pic>
      <p:sp>
        <p:nvSpPr>
          <p:cNvPr id="4" name="object 4"/>
          <p:cNvSpPr txBox="1"/>
          <p:nvPr/>
        </p:nvSpPr>
        <p:spPr>
          <a:xfrm>
            <a:off x="294843" y="2771013"/>
            <a:ext cx="8554085" cy="869469"/>
          </a:xfrm>
          <a:prstGeom prst="rect">
            <a:avLst/>
          </a:prstGeom>
        </p:spPr>
        <p:txBody>
          <a:bodyPr vert="horz" wrap="square" lIns="0" tIns="12700" rIns="0" bIns="0" rtlCol="0">
            <a:spAutoFit/>
          </a:bodyPr>
          <a:lstStyle/>
          <a:p>
            <a:pPr marL="2540" algn="just">
              <a:spcBef>
                <a:spcPts val="100"/>
              </a:spcBef>
              <a:buSzPct val="94444"/>
              <a:tabLst>
                <a:tab pos="91440" algn="l"/>
              </a:tabLst>
            </a:pPr>
            <a:endParaRPr lang="en-US" b="0" i="0" dirty="0">
              <a:solidFill>
                <a:srgbClr val="610B38"/>
              </a:solidFill>
              <a:effectLst/>
              <a:highlight>
                <a:srgbClr val="FFFFFF"/>
              </a:highlight>
              <a:latin typeface="erdana"/>
            </a:endParaRPr>
          </a:p>
          <a:p>
            <a:pPr marL="2540" algn="just">
              <a:spcBef>
                <a:spcPts val="100"/>
              </a:spcBef>
              <a:buSzPct val="94444"/>
              <a:tabLst>
                <a:tab pos="91440" algn="l"/>
              </a:tabLst>
            </a:pPr>
            <a:endParaRPr lang="en-US" b="0" i="0" dirty="0">
              <a:solidFill>
                <a:srgbClr val="610B38"/>
              </a:solidFill>
              <a:effectLst/>
              <a:highlight>
                <a:srgbClr val="FFFFFF"/>
              </a:highlight>
              <a:latin typeface="erdana"/>
            </a:endParaRPr>
          </a:p>
          <a:p>
            <a:pPr marL="2540">
              <a:lnSpc>
                <a:spcPct val="100000"/>
              </a:lnSpc>
              <a:spcBef>
                <a:spcPts val="100"/>
              </a:spcBef>
              <a:buSzPct val="94444"/>
              <a:tabLst>
                <a:tab pos="91440" algn="l"/>
              </a:tabLst>
            </a:pPr>
            <a:endParaRPr sz="1800" dirty="0">
              <a:latin typeface="Arial MT"/>
              <a:cs typeface="Arial MT"/>
            </a:endParaRPr>
          </a:p>
        </p:txBody>
      </p:sp>
    </p:spTree>
    <p:extLst>
      <p:ext uri="{BB962C8B-B14F-4D97-AF65-F5344CB8AC3E}">
        <p14:creationId xmlns:p14="http://schemas.microsoft.com/office/powerpoint/2010/main" val="110923902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2400" y="1651422"/>
            <a:ext cx="9165996" cy="566181"/>
          </a:xfrm>
          <a:prstGeom prst="rect">
            <a:avLst/>
          </a:prstGeom>
        </p:spPr>
        <p:txBody>
          <a:bodyPr vert="horz" wrap="square" lIns="0" tIns="12065" rIns="0" bIns="0" rtlCol="0">
            <a:spAutoFit/>
          </a:bodyPr>
          <a:lstStyle/>
          <a:p>
            <a:pPr marL="2755265">
              <a:spcBef>
                <a:spcPts val="95"/>
              </a:spcBef>
            </a:pPr>
            <a:r>
              <a:rPr lang="en-US" sz="3600" b="1" spc="-50" dirty="0">
                <a:solidFill>
                  <a:schemeClr val="tx1">
                    <a:lumMod val="95000"/>
                    <a:lumOff val="5000"/>
                  </a:schemeClr>
                </a:solidFill>
                <a:latin typeface="+mj-lt"/>
              </a:rPr>
              <a:t>What is Maven?</a:t>
            </a:r>
          </a:p>
        </p:txBody>
      </p:sp>
      <p:pic>
        <p:nvPicPr>
          <p:cNvPr id="3" name="object 3"/>
          <p:cNvPicPr/>
          <p:nvPr/>
        </p:nvPicPr>
        <p:blipFill>
          <a:blip r:embed="rId2" cstate="print"/>
          <a:stretch>
            <a:fillRect/>
          </a:stretch>
        </p:blipFill>
        <p:spPr>
          <a:xfrm>
            <a:off x="8317992" y="6031991"/>
            <a:ext cx="609600" cy="609599"/>
          </a:xfrm>
          <a:prstGeom prst="rect">
            <a:avLst/>
          </a:prstGeom>
        </p:spPr>
      </p:pic>
      <p:sp>
        <p:nvSpPr>
          <p:cNvPr id="4" name="object 4"/>
          <p:cNvSpPr txBox="1"/>
          <p:nvPr/>
        </p:nvSpPr>
        <p:spPr>
          <a:xfrm>
            <a:off x="294843" y="2771013"/>
            <a:ext cx="8554085" cy="869469"/>
          </a:xfrm>
          <a:prstGeom prst="rect">
            <a:avLst/>
          </a:prstGeom>
        </p:spPr>
        <p:txBody>
          <a:bodyPr vert="horz" wrap="square" lIns="0" tIns="12700" rIns="0" bIns="0" rtlCol="0">
            <a:spAutoFit/>
          </a:bodyPr>
          <a:lstStyle/>
          <a:p>
            <a:pPr marL="2540" algn="just">
              <a:spcBef>
                <a:spcPts val="100"/>
              </a:spcBef>
              <a:buSzPct val="94444"/>
              <a:tabLst>
                <a:tab pos="91440" algn="l"/>
              </a:tabLst>
            </a:pPr>
            <a:endParaRPr lang="en-US" b="0" i="0" dirty="0">
              <a:solidFill>
                <a:srgbClr val="610B38"/>
              </a:solidFill>
              <a:effectLst/>
              <a:highlight>
                <a:srgbClr val="FFFFFF"/>
              </a:highlight>
              <a:latin typeface="erdana"/>
            </a:endParaRPr>
          </a:p>
          <a:p>
            <a:pPr marL="2540" algn="just">
              <a:spcBef>
                <a:spcPts val="100"/>
              </a:spcBef>
              <a:buSzPct val="94444"/>
              <a:tabLst>
                <a:tab pos="91440" algn="l"/>
              </a:tabLst>
            </a:pPr>
            <a:endParaRPr lang="en-US" b="0" i="0" dirty="0">
              <a:solidFill>
                <a:srgbClr val="610B38"/>
              </a:solidFill>
              <a:effectLst/>
              <a:highlight>
                <a:srgbClr val="FFFFFF"/>
              </a:highlight>
              <a:latin typeface="erdana"/>
            </a:endParaRPr>
          </a:p>
          <a:p>
            <a:pPr marL="2540">
              <a:lnSpc>
                <a:spcPct val="100000"/>
              </a:lnSpc>
              <a:spcBef>
                <a:spcPts val="100"/>
              </a:spcBef>
              <a:buSzPct val="94444"/>
              <a:tabLst>
                <a:tab pos="91440" algn="l"/>
              </a:tabLst>
            </a:pPr>
            <a:endParaRPr sz="1800" dirty="0">
              <a:latin typeface="Arial MT"/>
              <a:cs typeface="Arial MT"/>
            </a:endParaRPr>
          </a:p>
        </p:txBody>
      </p:sp>
      <p:sp>
        <p:nvSpPr>
          <p:cNvPr id="5" name="TextBox 4">
            <a:extLst>
              <a:ext uri="{FF2B5EF4-FFF2-40B4-BE49-F238E27FC236}">
                <a16:creationId xmlns:a16="http://schemas.microsoft.com/office/drawing/2014/main" id="{D8535420-4CD1-6CE5-66C1-318A4F1DD5CB}"/>
              </a:ext>
            </a:extLst>
          </p:cNvPr>
          <p:cNvSpPr txBox="1"/>
          <p:nvPr/>
        </p:nvSpPr>
        <p:spPr>
          <a:xfrm>
            <a:off x="533400" y="2590800"/>
            <a:ext cx="8229600" cy="4524315"/>
          </a:xfrm>
          <a:prstGeom prst="rect">
            <a:avLst/>
          </a:prstGeom>
          <a:noFill/>
        </p:spPr>
        <p:txBody>
          <a:bodyPr wrap="square" rtlCol="0">
            <a:spAutoFit/>
          </a:bodyPr>
          <a:lstStyle/>
          <a:p>
            <a:r>
              <a:rPr lang="en-US" b="1" dirty="0"/>
              <a:t>Definition</a:t>
            </a:r>
            <a:r>
              <a:rPr lang="en-US" dirty="0"/>
              <a:t>: Maven is a build automation and project management tool for Java projects.</a:t>
            </a:r>
          </a:p>
          <a:p>
            <a:r>
              <a:rPr lang="en-US" dirty="0"/>
              <a:t>It simplifies the process of building, testing, and deploying Java applications by managing project dependencies and providing a standardized project structure.</a:t>
            </a:r>
          </a:p>
          <a:p>
            <a:endParaRPr lang="en-US" dirty="0"/>
          </a:p>
          <a:p>
            <a:r>
              <a:rPr lang="en-US" b="1" dirty="0"/>
              <a:t>Purpose</a:t>
            </a:r>
            <a:r>
              <a:rPr lang="en-US" dirty="0"/>
              <a:t>: Manages project dependencies, enforces a standard project structure, and automates the build process (compile, test, package).</a:t>
            </a:r>
          </a:p>
          <a:p>
            <a:endParaRPr lang="en-US" dirty="0"/>
          </a:p>
          <a:p>
            <a:pPr algn="l"/>
            <a:r>
              <a:rPr lang="en-IN" b="1" i="0" dirty="0">
                <a:solidFill>
                  <a:schemeClr val="tx1"/>
                </a:solidFill>
                <a:effectLst/>
                <a:highlight>
                  <a:srgbClr val="FFFFFF"/>
                </a:highlight>
                <a:latin typeface="Helvetica Neue"/>
              </a:rPr>
              <a:t>Maven's Objectives</a:t>
            </a:r>
          </a:p>
          <a:p>
            <a:pPr algn="l">
              <a:buFont typeface="Arial" panose="020B0604020202020204" pitchFamily="34" charset="0"/>
              <a:buChar char="•"/>
            </a:pPr>
            <a:r>
              <a:rPr lang="en-US" b="0" i="0" dirty="0">
                <a:solidFill>
                  <a:schemeClr val="tx1"/>
                </a:solidFill>
                <a:effectLst/>
                <a:highlight>
                  <a:srgbClr val="FFFFFF"/>
                </a:highlight>
                <a:latin typeface="Helvetica Neue"/>
              </a:rPr>
              <a:t>Making the build process easy</a:t>
            </a:r>
          </a:p>
          <a:p>
            <a:pPr algn="l">
              <a:buFont typeface="Arial" panose="020B0604020202020204" pitchFamily="34" charset="0"/>
              <a:buChar char="•"/>
            </a:pPr>
            <a:r>
              <a:rPr lang="en-US" b="0" i="0" dirty="0">
                <a:solidFill>
                  <a:schemeClr val="tx1"/>
                </a:solidFill>
                <a:effectLst/>
                <a:highlight>
                  <a:srgbClr val="FFFFFF"/>
                </a:highlight>
                <a:latin typeface="Helvetica Neue"/>
              </a:rPr>
              <a:t>Providing a uniform build system</a:t>
            </a:r>
          </a:p>
          <a:p>
            <a:pPr algn="l">
              <a:buFont typeface="Arial" panose="020B0604020202020204" pitchFamily="34" charset="0"/>
              <a:buChar char="•"/>
            </a:pPr>
            <a:r>
              <a:rPr lang="en-US" b="0" i="0" dirty="0">
                <a:solidFill>
                  <a:schemeClr val="tx1"/>
                </a:solidFill>
                <a:effectLst/>
                <a:highlight>
                  <a:srgbClr val="FFFFFF"/>
                </a:highlight>
                <a:latin typeface="Helvetica Neue"/>
              </a:rPr>
              <a:t>Providing quality project information</a:t>
            </a:r>
          </a:p>
          <a:p>
            <a:pPr algn="l">
              <a:buFont typeface="Arial" panose="020B0604020202020204" pitchFamily="34" charset="0"/>
              <a:buChar char="•"/>
            </a:pPr>
            <a:r>
              <a:rPr lang="en-US" b="0" i="0" dirty="0">
                <a:solidFill>
                  <a:schemeClr val="tx1"/>
                </a:solidFill>
                <a:effectLst/>
                <a:highlight>
                  <a:srgbClr val="FFFFFF"/>
                </a:highlight>
                <a:latin typeface="Helvetica Neue"/>
              </a:rPr>
              <a:t>Encouraging better development practices</a:t>
            </a:r>
          </a:p>
          <a:p>
            <a:pPr algn="l"/>
            <a:endParaRPr lang="en-IN" b="1" i="0" dirty="0">
              <a:solidFill>
                <a:srgbClr val="333333"/>
              </a:solidFill>
              <a:effectLst/>
              <a:highlight>
                <a:srgbClr val="FFFFFF"/>
              </a:highlight>
              <a:latin typeface="Helvetica Neue"/>
            </a:endParaRPr>
          </a:p>
          <a:p>
            <a:endParaRPr lang="en-US" dirty="0"/>
          </a:p>
          <a:p>
            <a:endParaRPr lang="en-US" dirty="0"/>
          </a:p>
        </p:txBody>
      </p:sp>
    </p:spTree>
    <p:extLst>
      <p:ext uri="{BB962C8B-B14F-4D97-AF65-F5344CB8AC3E}">
        <p14:creationId xmlns:p14="http://schemas.microsoft.com/office/powerpoint/2010/main" val="353776839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8404" y="1642853"/>
            <a:ext cx="9165996" cy="566181"/>
          </a:xfrm>
          <a:prstGeom prst="rect">
            <a:avLst/>
          </a:prstGeom>
        </p:spPr>
        <p:txBody>
          <a:bodyPr vert="horz" wrap="square" lIns="0" tIns="12065" rIns="0" bIns="0" rtlCol="0">
            <a:spAutoFit/>
          </a:bodyPr>
          <a:lstStyle/>
          <a:p>
            <a:pPr marL="2755265">
              <a:spcBef>
                <a:spcPts val="95"/>
              </a:spcBef>
            </a:pPr>
            <a:r>
              <a:rPr lang="en-IN" sz="3600" b="1" dirty="0">
                <a:latin typeface="+mj-lt"/>
              </a:rPr>
              <a:t>Benefits of Using Maven</a:t>
            </a:r>
            <a:r>
              <a:rPr lang="en-US" sz="3600" b="1" dirty="0">
                <a:latin typeface="+mj-lt"/>
              </a:rPr>
              <a:t>:</a:t>
            </a:r>
            <a:endParaRPr lang="en-US" sz="3600" b="1" spc="-50" dirty="0">
              <a:solidFill>
                <a:schemeClr val="tx1">
                  <a:lumMod val="95000"/>
                  <a:lumOff val="5000"/>
                </a:schemeClr>
              </a:solidFill>
              <a:latin typeface="+mj-lt"/>
            </a:endParaRPr>
          </a:p>
        </p:txBody>
      </p:sp>
      <p:pic>
        <p:nvPicPr>
          <p:cNvPr id="3" name="object 3"/>
          <p:cNvPicPr/>
          <p:nvPr/>
        </p:nvPicPr>
        <p:blipFill>
          <a:blip r:embed="rId2" cstate="print"/>
          <a:stretch>
            <a:fillRect/>
          </a:stretch>
        </p:blipFill>
        <p:spPr>
          <a:xfrm>
            <a:off x="8317992" y="6031991"/>
            <a:ext cx="609600" cy="609599"/>
          </a:xfrm>
          <a:prstGeom prst="rect">
            <a:avLst/>
          </a:prstGeom>
        </p:spPr>
      </p:pic>
      <p:sp>
        <p:nvSpPr>
          <p:cNvPr id="4" name="object 4"/>
          <p:cNvSpPr txBox="1"/>
          <p:nvPr/>
        </p:nvSpPr>
        <p:spPr>
          <a:xfrm>
            <a:off x="294843" y="2771013"/>
            <a:ext cx="8554085" cy="869469"/>
          </a:xfrm>
          <a:prstGeom prst="rect">
            <a:avLst/>
          </a:prstGeom>
        </p:spPr>
        <p:txBody>
          <a:bodyPr vert="horz" wrap="square" lIns="0" tIns="12700" rIns="0" bIns="0" rtlCol="0">
            <a:spAutoFit/>
          </a:bodyPr>
          <a:lstStyle/>
          <a:p>
            <a:pPr marL="2540" algn="just">
              <a:spcBef>
                <a:spcPts val="100"/>
              </a:spcBef>
              <a:buSzPct val="94444"/>
              <a:tabLst>
                <a:tab pos="91440" algn="l"/>
              </a:tabLst>
            </a:pPr>
            <a:endParaRPr lang="en-US" b="0" i="0" dirty="0">
              <a:solidFill>
                <a:srgbClr val="610B38"/>
              </a:solidFill>
              <a:effectLst/>
              <a:highlight>
                <a:srgbClr val="FFFFFF"/>
              </a:highlight>
              <a:latin typeface="erdana"/>
            </a:endParaRPr>
          </a:p>
          <a:p>
            <a:pPr marL="2540" algn="just">
              <a:spcBef>
                <a:spcPts val="100"/>
              </a:spcBef>
              <a:buSzPct val="94444"/>
              <a:tabLst>
                <a:tab pos="91440" algn="l"/>
              </a:tabLst>
            </a:pPr>
            <a:endParaRPr lang="en-US" b="0" i="0" dirty="0">
              <a:solidFill>
                <a:srgbClr val="610B38"/>
              </a:solidFill>
              <a:effectLst/>
              <a:highlight>
                <a:srgbClr val="FFFFFF"/>
              </a:highlight>
              <a:latin typeface="erdana"/>
            </a:endParaRPr>
          </a:p>
          <a:p>
            <a:pPr marL="2540">
              <a:lnSpc>
                <a:spcPct val="100000"/>
              </a:lnSpc>
              <a:spcBef>
                <a:spcPts val="100"/>
              </a:spcBef>
              <a:buSzPct val="94444"/>
              <a:tabLst>
                <a:tab pos="91440" algn="l"/>
              </a:tabLst>
            </a:pPr>
            <a:endParaRPr sz="1800" dirty="0">
              <a:latin typeface="Arial MT"/>
              <a:cs typeface="Arial MT"/>
            </a:endParaRPr>
          </a:p>
        </p:txBody>
      </p:sp>
      <p:sp>
        <p:nvSpPr>
          <p:cNvPr id="5" name="TextBox 4">
            <a:extLst>
              <a:ext uri="{FF2B5EF4-FFF2-40B4-BE49-F238E27FC236}">
                <a16:creationId xmlns:a16="http://schemas.microsoft.com/office/drawing/2014/main" id="{D8535420-4CD1-6CE5-66C1-318A4F1DD5CB}"/>
              </a:ext>
            </a:extLst>
          </p:cNvPr>
          <p:cNvSpPr txBox="1"/>
          <p:nvPr/>
        </p:nvSpPr>
        <p:spPr>
          <a:xfrm>
            <a:off x="468198" y="2363209"/>
            <a:ext cx="8229600" cy="4124206"/>
          </a:xfrm>
          <a:prstGeom prst="rect">
            <a:avLst/>
          </a:prstGeom>
          <a:noFill/>
        </p:spPr>
        <p:txBody>
          <a:bodyPr wrap="square" rtlCol="0">
            <a:spAutoFit/>
          </a:bodyPr>
          <a:lstStyle/>
          <a:p>
            <a:r>
              <a:rPr lang="en-US" sz="2000" b="1" dirty="0"/>
              <a:t>Automatic Dependency Management:</a:t>
            </a:r>
          </a:p>
          <a:p>
            <a:pPr marL="342900" indent="-342900">
              <a:buFont typeface="Arial" panose="020B0604020202020204" pitchFamily="34" charset="0"/>
              <a:buChar char="•"/>
            </a:pPr>
            <a:r>
              <a:rPr lang="en-US" dirty="0"/>
              <a:t>Handles downloading and updating libraries.</a:t>
            </a:r>
          </a:p>
          <a:p>
            <a:pPr marL="342900" indent="-342900">
              <a:buFont typeface="Arial" panose="020B0604020202020204" pitchFamily="34" charset="0"/>
              <a:buChar char="•"/>
            </a:pPr>
            <a:r>
              <a:rPr lang="en-US" dirty="0"/>
              <a:t>Ensures the right versions of dependencies are used.</a:t>
            </a:r>
          </a:p>
          <a:p>
            <a:r>
              <a:rPr lang="en-US" sz="2000" b="1" dirty="0"/>
              <a:t>Standardized Project Structure:</a:t>
            </a:r>
          </a:p>
          <a:p>
            <a:pPr marL="342900" indent="-342900">
              <a:buFont typeface="Arial" panose="020B0604020202020204" pitchFamily="34" charset="0"/>
              <a:buChar char="•"/>
            </a:pPr>
            <a:r>
              <a:rPr lang="en-US" dirty="0"/>
              <a:t>Provides a consistent layout for projects.</a:t>
            </a:r>
          </a:p>
          <a:p>
            <a:pPr marL="342900" indent="-342900">
              <a:buFont typeface="Arial" panose="020B0604020202020204" pitchFamily="34" charset="0"/>
              <a:buChar char="•"/>
            </a:pPr>
            <a:r>
              <a:rPr lang="en-US" dirty="0"/>
              <a:t>Makes it easier to navigate and maintain code.</a:t>
            </a:r>
          </a:p>
          <a:p>
            <a:r>
              <a:rPr lang="en-US" sz="2000" b="1" dirty="0"/>
              <a:t>Build Automation:</a:t>
            </a:r>
          </a:p>
          <a:p>
            <a:pPr marL="342900" indent="-342900">
              <a:buFont typeface="Arial" panose="020B0604020202020204" pitchFamily="34" charset="0"/>
              <a:buChar char="•"/>
            </a:pPr>
            <a:r>
              <a:rPr lang="en-US" dirty="0"/>
              <a:t>Automates tasks such as compiling code, running tests, and packaging applications.</a:t>
            </a:r>
          </a:p>
          <a:p>
            <a:pPr marL="342900" indent="-342900">
              <a:buFont typeface="Arial" panose="020B0604020202020204" pitchFamily="34" charset="0"/>
              <a:buChar char="•"/>
            </a:pPr>
            <a:r>
              <a:rPr lang="en-US" dirty="0"/>
              <a:t>Supports different build profiles for development, testing, and production.</a:t>
            </a:r>
          </a:p>
          <a:p>
            <a:r>
              <a:rPr lang="en-US" sz="2000" b="1" dirty="0"/>
              <a:t>Integration with IDEs:</a:t>
            </a:r>
          </a:p>
          <a:p>
            <a:pPr marL="285750" indent="-285750">
              <a:buFont typeface="Arial" panose="020B0604020202020204" pitchFamily="34" charset="0"/>
              <a:buChar char="•"/>
            </a:pPr>
            <a:r>
              <a:rPr lang="en-US" dirty="0"/>
              <a:t>Seamlessly integrates with Eclipse via the Maven Integration (m2e) plugin.</a:t>
            </a:r>
          </a:p>
          <a:p>
            <a:pPr marL="285750" indent="-285750">
              <a:buFont typeface="Arial" panose="020B0604020202020204" pitchFamily="34" charset="0"/>
              <a:buChar char="•"/>
            </a:pPr>
            <a:r>
              <a:rPr lang="en-US" dirty="0"/>
              <a:t>Enhances productivity by managing Maven tasks within the IDE.</a:t>
            </a:r>
          </a:p>
          <a:p>
            <a:endParaRPr lang="en-US" sz="2000" dirty="0"/>
          </a:p>
        </p:txBody>
      </p:sp>
    </p:spTree>
    <p:extLst>
      <p:ext uri="{BB962C8B-B14F-4D97-AF65-F5344CB8AC3E}">
        <p14:creationId xmlns:p14="http://schemas.microsoft.com/office/powerpoint/2010/main" val="76100419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8404" y="1642853"/>
            <a:ext cx="9165996" cy="566181"/>
          </a:xfrm>
          <a:prstGeom prst="rect">
            <a:avLst/>
          </a:prstGeom>
        </p:spPr>
        <p:txBody>
          <a:bodyPr vert="horz" wrap="square" lIns="0" tIns="12065" rIns="0" bIns="0" rtlCol="0">
            <a:spAutoFit/>
          </a:bodyPr>
          <a:lstStyle/>
          <a:p>
            <a:pPr marL="2755265">
              <a:spcBef>
                <a:spcPts val="95"/>
              </a:spcBef>
            </a:pPr>
            <a:r>
              <a:rPr lang="en-IN" sz="3600" b="1" dirty="0">
                <a:latin typeface="+mj-lt"/>
              </a:rPr>
              <a:t>Benefits of Using Maven</a:t>
            </a:r>
            <a:r>
              <a:rPr lang="en-US" sz="3600" b="1" dirty="0">
                <a:latin typeface="+mj-lt"/>
              </a:rPr>
              <a:t>:</a:t>
            </a:r>
            <a:endParaRPr lang="en-US" sz="3600" b="1" spc="-50" dirty="0">
              <a:solidFill>
                <a:schemeClr val="tx1">
                  <a:lumMod val="95000"/>
                  <a:lumOff val="5000"/>
                </a:schemeClr>
              </a:solidFill>
              <a:latin typeface="+mj-lt"/>
            </a:endParaRPr>
          </a:p>
        </p:txBody>
      </p:sp>
      <p:pic>
        <p:nvPicPr>
          <p:cNvPr id="3" name="object 3"/>
          <p:cNvPicPr/>
          <p:nvPr/>
        </p:nvPicPr>
        <p:blipFill>
          <a:blip r:embed="rId2" cstate="print"/>
          <a:stretch>
            <a:fillRect/>
          </a:stretch>
        </p:blipFill>
        <p:spPr>
          <a:xfrm>
            <a:off x="8317992" y="6031991"/>
            <a:ext cx="609600" cy="609599"/>
          </a:xfrm>
          <a:prstGeom prst="rect">
            <a:avLst/>
          </a:prstGeom>
        </p:spPr>
      </p:pic>
      <p:sp>
        <p:nvSpPr>
          <p:cNvPr id="4" name="object 4"/>
          <p:cNvSpPr txBox="1"/>
          <p:nvPr/>
        </p:nvSpPr>
        <p:spPr>
          <a:xfrm>
            <a:off x="294843" y="2771013"/>
            <a:ext cx="8554085" cy="869469"/>
          </a:xfrm>
          <a:prstGeom prst="rect">
            <a:avLst/>
          </a:prstGeom>
        </p:spPr>
        <p:txBody>
          <a:bodyPr vert="horz" wrap="square" lIns="0" tIns="12700" rIns="0" bIns="0" rtlCol="0">
            <a:spAutoFit/>
          </a:bodyPr>
          <a:lstStyle/>
          <a:p>
            <a:pPr marL="2540" algn="just">
              <a:spcBef>
                <a:spcPts val="100"/>
              </a:spcBef>
              <a:buSzPct val="94444"/>
              <a:tabLst>
                <a:tab pos="91440" algn="l"/>
              </a:tabLst>
            </a:pPr>
            <a:endParaRPr lang="en-US" b="0" i="0" dirty="0">
              <a:solidFill>
                <a:srgbClr val="610B38"/>
              </a:solidFill>
              <a:effectLst/>
              <a:highlight>
                <a:srgbClr val="FFFFFF"/>
              </a:highlight>
              <a:latin typeface="erdana"/>
            </a:endParaRPr>
          </a:p>
          <a:p>
            <a:pPr marL="2540" algn="just">
              <a:spcBef>
                <a:spcPts val="100"/>
              </a:spcBef>
              <a:buSzPct val="94444"/>
              <a:tabLst>
                <a:tab pos="91440" algn="l"/>
              </a:tabLst>
            </a:pPr>
            <a:endParaRPr lang="en-US" b="0" i="0" dirty="0">
              <a:solidFill>
                <a:srgbClr val="610B38"/>
              </a:solidFill>
              <a:effectLst/>
              <a:highlight>
                <a:srgbClr val="FFFFFF"/>
              </a:highlight>
              <a:latin typeface="erdana"/>
            </a:endParaRPr>
          </a:p>
          <a:p>
            <a:pPr marL="2540">
              <a:lnSpc>
                <a:spcPct val="100000"/>
              </a:lnSpc>
              <a:spcBef>
                <a:spcPts val="100"/>
              </a:spcBef>
              <a:buSzPct val="94444"/>
              <a:tabLst>
                <a:tab pos="91440" algn="l"/>
              </a:tabLst>
            </a:pPr>
            <a:endParaRPr sz="1800" dirty="0">
              <a:latin typeface="Arial MT"/>
              <a:cs typeface="Arial MT"/>
            </a:endParaRPr>
          </a:p>
        </p:txBody>
      </p:sp>
      <p:sp>
        <p:nvSpPr>
          <p:cNvPr id="5" name="TextBox 4">
            <a:extLst>
              <a:ext uri="{FF2B5EF4-FFF2-40B4-BE49-F238E27FC236}">
                <a16:creationId xmlns:a16="http://schemas.microsoft.com/office/drawing/2014/main" id="{D8535420-4CD1-6CE5-66C1-318A4F1DD5CB}"/>
              </a:ext>
            </a:extLst>
          </p:cNvPr>
          <p:cNvSpPr txBox="1"/>
          <p:nvPr/>
        </p:nvSpPr>
        <p:spPr>
          <a:xfrm>
            <a:off x="468198" y="2363209"/>
            <a:ext cx="8229600" cy="2369880"/>
          </a:xfrm>
          <a:prstGeom prst="rect">
            <a:avLst/>
          </a:prstGeom>
          <a:noFill/>
        </p:spPr>
        <p:txBody>
          <a:bodyPr wrap="square" rtlCol="0">
            <a:spAutoFit/>
          </a:bodyPr>
          <a:lstStyle/>
          <a:p>
            <a:r>
              <a:rPr lang="en-US" sz="2000" b="1" dirty="0"/>
              <a:t>Plugin Ecosystem:</a:t>
            </a:r>
          </a:p>
          <a:p>
            <a:pPr marL="342900" indent="-342900">
              <a:buFont typeface="Arial" panose="020B0604020202020204" pitchFamily="34" charset="0"/>
              <a:buChar char="•"/>
            </a:pPr>
            <a:r>
              <a:rPr lang="en-US" dirty="0"/>
              <a:t>Extends Maven's functionality through a wide range of plugins.</a:t>
            </a:r>
          </a:p>
          <a:p>
            <a:pPr marL="342900" indent="-342900">
              <a:buFont typeface="Arial" panose="020B0604020202020204" pitchFamily="34" charset="0"/>
              <a:buChar char="•"/>
            </a:pPr>
            <a:r>
              <a:rPr lang="en-US" dirty="0"/>
              <a:t>Supports additional tasks like code quality checks and documentation generation.</a:t>
            </a:r>
          </a:p>
          <a:p>
            <a:r>
              <a:rPr lang="en-US" sz="2000" b="1" dirty="0"/>
              <a:t>Improved Collaboration:</a:t>
            </a:r>
          </a:p>
          <a:p>
            <a:pPr marL="285750" indent="-285750">
              <a:buFont typeface="Arial" panose="020B0604020202020204" pitchFamily="34" charset="0"/>
              <a:buChar char="•"/>
            </a:pPr>
            <a:r>
              <a:rPr lang="en-US" dirty="0"/>
              <a:t>Ensures a unified build process for all team members.</a:t>
            </a:r>
          </a:p>
          <a:p>
            <a:pPr marL="285750" indent="-285750">
              <a:buFont typeface="Arial" panose="020B0604020202020204" pitchFamily="34" charset="0"/>
              <a:buChar char="•"/>
            </a:pPr>
            <a:r>
              <a:rPr lang="en-US" dirty="0"/>
              <a:t>Simplifies dependency and configuration management across different environments.</a:t>
            </a:r>
          </a:p>
        </p:txBody>
      </p:sp>
    </p:spTree>
    <p:extLst>
      <p:ext uri="{BB962C8B-B14F-4D97-AF65-F5344CB8AC3E}">
        <p14:creationId xmlns:p14="http://schemas.microsoft.com/office/powerpoint/2010/main" val="167906540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24000" y="1678406"/>
            <a:ext cx="9994392" cy="566181"/>
          </a:xfrm>
          <a:prstGeom prst="rect">
            <a:avLst/>
          </a:prstGeom>
        </p:spPr>
        <p:txBody>
          <a:bodyPr vert="horz" wrap="square" lIns="0" tIns="12065" rIns="0" bIns="0" rtlCol="0">
            <a:spAutoFit/>
          </a:bodyPr>
          <a:lstStyle/>
          <a:p>
            <a:pPr marL="2755265">
              <a:spcBef>
                <a:spcPts val="95"/>
              </a:spcBef>
            </a:pPr>
            <a:r>
              <a:rPr lang="en-US" sz="3600" b="1" spc="-50" dirty="0">
                <a:solidFill>
                  <a:schemeClr val="tx1">
                    <a:lumMod val="95000"/>
                    <a:lumOff val="5000"/>
                  </a:schemeClr>
                </a:solidFill>
                <a:latin typeface="+mj-lt"/>
              </a:rPr>
              <a:t>How to Integrate Maven with Eclipse:</a:t>
            </a:r>
          </a:p>
        </p:txBody>
      </p:sp>
      <p:pic>
        <p:nvPicPr>
          <p:cNvPr id="3" name="object 3"/>
          <p:cNvPicPr/>
          <p:nvPr/>
        </p:nvPicPr>
        <p:blipFill>
          <a:blip r:embed="rId2" cstate="print"/>
          <a:stretch>
            <a:fillRect/>
          </a:stretch>
        </p:blipFill>
        <p:spPr>
          <a:xfrm>
            <a:off x="8317992" y="6031991"/>
            <a:ext cx="609600" cy="609599"/>
          </a:xfrm>
          <a:prstGeom prst="rect">
            <a:avLst/>
          </a:prstGeom>
        </p:spPr>
      </p:pic>
      <p:sp>
        <p:nvSpPr>
          <p:cNvPr id="4" name="object 4"/>
          <p:cNvSpPr txBox="1"/>
          <p:nvPr/>
        </p:nvSpPr>
        <p:spPr>
          <a:xfrm>
            <a:off x="294843" y="2771013"/>
            <a:ext cx="8554085" cy="869469"/>
          </a:xfrm>
          <a:prstGeom prst="rect">
            <a:avLst/>
          </a:prstGeom>
        </p:spPr>
        <p:txBody>
          <a:bodyPr vert="horz" wrap="square" lIns="0" tIns="12700" rIns="0" bIns="0" rtlCol="0">
            <a:spAutoFit/>
          </a:bodyPr>
          <a:lstStyle/>
          <a:p>
            <a:pPr marL="2540" algn="just">
              <a:spcBef>
                <a:spcPts val="100"/>
              </a:spcBef>
              <a:buSzPct val="94444"/>
              <a:tabLst>
                <a:tab pos="91440" algn="l"/>
              </a:tabLst>
            </a:pPr>
            <a:endParaRPr lang="en-US" b="0" i="0" dirty="0">
              <a:solidFill>
                <a:srgbClr val="610B38"/>
              </a:solidFill>
              <a:effectLst/>
              <a:highlight>
                <a:srgbClr val="FFFFFF"/>
              </a:highlight>
              <a:latin typeface="erdana"/>
            </a:endParaRPr>
          </a:p>
          <a:p>
            <a:pPr marL="2540" algn="just">
              <a:spcBef>
                <a:spcPts val="100"/>
              </a:spcBef>
              <a:buSzPct val="94444"/>
              <a:tabLst>
                <a:tab pos="91440" algn="l"/>
              </a:tabLst>
            </a:pPr>
            <a:endParaRPr lang="en-US" b="0" i="0" dirty="0">
              <a:solidFill>
                <a:srgbClr val="610B38"/>
              </a:solidFill>
              <a:effectLst/>
              <a:highlight>
                <a:srgbClr val="FFFFFF"/>
              </a:highlight>
              <a:latin typeface="erdana"/>
            </a:endParaRPr>
          </a:p>
          <a:p>
            <a:pPr marL="2540">
              <a:lnSpc>
                <a:spcPct val="100000"/>
              </a:lnSpc>
              <a:spcBef>
                <a:spcPts val="100"/>
              </a:spcBef>
              <a:buSzPct val="94444"/>
              <a:tabLst>
                <a:tab pos="91440" algn="l"/>
              </a:tabLst>
            </a:pPr>
            <a:endParaRPr sz="1800" dirty="0">
              <a:latin typeface="Arial MT"/>
              <a:cs typeface="Arial MT"/>
            </a:endParaRPr>
          </a:p>
        </p:txBody>
      </p:sp>
      <p:sp>
        <p:nvSpPr>
          <p:cNvPr id="5" name="TextBox 4">
            <a:extLst>
              <a:ext uri="{FF2B5EF4-FFF2-40B4-BE49-F238E27FC236}">
                <a16:creationId xmlns:a16="http://schemas.microsoft.com/office/drawing/2014/main" id="{D8535420-4CD1-6CE5-66C1-318A4F1DD5CB}"/>
              </a:ext>
            </a:extLst>
          </p:cNvPr>
          <p:cNvSpPr txBox="1"/>
          <p:nvPr/>
        </p:nvSpPr>
        <p:spPr>
          <a:xfrm>
            <a:off x="468198" y="2363209"/>
            <a:ext cx="8229600" cy="4247317"/>
          </a:xfrm>
          <a:prstGeom prst="rect">
            <a:avLst/>
          </a:prstGeom>
          <a:noFill/>
        </p:spPr>
        <p:txBody>
          <a:bodyPr wrap="square" rtlCol="0">
            <a:spAutoFit/>
          </a:bodyPr>
          <a:lstStyle/>
          <a:p>
            <a:r>
              <a:rPr lang="en-US" b="1" dirty="0"/>
              <a:t>Install Maven in Eclipse:</a:t>
            </a:r>
          </a:p>
          <a:p>
            <a:pPr marL="285750" indent="-285750">
              <a:buFont typeface="Arial" panose="020B0604020202020204" pitchFamily="34" charset="0"/>
              <a:buChar char="•"/>
            </a:pPr>
            <a:r>
              <a:rPr lang="en-US" dirty="0"/>
              <a:t>Go to Help &gt; Eclipse Marketplace.</a:t>
            </a:r>
          </a:p>
          <a:p>
            <a:pPr marL="285750" indent="-285750">
              <a:buFont typeface="Arial" panose="020B0604020202020204" pitchFamily="34" charset="0"/>
              <a:buChar char="•"/>
            </a:pPr>
            <a:r>
              <a:rPr lang="en-US" dirty="0"/>
              <a:t>Search for "Maven Integration for Eclipse" (m2e) and install it.</a:t>
            </a:r>
          </a:p>
          <a:p>
            <a:r>
              <a:rPr lang="en-US" b="1" dirty="0"/>
              <a:t>Create a Maven Project:</a:t>
            </a:r>
          </a:p>
          <a:p>
            <a:pPr marL="285750" indent="-285750">
              <a:buFont typeface="Arial" panose="020B0604020202020204" pitchFamily="34" charset="0"/>
              <a:buChar char="•"/>
            </a:pPr>
            <a:r>
              <a:rPr lang="en-US" dirty="0"/>
              <a:t>Click File &gt; New &gt; Other.</a:t>
            </a:r>
          </a:p>
          <a:p>
            <a:pPr marL="285750" indent="-285750">
              <a:buFont typeface="Arial" panose="020B0604020202020204" pitchFamily="34" charset="0"/>
              <a:buChar char="•"/>
            </a:pPr>
            <a:r>
              <a:rPr lang="en-US" dirty="0"/>
              <a:t>Select Maven Project and follow the prompts to set up your project.</a:t>
            </a:r>
          </a:p>
          <a:p>
            <a:r>
              <a:rPr lang="en-US" b="1" dirty="0"/>
              <a:t>Add Dependencies:</a:t>
            </a:r>
          </a:p>
          <a:p>
            <a:pPr marL="285750" indent="-285750">
              <a:buFont typeface="Arial" panose="020B0604020202020204" pitchFamily="34" charset="0"/>
              <a:buChar char="•"/>
            </a:pPr>
            <a:r>
              <a:rPr lang="en-US" dirty="0"/>
              <a:t>Open the pom.xml file in your Maven project.</a:t>
            </a:r>
          </a:p>
          <a:p>
            <a:pPr marL="285750" indent="-285750">
              <a:buFont typeface="Arial" panose="020B0604020202020204" pitchFamily="34" charset="0"/>
              <a:buChar char="•"/>
            </a:pPr>
            <a:r>
              <a:rPr lang="en-US" dirty="0"/>
              <a:t>Add required dependencies inside the &lt;dependencies&gt; tag. Maven will handle downloading and managing these libraries.</a:t>
            </a:r>
          </a:p>
          <a:p>
            <a:r>
              <a:rPr lang="en-US" b="1" dirty="0"/>
              <a:t>Build and Run the Project:</a:t>
            </a:r>
          </a:p>
          <a:p>
            <a:pPr marL="285750" indent="-285750">
              <a:buFont typeface="Arial" panose="020B0604020202020204" pitchFamily="34" charset="0"/>
              <a:buChar char="•"/>
            </a:pPr>
            <a:r>
              <a:rPr lang="en-US" dirty="0"/>
              <a:t>Right-click your project.</a:t>
            </a:r>
          </a:p>
          <a:p>
            <a:pPr marL="285750" indent="-285750">
              <a:buFont typeface="Arial" panose="020B0604020202020204" pitchFamily="34" charset="0"/>
              <a:buChar char="•"/>
            </a:pPr>
            <a:r>
              <a:rPr lang="en-US" dirty="0"/>
              <a:t>Select Run As &gt; Maven build.</a:t>
            </a:r>
          </a:p>
          <a:p>
            <a:pPr marL="285750" indent="-285750">
              <a:buFont typeface="Arial" panose="020B0604020202020204" pitchFamily="34" charset="0"/>
              <a:buChar char="•"/>
            </a:pPr>
            <a:r>
              <a:rPr lang="en-US" dirty="0"/>
              <a:t>Choose build goals (e.g., clean, install) to compile, test, and package your application.</a:t>
            </a:r>
          </a:p>
        </p:txBody>
      </p:sp>
    </p:spTree>
    <p:extLst>
      <p:ext uri="{BB962C8B-B14F-4D97-AF65-F5344CB8AC3E}">
        <p14:creationId xmlns:p14="http://schemas.microsoft.com/office/powerpoint/2010/main" val="62135549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24000" y="1678406"/>
            <a:ext cx="9994392" cy="566181"/>
          </a:xfrm>
          <a:prstGeom prst="rect">
            <a:avLst/>
          </a:prstGeom>
        </p:spPr>
        <p:txBody>
          <a:bodyPr vert="horz" wrap="square" lIns="0" tIns="12065" rIns="0" bIns="0" rtlCol="0">
            <a:spAutoFit/>
          </a:bodyPr>
          <a:lstStyle/>
          <a:p>
            <a:pPr marL="2755265">
              <a:spcBef>
                <a:spcPts val="95"/>
              </a:spcBef>
            </a:pPr>
            <a:r>
              <a:rPr lang="en-US" sz="3600" b="1" spc="-50" dirty="0">
                <a:solidFill>
                  <a:schemeClr val="tx1">
                    <a:lumMod val="95000"/>
                    <a:lumOff val="5000"/>
                  </a:schemeClr>
                </a:solidFill>
                <a:latin typeface="+mj-lt"/>
              </a:rPr>
              <a:t>Key Terms:</a:t>
            </a:r>
          </a:p>
        </p:txBody>
      </p:sp>
      <p:pic>
        <p:nvPicPr>
          <p:cNvPr id="3" name="object 3"/>
          <p:cNvPicPr/>
          <p:nvPr/>
        </p:nvPicPr>
        <p:blipFill>
          <a:blip r:embed="rId2" cstate="print"/>
          <a:stretch>
            <a:fillRect/>
          </a:stretch>
        </p:blipFill>
        <p:spPr>
          <a:xfrm>
            <a:off x="8317992" y="6031991"/>
            <a:ext cx="609600" cy="609599"/>
          </a:xfrm>
          <a:prstGeom prst="rect">
            <a:avLst/>
          </a:prstGeom>
        </p:spPr>
      </p:pic>
      <p:sp>
        <p:nvSpPr>
          <p:cNvPr id="4" name="object 4"/>
          <p:cNvSpPr txBox="1"/>
          <p:nvPr/>
        </p:nvSpPr>
        <p:spPr>
          <a:xfrm>
            <a:off x="294843" y="2771013"/>
            <a:ext cx="8554085" cy="869469"/>
          </a:xfrm>
          <a:prstGeom prst="rect">
            <a:avLst/>
          </a:prstGeom>
        </p:spPr>
        <p:txBody>
          <a:bodyPr vert="horz" wrap="square" lIns="0" tIns="12700" rIns="0" bIns="0" rtlCol="0">
            <a:spAutoFit/>
          </a:bodyPr>
          <a:lstStyle/>
          <a:p>
            <a:pPr marL="2540" algn="just">
              <a:spcBef>
                <a:spcPts val="100"/>
              </a:spcBef>
              <a:buSzPct val="94444"/>
              <a:tabLst>
                <a:tab pos="91440" algn="l"/>
              </a:tabLst>
            </a:pPr>
            <a:endParaRPr lang="en-US" b="0" i="0" dirty="0">
              <a:solidFill>
                <a:srgbClr val="610B38"/>
              </a:solidFill>
              <a:effectLst/>
              <a:highlight>
                <a:srgbClr val="FFFFFF"/>
              </a:highlight>
              <a:latin typeface="erdana"/>
            </a:endParaRPr>
          </a:p>
          <a:p>
            <a:pPr marL="2540" algn="just">
              <a:spcBef>
                <a:spcPts val="100"/>
              </a:spcBef>
              <a:buSzPct val="94444"/>
              <a:tabLst>
                <a:tab pos="91440" algn="l"/>
              </a:tabLst>
            </a:pPr>
            <a:endParaRPr lang="en-US" b="0" i="0" dirty="0">
              <a:solidFill>
                <a:srgbClr val="610B38"/>
              </a:solidFill>
              <a:effectLst/>
              <a:highlight>
                <a:srgbClr val="FFFFFF"/>
              </a:highlight>
              <a:latin typeface="erdana"/>
            </a:endParaRPr>
          </a:p>
          <a:p>
            <a:pPr marL="2540">
              <a:lnSpc>
                <a:spcPct val="100000"/>
              </a:lnSpc>
              <a:spcBef>
                <a:spcPts val="100"/>
              </a:spcBef>
              <a:buSzPct val="94444"/>
              <a:tabLst>
                <a:tab pos="91440" algn="l"/>
              </a:tabLst>
            </a:pPr>
            <a:endParaRPr sz="1800" dirty="0">
              <a:latin typeface="Arial MT"/>
              <a:cs typeface="Arial MT"/>
            </a:endParaRPr>
          </a:p>
        </p:txBody>
      </p:sp>
      <p:sp>
        <p:nvSpPr>
          <p:cNvPr id="5" name="TextBox 4">
            <a:extLst>
              <a:ext uri="{FF2B5EF4-FFF2-40B4-BE49-F238E27FC236}">
                <a16:creationId xmlns:a16="http://schemas.microsoft.com/office/drawing/2014/main" id="{D8535420-4CD1-6CE5-66C1-318A4F1DD5CB}"/>
              </a:ext>
            </a:extLst>
          </p:cNvPr>
          <p:cNvSpPr txBox="1"/>
          <p:nvPr/>
        </p:nvSpPr>
        <p:spPr>
          <a:xfrm>
            <a:off x="457085" y="2514600"/>
            <a:ext cx="8229600" cy="2585323"/>
          </a:xfrm>
          <a:prstGeom prst="rect">
            <a:avLst/>
          </a:prstGeom>
          <a:noFill/>
        </p:spPr>
        <p:txBody>
          <a:bodyPr wrap="square" rtlCol="0">
            <a:spAutoFit/>
          </a:bodyPr>
          <a:lstStyle/>
          <a:p>
            <a:pPr marL="285750" indent="-285750">
              <a:buFont typeface="Arial" panose="020B0604020202020204" pitchFamily="34" charset="0"/>
              <a:buChar char="•"/>
            </a:pPr>
            <a:r>
              <a:rPr lang="en-US" b="1" dirty="0"/>
              <a:t>POM (Project Object Model): </a:t>
            </a:r>
            <a:r>
              <a:rPr lang="en-US" dirty="0"/>
              <a:t>The pom.xml file is the core of a Maven project, containing configuration details and dependencies.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b="1" dirty="0"/>
              <a:t>Dependency: </a:t>
            </a:r>
            <a:r>
              <a:rPr lang="en-US" dirty="0"/>
              <a:t>External libraries required by your project.</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b="1" dirty="0"/>
              <a:t>Build Lifecycle: </a:t>
            </a:r>
            <a:r>
              <a:rPr lang="en-US" dirty="0"/>
              <a:t>The sequence of phases that define the build process, including clean, compile, test, package, and install.</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b="1" dirty="0"/>
              <a:t>Plugin: </a:t>
            </a:r>
            <a:r>
              <a:rPr lang="en-US" dirty="0"/>
              <a:t>An extension that adds specific functionalities to Maven.</a:t>
            </a:r>
          </a:p>
        </p:txBody>
      </p:sp>
    </p:spTree>
    <p:extLst>
      <p:ext uri="{BB962C8B-B14F-4D97-AF65-F5344CB8AC3E}">
        <p14:creationId xmlns:p14="http://schemas.microsoft.com/office/powerpoint/2010/main" val="240072507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9144000" cy="6858000"/>
            <a:chOff x="0" y="0"/>
            <a:chExt cx="9144000" cy="6858000"/>
          </a:xfrm>
        </p:grpSpPr>
        <p:pic>
          <p:nvPicPr>
            <p:cNvPr id="3" name="object 3"/>
            <p:cNvPicPr/>
            <p:nvPr/>
          </p:nvPicPr>
          <p:blipFill>
            <a:blip r:embed="rId2" cstate="print"/>
            <a:stretch>
              <a:fillRect/>
            </a:stretch>
          </p:blipFill>
          <p:spPr>
            <a:xfrm>
              <a:off x="0" y="0"/>
              <a:ext cx="9143999" cy="6857998"/>
            </a:xfrm>
            <a:prstGeom prst="rect">
              <a:avLst/>
            </a:prstGeom>
          </p:spPr>
        </p:pic>
        <p:pic>
          <p:nvPicPr>
            <p:cNvPr id="4" name="object 4"/>
            <p:cNvPicPr/>
            <p:nvPr/>
          </p:nvPicPr>
          <p:blipFill>
            <a:blip r:embed="rId3" cstate="print"/>
            <a:stretch>
              <a:fillRect/>
            </a:stretch>
          </p:blipFill>
          <p:spPr>
            <a:xfrm>
              <a:off x="1857755" y="3072383"/>
              <a:ext cx="5430012" cy="2802636"/>
            </a:xfrm>
            <a:prstGeom prst="rect">
              <a:avLst/>
            </a:prstGeom>
          </p:spPr>
        </p:pic>
        <p:sp>
          <p:nvSpPr>
            <p:cNvPr id="5" name="object 5"/>
            <p:cNvSpPr/>
            <p:nvPr/>
          </p:nvSpPr>
          <p:spPr>
            <a:xfrm>
              <a:off x="0" y="1568196"/>
              <a:ext cx="9127490" cy="643255"/>
            </a:xfrm>
            <a:custGeom>
              <a:avLst/>
              <a:gdLst/>
              <a:ahLst/>
              <a:cxnLst/>
              <a:rect l="l" t="t" r="r" b="b"/>
              <a:pathLst>
                <a:path w="9127490" h="643255">
                  <a:moveTo>
                    <a:pt x="9127236" y="0"/>
                  </a:moveTo>
                  <a:lnTo>
                    <a:pt x="0" y="0"/>
                  </a:lnTo>
                  <a:lnTo>
                    <a:pt x="0" y="643127"/>
                  </a:lnTo>
                  <a:lnTo>
                    <a:pt x="9127236" y="643127"/>
                  </a:lnTo>
                  <a:lnTo>
                    <a:pt x="9127236" y="0"/>
                  </a:lnTo>
                  <a:close/>
                </a:path>
              </a:pathLst>
            </a:custGeom>
            <a:solidFill>
              <a:srgbClr val="1F487C"/>
            </a:solidFill>
          </p:spPr>
          <p:txBody>
            <a:bodyPr wrap="square" lIns="0" tIns="0" rIns="0" bIns="0" rtlCol="0"/>
            <a:lstStyle/>
            <a:p>
              <a:endParaRPr/>
            </a:p>
          </p:txBody>
        </p:sp>
      </p:grpSp>
      <p:sp>
        <p:nvSpPr>
          <p:cNvPr id="6" name="object 6"/>
          <p:cNvSpPr txBox="1">
            <a:spLocks noGrp="1"/>
          </p:cNvSpPr>
          <p:nvPr>
            <p:ph type="title"/>
          </p:nvPr>
        </p:nvSpPr>
        <p:spPr>
          <a:xfrm>
            <a:off x="990600" y="3506879"/>
            <a:ext cx="5638801" cy="1120178"/>
          </a:xfrm>
          <a:prstGeom prst="rect">
            <a:avLst/>
          </a:prstGeom>
        </p:spPr>
        <p:txBody>
          <a:bodyPr vert="horz" wrap="square" lIns="0" tIns="12065" rIns="0" bIns="0" rtlCol="0">
            <a:spAutoFit/>
          </a:bodyPr>
          <a:lstStyle/>
          <a:p>
            <a:pPr marL="1316355">
              <a:lnSpc>
                <a:spcPct val="100000"/>
              </a:lnSpc>
              <a:spcBef>
                <a:spcPts val="95"/>
              </a:spcBef>
            </a:pPr>
            <a:r>
              <a:rPr lang="en-IN" sz="7200" b="1" spc="-10" dirty="0">
                <a:highlight>
                  <a:srgbClr val="C0C0C0"/>
                </a:highlight>
                <a:latin typeface="Arial"/>
                <a:cs typeface="Arial"/>
              </a:rPr>
              <a:t>POM.xml</a:t>
            </a:r>
          </a:p>
        </p:txBody>
      </p:sp>
    </p:spTree>
    <p:extLst>
      <p:ext uri="{BB962C8B-B14F-4D97-AF65-F5344CB8AC3E}">
        <p14:creationId xmlns:p14="http://schemas.microsoft.com/office/powerpoint/2010/main" val="139811530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9144000" cy="6858000"/>
            <a:chOff x="0" y="0"/>
            <a:chExt cx="9144000" cy="6858000"/>
          </a:xfrm>
        </p:grpSpPr>
        <p:pic>
          <p:nvPicPr>
            <p:cNvPr id="3" name="object 3"/>
            <p:cNvPicPr/>
            <p:nvPr/>
          </p:nvPicPr>
          <p:blipFill>
            <a:blip r:embed="rId2" cstate="print"/>
            <a:stretch>
              <a:fillRect/>
            </a:stretch>
          </p:blipFill>
          <p:spPr>
            <a:xfrm>
              <a:off x="0" y="0"/>
              <a:ext cx="9143999" cy="6857998"/>
            </a:xfrm>
            <a:prstGeom prst="rect">
              <a:avLst/>
            </a:prstGeom>
          </p:spPr>
        </p:pic>
        <p:pic>
          <p:nvPicPr>
            <p:cNvPr id="4" name="object 4"/>
            <p:cNvPicPr/>
            <p:nvPr/>
          </p:nvPicPr>
          <p:blipFill>
            <a:blip r:embed="rId3" cstate="print"/>
            <a:stretch>
              <a:fillRect/>
            </a:stretch>
          </p:blipFill>
          <p:spPr>
            <a:xfrm>
              <a:off x="1857755" y="3072383"/>
              <a:ext cx="5430012" cy="2802636"/>
            </a:xfrm>
            <a:prstGeom prst="rect">
              <a:avLst/>
            </a:prstGeom>
          </p:spPr>
        </p:pic>
        <p:sp>
          <p:nvSpPr>
            <p:cNvPr id="5" name="object 5"/>
            <p:cNvSpPr/>
            <p:nvPr/>
          </p:nvSpPr>
          <p:spPr>
            <a:xfrm>
              <a:off x="0" y="1568196"/>
              <a:ext cx="9127490" cy="643255"/>
            </a:xfrm>
            <a:custGeom>
              <a:avLst/>
              <a:gdLst/>
              <a:ahLst/>
              <a:cxnLst/>
              <a:rect l="l" t="t" r="r" b="b"/>
              <a:pathLst>
                <a:path w="9127490" h="643255">
                  <a:moveTo>
                    <a:pt x="9127236" y="0"/>
                  </a:moveTo>
                  <a:lnTo>
                    <a:pt x="0" y="0"/>
                  </a:lnTo>
                  <a:lnTo>
                    <a:pt x="0" y="643127"/>
                  </a:lnTo>
                  <a:lnTo>
                    <a:pt x="9127236" y="643127"/>
                  </a:lnTo>
                  <a:lnTo>
                    <a:pt x="9127236" y="0"/>
                  </a:lnTo>
                  <a:close/>
                </a:path>
              </a:pathLst>
            </a:custGeom>
            <a:solidFill>
              <a:srgbClr val="1F487C"/>
            </a:solidFill>
          </p:spPr>
          <p:txBody>
            <a:bodyPr wrap="square" lIns="0" tIns="0" rIns="0" bIns="0" rtlCol="0"/>
            <a:lstStyle/>
            <a:p>
              <a:endParaRPr/>
            </a:p>
          </p:txBody>
        </p:sp>
      </p:grpSp>
      <p:sp>
        <p:nvSpPr>
          <p:cNvPr id="6" name="object 6"/>
          <p:cNvSpPr txBox="1">
            <a:spLocks noGrp="1"/>
          </p:cNvSpPr>
          <p:nvPr>
            <p:ph type="title"/>
          </p:nvPr>
        </p:nvSpPr>
        <p:spPr>
          <a:xfrm>
            <a:off x="-457200" y="1752044"/>
            <a:ext cx="8605519" cy="443070"/>
          </a:xfrm>
          <a:prstGeom prst="rect">
            <a:avLst/>
          </a:prstGeom>
        </p:spPr>
        <p:txBody>
          <a:bodyPr vert="horz" wrap="square" lIns="0" tIns="12065" rIns="0" bIns="0" rtlCol="0">
            <a:spAutoFit/>
          </a:bodyPr>
          <a:lstStyle/>
          <a:p>
            <a:pPr marL="1316355">
              <a:lnSpc>
                <a:spcPct val="100000"/>
              </a:lnSpc>
              <a:spcBef>
                <a:spcPts val="95"/>
              </a:spcBef>
            </a:pPr>
            <a:r>
              <a:rPr lang="en-IN" b="1" spc="-10" dirty="0">
                <a:latin typeface="Arial"/>
                <a:cs typeface="Arial"/>
              </a:rPr>
              <a:t>What is POM file?</a:t>
            </a:r>
            <a:endParaRPr b="1" spc="-10" dirty="0">
              <a:latin typeface="Arial"/>
              <a:cs typeface="Arial"/>
            </a:endParaRPr>
          </a:p>
        </p:txBody>
      </p:sp>
      <p:sp>
        <p:nvSpPr>
          <p:cNvPr id="7" name="object 7"/>
          <p:cNvSpPr txBox="1"/>
          <p:nvPr/>
        </p:nvSpPr>
        <p:spPr>
          <a:xfrm>
            <a:off x="457199" y="2428216"/>
            <a:ext cx="8229600" cy="3475310"/>
          </a:xfrm>
          <a:prstGeom prst="rect">
            <a:avLst/>
          </a:prstGeom>
        </p:spPr>
        <p:txBody>
          <a:bodyPr vert="horz" wrap="square" lIns="0" tIns="12700" rIns="0" bIns="0" rtlCol="0">
            <a:spAutoFit/>
          </a:bodyPr>
          <a:lstStyle/>
          <a:p>
            <a:pPr marL="355600" marR="5080" indent="-342900">
              <a:spcBef>
                <a:spcPts val="100"/>
              </a:spcBef>
              <a:buFont typeface="Arial" panose="020B0604020202020204" pitchFamily="34" charset="0"/>
              <a:buChar char="•"/>
            </a:pPr>
            <a:r>
              <a:rPr lang="en-US" sz="2000" dirty="0">
                <a:latin typeface="+mn-lt"/>
                <a:cs typeface="Arial MT"/>
              </a:rPr>
              <a:t>A Project Object Model or POM is the fundamental unit of work in Maven.</a:t>
            </a:r>
          </a:p>
          <a:p>
            <a:pPr marL="355600" marR="5080" indent="-342900">
              <a:spcBef>
                <a:spcPts val="100"/>
              </a:spcBef>
              <a:buFont typeface="Arial" panose="020B0604020202020204" pitchFamily="34" charset="0"/>
              <a:buChar char="•"/>
            </a:pPr>
            <a:r>
              <a:rPr lang="en-US" sz="2000" dirty="0">
                <a:latin typeface="+mn-lt"/>
                <a:cs typeface="Arial MT"/>
              </a:rPr>
              <a:t>It is an XML file that contains information about the project and configuration details used by Maven to import dependencies and to build the project.</a:t>
            </a:r>
          </a:p>
          <a:p>
            <a:pPr marL="355600" marR="5080" indent="-342900">
              <a:spcBef>
                <a:spcPts val="100"/>
              </a:spcBef>
              <a:buFont typeface="Arial" panose="020B0604020202020204" pitchFamily="34" charset="0"/>
              <a:buChar char="•"/>
            </a:pPr>
            <a:r>
              <a:rPr lang="en-US" sz="2000" dirty="0">
                <a:latin typeface="+mn-lt"/>
                <a:cs typeface="Arial MT"/>
              </a:rPr>
              <a:t>Maven looks for the POM in the current directory. It reads the POM, gets the needed configuration information, then executes the goal.</a:t>
            </a:r>
          </a:p>
          <a:p>
            <a:pPr marL="355600" marR="5080" indent="-342900">
              <a:spcBef>
                <a:spcPts val="100"/>
              </a:spcBef>
              <a:buFont typeface="Arial" panose="020B0604020202020204" pitchFamily="34" charset="0"/>
              <a:buChar char="•"/>
            </a:pPr>
            <a:r>
              <a:rPr lang="en-US" sz="2000" dirty="0">
                <a:latin typeface="+mn-lt"/>
                <a:cs typeface="Arial MT"/>
              </a:rPr>
              <a:t>Few things to notice are:</a:t>
            </a:r>
          </a:p>
          <a:p>
            <a:pPr marL="12700" marR="5080">
              <a:spcBef>
                <a:spcPts val="100"/>
              </a:spcBef>
            </a:pPr>
            <a:r>
              <a:rPr lang="en-US" sz="2000" dirty="0">
                <a:latin typeface="+mn-lt"/>
                <a:cs typeface="Arial MT"/>
              </a:rPr>
              <a:t>	Default repo is maven repository.</a:t>
            </a:r>
          </a:p>
          <a:p>
            <a:pPr marL="12700" marR="5080">
              <a:spcBef>
                <a:spcPts val="100"/>
              </a:spcBef>
            </a:pPr>
            <a:r>
              <a:rPr lang="en-US" sz="2000" dirty="0">
                <a:latin typeface="+mn-lt"/>
                <a:cs typeface="Arial MT"/>
              </a:rPr>
              <a:t>	Default execution goal is ‘jar’.</a:t>
            </a:r>
          </a:p>
          <a:p>
            <a:pPr marL="12700" marR="5080">
              <a:spcBef>
                <a:spcPts val="100"/>
              </a:spcBef>
            </a:pPr>
            <a:r>
              <a:rPr lang="en-US" sz="2000" dirty="0">
                <a:latin typeface="+mn-lt"/>
                <a:cs typeface="Arial MT"/>
              </a:rPr>
              <a:t>	Default source code location is </a:t>
            </a:r>
            <a:r>
              <a:rPr lang="en-US" sz="2000" dirty="0" err="1">
                <a:latin typeface="+mn-lt"/>
                <a:cs typeface="Arial MT"/>
              </a:rPr>
              <a:t>src</a:t>
            </a:r>
            <a:r>
              <a:rPr lang="en-US" sz="2000" dirty="0">
                <a:latin typeface="+mn-lt"/>
                <a:cs typeface="Arial MT"/>
              </a:rPr>
              <a:t>/main/java. </a:t>
            </a:r>
          </a:p>
          <a:p>
            <a:pPr marL="12700" marR="5080">
              <a:spcBef>
                <a:spcPts val="100"/>
              </a:spcBef>
            </a:pPr>
            <a:r>
              <a:rPr lang="en-US" sz="2000" dirty="0">
                <a:latin typeface="+mn-lt"/>
                <a:cs typeface="Arial MT"/>
              </a:rPr>
              <a:t>	Default test code location is </a:t>
            </a:r>
            <a:r>
              <a:rPr lang="en-US" sz="2000" dirty="0" err="1">
                <a:latin typeface="+mn-lt"/>
                <a:cs typeface="Arial MT"/>
              </a:rPr>
              <a:t>src</a:t>
            </a:r>
            <a:r>
              <a:rPr lang="en-US" sz="2000" dirty="0">
                <a:latin typeface="+mn-lt"/>
                <a:cs typeface="Arial MT"/>
              </a:rPr>
              <a:t>/test/java.</a:t>
            </a:r>
            <a:endParaRPr sz="2000" dirty="0">
              <a:latin typeface="+mn-lt"/>
              <a:cs typeface="Arial MT"/>
            </a:endParaRPr>
          </a:p>
        </p:txBody>
      </p:sp>
    </p:spTree>
    <p:extLst>
      <p:ext uri="{BB962C8B-B14F-4D97-AF65-F5344CB8AC3E}">
        <p14:creationId xmlns:p14="http://schemas.microsoft.com/office/powerpoint/2010/main" val="154401982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9144000" cy="6858000"/>
            <a:chOff x="0" y="0"/>
            <a:chExt cx="9144000" cy="6858000"/>
          </a:xfrm>
        </p:grpSpPr>
        <p:pic>
          <p:nvPicPr>
            <p:cNvPr id="3" name="object 3"/>
            <p:cNvPicPr/>
            <p:nvPr/>
          </p:nvPicPr>
          <p:blipFill>
            <a:blip r:embed="rId2" cstate="print"/>
            <a:stretch>
              <a:fillRect/>
            </a:stretch>
          </p:blipFill>
          <p:spPr>
            <a:xfrm>
              <a:off x="0" y="0"/>
              <a:ext cx="9143999" cy="6857998"/>
            </a:xfrm>
            <a:prstGeom prst="rect">
              <a:avLst/>
            </a:prstGeom>
          </p:spPr>
        </p:pic>
        <p:pic>
          <p:nvPicPr>
            <p:cNvPr id="4" name="object 4"/>
            <p:cNvPicPr/>
            <p:nvPr/>
          </p:nvPicPr>
          <p:blipFill>
            <a:blip r:embed="rId3" cstate="print"/>
            <a:stretch>
              <a:fillRect/>
            </a:stretch>
          </p:blipFill>
          <p:spPr>
            <a:xfrm>
              <a:off x="1857755" y="3072383"/>
              <a:ext cx="5430012" cy="2802636"/>
            </a:xfrm>
            <a:prstGeom prst="rect">
              <a:avLst/>
            </a:prstGeom>
          </p:spPr>
        </p:pic>
        <p:sp>
          <p:nvSpPr>
            <p:cNvPr id="5" name="object 5"/>
            <p:cNvSpPr/>
            <p:nvPr/>
          </p:nvSpPr>
          <p:spPr>
            <a:xfrm>
              <a:off x="0" y="1568196"/>
              <a:ext cx="9127490" cy="643255"/>
            </a:xfrm>
            <a:custGeom>
              <a:avLst/>
              <a:gdLst/>
              <a:ahLst/>
              <a:cxnLst/>
              <a:rect l="l" t="t" r="r" b="b"/>
              <a:pathLst>
                <a:path w="9127490" h="643255">
                  <a:moveTo>
                    <a:pt x="9127236" y="0"/>
                  </a:moveTo>
                  <a:lnTo>
                    <a:pt x="0" y="0"/>
                  </a:lnTo>
                  <a:lnTo>
                    <a:pt x="0" y="643127"/>
                  </a:lnTo>
                  <a:lnTo>
                    <a:pt x="9127236" y="643127"/>
                  </a:lnTo>
                  <a:lnTo>
                    <a:pt x="9127236" y="0"/>
                  </a:lnTo>
                  <a:close/>
                </a:path>
              </a:pathLst>
            </a:custGeom>
            <a:solidFill>
              <a:srgbClr val="1F487C"/>
            </a:solidFill>
          </p:spPr>
          <p:txBody>
            <a:bodyPr wrap="square" lIns="0" tIns="0" rIns="0" bIns="0" rtlCol="0"/>
            <a:lstStyle/>
            <a:p>
              <a:endParaRPr/>
            </a:p>
          </p:txBody>
        </p:sp>
      </p:grpSp>
      <p:sp>
        <p:nvSpPr>
          <p:cNvPr id="6" name="object 6"/>
          <p:cNvSpPr txBox="1">
            <a:spLocks noGrp="1"/>
          </p:cNvSpPr>
          <p:nvPr>
            <p:ph type="title"/>
          </p:nvPr>
        </p:nvSpPr>
        <p:spPr>
          <a:xfrm>
            <a:off x="-36148" y="1637510"/>
            <a:ext cx="3399535" cy="504625"/>
          </a:xfrm>
          <a:prstGeom prst="rect">
            <a:avLst/>
          </a:prstGeom>
        </p:spPr>
        <p:txBody>
          <a:bodyPr vert="horz" wrap="square" lIns="0" tIns="12065" rIns="0" bIns="0" rtlCol="0">
            <a:spAutoFit/>
          </a:bodyPr>
          <a:lstStyle/>
          <a:p>
            <a:pPr marL="1316355">
              <a:lnSpc>
                <a:spcPct val="100000"/>
              </a:lnSpc>
              <a:spcBef>
                <a:spcPts val="95"/>
              </a:spcBef>
            </a:pPr>
            <a:r>
              <a:rPr lang="en-IN" sz="3200" b="1" spc="-10" dirty="0">
                <a:latin typeface="Arial"/>
                <a:cs typeface="Arial"/>
              </a:rPr>
              <a:t>Example</a:t>
            </a:r>
            <a:endParaRPr sz="3200" b="1" spc="-10" dirty="0">
              <a:latin typeface="Arial"/>
              <a:cs typeface="Arial"/>
            </a:endParaRPr>
          </a:p>
        </p:txBody>
      </p:sp>
      <p:sp>
        <p:nvSpPr>
          <p:cNvPr id="7" name="object 7"/>
          <p:cNvSpPr txBox="1"/>
          <p:nvPr/>
        </p:nvSpPr>
        <p:spPr>
          <a:xfrm>
            <a:off x="381000" y="2339847"/>
            <a:ext cx="8305799" cy="4116512"/>
          </a:xfrm>
          <a:prstGeom prst="rect">
            <a:avLst/>
          </a:prstGeom>
        </p:spPr>
        <p:txBody>
          <a:bodyPr vert="horz" wrap="square" lIns="0" tIns="12700" rIns="0" bIns="0" rtlCol="0">
            <a:spAutoFit/>
          </a:bodyPr>
          <a:lstStyle/>
          <a:p>
            <a:pPr marL="12700" marR="5080">
              <a:spcBef>
                <a:spcPts val="100"/>
              </a:spcBef>
            </a:pPr>
            <a:r>
              <a:rPr lang="en-IN" sz="2000" dirty="0">
                <a:solidFill>
                  <a:schemeClr val="accent6"/>
                </a:solidFill>
                <a:latin typeface="+mn-lt"/>
                <a:cs typeface="Arial MT"/>
              </a:rPr>
              <a:t>&lt;?</a:t>
            </a:r>
            <a:r>
              <a:rPr lang="en-IN" sz="2000" dirty="0">
                <a:solidFill>
                  <a:srgbClr val="0070C0"/>
                </a:solidFill>
                <a:latin typeface="+mn-lt"/>
                <a:cs typeface="Arial MT"/>
              </a:rPr>
              <a:t>xml</a:t>
            </a:r>
            <a:r>
              <a:rPr lang="en-IN" sz="2000" dirty="0">
                <a:latin typeface="+mn-lt"/>
                <a:cs typeface="Arial MT"/>
              </a:rPr>
              <a:t> </a:t>
            </a:r>
            <a:r>
              <a:rPr lang="en-IN" sz="2000" dirty="0">
                <a:solidFill>
                  <a:schemeClr val="tx1">
                    <a:lumMod val="50000"/>
                    <a:lumOff val="50000"/>
                  </a:schemeClr>
                </a:solidFill>
                <a:latin typeface="+mn-lt"/>
                <a:cs typeface="Arial MT"/>
              </a:rPr>
              <a:t>version</a:t>
            </a:r>
            <a:r>
              <a:rPr lang="en-IN" sz="2000" dirty="0">
                <a:solidFill>
                  <a:schemeClr val="accent6"/>
                </a:solidFill>
                <a:latin typeface="+mn-lt"/>
                <a:cs typeface="Arial MT"/>
              </a:rPr>
              <a:t>=</a:t>
            </a:r>
            <a:r>
              <a:rPr lang="en-IN" sz="2000" dirty="0">
                <a:latin typeface="+mn-lt"/>
                <a:cs typeface="Arial MT"/>
              </a:rPr>
              <a:t>"</a:t>
            </a:r>
            <a:r>
              <a:rPr lang="en-IN" sz="2000" dirty="0">
                <a:solidFill>
                  <a:schemeClr val="accent6"/>
                </a:solidFill>
                <a:latin typeface="+mn-lt"/>
                <a:cs typeface="Arial MT"/>
              </a:rPr>
              <a:t>1.0</a:t>
            </a:r>
            <a:r>
              <a:rPr lang="en-IN" sz="2000" dirty="0">
                <a:latin typeface="+mn-lt"/>
                <a:cs typeface="Arial MT"/>
              </a:rPr>
              <a:t>" </a:t>
            </a:r>
            <a:r>
              <a:rPr lang="en-IN" sz="2000" dirty="0">
                <a:solidFill>
                  <a:schemeClr val="tx1">
                    <a:lumMod val="50000"/>
                    <a:lumOff val="50000"/>
                  </a:schemeClr>
                </a:solidFill>
                <a:latin typeface="+mn-lt"/>
                <a:cs typeface="Arial MT"/>
              </a:rPr>
              <a:t>encoding</a:t>
            </a:r>
            <a:r>
              <a:rPr lang="en-IN" sz="2000" dirty="0">
                <a:solidFill>
                  <a:schemeClr val="accent6"/>
                </a:solidFill>
                <a:latin typeface="+mn-lt"/>
                <a:cs typeface="Arial MT"/>
              </a:rPr>
              <a:t>=</a:t>
            </a:r>
            <a:r>
              <a:rPr lang="en-IN" sz="2000" dirty="0">
                <a:latin typeface="+mn-lt"/>
                <a:cs typeface="Arial MT"/>
              </a:rPr>
              <a:t>"</a:t>
            </a:r>
            <a:r>
              <a:rPr lang="en-IN" sz="2000" dirty="0">
                <a:solidFill>
                  <a:schemeClr val="accent6"/>
                </a:solidFill>
                <a:latin typeface="+mn-lt"/>
                <a:cs typeface="Arial MT"/>
              </a:rPr>
              <a:t>UTF-8</a:t>
            </a:r>
            <a:r>
              <a:rPr lang="en-IN" sz="2000" dirty="0">
                <a:latin typeface="+mn-lt"/>
                <a:cs typeface="Arial MT"/>
              </a:rPr>
              <a:t>" </a:t>
            </a:r>
            <a:r>
              <a:rPr lang="en-IN" sz="2000" dirty="0">
                <a:solidFill>
                  <a:schemeClr val="tx1">
                    <a:lumMod val="50000"/>
                    <a:lumOff val="50000"/>
                  </a:schemeClr>
                </a:solidFill>
                <a:latin typeface="+mn-lt"/>
                <a:cs typeface="Arial MT"/>
              </a:rPr>
              <a:t>standalone</a:t>
            </a:r>
            <a:r>
              <a:rPr lang="en-IN" sz="2000" dirty="0">
                <a:solidFill>
                  <a:schemeClr val="accent6"/>
                </a:solidFill>
                <a:latin typeface="+mn-lt"/>
                <a:cs typeface="Arial MT"/>
              </a:rPr>
              <a:t>=</a:t>
            </a:r>
            <a:r>
              <a:rPr lang="en-IN" sz="2000" dirty="0">
                <a:latin typeface="+mn-lt"/>
                <a:cs typeface="Arial MT"/>
              </a:rPr>
              <a:t>"</a:t>
            </a:r>
            <a:r>
              <a:rPr lang="en-IN" sz="2000" dirty="0">
                <a:solidFill>
                  <a:schemeClr val="accent6"/>
                </a:solidFill>
                <a:latin typeface="+mn-lt"/>
                <a:cs typeface="Arial MT"/>
              </a:rPr>
              <a:t>no</a:t>
            </a:r>
            <a:r>
              <a:rPr lang="en-IN" sz="2000" dirty="0">
                <a:latin typeface="+mn-lt"/>
                <a:cs typeface="Arial MT"/>
              </a:rPr>
              <a:t>" </a:t>
            </a:r>
            <a:r>
              <a:rPr lang="en-IN" sz="2000" dirty="0">
                <a:solidFill>
                  <a:schemeClr val="accent6"/>
                </a:solidFill>
                <a:latin typeface="+mn-lt"/>
                <a:cs typeface="Arial MT"/>
              </a:rPr>
              <a:t>?&gt;</a:t>
            </a:r>
          </a:p>
          <a:p>
            <a:pPr marL="12700" marR="5080">
              <a:spcBef>
                <a:spcPts val="100"/>
              </a:spcBef>
            </a:pPr>
            <a:r>
              <a:rPr lang="en-IN" sz="2000" dirty="0">
                <a:latin typeface="+mn-lt"/>
                <a:cs typeface="Arial MT"/>
              </a:rPr>
              <a:t>&lt;</a:t>
            </a:r>
            <a:r>
              <a:rPr lang="en-IN" sz="2000" dirty="0">
                <a:solidFill>
                  <a:srgbClr val="0070C0"/>
                </a:solidFill>
                <a:latin typeface="+mn-lt"/>
                <a:cs typeface="Arial MT"/>
              </a:rPr>
              <a:t>project</a:t>
            </a:r>
            <a:r>
              <a:rPr lang="en-IN" sz="2000" dirty="0">
                <a:latin typeface="+mn-lt"/>
                <a:cs typeface="Arial MT"/>
              </a:rPr>
              <a:t> </a:t>
            </a:r>
            <a:r>
              <a:rPr lang="en-IN" sz="2000" dirty="0" err="1">
                <a:solidFill>
                  <a:schemeClr val="tx1">
                    <a:lumMod val="50000"/>
                    <a:lumOff val="50000"/>
                  </a:schemeClr>
                </a:solidFill>
                <a:latin typeface="+mn-lt"/>
                <a:cs typeface="Arial MT"/>
              </a:rPr>
              <a:t>xmlns</a:t>
            </a:r>
            <a:r>
              <a:rPr lang="en-IN" sz="2000" dirty="0">
                <a:latin typeface="+mn-lt"/>
                <a:cs typeface="Arial MT"/>
              </a:rPr>
              <a:t>="</a:t>
            </a:r>
            <a:r>
              <a:rPr lang="en-IN" sz="2000" dirty="0">
                <a:solidFill>
                  <a:srgbClr val="00B050"/>
                </a:solidFill>
                <a:latin typeface="+mn-lt"/>
                <a:cs typeface="Arial MT"/>
              </a:rPr>
              <a:t>http://maven.apache.org/POM/4.0.0</a:t>
            </a:r>
            <a:r>
              <a:rPr lang="en-IN" sz="2000" dirty="0">
                <a:latin typeface="+mn-lt"/>
                <a:cs typeface="Arial MT"/>
              </a:rPr>
              <a:t>"</a:t>
            </a:r>
            <a:r>
              <a:rPr lang="en-IN" sz="2000" dirty="0">
                <a:solidFill>
                  <a:schemeClr val="tx1">
                    <a:lumMod val="50000"/>
                    <a:lumOff val="50000"/>
                  </a:schemeClr>
                </a:solidFill>
                <a:latin typeface="+mn-lt"/>
                <a:cs typeface="Arial MT"/>
              </a:rPr>
              <a:t>xmins:xsi</a:t>
            </a:r>
            <a:r>
              <a:rPr lang="en-IN" sz="2000" dirty="0">
                <a:latin typeface="+mn-lt"/>
                <a:cs typeface="Arial MT"/>
              </a:rPr>
              <a:t>="</a:t>
            </a:r>
            <a:r>
              <a:rPr lang="en-IN" sz="2000" dirty="0" err="1">
                <a:solidFill>
                  <a:srgbClr val="00B050"/>
                </a:solidFill>
                <a:latin typeface="+mn-lt"/>
                <a:cs typeface="Arial MT"/>
              </a:rPr>
              <a:t>ht</a:t>
            </a:r>
            <a:endParaRPr lang="en-IN" sz="2000" dirty="0">
              <a:solidFill>
                <a:srgbClr val="00B050"/>
              </a:solidFill>
              <a:latin typeface="+mn-lt"/>
              <a:cs typeface="Arial MT"/>
            </a:endParaRPr>
          </a:p>
          <a:p>
            <a:pPr marL="12700" marR="5080">
              <a:spcBef>
                <a:spcPts val="100"/>
              </a:spcBef>
            </a:pPr>
            <a:r>
              <a:rPr lang="en-IN" sz="2000" dirty="0">
                <a:solidFill>
                  <a:srgbClr val="00B050"/>
                </a:solidFill>
                <a:latin typeface="+mn-lt"/>
                <a:cs typeface="Arial MT"/>
              </a:rPr>
              <a:t>tp://www.w3.org/2001/XMLSchema-instance</a:t>
            </a:r>
            <a:r>
              <a:rPr lang="en-IN" sz="2000" dirty="0">
                <a:latin typeface="+mn-lt"/>
                <a:cs typeface="Arial MT"/>
              </a:rPr>
              <a:t>"</a:t>
            </a:r>
            <a:r>
              <a:rPr lang="en-IN" sz="2000" dirty="0">
                <a:solidFill>
                  <a:schemeClr val="tx1">
                    <a:lumMod val="50000"/>
                    <a:lumOff val="50000"/>
                  </a:schemeClr>
                </a:solidFill>
                <a:latin typeface="+mn-lt"/>
                <a:cs typeface="Arial MT"/>
              </a:rPr>
              <a:t>xSi:schemaLocation</a:t>
            </a:r>
            <a:r>
              <a:rPr lang="en-IN" sz="2000" dirty="0">
                <a:latin typeface="+mn-lt"/>
                <a:cs typeface="Arial MT"/>
              </a:rPr>
              <a:t>="</a:t>
            </a:r>
            <a:r>
              <a:rPr lang="en-IN" sz="2000" dirty="0">
                <a:solidFill>
                  <a:srgbClr val="00B050"/>
                </a:solidFill>
                <a:latin typeface="+mn-lt"/>
                <a:cs typeface="Arial MT"/>
              </a:rPr>
              <a:t>http://maven.apache.org/POM/4.0.0http: //maven.apache.org/</a:t>
            </a:r>
            <a:r>
              <a:rPr lang="en-IN" sz="2000" dirty="0" err="1">
                <a:solidFill>
                  <a:srgbClr val="00B050"/>
                </a:solidFill>
                <a:latin typeface="+mn-lt"/>
                <a:cs typeface="Arial MT"/>
              </a:rPr>
              <a:t>xsd</a:t>
            </a:r>
            <a:r>
              <a:rPr lang="en-IN" sz="2000" dirty="0">
                <a:solidFill>
                  <a:srgbClr val="00B050"/>
                </a:solidFill>
                <a:latin typeface="+mn-lt"/>
                <a:cs typeface="Arial MT"/>
              </a:rPr>
              <a:t>/maven-4.0.0.xsd</a:t>
            </a:r>
            <a:r>
              <a:rPr lang="en-IN" sz="2000" dirty="0">
                <a:latin typeface="+mn-lt"/>
                <a:cs typeface="Arial MT"/>
              </a:rPr>
              <a:t>"&gt;</a:t>
            </a:r>
          </a:p>
          <a:p>
            <a:pPr marL="12700" marR="5080">
              <a:spcBef>
                <a:spcPts val="100"/>
              </a:spcBef>
            </a:pPr>
            <a:r>
              <a:rPr lang="en-IN" sz="2000" dirty="0">
                <a:latin typeface="+mn-lt"/>
                <a:cs typeface="Arial MT"/>
              </a:rPr>
              <a:t>&lt;</a:t>
            </a:r>
            <a:r>
              <a:rPr lang="en-IN" sz="2000" dirty="0" err="1">
                <a:solidFill>
                  <a:srgbClr val="0070C0"/>
                </a:solidFill>
                <a:latin typeface="+mn-lt"/>
                <a:cs typeface="Arial MT"/>
              </a:rPr>
              <a:t>modelVersion</a:t>
            </a:r>
            <a:r>
              <a:rPr lang="en-IN" sz="2000" dirty="0">
                <a:latin typeface="+mn-lt"/>
                <a:cs typeface="Arial MT"/>
              </a:rPr>
              <a:t>&gt;4.0.0</a:t>
            </a:r>
            <a:r>
              <a:rPr lang="en-IN" sz="2000" dirty="0">
                <a:solidFill>
                  <a:srgbClr val="0070C0"/>
                </a:solidFill>
                <a:latin typeface="+mn-lt"/>
                <a:cs typeface="Arial MT"/>
              </a:rPr>
              <a:t>&lt;/</a:t>
            </a:r>
            <a:r>
              <a:rPr lang="en-IN" sz="2000" dirty="0" err="1">
                <a:solidFill>
                  <a:srgbClr val="0070C0"/>
                </a:solidFill>
                <a:latin typeface="+mn-lt"/>
                <a:cs typeface="Arial MT"/>
              </a:rPr>
              <a:t>modelVersion</a:t>
            </a:r>
            <a:r>
              <a:rPr lang="en-IN" sz="2000" dirty="0">
                <a:latin typeface="+mn-lt"/>
                <a:cs typeface="Arial MT"/>
              </a:rPr>
              <a:t>&gt;</a:t>
            </a:r>
          </a:p>
          <a:p>
            <a:pPr marL="12700" marR="5080">
              <a:spcBef>
                <a:spcPts val="100"/>
              </a:spcBef>
            </a:pPr>
            <a:r>
              <a:rPr lang="en-IN" sz="2000" dirty="0">
                <a:latin typeface="+mn-lt"/>
                <a:cs typeface="Arial MT"/>
              </a:rPr>
              <a:t>&lt;</a:t>
            </a:r>
            <a:r>
              <a:rPr lang="en-IN" sz="2000" dirty="0">
                <a:solidFill>
                  <a:srgbClr val="0070C0"/>
                </a:solidFill>
                <a:latin typeface="+mn-lt"/>
                <a:cs typeface="Arial MT"/>
              </a:rPr>
              <a:t>packaging</a:t>
            </a:r>
            <a:r>
              <a:rPr lang="en-IN" sz="2000" dirty="0">
                <a:latin typeface="+mn-lt"/>
                <a:cs typeface="Arial MT"/>
              </a:rPr>
              <a:t>&gt;pom</a:t>
            </a:r>
            <a:r>
              <a:rPr lang="en-IN" sz="2000" dirty="0">
                <a:solidFill>
                  <a:srgbClr val="0070C0"/>
                </a:solidFill>
                <a:latin typeface="+mn-lt"/>
                <a:cs typeface="Arial MT"/>
              </a:rPr>
              <a:t>&lt;/packaging</a:t>
            </a:r>
            <a:r>
              <a:rPr lang="en-IN" sz="2000" dirty="0">
                <a:latin typeface="+mn-lt"/>
                <a:cs typeface="Arial MT"/>
              </a:rPr>
              <a:t>&gt;</a:t>
            </a:r>
          </a:p>
          <a:p>
            <a:pPr marL="12700" marR="5080">
              <a:spcBef>
                <a:spcPts val="100"/>
              </a:spcBef>
            </a:pPr>
            <a:r>
              <a:rPr lang="en-IN" sz="2000" dirty="0">
                <a:latin typeface="+mn-lt"/>
                <a:cs typeface="Arial MT"/>
              </a:rPr>
              <a:t>&lt;</a:t>
            </a:r>
            <a:r>
              <a:rPr lang="en-IN" sz="2000" dirty="0">
                <a:solidFill>
                  <a:srgbClr val="0070C0"/>
                </a:solidFill>
                <a:latin typeface="+mn-lt"/>
                <a:cs typeface="Arial MT"/>
              </a:rPr>
              <a:t>parent</a:t>
            </a:r>
            <a:r>
              <a:rPr lang="en-IN" sz="2000" dirty="0">
                <a:latin typeface="+mn-lt"/>
                <a:cs typeface="Arial MT"/>
              </a:rPr>
              <a:t>&gt;</a:t>
            </a:r>
          </a:p>
          <a:p>
            <a:pPr marL="12700" marR="5080">
              <a:spcBef>
                <a:spcPts val="100"/>
              </a:spcBef>
            </a:pPr>
            <a:r>
              <a:rPr lang="en-IN" sz="2000" dirty="0">
                <a:latin typeface="+mn-lt"/>
                <a:cs typeface="Arial MT"/>
              </a:rPr>
              <a:t>&lt;</a:t>
            </a:r>
            <a:r>
              <a:rPr lang="en-IN" sz="2000" dirty="0" err="1">
                <a:solidFill>
                  <a:srgbClr val="0070C0"/>
                </a:solidFill>
                <a:latin typeface="+mn-lt"/>
                <a:cs typeface="Arial MT"/>
              </a:rPr>
              <a:t>grouplid</a:t>
            </a:r>
            <a:r>
              <a:rPr lang="en-IN" sz="2000" dirty="0">
                <a:latin typeface="+mn-lt"/>
                <a:cs typeface="Arial MT"/>
              </a:rPr>
              <a:t>&gt;</a:t>
            </a:r>
            <a:r>
              <a:rPr lang="en-IN" sz="2000" dirty="0" err="1">
                <a:latin typeface="+mn-lt"/>
                <a:cs typeface="Arial MT"/>
              </a:rPr>
              <a:t>org.springframework.boot</a:t>
            </a:r>
            <a:r>
              <a:rPr lang="en-IN" sz="2000" dirty="0">
                <a:solidFill>
                  <a:srgbClr val="0070C0"/>
                </a:solidFill>
                <a:latin typeface="+mn-lt"/>
                <a:cs typeface="Arial MT"/>
              </a:rPr>
              <a:t>&lt;/</a:t>
            </a:r>
            <a:r>
              <a:rPr lang="en-IN" sz="2000" dirty="0" err="1">
                <a:solidFill>
                  <a:srgbClr val="0070C0"/>
                </a:solidFill>
                <a:latin typeface="+mn-lt"/>
                <a:cs typeface="Arial MT"/>
              </a:rPr>
              <a:t>groupId</a:t>
            </a:r>
            <a:r>
              <a:rPr lang="en-IN" sz="2000" dirty="0">
                <a:latin typeface="+mn-lt"/>
                <a:cs typeface="Arial MT"/>
              </a:rPr>
              <a:t>&gt;</a:t>
            </a:r>
          </a:p>
          <a:p>
            <a:pPr marL="12700" marR="5080">
              <a:spcBef>
                <a:spcPts val="100"/>
              </a:spcBef>
            </a:pPr>
            <a:r>
              <a:rPr lang="en-IN" sz="2000" dirty="0">
                <a:latin typeface="+mn-lt"/>
                <a:cs typeface="Arial MT"/>
              </a:rPr>
              <a:t>&lt;</a:t>
            </a:r>
            <a:r>
              <a:rPr lang="en-IN" sz="2000" dirty="0" err="1">
                <a:solidFill>
                  <a:srgbClr val="0070C0"/>
                </a:solidFill>
                <a:latin typeface="+mn-lt"/>
                <a:cs typeface="Arial MT"/>
              </a:rPr>
              <a:t>artifactid</a:t>
            </a:r>
            <a:r>
              <a:rPr lang="en-IN" sz="2000" dirty="0">
                <a:latin typeface="+mn-lt"/>
                <a:cs typeface="Arial MT"/>
              </a:rPr>
              <a:t>&gt;spring-boot-starter-parent&lt;</a:t>
            </a:r>
            <a:r>
              <a:rPr lang="en-IN" sz="2000" dirty="0">
                <a:solidFill>
                  <a:srgbClr val="0070C0"/>
                </a:solidFill>
                <a:latin typeface="+mn-lt"/>
                <a:cs typeface="Arial MT"/>
              </a:rPr>
              <a:t>/</a:t>
            </a:r>
            <a:r>
              <a:rPr lang="en-IN" sz="2000" dirty="0" err="1">
                <a:solidFill>
                  <a:srgbClr val="0070C0"/>
                </a:solidFill>
                <a:latin typeface="+mn-lt"/>
                <a:cs typeface="Arial MT"/>
              </a:rPr>
              <a:t>artifactId</a:t>
            </a:r>
            <a:r>
              <a:rPr lang="en-IN" sz="2000" dirty="0">
                <a:latin typeface="+mn-lt"/>
                <a:cs typeface="Arial MT"/>
              </a:rPr>
              <a:t>&gt;</a:t>
            </a:r>
          </a:p>
          <a:p>
            <a:pPr marL="12700" marR="5080">
              <a:spcBef>
                <a:spcPts val="100"/>
              </a:spcBef>
            </a:pPr>
            <a:r>
              <a:rPr lang="en-IN" sz="2000" dirty="0">
                <a:latin typeface="+mn-lt"/>
                <a:cs typeface="Arial MT"/>
              </a:rPr>
              <a:t>&lt;</a:t>
            </a:r>
            <a:r>
              <a:rPr lang="en-IN" sz="2000" dirty="0">
                <a:solidFill>
                  <a:srgbClr val="0070C0"/>
                </a:solidFill>
                <a:latin typeface="+mn-lt"/>
                <a:cs typeface="Arial MT"/>
              </a:rPr>
              <a:t>version</a:t>
            </a:r>
            <a:r>
              <a:rPr lang="en-IN" sz="2000" dirty="0">
                <a:latin typeface="+mn-lt"/>
                <a:cs typeface="Arial MT"/>
              </a:rPr>
              <a:t>&gt;2.2.0.M5&lt;</a:t>
            </a:r>
            <a:r>
              <a:rPr lang="en-IN" sz="2000" dirty="0">
                <a:solidFill>
                  <a:srgbClr val="0070C0"/>
                </a:solidFill>
                <a:latin typeface="+mn-lt"/>
                <a:cs typeface="Arial MT"/>
              </a:rPr>
              <a:t>/version</a:t>
            </a:r>
            <a:r>
              <a:rPr lang="en-IN" sz="2000" dirty="0">
                <a:latin typeface="+mn-lt"/>
                <a:cs typeface="Arial MT"/>
              </a:rPr>
              <a:t>&gt;</a:t>
            </a:r>
          </a:p>
          <a:p>
            <a:pPr marL="12700" marR="5080">
              <a:spcBef>
                <a:spcPts val="100"/>
              </a:spcBef>
            </a:pPr>
            <a:r>
              <a:rPr lang="en-IN" sz="2000" dirty="0">
                <a:latin typeface="+mn-lt"/>
                <a:cs typeface="Arial MT"/>
              </a:rPr>
              <a:t>&lt;</a:t>
            </a:r>
            <a:r>
              <a:rPr lang="en-IN" sz="2000" dirty="0">
                <a:solidFill>
                  <a:srgbClr val="0070C0"/>
                </a:solidFill>
                <a:latin typeface="+mn-lt"/>
                <a:cs typeface="Arial MT"/>
              </a:rPr>
              <a:t>/parent</a:t>
            </a:r>
            <a:r>
              <a:rPr lang="en-IN" sz="2000" dirty="0">
                <a:latin typeface="+mn-lt"/>
                <a:cs typeface="Arial MT"/>
              </a:rPr>
              <a:t>&gt;</a:t>
            </a:r>
          </a:p>
          <a:p>
            <a:pPr marL="12700" marR="5080">
              <a:spcBef>
                <a:spcPts val="100"/>
              </a:spcBef>
            </a:pPr>
            <a:r>
              <a:rPr lang="en-IN" sz="2000" dirty="0">
                <a:latin typeface="+mn-lt"/>
                <a:cs typeface="Arial MT"/>
              </a:rPr>
              <a:t>&lt;</a:t>
            </a:r>
            <a:r>
              <a:rPr lang="en-IN" sz="2000" dirty="0">
                <a:solidFill>
                  <a:srgbClr val="0070C0"/>
                </a:solidFill>
                <a:latin typeface="+mn-lt"/>
                <a:cs typeface="Arial MT"/>
              </a:rPr>
              <a:t>/project</a:t>
            </a:r>
            <a:r>
              <a:rPr lang="en-IN" sz="2000" dirty="0">
                <a:latin typeface="+mn-lt"/>
                <a:cs typeface="Arial MT"/>
              </a:rPr>
              <a:t>&gt;</a:t>
            </a:r>
            <a:endParaRPr sz="2000" dirty="0">
              <a:latin typeface="+mn-lt"/>
              <a:cs typeface="Arial MT"/>
            </a:endParaRPr>
          </a:p>
        </p:txBody>
      </p:sp>
    </p:spTree>
    <p:extLst>
      <p:ext uri="{BB962C8B-B14F-4D97-AF65-F5344CB8AC3E}">
        <p14:creationId xmlns:p14="http://schemas.microsoft.com/office/powerpoint/2010/main" val="335548665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6361176"/>
            <a:ext cx="9144000" cy="497205"/>
          </a:xfrm>
          <a:custGeom>
            <a:avLst/>
            <a:gdLst/>
            <a:ahLst/>
            <a:cxnLst/>
            <a:rect l="l" t="t" r="r" b="b"/>
            <a:pathLst>
              <a:path w="9144000" h="497204">
                <a:moveTo>
                  <a:pt x="0" y="496824"/>
                </a:moveTo>
                <a:lnTo>
                  <a:pt x="9144000" y="496824"/>
                </a:lnTo>
                <a:lnTo>
                  <a:pt x="9144000" y="0"/>
                </a:lnTo>
                <a:lnTo>
                  <a:pt x="0" y="0"/>
                </a:lnTo>
                <a:lnTo>
                  <a:pt x="0" y="496824"/>
                </a:lnTo>
                <a:close/>
              </a:path>
            </a:pathLst>
          </a:custGeom>
          <a:solidFill>
            <a:srgbClr val="1F487C"/>
          </a:solidFill>
        </p:spPr>
        <p:txBody>
          <a:bodyPr wrap="square" lIns="0" tIns="0" rIns="0" bIns="0" rtlCol="0"/>
          <a:lstStyle/>
          <a:p>
            <a:endParaRPr/>
          </a:p>
        </p:txBody>
      </p:sp>
      <p:grpSp>
        <p:nvGrpSpPr>
          <p:cNvPr id="3" name="object 3"/>
          <p:cNvGrpSpPr/>
          <p:nvPr/>
        </p:nvGrpSpPr>
        <p:grpSpPr>
          <a:xfrm>
            <a:off x="0" y="362711"/>
            <a:ext cx="9144000" cy="5998845"/>
            <a:chOff x="0" y="362711"/>
            <a:chExt cx="9144000" cy="5998845"/>
          </a:xfrm>
        </p:grpSpPr>
        <p:sp>
          <p:nvSpPr>
            <p:cNvPr id="4" name="object 4"/>
            <p:cNvSpPr/>
            <p:nvPr/>
          </p:nvSpPr>
          <p:spPr>
            <a:xfrm>
              <a:off x="0" y="3214116"/>
              <a:ext cx="9144000" cy="2790825"/>
            </a:xfrm>
            <a:custGeom>
              <a:avLst/>
              <a:gdLst/>
              <a:ahLst/>
              <a:cxnLst/>
              <a:rect l="l" t="t" r="r" b="b"/>
              <a:pathLst>
                <a:path w="9144000" h="2790825">
                  <a:moveTo>
                    <a:pt x="0" y="2790444"/>
                  </a:moveTo>
                  <a:lnTo>
                    <a:pt x="9144000" y="2790444"/>
                  </a:lnTo>
                  <a:lnTo>
                    <a:pt x="9144000" y="0"/>
                  </a:lnTo>
                  <a:lnTo>
                    <a:pt x="0" y="0"/>
                  </a:lnTo>
                  <a:lnTo>
                    <a:pt x="0" y="2790444"/>
                  </a:lnTo>
                  <a:close/>
                </a:path>
              </a:pathLst>
            </a:custGeom>
            <a:solidFill>
              <a:srgbClr val="1F487C"/>
            </a:solidFill>
          </p:spPr>
          <p:txBody>
            <a:bodyPr wrap="square" lIns="0" tIns="0" rIns="0" bIns="0" rtlCol="0"/>
            <a:lstStyle/>
            <a:p>
              <a:endParaRPr/>
            </a:p>
          </p:txBody>
        </p:sp>
        <p:pic>
          <p:nvPicPr>
            <p:cNvPr id="5" name="object 5"/>
            <p:cNvPicPr/>
            <p:nvPr/>
          </p:nvPicPr>
          <p:blipFill>
            <a:blip r:embed="rId2" cstate="print"/>
            <a:stretch>
              <a:fillRect/>
            </a:stretch>
          </p:blipFill>
          <p:spPr>
            <a:xfrm>
              <a:off x="1219200" y="362711"/>
              <a:ext cx="6705600" cy="2857500"/>
            </a:xfrm>
            <a:prstGeom prst="rect">
              <a:avLst/>
            </a:prstGeom>
          </p:spPr>
        </p:pic>
        <p:pic>
          <p:nvPicPr>
            <p:cNvPr id="6" name="object 6"/>
            <p:cNvPicPr/>
            <p:nvPr/>
          </p:nvPicPr>
          <p:blipFill>
            <a:blip r:embed="rId3" cstate="print"/>
            <a:stretch>
              <a:fillRect/>
            </a:stretch>
          </p:blipFill>
          <p:spPr>
            <a:xfrm>
              <a:off x="2433827" y="4000500"/>
              <a:ext cx="4276344" cy="571500"/>
            </a:xfrm>
            <a:prstGeom prst="rect">
              <a:avLst/>
            </a:prstGeom>
          </p:spPr>
        </p:pic>
        <p:pic>
          <p:nvPicPr>
            <p:cNvPr id="7" name="object 7"/>
            <p:cNvPicPr/>
            <p:nvPr/>
          </p:nvPicPr>
          <p:blipFill>
            <a:blip r:embed="rId4" cstate="print"/>
            <a:stretch>
              <a:fillRect/>
            </a:stretch>
          </p:blipFill>
          <p:spPr>
            <a:xfrm>
              <a:off x="3038855" y="4946903"/>
              <a:ext cx="3066288" cy="260604"/>
            </a:xfrm>
            <a:prstGeom prst="rect">
              <a:avLst/>
            </a:prstGeom>
          </p:spPr>
        </p:pic>
        <p:sp>
          <p:nvSpPr>
            <p:cNvPr id="8" name="object 8"/>
            <p:cNvSpPr/>
            <p:nvPr/>
          </p:nvSpPr>
          <p:spPr>
            <a:xfrm>
              <a:off x="0" y="6004559"/>
              <a:ext cx="9144000" cy="356870"/>
            </a:xfrm>
            <a:custGeom>
              <a:avLst/>
              <a:gdLst/>
              <a:ahLst/>
              <a:cxnLst/>
              <a:rect l="l" t="t" r="r" b="b"/>
              <a:pathLst>
                <a:path w="9144000" h="356870">
                  <a:moveTo>
                    <a:pt x="9144000" y="0"/>
                  </a:moveTo>
                  <a:lnTo>
                    <a:pt x="0" y="0"/>
                  </a:lnTo>
                  <a:lnTo>
                    <a:pt x="0" y="356615"/>
                  </a:lnTo>
                  <a:lnTo>
                    <a:pt x="9144000" y="356615"/>
                  </a:lnTo>
                  <a:lnTo>
                    <a:pt x="9144000" y="0"/>
                  </a:lnTo>
                  <a:close/>
                </a:path>
              </a:pathLst>
            </a:custGeom>
            <a:solidFill>
              <a:srgbClr val="FFFFFF"/>
            </a:solidFill>
          </p:spPr>
          <p:txBody>
            <a:bodyPr wrap="square" lIns="0" tIns="0" rIns="0" bIns="0" rtlCol="0"/>
            <a:lstStyle/>
            <a:p>
              <a:endParaRPr/>
            </a:p>
          </p:txBody>
        </p:sp>
      </p:grpSp>
      <p:sp>
        <p:nvSpPr>
          <p:cNvPr id="9" name="object 9"/>
          <p:cNvSpPr txBox="1"/>
          <p:nvPr/>
        </p:nvSpPr>
        <p:spPr>
          <a:xfrm>
            <a:off x="3359911" y="6016548"/>
            <a:ext cx="2425700" cy="299720"/>
          </a:xfrm>
          <a:prstGeom prst="rect">
            <a:avLst/>
          </a:prstGeom>
        </p:spPr>
        <p:txBody>
          <a:bodyPr vert="horz" wrap="square" lIns="0" tIns="12700" rIns="0" bIns="0" rtlCol="0">
            <a:spAutoFit/>
          </a:bodyPr>
          <a:lstStyle/>
          <a:p>
            <a:pPr marL="12700">
              <a:lnSpc>
                <a:spcPct val="100000"/>
              </a:lnSpc>
              <a:spcBef>
                <a:spcPts val="100"/>
              </a:spcBef>
            </a:pPr>
            <a:r>
              <a:rPr sz="1800" spc="-10" dirty="0">
                <a:solidFill>
                  <a:srgbClr val="1F487C"/>
                </a:solidFill>
                <a:latin typeface="Calibri"/>
                <a:cs typeface="Calibri"/>
                <a:hlinkClick r:id="rId5"/>
              </a:rPr>
              <a:t>www.paruluniversity.ac.in</a:t>
            </a:r>
            <a:endParaRPr sz="1800">
              <a:latin typeface="Calibri"/>
              <a:cs typeface="Calibri"/>
            </a:endParaRPr>
          </a:p>
        </p:txBody>
      </p:sp>
      <p:pic>
        <p:nvPicPr>
          <p:cNvPr id="10" name="object 10"/>
          <p:cNvPicPr/>
          <p:nvPr/>
        </p:nvPicPr>
        <p:blipFill>
          <a:blip r:embed="rId6" cstate="print"/>
          <a:stretch>
            <a:fillRect/>
          </a:stretch>
        </p:blipFill>
        <p:spPr>
          <a:xfrm>
            <a:off x="8317992" y="6031991"/>
            <a:ext cx="609600" cy="609599"/>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1F487C"/>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3099</TotalTime>
  <Words>4200</Words>
  <Application>Microsoft Office PowerPoint</Application>
  <PresentationFormat>On-screen Show (4:3)</PresentationFormat>
  <Paragraphs>449</Paragraphs>
  <Slides>56</Slides>
  <Notes>0</Notes>
  <HiddenSlides>0</HiddenSlides>
  <MMClips>0</MMClips>
  <ScaleCrop>false</ScaleCrop>
  <HeadingPairs>
    <vt:vector size="4" baseType="variant">
      <vt:variant>
        <vt:lpstr>Theme</vt:lpstr>
      </vt:variant>
      <vt:variant>
        <vt:i4>1</vt:i4>
      </vt:variant>
      <vt:variant>
        <vt:lpstr>Slide Titles</vt:lpstr>
      </vt:variant>
      <vt:variant>
        <vt:i4>56</vt:i4>
      </vt:variant>
    </vt:vector>
  </HeadingPairs>
  <TitlesOfParts>
    <vt:vector size="57" baseType="lpstr">
      <vt:lpstr>Office Theme</vt:lpstr>
      <vt:lpstr>Enterprise Programming (303105309)</vt:lpstr>
      <vt:lpstr> </vt:lpstr>
      <vt:lpstr>Introduction to JDBC (Java Database Connectivity)</vt:lpstr>
      <vt:lpstr>Why Should We Use JDBC</vt:lpstr>
      <vt:lpstr>Components of JDBC</vt:lpstr>
      <vt:lpstr>Different Types of Architecture of JDBC</vt:lpstr>
      <vt:lpstr>Different Types of Architecture of JDBC</vt:lpstr>
      <vt:lpstr>PowerPoint Presentation</vt:lpstr>
      <vt:lpstr>JDBC Drivers</vt:lpstr>
      <vt:lpstr>JDBC Drivers</vt:lpstr>
      <vt:lpstr>JDBC Drivers</vt:lpstr>
      <vt:lpstr>JDBC Drivers</vt:lpstr>
      <vt:lpstr>JDBC Drivers</vt:lpstr>
      <vt:lpstr>JDBC Drivers</vt:lpstr>
      <vt:lpstr>JDBC Drivers</vt:lpstr>
      <vt:lpstr>JDBC Drivers</vt:lpstr>
      <vt:lpstr>Which Driver to Use When?</vt:lpstr>
      <vt:lpstr>Interfaces of JDBC API                       Classes of JDBC API</vt:lpstr>
      <vt:lpstr>Class forName() method</vt:lpstr>
      <vt:lpstr>Driver Manager</vt:lpstr>
      <vt:lpstr>Connection Interface</vt:lpstr>
      <vt:lpstr>Statement Interface</vt:lpstr>
      <vt:lpstr>ResultSet Interface</vt:lpstr>
      <vt:lpstr>Example</vt:lpstr>
      <vt:lpstr>PreparedStatement Interface</vt:lpstr>
      <vt:lpstr>ResultSetMetaData Interface</vt:lpstr>
      <vt:lpstr>DatabaseMetaData interface provides methods to get meta data of a database suchas database product name, database product version, driver name, name of totalnumber of tables, name of total number of views etc.  Methods public String getDriverName() throws SQLException public String getDriverVersion() throws SQLException public String getUserName() throws SQLException public String getDatabaseProductName() throws SQLException public String getDatabaseProductVersion() throws SQLException public ResultSet getTables(String catalog, String schemaPattern, String tableNamePattern,String[] types) throws SQLException</vt:lpstr>
      <vt:lpstr>Example</vt:lpstr>
      <vt:lpstr>RowSet Interface</vt:lpstr>
      <vt:lpstr>JdbcRowSet</vt:lpstr>
      <vt:lpstr>   CachedRowSet</vt:lpstr>
      <vt:lpstr>   WebRowSet</vt:lpstr>
      <vt:lpstr> FilteredRowSet</vt:lpstr>
      <vt:lpstr>JoinRowSet Interface</vt:lpstr>
      <vt:lpstr>Jdbc with Oracle</vt:lpstr>
      <vt:lpstr>1) Register the driver class</vt:lpstr>
      <vt:lpstr>2) Create the connection object</vt:lpstr>
      <vt:lpstr>3) Create the Statement object</vt:lpstr>
      <vt:lpstr>4) Execute the query</vt:lpstr>
      <vt:lpstr>5) Close the connection object</vt:lpstr>
      <vt:lpstr>JDBC with Oracle and Mysql</vt:lpstr>
      <vt:lpstr>Java Database Connectivity with Oracle</vt:lpstr>
      <vt:lpstr>Java Database Connectivity with Oracle</vt:lpstr>
      <vt:lpstr>Example to Connect Java Application with Oracle database</vt:lpstr>
      <vt:lpstr>Example to Connect Java Application with MySQL database</vt:lpstr>
      <vt:lpstr>Example to Connect Java Application with MySQL database</vt:lpstr>
      <vt:lpstr>Maven Integration with Eclipse</vt:lpstr>
      <vt:lpstr>What is Maven?</vt:lpstr>
      <vt:lpstr>Benefits of Using Maven:</vt:lpstr>
      <vt:lpstr>Benefits of Using Maven:</vt:lpstr>
      <vt:lpstr>How to Integrate Maven with Eclipse:</vt:lpstr>
      <vt:lpstr>Key Terms:</vt:lpstr>
      <vt:lpstr>POM.xml</vt:lpstr>
      <vt:lpstr>What is POM file?</vt:lpstr>
      <vt:lpstr>Example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parul</dc:creator>
  <cp:lastModifiedBy>Kajal Goswami</cp:lastModifiedBy>
  <cp:revision>93</cp:revision>
  <dcterms:created xsi:type="dcterms:W3CDTF">2023-11-23T07:04:10Z</dcterms:created>
  <dcterms:modified xsi:type="dcterms:W3CDTF">2024-06-25T01:26:13Z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2020-05-29T00:00:00Z</vt:filetime>
  </property>
  <property fmtid="{D5CDD505-2E9C-101B-9397-08002B2CF9AE}" pid="3" name="Creator">
    <vt:lpwstr>Microsoft® PowerPoint® for Microsoft 365</vt:lpwstr>
  </property>
  <property fmtid="{D5CDD505-2E9C-101B-9397-08002B2CF9AE}" pid="4" name="LastSaved">
    <vt:filetime>2023-11-23T00:00:00Z</vt:filetime>
  </property>
  <property fmtid="{D5CDD505-2E9C-101B-9397-08002B2CF9AE}" pid="5" name="Producer">
    <vt:lpwstr>Microsoft® PowerPoint® for Microsoft 365</vt:lpwstr>
  </property>
</Properties>
</file>