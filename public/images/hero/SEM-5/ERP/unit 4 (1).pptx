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60"/>
  </p:notesMasterIdLst>
  <p:sldIdLst>
    <p:sldId id="256" r:id="rId2"/>
    <p:sldId id="257" r:id="rId3"/>
    <p:sldId id="258" r:id="rId4"/>
    <p:sldId id="259" r:id="rId5"/>
    <p:sldId id="260" r:id="rId6"/>
    <p:sldId id="333" r:id="rId7"/>
    <p:sldId id="262" r:id="rId8"/>
    <p:sldId id="263" r:id="rId9"/>
    <p:sldId id="334" r:id="rId10"/>
    <p:sldId id="264" r:id="rId11"/>
    <p:sldId id="340" r:id="rId12"/>
    <p:sldId id="335" r:id="rId13"/>
    <p:sldId id="336" r:id="rId14"/>
    <p:sldId id="337" r:id="rId15"/>
    <p:sldId id="338" r:id="rId16"/>
    <p:sldId id="339" r:id="rId17"/>
    <p:sldId id="341" r:id="rId18"/>
    <p:sldId id="350" r:id="rId19"/>
    <p:sldId id="265" r:id="rId20"/>
    <p:sldId id="343" r:id="rId21"/>
    <p:sldId id="344" r:id="rId22"/>
    <p:sldId id="345" r:id="rId23"/>
    <p:sldId id="346" r:id="rId24"/>
    <p:sldId id="347" r:id="rId25"/>
    <p:sldId id="348" r:id="rId26"/>
    <p:sldId id="349" r:id="rId27"/>
    <p:sldId id="351" r:id="rId28"/>
    <p:sldId id="352" r:id="rId29"/>
    <p:sldId id="354" r:id="rId30"/>
    <p:sldId id="355" r:id="rId31"/>
    <p:sldId id="357" r:id="rId32"/>
    <p:sldId id="358" r:id="rId33"/>
    <p:sldId id="359" r:id="rId34"/>
    <p:sldId id="360" r:id="rId35"/>
    <p:sldId id="361" r:id="rId36"/>
    <p:sldId id="362" r:id="rId37"/>
    <p:sldId id="363" r:id="rId38"/>
    <p:sldId id="364" r:id="rId39"/>
    <p:sldId id="365" r:id="rId40"/>
    <p:sldId id="366" r:id="rId41"/>
    <p:sldId id="367" r:id="rId42"/>
    <p:sldId id="370" r:id="rId43"/>
    <p:sldId id="371" r:id="rId44"/>
    <p:sldId id="372" r:id="rId45"/>
    <p:sldId id="373" r:id="rId46"/>
    <p:sldId id="374" r:id="rId47"/>
    <p:sldId id="375" r:id="rId48"/>
    <p:sldId id="368" r:id="rId49"/>
    <p:sldId id="376" r:id="rId50"/>
    <p:sldId id="369" r:id="rId51"/>
    <p:sldId id="377" r:id="rId52"/>
    <p:sldId id="378" r:id="rId53"/>
    <p:sldId id="379" r:id="rId54"/>
    <p:sldId id="380" r:id="rId55"/>
    <p:sldId id="381" r:id="rId56"/>
    <p:sldId id="382" r:id="rId57"/>
    <p:sldId id="383" r:id="rId58"/>
    <p:sldId id="332" r:id="rId59"/>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160">
          <p15:clr>
            <a:srgbClr val="A4A3A4"/>
          </p15:clr>
        </p15:guide>
        <p15:guide id="2" pos="2880">
          <p15:clr>
            <a:srgbClr val="A4A3A4"/>
          </p15:clr>
        </p15:guide>
      </p15:notes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09" roundtripDataSignature="AMtx7mgtncriDKz1VDTw0ZoV0CsKK1HVD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1594" y="62"/>
      </p:cViewPr>
      <p:guideLst>
        <p:guide orient="horz" pos="2160"/>
        <p:guide pos="2880"/>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2160"/>
        <p:guide pos="288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11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110" Type="http://schemas.openxmlformats.org/officeDocument/2006/relationships/presProps" Target="presProps.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113"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1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36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86" name="Google Shape;86;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98" name="Google Shape;98;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07" name="Google Shape;107;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16" name="Google Shape;116;p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25" name="Google Shape;125;p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43" name="Google Shape;143;p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52" name="Google Shape;152;p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43" name="Google Shape;143;p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823575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61" name="Google Shape;161;p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61" name="Google Shape;161;p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440763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61" name="Google Shape;161;p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187127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61" name="Google Shape;161;p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512894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61" name="Google Shape;161;p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959014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61" name="Google Shape;161;p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884988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61" name="Google Shape;161;p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1587325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61" name="Google Shape;161;p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0544141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61" name="Google Shape;161;p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756170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174" name="Google Shape;174;p1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dirty="0"/>
          </a:p>
        </p:txBody>
      </p:sp>
      <p:sp>
        <p:nvSpPr>
          <p:cNvPr id="174" name="Google Shape;174;p1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7331271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dirty="0"/>
          </a:p>
        </p:txBody>
      </p:sp>
      <p:sp>
        <p:nvSpPr>
          <p:cNvPr id="174" name="Google Shape;174;p1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8760913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dirty="0"/>
          </a:p>
        </p:txBody>
      </p:sp>
      <p:sp>
        <p:nvSpPr>
          <p:cNvPr id="174" name="Google Shape;174;p1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8224616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dirty="0"/>
          </a:p>
        </p:txBody>
      </p:sp>
      <p:sp>
        <p:nvSpPr>
          <p:cNvPr id="174" name="Google Shape;174;p1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1957600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dirty="0"/>
          </a:p>
        </p:txBody>
      </p:sp>
      <p:sp>
        <p:nvSpPr>
          <p:cNvPr id="174" name="Google Shape;174;p1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4460643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dirty="0"/>
          </a:p>
        </p:txBody>
      </p:sp>
      <p:sp>
        <p:nvSpPr>
          <p:cNvPr id="174" name="Google Shape;174;p1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6726144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dirty="0"/>
          </a:p>
        </p:txBody>
      </p:sp>
      <p:sp>
        <p:nvSpPr>
          <p:cNvPr id="174" name="Google Shape;174;p1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0025722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dirty="0"/>
          </a:p>
        </p:txBody>
      </p:sp>
      <p:sp>
        <p:nvSpPr>
          <p:cNvPr id="174" name="Google Shape;174;p1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5654213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dirty="0"/>
          </a:p>
        </p:txBody>
      </p:sp>
      <p:sp>
        <p:nvSpPr>
          <p:cNvPr id="174" name="Google Shape;174;p1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2582503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dirty="0"/>
          </a:p>
        </p:txBody>
      </p:sp>
      <p:sp>
        <p:nvSpPr>
          <p:cNvPr id="174" name="Google Shape;174;p1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117957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dirty="0"/>
          </a:p>
        </p:txBody>
      </p:sp>
      <p:sp>
        <p:nvSpPr>
          <p:cNvPr id="174" name="Google Shape;174;p1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5438854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dirty="0"/>
          </a:p>
        </p:txBody>
      </p:sp>
      <p:sp>
        <p:nvSpPr>
          <p:cNvPr id="174" name="Google Shape;174;p1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8860262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dirty="0"/>
          </a:p>
        </p:txBody>
      </p:sp>
      <p:sp>
        <p:nvSpPr>
          <p:cNvPr id="174" name="Google Shape;174;p1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5781710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dirty="0"/>
          </a:p>
        </p:txBody>
      </p:sp>
      <p:sp>
        <p:nvSpPr>
          <p:cNvPr id="174" name="Google Shape;174;p1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3520784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dirty="0"/>
          </a:p>
        </p:txBody>
      </p:sp>
      <p:sp>
        <p:nvSpPr>
          <p:cNvPr id="174" name="Google Shape;174;p1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1840838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dirty="0"/>
          </a:p>
        </p:txBody>
      </p:sp>
      <p:sp>
        <p:nvSpPr>
          <p:cNvPr id="174" name="Google Shape;174;p1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5687685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dirty="0"/>
          </a:p>
        </p:txBody>
      </p:sp>
      <p:sp>
        <p:nvSpPr>
          <p:cNvPr id="174" name="Google Shape;174;p1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5034594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dirty="0"/>
          </a:p>
        </p:txBody>
      </p:sp>
      <p:sp>
        <p:nvSpPr>
          <p:cNvPr id="174" name="Google Shape;174;p1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9460168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dirty="0"/>
          </a:p>
        </p:txBody>
      </p:sp>
      <p:sp>
        <p:nvSpPr>
          <p:cNvPr id="174" name="Google Shape;174;p1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3426672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dirty="0"/>
          </a:p>
        </p:txBody>
      </p:sp>
      <p:sp>
        <p:nvSpPr>
          <p:cNvPr id="174" name="Google Shape;174;p1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842492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dirty="0"/>
          </a:p>
        </p:txBody>
      </p:sp>
      <p:sp>
        <p:nvSpPr>
          <p:cNvPr id="174" name="Google Shape;174;p1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9365779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dirty="0"/>
          </a:p>
        </p:txBody>
      </p:sp>
      <p:sp>
        <p:nvSpPr>
          <p:cNvPr id="174" name="Google Shape;174;p1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7558559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dirty="0"/>
          </a:p>
        </p:txBody>
      </p:sp>
      <p:sp>
        <p:nvSpPr>
          <p:cNvPr id="174" name="Google Shape;174;p1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8025496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dirty="0"/>
          </a:p>
        </p:txBody>
      </p:sp>
      <p:sp>
        <p:nvSpPr>
          <p:cNvPr id="174" name="Google Shape;174;p1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4578161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dirty="0"/>
          </a:p>
        </p:txBody>
      </p:sp>
      <p:sp>
        <p:nvSpPr>
          <p:cNvPr id="174" name="Google Shape;174;p1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9211485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dirty="0"/>
          </a:p>
        </p:txBody>
      </p:sp>
      <p:sp>
        <p:nvSpPr>
          <p:cNvPr id="174" name="Google Shape;174;p1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2954420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dirty="0"/>
          </a:p>
        </p:txBody>
      </p:sp>
      <p:sp>
        <p:nvSpPr>
          <p:cNvPr id="174" name="Google Shape;174;p1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4391765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dirty="0"/>
          </a:p>
        </p:txBody>
      </p:sp>
      <p:sp>
        <p:nvSpPr>
          <p:cNvPr id="174" name="Google Shape;174;p1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4600350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dirty="0"/>
          </a:p>
        </p:txBody>
      </p:sp>
      <p:sp>
        <p:nvSpPr>
          <p:cNvPr id="174" name="Google Shape;174;p1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053325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dirty="0"/>
          </a:p>
        </p:txBody>
      </p:sp>
      <p:sp>
        <p:nvSpPr>
          <p:cNvPr id="174" name="Google Shape;174;p1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2085663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dirty="0"/>
          </a:p>
        </p:txBody>
      </p:sp>
      <p:sp>
        <p:nvSpPr>
          <p:cNvPr id="174" name="Google Shape;174;p1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1099636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dirty="0"/>
          </a:p>
        </p:txBody>
      </p:sp>
      <p:sp>
        <p:nvSpPr>
          <p:cNvPr id="174" name="Google Shape;174;p1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3019237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dirty="0"/>
          </a:p>
        </p:txBody>
      </p:sp>
      <p:sp>
        <p:nvSpPr>
          <p:cNvPr id="174" name="Google Shape;174;p1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3299158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dirty="0"/>
          </a:p>
        </p:txBody>
      </p:sp>
      <p:sp>
        <p:nvSpPr>
          <p:cNvPr id="174" name="Google Shape;174;p1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0655789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dirty="0"/>
          </a:p>
        </p:txBody>
      </p:sp>
      <p:sp>
        <p:nvSpPr>
          <p:cNvPr id="174" name="Google Shape;174;p1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8534961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dirty="0"/>
          </a:p>
        </p:txBody>
      </p:sp>
      <p:sp>
        <p:nvSpPr>
          <p:cNvPr id="174" name="Google Shape;174;p1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5694929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dirty="0"/>
          </a:p>
        </p:txBody>
      </p:sp>
      <p:sp>
        <p:nvSpPr>
          <p:cNvPr id="174" name="Google Shape;174;p1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6760976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dirty="0"/>
          </a:p>
        </p:txBody>
      </p:sp>
      <p:sp>
        <p:nvSpPr>
          <p:cNvPr id="174" name="Google Shape;174;p1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0658082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2"/>
        <p:cNvGrpSpPr/>
        <p:nvPr/>
      </p:nvGrpSpPr>
      <p:grpSpPr>
        <a:xfrm>
          <a:off x="0" y="0"/>
          <a:ext cx="0" cy="0"/>
          <a:chOff x="0" y="0"/>
          <a:chExt cx="0" cy="0"/>
        </a:xfrm>
      </p:grpSpPr>
      <p:sp>
        <p:nvSpPr>
          <p:cNvPr id="823" name="Google Shape;823;p7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a:p>
        </p:txBody>
      </p:sp>
      <p:sp>
        <p:nvSpPr>
          <p:cNvPr id="824" name="Google Shape;824;p7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79"/>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7" name="Google Shape;17;p79"/>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7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7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7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b="0" i="0" u="none" strike="noStrike" cap="none">
                <a:solidFill>
                  <a:schemeClr val="dk1"/>
                </a:solidFill>
                <a:latin typeface="Calibri"/>
                <a:ea typeface="Calibri"/>
                <a:cs typeface="Calibri"/>
                <a:sym typeface="Calibri"/>
              </a:defRPr>
            </a:lvl1pPr>
            <a:lvl2pPr marL="0" marR="0" lvl="1" indent="0" algn="r">
              <a:spcBef>
                <a:spcPts val="0"/>
              </a:spcBef>
              <a:spcAft>
                <a:spcPts val="0"/>
              </a:spcAft>
              <a:buNone/>
              <a:defRPr sz="1200" b="0" i="0" u="none" strike="noStrike" cap="none">
                <a:solidFill>
                  <a:schemeClr val="dk1"/>
                </a:solidFill>
                <a:latin typeface="Calibri"/>
                <a:ea typeface="Calibri"/>
                <a:cs typeface="Calibri"/>
                <a:sym typeface="Calibri"/>
              </a:defRPr>
            </a:lvl2pPr>
            <a:lvl3pPr marL="0" marR="0" lvl="2" indent="0" algn="r">
              <a:spcBef>
                <a:spcPts val="0"/>
              </a:spcBef>
              <a:spcAft>
                <a:spcPts val="0"/>
              </a:spcAft>
              <a:buNone/>
              <a:defRPr sz="1200" b="0" i="0" u="none" strike="noStrike" cap="none">
                <a:solidFill>
                  <a:schemeClr val="dk1"/>
                </a:solidFill>
                <a:latin typeface="Calibri"/>
                <a:ea typeface="Calibri"/>
                <a:cs typeface="Calibri"/>
                <a:sym typeface="Calibri"/>
              </a:defRPr>
            </a:lvl3pPr>
            <a:lvl4pPr marL="0" marR="0" lvl="3" indent="0" algn="r">
              <a:spcBef>
                <a:spcPts val="0"/>
              </a:spcBef>
              <a:spcAft>
                <a:spcPts val="0"/>
              </a:spcAft>
              <a:buNone/>
              <a:defRPr sz="1200" b="0" i="0" u="none" strike="noStrike" cap="none">
                <a:solidFill>
                  <a:schemeClr val="dk1"/>
                </a:solidFill>
                <a:latin typeface="Calibri"/>
                <a:ea typeface="Calibri"/>
                <a:cs typeface="Calibri"/>
                <a:sym typeface="Calibri"/>
              </a:defRPr>
            </a:lvl4pPr>
            <a:lvl5pPr marL="0" marR="0" lvl="4" indent="0" algn="r">
              <a:spcBef>
                <a:spcPts val="0"/>
              </a:spcBef>
              <a:spcAft>
                <a:spcPts val="0"/>
              </a:spcAft>
              <a:buNone/>
              <a:defRPr sz="1200" b="0" i="0" u="none" strike="noStrike" cap="none">
                <a:solidFill>
                  <a:schemeClr val="dk1"/>
                </a:solidFill>
                <a:latin typeface="Calibri"/>
                <a:ea typeface="Calibri"/>
                <a:cs typeface="Calibri"/>
                <a:sym typeface="Calibri"/>
              </a:defRPr>
            </a:lvl5pPr>
            <a:lvl6pPr marL="0" marR="0" lvl="5" indent="0" algn="r">
              <a:spcBef>
                <a:spcPts val="0"/>
              </a:spcBef>
              <a:spcAft>
                <a:spcPts val="0"/>
              </a:spcAft>
              <a:buNone/>
              <a:defRPr sz="1200" b="0" i="0" u="none" strike="noStrike" cap="none">
                <a:solidFill>
                  <a:schemeClr val="dk1"/>
                </a:solidFill>
                <a:latin typeface="Calibri"/>
                <a:ea typeface="Calibri"/>
                <a:cs typeface="Calibri"/>
                <a:sym typeface="Calibri"/>
              </a:defRPr>
            </a:lvl6pPr>
            <a:lvl7pPr marL="0" marR="0" lvl="6" indent="0" algn="r">
              <a:spcBef>
                <a:spcPts val="0"/>
              </a:spcBef>
              <a:spcAft>
                <a:spcPts val="0"/>
              </a:spcAft>
              <a:buNone/>
              <a:defRPr sz="1200" b="0" i="0" u="none" strike="noStrike" cap="none">
                <a:solidFill>
                  <a:schemeClr val="dk1"/>
                </a:solidFill>
                <a:latin typeface="Calibri"/>
                <a:ea typeface="Calibri"/>
                <a:cs typeface="Calibri"/>
                <a:sym typeface="Calibri"/>
              </a:defRPr>
            </a:lvl7pPr>
            <a:lvl8pPr marL="0" marR="0" lvl="7" indent="0" algn="r">
              <a:spcBef>
                <a:spcPts val="0"/>
              </a:spcBef>
              <a:spcAft>
                <a:spcPts val="0"/>
              </a:spcAft>
              <a:buNone/>
              <a:defRPr sz="1200" b="0" i="0" u="none" strike="noStrike" cap="none">
                <a:solidFill>
                  <a:schemeClr val="dk1"/>
                </a:solidFill>
                <a:latin typeface="Calibri"/>
                <a:ea typeface="Calibri"/>
                <a:cs typeface="Calibri"/>
                <a:sym typeface="Calibri"/>
              </a:defRPr>
            </a:lvl8pPr>
            <a:lvl9pPr marL="0" marR="0" lvl="8" indent="0" algn="r">
              <a:spcBef>
                <a:spcPts val="0"/>
              </a:spcBef>
              <a:spcAft>
                <a:spcPts val="0"/>
              </a:spcAft>
              <a:buNone/>
              <a:defRPr sz="1200" b="0" i="0" u="none" strike="noStrike" cap="none">
                <a:solidFill>
                  <a:schemeClr val="dk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8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3" name="Google Shape;23;p80"/>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8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8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8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b="0" i="0" u="none" strike="noStrike" cap="none">
                <a:solidFill>
                  <a:schemeClr val="dk1"/>
                </a:solidFill>
                <a:latin typeface="Calibri"/>
                <a:ea typeface="Calibri"/>
                <a:cs typeface="Calibri"/>
                <a:sym typeface="Calibri"/>
              </a:defRPr>
            </a:lvl1pPr>
            <a:lvl2pPr marL="0" marR="0" lvl="1" indent="0" algn="r">
              <a:spcBef>
                <a:spcPts val="0"/>
              </a:spcBef>
              <a:spcAft>
                <a:spcPts val="0"/>
              </a:spcAft>
              <a:buNone/>
              <a:defRPr sz="1200" b="0" i="0" u="none" strike="noStrike" cap="none">
                <a:solidFill>
                  <a:schemeClr val="dk1"/>
                </a:solidFill>
                <a:latin typeface="Calibri"/>
                <a:ea typeface="Calibri"/>
                <a:cs typeface="Calibri"/>
                <a:sym typeface="Calibri"/>
              </a:defRPr>
            </a:lvl2pPr>
            <a:lvl3pPr marL="0" marR="0" lvl="2" indent="0" algn="r">
              <a:spcBef>
                <a:spcPts val="0"/>
              </a:spcBef>
              <a:spcAft>
                <a:spcPts val="0"/>
              </a:spcAft>
              <a:buNone/>
              <a:defRPr sz="1200" b="0" i="0" u="none" strike="noStrike" cap="none">
                <a:solidFill>
                  <a:schemeClr val="dk1"/>
                </a:solidFill>
                <a:latin typeface="Calibri"/>
                <a:ea typeface="Calibri"/>
                <a:cs typeface="Calibri"/>
                <a:sym typeface="Calibri"/>
              </a:defRPr>
            </a:lvl3pPr>
            <a:lvl4pPr marL="0" marR="0" lvl="3" indent="0" algn="r">
              <a:spcBef>
                <a:spcPts val="0"/>
              </a:spcBef>
              <a:spcAft>
                <a:spcPts val="0"/>
              </a:spcAft>
              <a:buNone/>
              <a:defRPr sz="1200" b="0" i="0" u="none" strike="noStrike" cap="none">
                <a:solidFill>
                  <a:schemeClr val="dk1"/>
                </a:solidFill>
                <a:latin typeface="Calibri"/>
                <a:ea typeface="Calibri"/>
                <a:cs typeface="Calibri"/>
                <a:sym typeface="Calibri"/>
              </a:defRPr>
            </a:lvl4pPr>
            <a:lvl5pPr marL="0" marR="0" lvl="4" indent="0" algn="r">
              <a:spcBef>
                <a:spcPts val="0"/>
              </a:spcBef>
              <a:spcAft>
                <a:spcPts val="0"/>
              </a:spcAft>
              <a:buNone/>
              <a:defRPr sz="1200" b="0" i="0" u="none" strike="noStrike" cap="none">
                <a:solidFill>
                  <a:schemeClr val="dk1"/>
                </a:solidFill>
                <a:latin typeface="Calibri"/>
                <a:ea typeface="Calibri"/>
                <a:cs typeface="Calibri"/>
                <a:sym typeface="Calibri"/>
              </a:defRPr>
            </a:lvl5pPr>
            <a:lvl6pPr marL="0" marR="0" lvl="5" indent="0" algn="r">
              <a:spcBef>
                <a:spcPts val="0"/>
              </a:spcBef>
              <a:spcAft>
                <a:spcPts val="0"/>
              </a:spcAft>
              <a:buNone/>
              <a:defRPr sz="1200" b="0" i="0" u="none" strike="noStrike" cap="none">
                <a:solidFill>
                  <a:schemeClr val="dk1"/>
                </a:solidFill>
                <a:latin typeface="Calibri"/>
                <a:ea typeface="Calibri"/>
                <a:cs typeface="Calibri"/>
                <a:sym typeface="Calibri"/>
              </a:defRPr>
            </a:lvl6pPr>
            <a:lvl7pPr marL="0" marR="0" lvl="6" indent="0" algn="r">
              <a:spcBef>
                <a:spcPts val="0"/>
              </a:spcBef>
              <a:spcAft>
                <a:spcPts val="0"/>
              </a:spcAft>
              <a:buNone/>
              <a:defRPr sz="1200" b="0" i="0" u="none" strike="noStrike" cap="none">
                <a:solidFill>
                  <a:schemeClr val="dk1"/>
                </a:solidFill>
                <a:latin typeface="Calibri"/>
                <a:ea typeface="Calibri"/>
                <a:cs typeface="Calibri"/>
                <a:sym typeface="Calibri"/>
              </a:defRPr>
            </a:lvl7pPr>
            <a:lvl8pPr marL="0" marR="0" lvl="7" indent="0" algn="r">
              <a:spcBef>
                <a:spcPts val="0"/>
              </a:spcBef>
              <a:spcAft>
                <a:spcPts val="0"/>
              </a:spcAft>
              <a:buNone/>
              <a:defRPr sz="1200" b="0" i="0" u="none" strike="noStrike" cap="none">
                <a:solidFill>
                  <a:schemeClr val="dk1"/>
                </a:solidFill>
                <a:latin typeface="Calibri"/>
                <a:ea typeface="Calibri"/>
                <a:cs typeface="Calibri"/>
                <a:sym typeface="Calibri"/>
              </a:defRPr>
            </a:lvl8pPr>
            <a:lvl9pPr marL="0" marR="0" lvl="8" indent="0" algn="r">
              <a:spcBef>
                <a:spcPts val="0"/>
              </a:spcBef>
              <a:spcAft>
                <a:spcPts val="0"/>
              </a:spcAft>
              <a:buNone/>
              <a:defRPr sz="1200" b="0" i="0" u="none" strike="noStrike" cap="none">
                <a:solidFill>
                  <a:schemeClr val="dk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81"/>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4000" b="1"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29" name="Google Shape;29;p81"/>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8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8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8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a:solidFill>
                  <a:schemeClr val="dk1"/>
                </a:solidFill>
                <a:latin typeface="Calibri"/>
                <a:ea typeface="Calibri"/>
                <a:cs typeface="Calibri"/>
                <a:sym typeface="Calibri"/>
              </a:defRPr>
            </a:lvl1pPr>
            <a:lvl2pPr marL="0" marR="0" lvl="1" indent="0" algn="r">
              <a:spcBef>
                <a:spcPts val="0"/>
              </a:spcBef>
              <a:spcAft>
                <a:spcPts val="0"/>
              </a:spcAft>
              <a:buNone/>
              <a:defRPr sz="1200">
                <a:solidFill>
                  <a:schemeClr val="dk1"/>
                </a:solidFill>
                <a:latin typeface="Calibri"/>
                <a:ea typeface="Calibri"/>
                <a:cs typeface="Calibri"/>
                <a:sym typeface="Calibri"/>
              </a:defRPr>
            </a:lvl2pPr>
            <a:lvl3pPr marL="0" marR="0" lvl="2" indent="0" algn="r">
              <a:spcBef>
                <a:spcPts val="0"/>
              </a:spcBef>
              <a:spcAft>
                <a:spcPts val="0"/>
              </a:spcAft>
              <a:buNone/>
              <a:defRPr sz="1200">
                <a:solidFill>
                  <a:schemeClr val="dk1"/>
                </a:solidFill>
                <a:latin typeface="Calibri"/>
                <a:ea typeface="Calibri"/>
                <a:cs typeface="Calibri"/>
                <a:sym typeface="Calibri"/>
              </a:defRPr>
            </a:lvl3pPr>
            <a:lvl4pPr marL="0" marR="0" lvl="3" indent="0" algn="r">
              <a:spcBef>
                <a:spcPts val="0"/>
              </a:spcBef>
              <a:spcAft>
                <a:spcPts val="0"/>
              </a:spcAft>
              <a:buNone/>
              <a:defRPr sz="1200">
                <a:solidFill>
                  <a:schemeClr val="dk1"/>
                </a:solidFill>
                <a:latin typeface="Calibri"/>
                <a:ea typeface="Calibri"/>
                <a:cs typeface="Calibri"/>
                <a:sym typeface="Calibri"/>
              </a:defRPr>
            </a:lvl4pPr>
            <a:lvl5pPr marL="0" marR="0" lvl="4" indent="0" algn="r">
              <a:spcBef>
                <a:spcPts val="0"/>
              </a:spcBef>
              <a:spcAft>
                <a:spcPts val="0"/>
              </a:spcAft>
              <a:buNone/>
              <a:defRPr sz="1200">
                <a:solidFill>
                  <a:schemeClr val="dk1"/>
                </a:solidFill>
                <a:latin typeface="Calibri"/>
                <a:ea typeface="Calibri"/>
                <a:cs typeface="Calibri"/>
                <a:sym typeface="Calibri"/>
              </a:defRPr>
            </a:lvl5pPr>
            <a:lvl6pPr marL="0" marR="0" lvl="5" indent="0" algn="r">
              <a:spcBef>
                <a:spcPts val="0"/>
              </a:spcBef>
              <a:spcAft>
                <a:spcPts val="0"/>
              </a:spcAft>
              <a:buNone/>
              <a:defRPr sz="1200">
                <a:solidFill>
                  <a:schemeClr val="dk1"/>
                </a:solidFill>
                <a:latin typeface="Calibri"/>
                <a:ea typeface="Calibri"/>
                <a:cs typeface="Calibri"/>
                <a:sym typeface="Calibri"/>
              </a:defRPr>
            </a:lvl6pPr>
            <a:lvl7pPr marL="0" marR="0" lvl="6" indent="0" algn="r">
              <a:spcBef>
                <a:spcPts val="0"/>
              </a:spcBef>
              <a:spcAft>
                <a:spcPts val="0"/>
              </a:spcAft>
              <a:buNone/>
              <a:defRPr sz="1200">
                <a:solidFill>
                  <a:schemeClr val="dk1"/>
                </a:solidFill>
                <a:latin typeface="Calibri"/>
                <a:ea typeface="Calibri"/>
                <a:cs typeface="Calibri"/>
                <a:sym typeface="Calibri"/>
              </a:defRPr>
            </a:lvl7pPr>
            <a:lvl8pPr marL="0" marR="0" lvl="7" indent="0" algn="r">
              <a:spcBef>
                <a:spcPts val="0"/>
              </a:spcBef>
              <a:spcAft>
                <a:spcPts val="0"/>
              </a:spcAft>
              <a:buNone/>
              <a:defRPr sz="1200">
                <a:solidFill>
                  <a:schemeClr val="dk1"/>
                </a:solidFill>
                <a:latin typeface="Calibri"/>
                <a:ea typeface="Calibri"/>
                <a:cs typeface="Calibri"/>
                <a:sym typeface="Calibri"/>
              </a:defRPr>
            </a:lvl8pPr>
            <a:lvl9pPr marL="0" marR="0" lvl="8" indent="0" algn="r">
              <a:spcBef>
                <a:spcPts val="0"/>
              </a:spcBef>
              <a:spcAft>
                <a:spcPts val="0"/>
              </a:spcAft>
              <a:buNone/>
              <a:defRPr sz="1200">
                <a:solidFill>
                  <a:schemeClr val="dk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8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5" name="Google Shape;35;p82"/>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82"/>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8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8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8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a:solidFill>
                  <a:schemeClr val="dk1"/>
                </a:solidFill>
                <a:latin typeface="Calibri"/>
                <a:ea typeface="Calibri"/>
                <a:cs typeface="Calibri"/>
                <a:sym typeface="Calibri"/>
              </a:defRPr>
            </a:lvl1pPr>
            <a:lvl2pPr marL="0" marR="0" lvl="1" indent="0" algn="r">
              <a:spcBef>
                <a:spcPts val="0"/>
              </a:spcBef>
              <a:spcAft>
                <a:spcPts val="0"/>
              </a:spcAft>
              <a:buNone/>
              <a:defRPr sz="1200">
                <a:solidFill>
                  <a:schemeClr val="dk1"/>
                </a:solidFill>
                <a:latin typeface="Calibri"/>
                <a:ea typeface="Calibri"/>
                <a:cs typeface="Calibri"/>
                <a:sym typeface="Calibri"/>
              </a:defRPr>
            </a:lvl2pPr>
            <a:lvl3pPr marL="0" marR="0" lvl="2" indent="0" algn="r">
              <a:spcBef>
                <a:spcPts val="0"/>
              </a:spcBef>
              <a:spcAft>
                <a:spcPts val="0"/>
              </a:spcAft>
              <a:buNone/>
              <a:defRPr sz="1200">
                <a:solidFill>
                  <a:schemeClr val="dk1"/>
                </a:solidFill>
                <a:latin typeface="Calibri"/>
                <a:ea typeface="Calibri"/>
                <a:cs typeface="Calibri"/>
                <a:sym typeface="Calibri"/>
              </a:defRPr>
            </a:lvl3pPr>
            <a:lvl4pPr marL="0" marR="0" lvl="3" indent="0" algn="r">
              <a:spcBef>
                <a:spcPts val="0"/>
              </a:spcBef>
              <a:spcAft>
                <a:spcPts val="0"/>
              </a:spcAft>
              <a:buNone/>
              <a:defRPr sz="1200">
                <a:solidFill>
                  <a:schemeClr val="dk1"/>
                </a:solidFill>
                <a:latin typeface="Calibri"/>
                <a:ea typeface="Calibri"/>
                <a:cs typeface="Calibri"/>
                <a:sym typeface="Calibri"/>
              </a:defRPr>
            </a:lvl4pPr>
            <a:lvl5pPr marL="0" marR="0" lvl="4" indent="0" algn="r">
              <a:spcBef>
                <a:spcPts val="0"/>
              </a:spcBef>
              <a:spcAft>
                <a:spcPts val="0"/>
              </a:spcAft>
              <a:buNone/>
              <a:defRPr sz="1200">
                <a:solidFill>
                  <a:schemeClr val="dk1"/>
                </a:solidFill>
                <a:latin typeface="Calibri"/>
                <a:ea typeface="Calibri"/>
                <a:cs typeface="Calibri"/>
                <a:sym typeface="Calibri"/>
              </a:defRPr>
            </a:lvl5pPr>
            <a:lvl6pPr marL="0" marR="0" lvl="5" indent="0" algn="r">
              <a:spcBef>
                <a:spcPts val="0"/>
              </a:spcBef>
              <a:spcAft>
                <a:spcPts val="0"/>
              </a:spcAft>
              <a:buNone/>
              <a:defRPr sz="1200">
                <a:solidFill>
                  <a:schemeClr val="dk1"/>
                </a:solidFill>
                <a:latin typeface="Calibri"/>
                <a:ea typeface="Calibri"/>
                <a:cs typeface="Calibri"/>
                <a:sym typeface="Calibri"/>
              </a:defRPr>
            </a:lvl6pPr>
            <a:lvl7pPr marL="0" marR="0" lvl="6" indent="0" algn="r">
              <a:spcBef>
                <a:spcPts val="0"/>
              </a:spcBef>
              <a:spcAft>
                <a:spcPts val="0"/>
              </a:spcAft>
              <a:buNone/>
              <a:defRPr sz="1200">
                <a:solidFill>
                  <a:schemeClr val="dk1"/>
                </a:solidFill>
                <a:latin typeface="Calibri"/>
                <a:ea typeface="Calibri"/>
                <a:cs typeface="Calibri"/>
                <a:sym typeface="Calibri"/>
              </a:defRPr>
            </a:lvl7pPr>
            <a:lvl8pPr marL="0" marR="0" lvl="7" indent="0" algn="r">
              <a:spcBef>
                <a:spcPts val="0"/>
              </a:spcBef>
              <a:spcAft>
                <a:spcPts val="0"/>
              </a:spcAft>
              <a:buNone/>
              <a:defRPr sz="1200">
                <a:solidFill>
                  <a:schemeClr val="dk1"/>
                </a:solidFill>
                <a:latin typeface="Calibri"/>
                <a:ea typeface="Calibri"/>
                <a:cs typeface="Calibri"/>
                <a:sym typeface="Calibri"/>
              </a:defRPr>
            </a:lvl8pPr>
            <a:lvl9pPr marL="0" marR="0" lvl="8" indent="0" algn="r">
              <a:spcBef>
                <a:spcPts val="0"/>
              </a:spcBef>
              <a:spcAft>
                <a:spcPts val="0"/>
              </a:spcAft>
              <a:buNone/>
              <a:defRPr sz="1200">
                <a:solidFill>
                  <a:schemeClr val="dk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8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42" name="Google Shape;42;p83"/>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83"/>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83"/>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83"/>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8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8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8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a:solidFill>
                  <a:schemeClr val="dk1"/>
                </a:solidFill>
                <a:latin typeface="Calibri"/>
                <a:ea typeface="Calibri"/>
                <a:cs typeface="Calibri"/>
                <a:sym typeface="Calibri"/>
              </a:defRPr>
            </a:lvl1pPr>
            <a:lvl2pPr marL="0" marR="0" lvl="1" indent="0" algn="r">
              <a:spcBef>
                <a:spcPts val="0"/>
              </a:spcBef>
              <a:spcAft>
                <a:spcPts val="0"/>
              </a:spcAft>
              <a:buNone/>
              <a:defRPr sz="1200">
                <a:solidFill>
                  <a:schemeClr val="dk1"/>
                </a:solidFill>
                <a:latin typeface="Calibri"/>
                <a:ea typeface="Calibri"/>
                <a:cs typeface="Calibri"/>
                <a:sym typeface="Calibri"/>
              </a:defRPr>
            </a:lvl2pPr>
            <a:lvl3pPr marL="0" marR="0" lvl="2" indent="0" algn="r">
              <a:spcBef>
                <a:spcPts val="0"/>
              </a:spcBef>
              <a:spcAft>
                <a:spcPts val="0"/>
              </a:spcAft>
              <a:buNone/>
              <a:defRPr sz="1200">
                <a:solidFill>
                  <a:schemeClr val="dk1"/>
                </a:solidFill>
                <a:latin typeface="Calibri"/>
                <a:ea typeface="Calibri"/>
                <a:cs typeface="Calibri"/>
                <a:sym typeface="Calibri"/>
              </a:defRPr>
            </a:lvl3pPr>
            <a:lvl4pPr marL="0" marR="0" lvl="3" indent="0" algn="r">
              <a:spcBef>
                <a:spcPts val="0"/>
              </a:spcBef>
              <a:spcAft>
                <a:spcPts val="0"/>
              </a:spcAft>
              <a:buNone/>
              <a:defRPr sz="1200">
                <a:solidFill>
                  <a:schemeClr val="dk1"/>
                </a:solidFill>
                <a:latin typeface="Calibri"/>
                <a:ea typeface="Calibri"/>
                <a:cs typeface="Calibri"/>
                <a:sym typeface="Calibri"/>
              </a:defRPr>
            </a:lvl4pPr>
            <a:lvl5pPr marL="0" marR="0" lvl="4" indent="0" algn="r">
              <a:spcBef>
                <a:spcPts val="0"/>
              </a:spcBef>
              <a:spcAft>
                <a:spcPts val="0"/>
              </a:spcAft>
              <a:buNone/>
              <a:defRPr sz="1200">
                <a:solidFill>
                  <a:schemeClr val="dk1"/>
                </a:solidFill>
                <a:latin typeface="Calibri"/>
                <a:ea typeface="Calibri"/>
                <a:cs typeface="Calibri"/>
                <a:sym typeface="Calibri"/>
              </a:defRPr>
            </a:lvl5pPr>
            <a:lvl6pPr marL="0" marR="0" lvl="5" indent="0" algn="r">
              <a:spcBef>
                <a:spcPts val="0"/>
              </a:spcBef>
              <a:spcAft>
                <a:spcPts val="0"/>
              </a:spcAft>
              <a:buNone/>
              <a:defRPr sz="1200">
                <a:solidFill>
                  <a:schemeClr val="dk1"/>
                </a:solidFill>
                <a:latin typeface="Calibri"/>
                <a:ea typeface="Calibri"/>
                <a:cs typeface="Calibri"/>
                <a:sym typeface="Calibri"/>
              </a:defRPr>
            </a:lvl6pPr>
            <a:lvl7pPr marL="0" marR="0" lvl="6" indent="0" algn="r">
              <a:spcBef>
                <a:spcPts val="0"/>
              </a:spcBef>
              <a:spcAft>
                <a:spcPts val="0"/>
              </a:spcAft>
              <a:buNone/>
              <a:defRPr sz="1200">
                <a:solidFill>
                  <a:schemeClr val="dk1"/>
                </a:solidFill>
                <a:latin typeface="Calibri"/>
                <a:ea typeface="Calibri"/>
                <a:cs typeface="Calibri"/>
                <a:sym typeface="Calibri"/>
              </a:defRPr>
            </a:lvl7pPr>
            <a:lvl8pPr marL="0" marR="0" lvl="7" indent="0" algn="r">
              <a:spcBef>
                <a:spcPts val="0"/>
              </a:spcBef>
              <a:spcAft>
                <a:spcPts val="0"/>
              </a:spcAft>
              <a:buNone/>
              <a:defRPr sz="1200">
                <a:solidFill>
                  <a:schemeClr val="dk1"/>
                </a:solidFill>
                <a:latin typeface="Calibri"/>
                <a:ea typeface="Calibri"/>
                <a:cs typeface="Calibri"/>
                <a:sym typeface="Calibri"/>
              </a:defRPr>
            </a:lvl8pPr>
            <a:lvl9pPr marL="0" marR="0" lvl="8" indent="0" algn="r">
              <a:spcBef>
                <a:spcPts val="0"/>
              </a:spcBef>
              <a:spcAft>
                <a:spcPts val="0"/>
              </a:spcAft>
              <a:buNone/>
              <a:defRPr sz="1200">
                <a:solidFill>
                  <a:schemeClr val="dk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51" name="Google Shape;51;p8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a:solidFill>
                  <a:schemeClr val="dk1"/>
                </a:solidFill>
                <a:latin typeface="Calibri"/>
                <a:ea typeface="Calibri"/>
                <a:cs typeface="Calibri"/>
                <a:sym typeface="Calibri"/>
              </a:defRPr>
            </a:lvl1pPr>
            <a:lvl2pPr marL="0" marR="0" lvl="1" indent="0" algn="r">
              <a:spcBef>
                <a:spcPts val="0"/>
              </a:spcBef>
              <a:spcAft>
                <a:spcPts val="0"/>
              </a:spcAft>
              <a:buNone/>
              <a:defRPr sz="1200">
                <a:solidFill>
                  <a:schemeClr val="dk1"/>
                </a:solidFill>
                <a:latin typeface="Calibri"/>
                <a:ea typeface="Calibri"/>
                <a:cs typeface="Calibri"/>
                <a:sym typeface="Calibri"/>
              </a:defRPr>
            </a:lvl2pPr>
            <a:lvl3pPr marL="0" marR="0" lvl="2" indent="0" algn="r">
              <a:spcBef>
                <a:spcPts val="0"/>
              </a:spcBef>
              <a:spcAft>
                <a:spcPts val="0"/>
              </a:spcAft>
              <a:buNone/>
              <a:defRPr sz="1200">
                <a:solidFill>
                  <a:schemeClr val="dk1"/>
                </a:solidFill>
                <a:latin typeface="Calibri"/>
                <a:ea typeface="Calibri"/>
                <a:cs typeface="Calibri"/>
                <a:sym typeface="Calibri"/>
              </a:defRPr>
            </a:lvl3pPr>
            <a:lvl4pPr marL="0" marR="0" lvl="3" indent="0" algn="r">
              <a:spcBef>
                <a:spcPts val="0"/>
              </a:spcBef>
              <a:spcAft>
                <a:spcPts val="0"/>
              </a:spcAft>
              <a:buNone/>
              <a:defRPr sz="1200">
                <a:solidFill>
                  <a:schemeClr val="dk1"/>
                </a:solidFill>
                <a:latin typeface="Calibri"/>
                <a:ea typeface="Calibri"/>
                <a:cs typeface="Calibri"/>
                <a:sym typeface="Calibri"/>
              </a:defRPr>
            </a:lvl4pPr>
            <a:lvl5pPr marL="0" marR="0" lvl="4" indent="0" algn="r">
              <a:spcBef>
                <a:spcPts val="0"/>
              </a:spcBef>
              <a:spcAft>
                <a:spcPts val="0"/>
              </a:spcAft>
              <a:buNone/>
              <a:defRPr sz="1200">
                <a:solidFill>
                  <a:schemeClr val="dk1"/>
                </a:solidFill>
                <a:latin typeface="Calibri"/>
                <a:ea typeface="Calibri"/>
                <a:cs typeface="Calibri"/>
                <a:sym typeface="Calibri"/>
              </a:defRPr>
            </a:lvl5pPr>
            <a:lvl6pPr marL="0" marR="0" lvl="5" indent="0" algn="r">
              <a:spcBef>
                <a:spcPts val="0"/>
              </a:spcBef>
              <a:spcAft>
                <a:spcPts val="0"/>
              </a:spcAft>
              <a:buNone/>
              <a:defRPr sz="1200">
                <a:solidFill>
                  <a:schemeClr val="dk1"/>
                </a:solidFill>
                <a:latin typeface="Calibri"/>
                <a:ea typeface="Calibri"/>
                <a:cs typeface="Calibri"/>
                <a:sym typeface="Calibri"/>
              </a:defRPr>
            </a:lvl6pPr>
            <a:lvl7pPr marL="0" marR="0" lvl="6" indent="0" algn="r">
              <a:spcBef>
                <a:spcPts val="0"/>
              </a:spcBef>
              <a:spcAft>
                <a:spcPts val="0"/>
              </a:spcAft>
              <a:buNone/>
              <a:defRPr sz="1200">
                <a:solidFill>
                  <a:schemeClr val="dk1"/>
                </a:solidFill>
                <a:latin typeface="Calibri"/>
                <a:ea typeface="Calibri"/>
                <a:cs typeface="Calibri"/>
                <a:sym typeface="Calibri"/>
              </a:defRPr>
            </a:lvl7pPr>
            <a:lvl8pPr marL="0" marR="0" lvl="7" indent="0" algn="r">
              <a:spcBef>
                <a:spcPts val="0"/>
              </a:spcBef>
              <a:spcAft>
                <a:spcPts val="0"/>
              </a:spcAft>
              <a:buNone/>
              <a:defRPr sz="1200">
                <a:solidFill>
                  <a:schemeClr val="dk1"/>
                </a:solidFill>
                <a:latin typeface="Calibri"/>
                <a:ea typeface="Calibri"/>
                <a:cs typeface="Calibri"/>
                <a:sym typeface="Calibri"/>
              </a:defRPr>
            </a:lvl8pPr>
            <a:lvl9pPr marL="0" marR="0" lvl="8" indent="0" algn="r">
              <a:spcBef>
                <a:spcPts val="0"/>
              </a:spcBef>
              <a:spcAft>
                <a:spcPts val="0"/>
              </a:spcAft>
              <a:buNone/>
              <a:defRPr sz="1200">
                <a:solidFill>
                  <a:schemeClr val="dk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8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8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8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a:solidFill>
                  <a:schemeClr val="dk1"/>
                </a:solidFill>
                <a:latin typeface="Calibri"/>
                <a:ea typeface="Calibri"/>
                <a:cs typeface="Calibri"/>
                <a:sym typeface="Calibri"/>
              </a:defRPr>
            </a:lvl1pPr>
            <a:lvl2pPr marL="0" marR="0" lvl="1" indent="0" algn="r">
              <a:spcBef>
                <a:spcPts val="0"/>
              </a:spcBef>
              <a:spcAft>
                <a:spcPts val="0"/>
              </a:spcAft>
              <a:buNone/>
              <a:defRPr sz="1200">
                <a:solidFill>
                  <a:schemeClr val="dk1"/>
                </a:solidFill>
                <a:latin typeface="Calibri"/>
                <a:ea typeface="Calibri"/>
                <a:cs typeface="Calibri"/>
                <a:sym typeface="Calibri"/>
              </a:defRPr>
            </a:lvl2pPr>
            <a:lvl3pPr marL="0" marR="0" lvl="2" indent="0" algn="r">
              <a:spcBef>
                <a:spcPts val="0"/>
              </a:spcBef>
              <a:spcAft>
                <a:spcPts val="0"/>
              </a:spcAft>
              <a:buNone/>
              <a:defRPr sz="1200">
                <a:solidFill>
                  <a:schemeClr val="dk1"/>
                </a:solidFill>
                <a:latin typeface="Calibri"/>
                <a:ea typeface="Calibri"/>
                <a:cs typeface="Calibri"/>
                <a:sym typeface="Calibri"/>
              </a:defRPr>
            </a:lvl3pPr>
            <a:lvl4pPr marL="0" marR="0" lvl="3" indent="0" algn="r">
              <a:spcBef>
                <a:spcPts val="0"/>
              </a:spcBef>
              <a:spcAft>
                <a:spcPts val="0"/>
              </a:spcAft>
              <a:buNone/>
              <a:defRPr sz="1200">
                <a:solidFill>
                  <a:schemeClr val="dk1"/>
                </a:solidFill>
                <a:latin typeface="Calibri"/>
                <a:ea typeface="Calibri"/>
                <a:cs typeface="Calibri"/>
                <a:sym typeface="Calibri"/>
              </a:defRPr>
            </a:lvl4pPr>
            <a:lvl5pPr marL="0" marR="0" lvl="4" indent="0" algn="r">
              <a:spcBef>
                <a:spcPts val="0"/>
              </a:spcBef>
              <a:spcAft>
                <a:spcPts val="0"/>
              </a:spcAft>
              <a:buNone/>
              <a:defRPr sz="1200">
                <a:solidFill>
                  <a:schemeClr val="dk1"/>
                </a:solidFill>
                <a:latin typeface="Calibri"/>
                <a:ea typeface="Calibri"/>
                <a:cs typeface="Calibri"/>
                <a:sym typeface="Calibri"/>
              </a:defRPr>
            </a:lvl5pPr>
            <a:lvl6pPr marL="0" marR="0" lvl="5" indent="0" algn="r">
              <a:spcBef>
                <a:spcPts val="0"/>
              </a:spcBef>
              <a:spcAft>
                <a:spcPts val="0"/>
              </a:spcAft>
              <a:buNone/>
              <a:defRPr sz="1200">
                <a:solidFill>
                  <a:schemeClr val="dk1"/>
                </a:solidFill>
                <a:latin typeface="Calibri"/>
                <a:ea typeface="Calibri"/>
                <a:cs typeface="Calibri"/>
                <a:sym typeface="Calibri"/>
              </a:defRPr>
            </a:lvl6pPr>
            <a:lvl7pPr marL="0" marR="0" lvl="6" indent="0" algn="r">
              <a:spcBef>
                <a:spcPts val="0"/>
              </a:spcBef>
              <a:spcAft>
                <a:spcPts val="0"/>
              </a:spcAft>
              <a:buNone/>
              <a:defRPr sz="1200">
                <a:solidFill>
                  <a:schemeClr val="dk1"/>
                </a:solidFill>
                <a:latin typeface="Calibri"/>
                <a:ea typeface="Calibri"/>
                <a:cs typeface="Calibri"/>
                <a:sym typeface="Calibri"/>
              </a:defRPr>
            </a:lvl7pPr>
            <a:lvl8pPr marL="0" marR="0" lvl="7" indent="0" algn="r">
              <a:spcBef>
                <a:spcPts val="0"/>
              </a:spcBef>
              <a:spcAft>
                <a:spcPts val="0"/>
              </a:spcAft>
              <a:buNone/>
              <a:defRPr sz="1200">
                <a:solidFill>
                  <a:schemeClr val="dk1"/>
                </a:solidFill>
                <a:latin typeface="Calibri"/>
                <a:ea typeface="Calibri"/>
                <a:cs typeface="Calibri"/>
                <a:sym typeface="Calibri"/>
              </a:defRPr>
            </a:lvl8pPr>
            <a:lvl9pPr marL="0" marR="0" lvl="8" indent="0" algn="r">
              <a:spcBef>
                <a:spcPts val="0"/>
              </a:spcBef>
              <a:spcAft>
                <a:spcPts val="0"/>
              </a:spcAft>
              <a:buNone/>
              <a:defRPr sz="1200">
                <a:solidFill>
                  <a:schemeClr val="dk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86"/>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0" name="Google Shape;60;p86"/>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61" name="Google Shape;61;p86"/>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2" name="Google Shape;62;p8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8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8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a:solidFill>
                  <a:schemeClr val="dk1"/>
                </a:solidFill>
                <a:latin typeface="Calibri"/>
                <a:ea typeface="Calibri"/>
                <a:cs typeface="Calibri"/>
                <a:sym typeface="Calibri"/>
              </a:defRPr>
            </a:lvl1pPr>
            <a:lvl2pPr marL="0" marR="0" lvl="1" indent="0" algn="r">
              <a:spcBef>
                <a:spcPts val="0"/>
              </a:spcBef>
              <a:spcAft>
                <a:spcPts val="0"/>
              </a:spcAft>
              <a:buNone/>
              <a:defRPr sz="1200">
                <a:solidFill>
                  <a:schemeClr val="dk1"/>
                </a:solidFill>
                <a:latin typeface="Calibri"/>
                <a:ea typeface="Calibri"/>
                <a:cs typeface="Calibri"/>
                <a:sym typeface="Calibri"/>
              </a:defRPr>
            </a:lvl2pPr>
            <a:lvl3pPr marL="0" marR="0" lvl="2" indent="0" algn="r">
              <a:spcBef>
                <a:spcPts val="0"/>
              </a:spcBef>
              <a:spcAft>
                <a:spcPts val="0"/>
              </a:spcAft>
              <a:buNone/>
              <a:defRPr sz="1200">
                <a:solidFill>
                  <a:schemeClr val="dk1"/>
                </a:solidFill>
                <a:latin typeface="Calibri"/>
                <a:ea typeface="Calibri"/>
                <a:cs typeface="Calibri"/>
                <a:sym typeface="Calibri"/>
              </a:defRPr>
            </a:lvl3pPr>
            <a:lvl4pPr marL="0" marR="0" lvl="3" indent="0" algn="r">
              <a:spcBef>
                <a:spcPts val="0"/>
              </a:spcBef>
              <a:spcAft>
                <a:spcPts val="0"/>
              </a:spcAft>
              <a:buNone/>
              <a:defRPr sz="1200">
                <a:solidFill>
                  <a:schemeClr val="dk1"/>
                </a:solidFill>
                <a:latin typeface="Calibri"/>
                <a:ea typeface="Calibri"/>
                <a:cs typeface="Calibri"/>
                <a:sym typeface="Calibri"/>
              </a:defRPr>
            </a:lvl4pPr>
            <a:lvl5pPr marL="0" marR="0" lvl="4" indent="0" algn="r">
              <a:spcBef>
                <a:spcPts val="0"/>
              </a:spcBef>
              <a:spcAft>
                <a:spcPts val="0"/>
              </a:spcAft>
              <a:buNone/>
              <a:defRPr sz="1200">
                <a:solidFill>
                  <a:schemeClr val="dk1"/>
                </a:solidFill>
                <a:latin typeface="Calibri"/>
                <a:ea typeface="Calibri"/>
                <a:cs typeface="Calibri"/>
                <a:sym typeface="Calibri"/>
              </a:defRPr>
            </a:lvl5pPr>
            <a:lvl6pPr marL="0" marR="0" lvl="5" indent="0" algn="r">
              <a:spcBef>
                <a:spcPts val="0"/>
              </a:spcBef>
              <a:spcAft>
                <a:spcPts val="0"/>
              </a:spcAft>
              <a:buNone/>
              <a:defRPr sz="1200">
                <a:solidFill>
                  <a:schemeClr val="dk1"/>
                </a:solidFill>
                <a:latin typeface="Calibri"/>
                <a:ea typeface="Calibri"/>
                <a:cs typeface="Calibri"/>
                <a:sym typeface="Calibri"/>
              </a:defRPr>
            </a:lvl6pPr>
            <a:lvl7pPr marL="0" marR="0" lvl="6" indent="0" algn="r">
              <a:spcBef>
                <a:spcPts val="0"/>
              </a:spcBef>
              <a:spcAft>
                <a:spcPts val="0"/>
              </a:spcAft>
              <a:buNone/>
              <a:defRPr sz="1200">
                <a:solidFill>
                  <a:schemeClr val="dk1"/>
                </a:solidFill>
                <a:latin typeface="Calibri"/>
                <a:ea typeface="Calibri"/>
                <a:cs typeface="Calibri"/>
                <a:sym typeface="Calibri"/>
              </a:defRPr>
            </a:lvl7pPr>
            <a:lvl8pPr marL="0" marR="0" lvl="7" indent="0" algn="r">
              <a:spcBef>
                <a:spcPts val="0"/>
              </a:spcBef>
              <a:spcAft>
                <a:spcPts val="0"/>
              </a:spcAft>
              <a:buNone/>
              <a:defRPr sz="1200">
                <a:solidFill>
                  <a:schemeClr val="dk1"/>
                </a:solidFill>
                <a:latin typeface="Calibri"/>
                <a:ea typeface="Calibri"/>
                <a:cs typeface="Calibri"/>
                <a:sym typeface="Calibri"/>
              </a:defRPr>
            </a:lvl8pPr>
            <a:lvl9pPr marL="0" marR="0" lvl="8" indent="0" algn="r">
              <a:spcBef>
                <a:spcPts val="0"/>
              </a:spcBef>
              <a:spcAft>
                <a:spcPts val="0"/>
              </a:spcAft>
              <a:buNone/>
              <a:defRPr sz="1200">
                <a:solidFill>
                  <a:schemeClr val="dk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87"/>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67" name="Google Shape;67;p87"/>
          <p:cNvSpPr>
            <a:spLocks noGrp="1"/>
          </p:cNvSpPr>
          <p:nvPr>
            <p:ph type="pic" idx="2"/>
          </p:nvPr>
        </p:nvSpPr>
        <p:spPr>
          <a:xfrm>
            <a:off x="1792288" y="612775"/>
            <a:ext cx="5486400" cy="4114800"/>
          </a:xfrm>
          <a:prstGeom prst="rect">
            <a:avLst/>
          </a:prstGeom>
          <a:noFill/>
          <a:ln>
            <a:noFill/>
          </a:ln>
        </p:spPr>
        <p:txBody>
          <a:bodyPr spcFirstLastPara="1" wrap="square" lIns="91425" tIns="45700" rIns="91425" bIns="45700" anchor="t" anchorCtr="0">
            <a:normAutofit/>
          </a:bodyPr>
          <a:lstStyle>
            <a:lvl1pPr marR="0" lvl="0" algn="l" rtl="0">
              <a:spcBef>
                <a:spcPts val="64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R="0" lvl="1" algn="l" rtl="0">
              <a:spcBef>
                <a:spcPts val="56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2pPr>
            <a:lvl3pPr marR="0" lvl="2" algn="l" rtl="0">
              <a:spcBef>
                <a:spcPts val="48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3pPr>
            <a:lvl4pPr marR="0" lvl="3"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4pPr>
            <a:lvl5pPr marR="0" lvl="4"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5pPr>
            <a:lvl6pPr marR="0" lvl="5"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6pPr>
            <a:lvl7pPr marR="0" lvl="6"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7pPr>
            <a:lvl8pPr marR="0" lvl="7"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8pPr>
            <a:lvl9pPr marR="0" lvl="8"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68" name="Google Shape;68;p87"/>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9" name="Google Shape;69;p8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8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8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a:solidFill>
                  <a:schemeClr val="dk1"/>
                </a:solidFill>
                <a:latin typeface="Calibri"/>
                <a:ea typeface="Calibri"/>
                <a:cs typeface="Calibri"/>
                <a:sym typeface="Calibri"/>
              </a:defRPr>
            </a:lvl1pPr>
            <a:lvl2pPr marL="0" marR="0" lvl="1" indent="0" algn="r">
              <a:spcBef>
                <a:spcPts val="0"/>
              </a:spcBef>
              <a:spcAft>
                <a:spcPts val="0"/>
              </a:spcAft>
              <a:buNone/>
              <a:defRPr sz="1200">
                <a:solidFill>
                  <a:schemeClr val="dk1"/>
                </a:solidFill>
                <a:latin typeface="Calibri"/>
                <a:ea typeface="Calibri"/>
                <a:cs typeface="Calibri"/>
                <a:sym typeface="Calibri"/>
              </a:defRPr>
            </a:lvl2pPr>
            <a:lvl3pPr marL="0" marR="0" lvl="2" indent="0" algn="r">
              <a:spcBef>
                <a:spcPts val="0"/>
              </a:spcBef>
              <a:spcAft>
                <a:spcPts val="0"/>
              </a:spcAft>
              <a:buNone/>
              <a:defRPr sz="1200">
                <a:solidFill>
                  <a:schemeClr val="dk1"/>
                </a:solidFill>
                <a:latin typeface="Calibri"/>
                <a:ea typeface="Calibri"/>
                <a:cs typeface="Calibri"/>
                <a:sym typeface="Calibri"/>
              </a:defRPr>
            </a:lvl3pPr>
            <a:lvl4pPr marL="0" marR="0" lvl="3" indent="0" algn="r">
              <a:spcBef>
                <a:spcPts val="0"/>
              </a:spcBef>
              <a:spcAft>
                <a:spcPts val="0"/>
              </a:spcAft>
              <a:buNone/>
              <a:defRPr sz="1200">
                <a:solidFill>
                  <a:schemeClr val="dk1"/>
                </a:solidFill>
                <a:latin typeface="Calibri"/>
                <a:ea typeface="Calibri"/>
                <a:cs typeface="Calibri"/>
                <a:sym typeface="Calibri"/>
              </a:defRPr>
            </a:lvl4pPr>
            <a:lvl5pPr marL="0" marR="0" lvl="4" indent="0" algn="r">
              <a:spcBef>
                <a:spcPts val="0"/>
              </a:spcBef>
              <a:spcAft>
                <a:spcPts val="0"/>
              </a:spcAft>
              <a:buNone/>
              <a:defRPr sz="1200">
                <a:solidFill>
                  <a:schemeClr val="dk1"/>
                </a:solidFill>
                <a:latin typeface="Calibri"/>
                <a:ea typeface="Calibri"/>
                <a:cs typeface="Calibri"/>
                <a:sym typeface="Calibri"/>
              </a:defRPr>
            </a:lvl5pPr>
            <a:lvl6pPr marL="0" marR="0" lvl="5" indent="0" algn="r">
              <a:spcBef>
                <a:spcPts val="0"/>
              </a:spcBef>
              <a:spcAft>
                <a:spcPts val="0"/>
              </a:spcAft>
              <a:buNone/>
              <a:defRPr sz="1200">
                <a:solidFill>
                  <a:schemeClr val="dk1"/>
                </a:solidFill>
                <a:latin typeface="Calibri"/>
                <a:ea typeface="Calibri"/>
                <a:cs typeface="Calibri"/>
                <a:sym typeface="Calibri"/>
              </a:defRPr>
            </a:lvl6pPr>
            <a:lvl7pPr marL="0" marR="0" lvl="6" indent="0" algn="r">
              <a:spcBef>
                <a:spcPts val="0"/>
              </a:spcBef>
              <a:spcAft>
                <a:spcPts val="0"/>
              </a:spcAft>
              <a:buNone/>
              <a:defRPr sz="1200">
                <a:solidFill>
                  <a:schemeClr val="dk1"/>
                </a:solidFill>
                <a:latin typeface="Calibri"/>
                <a:ea typeface="Calibri"/>
                <a:cs typeface="Calibri"/>
                <a:sym typeface="Calibri"/>
              </a:defRPr>
            </a:lvl7pPr>
            <a:lvl8pPr marL="0" marR="0" lvl="7" indent="0" algn="r">
              <a:spcBef>
                <a:spcPts val="0"/>
              </a:spcBef>
              <a:spcAft>
                <a:spcPts val="0"/>
              </a:spcAft>
              <a:buNone/>
              <a:defRPr sz="1200">
                <a:solidFill>
                  <a:schemeClr val="dk1"/>
                </a:solidFill>
                <a:latin typeface="Calibri"/>
                <a:ea typeface="Calibri"/>
                <a:cs typeface="Calibri"/>
                <a:sym typeface="Calibri"/>
              </a:defRPr>
            </a:lvl8pPr>
            <a:lvl9pPr marL="0" marR="0" lvl="8" indent="0" algn="r">
              <a:spcBef>
                <a:spcPts val="0"/>
              </a:spcBef>
              <a:spcAft>
                <a:spcPts val="0"/>
              </a:spcAft>
              <a:buNone/>
              <a:defRPr sz="1200">
                <a:solidFill>
                  <a:schemeClr val="dk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8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74" name="Google Shape;74;p88"/>
          <p:cNvSpPr txBox="1">
            <a:spLocks noGrp="1"/>
          </p:cNvSpPr>
          <p:nvPr>
            <p:ph type="body" idx="1"/>
          </p:nvPr>
        </p:nvSpPr>
        <p:spPr>
          <a:xfrm rot="5400000">
            <a:off x="2309018" y="-251619"/>
            <a:ext cx="4525963" cy="82296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5" name="Google Shape;75;p8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8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8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a:solidFill>
                  <a:schemeClr val="dk1"/>
                </a:solidFill>
                <a:latin typeface="Calibri"/>
                <a:ea typeface="Calibri"/>
                <a:cs typeface="Calibri"/>
                <a:sym typeface="Calibri"/>
              </a:defRPr>
            </a:lvl1pPr>
            <a:lvl2pPr marL="0" marR="0" lvl="1" indent="0" algn="r">
              <a:spcBef>
                <a:spcPts val="0"/>
              </a:spcBef>
              <a:spcAft>
                <a:spcPts val="0"/>
              </a:spcAft>
              <a:buNone/>
              <a:defRPr sz="1200">
                <a:solidFill>
                  <a:schemeClr val="dk1"/>
                </a:solidFill>
                <a:latin typeface="Calibri"/>
                <a:ea typeface="Calibri"/>
                <a:cs typeface="Calibri"/>
                <a:sym typeface="Calibri"/>
              </a:defRPr>
            </a:lvl2pPr>
            <a:lvl3pPr marL="0" marR="0" lvl="2" indent="0" algn="r">
              <a:spcBef>
                <a:spcPts val="0"/>
              </a:spcBef>
              <a:spcAft>
                <a:spcPts val="0"/>
              </a:spcAft>
              <a:buNone/>
              <a:defRPr sz="1200">
                <a:solidFill>
                  <a:schemeClr val="dk1"/>
                </a:solidFill>
                <a:latin typeface="Calibri"/>
                <a:ea typeface="Calibri"/>
                <a:cs typeface="Calibri"/>
                <a:sym typeface="Calibri"/>
              </a:defRPr>
            </a:lvl3pPr>
            <a:lvl4pPr marL="0" marR="0" lvl="3" indent="0" algn="r">
              <a:spcBef>
                <a:spcPts val="0"/>
              </a:spcBef>
              <a:spcAft>
                <a:spcPts val="0"/>
              </a:spcAft>
              <a:buNone/>
              <a:defRPr sz="1200">
                <a:solidFill>
                  <a:schemeClr val="dk1"/>
                </a:solidFill>
                <a:latin typeface="Calibri"/>
                <a:ea typeface="Calibri"/>
                <a:cs typeface="Calibri"/>
                <a:sym typeface="Calibri"/>
              </a:defRPr>
            </a:lvl4pPr>
            <a:lvl5pPr marL="0" marR="0" lvl="4" indent="0" algn="r">
              <a:spcBef>
                <a:spcPts val="0"/>
              </a:spcBef>
              <a:spcAft>
                <a:spcPts val="0"/>
              </a:spcAft>
              <a:buNone/>
              <a:defRPr sz="1200">
                <a:solidFill>
                  <a:schemeClr val="dk1"/>
                </a:solidFill>
                <a:latin typeface="Calibri"/>
                <a:ea typeface="Calibri"/>
                <a:cs typeface="Calibri"/>
                <a:sym typeface="Calibri"/>
              </a:defRPr>
            </a:lvl5pPr>
            <a:lvl6pPr marL="0" marR="0" lvl="5" indent="0" algn="r">
              <a:spcBef>
                <a:spcPts val="0"/>
              </a:spcBef>
              <a:spcAft>
                <a:spcPts val="0"/>
              </a:spcAft>
              <a:buNone/>
              <a:defRPr sz="1200">
                <a:solidFill>
                  <a:schemeClr val="dk1"/>
                </a:solidFill>
                <a:latin typeface="Calibri"/>
                <a:ea typeface="Calibri"/>
                <a:cs typeface="Calibri"/>
                <a:sym typeface="Calibri"/>
              </a:defRPr>
            </a:lvl6pPr>
            <a:lvl7pPr marL="0" marR="0" lvl="6" indent="0" algn="r">
              <a:spcBef>
                <a:spcPts val="0"/>
              </a:spcBef>
              <a:spcAft>
                <a:spcPts val="0"/>
              </a:spcAft>
              <a:buNone/>
              <a:defRPr sz="1200">
                <a:solidFill>
                  <a:schemeClr val="dk1"/>
                </a:solidFill>
                <a:latin typeface="Calibri"/>
                <a:ea typeface="Calibri"/>
                <a:cs typeface="Calibri"/>
                <a:sym typeface="Calibri"/>
              </a:defRPr>
            </a:lvl7pPr>
            <a:lvl8pPr marL="0" marR="0" lvl="7" indent="0" algn="r">
              <a:spcBef>
                <a:spcPts val="0"/>
              </a:spcBef>
              <a:spcAft>
                <a:spcPts val="0"/>
              </a:spcAft>
              <a:buNone/>
              <a:defRPr sz="1200">
                <a:solidFill>
                  <a:schemeClr val="dk1"/>
                </a:solidFill>
                <a:latin typeface="Calibri"/>
                <a:ea typeface="Calibri"/>
                <a:cs typeface="Calibri"/>
                <a:sym typeface="Calibri"/>
              </a:defRPr>
            </a:lvl8pPr>
            <a:lvl9pPr marL="0" marR="0" lvl="8" indent="0" algn="r">
              <a:spcBef>
                <a:spcPts val="0"/>
              </a:spcBef>
              <a:spcAft>
                <a:spcPts val="0"/>
              </a:spcAft>
              <a:buNone/>
              <a:defRPr sz="1200">
                <a:solidFill>
                  <a:schemeClr val="dk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89"/>
          <p:cNvSpPr txBox="1">
            <a:spLocks noGrp="1"/>
          </p:cNvSpPr>
          <p:nvPr>
            <p:ph type="title"/>
          </p:nvPr>
        </p:nvSpPr>
        <p:spPr>
          <a:xfrm rot="5400000">
            <a:off x="4732337" y="2171700"/>
            <a:ext cx="5851525" cy="2057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80" name="Google Shape;80;p89"/>
          <p:cNvSpPr txBox="1">
            <a:spLocks noGrp="1"/>
          </p:cNvSpPr>
          <p:nvPr>
            <p:ph type="body" idx="1"/>
          </p:nvPr>
        </p:nvSpPr>
        <p:spPr>
          <a:xfrm rot="5400000">
            <a:off x="541338" y="190501"/>
            <a:ext cx="5851525" cy="6019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1" name="Google Shape;81;p8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8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8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spcAft>
                <a:spcPts val="0"/>
              </a:spcAft>
              <a:buNone/>
              <a:defRPr sz="1200">
                <a:solidFill>
                  <a:schemeClr val="dk1"/>
                </a:solidFill>
                <a:latin typeface="Calibri"/>
                <a:ea typeface="Calibri"/>
                <a:cs typeface="Calibri"/>
                <a:sym typeface="Calibri"/>
              </a:defRPr>
            </a:lvl1pPr>
            <a:lvl2pPr marL="0" marR="0" lvl="1" indent="0" algn="r">
              <a:spcBef>
                <a:spcPts val="0"/>
              </a:spcBef>
              <a:spcAft>
                <a:spcPts val="0"/>
              </a:spcAft>
              <a:buNone/>
              <a:defRPr sz="1200">
                <a:solidFill>
                  <a:schemeClr val="dk1"/>
                </a:solidFill>
                <a:latin typeface="Calibri"/>
                <a:ea typeface="Calibri"/>
                <a:cs typeface="Calibri"/>
                <a:sym typeface="Calibri"/>
              </a:defRPr>
            </a:lvl2pPr>
            <a:lvl3pPr marL="0" marR="0" lvl="2" indent="0" algn="r">
              <a:spcBef>
                <a:spcPts val="0"/>
              </a:spcBef>
              <a:spcAft>
                <a:spcPts val="0"/>
              </a:spcAft>
              <a:buNone/>
              <a:defRPr sz="1200">
                <a:solidFill>
                  <a:schemeClr val="dk1"/>
                </a:solidFill>
                <a:latin typeface="Calibri"/>
                <a:ea typeface="Calibri"/>
                <a:cs typeface="Calibri"/>
                <a:sym typeface="Calibri"/>
              </a:defRPr>
            </a:lvl3pPr>
            <a:lvl4pPr marL="0" marR="0" lvl="3" indent="0" algn="r">
              <a:spcBef>
                <a:spcPts val="0"/>
              </a:spcBef>
              <a:spcAft>
                <a:spcPts val="0"/>
              </a:spcAft>
              <a:buNone/>
              <a:defRPr sz="1200">
                <a:solidFill>
                  <a:schemeClr val="dk1"/>
                </a:solidFill>
                <a:latin typeface="Calibri"/>
                <a:ea typeface="Calibri"/>
                <a:cs typeface="Calibri"/>
                <a:sym typeface="Calibri"/>
              </a:defRPr>
            </a:lvl4pPr>
            <a:lvl5pPr marL="0" marR="0" lvl="4" indent="0" algn="r">
              <a:spcBef>
                <a:spcPts val="0"/>
              </a:spcBef>
              <a:spcAft>
                <a:spcPts val="0"/>
              </a:spcAft>
              <a:buNone/>
              <a:defRPr sz="1200">
                <a:solidFill>
                  <a:schemeClr val="dk1"/>
                </a:solidFill>
                <a:latin typeface="Calibri"/>
                <a:ea typeface="Calibri"/>
                <a:cs typeface="Calibri"/>
                <a:sym typeface="Calibri"/>
              </a:defRPr>
            </a:lvl5pPr>
            <a:lvl6pPr marL="0" marR="0" lvl="5" indent="0" algn="r">
              <a:spcBef>
                <a:spcPts val="0"/>
              </a:spcBef>
              <a:spcAft>
                <a:spcPts val="0"/>
              </a:spcAft>
              <a:buNone/>
              <a:defRPr sz="1200">
                <a:solidFill>
                  <a:schemeClr val="dk1"/>
                </a:solidFill>
                <a:latin typeface="Calibri"/>
                <a:ea typeface="Calibri"/>
                <a:cs typeface="Calibri"/>
                <a:sym typeface="Calibri"/>
              </a:defRPr>
            </a:lvl6pPr>
            <a:lvl7pPr marL="0" marR="0" lvl="6" indent="0" algn="r">
              <a:spcBef>
                <a:spcPts val="0"/>
              </a:spcBef>
              <a:spcAft>
                <a:spcPts val="0"/>
              </a:spcAft>
              <a:buNone/>
              <a:defRPr sz="1200">
                <a:solidFill>
                  <a:schemeClr val="dk1"/>
                </a:solidFill>
                <a:latin typeface="Calibri"/>
                <a:ea typeface="Calibri"/>
                <a:cs typeface="Calibri"/>
                <a:sym typeface="Calibri"/>
              </a:defRPr>
            </a:lvl7pPr>
            <a:lvl8pPr marL="0" marR="0" lvl="7" indent="0" algn="r">
              <a:spcBef>
                <a:spcPts val="0"/>
              </a:spcBef>
              <a:spcAft>
                <a:spcPts val="0"/>
              </a:spcAft>
              <a:buNone/>
              <a:defRPr sz="1200">
                <a:solidFill>
                  <a:schemeClr val="dk1"/>
                </a:solidFill>
                <a:latin typeface="Calibri"/>
                <a:ea typeface="Calibri"/>
                <a:cs typeface="Calibri"/>
                <a:sym typeface="Calibri"/>
              </a:defRPr>
            </a:lvl8pPr>
            <a:lvl9pPr marL="0" marR="0" lvl="8" indent="0" algn="r">
              <a:spcBef>
                <a:spcPts val="0"/>
              </a:spcBef>
              <a:spcAft>
                <a:spcPts val="0"/>
              </a:spcAft>
              <a:buNone/>
              <a:defRPr sz="1200">
                <a:solidFill>
                  <a:schemeClr val="dk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7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1pPr>
            <a:lvl2pPr marR="0" lvl="1"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2pPr>
            <a:lvl3pPr marR="0" lvl="2"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3pPr>
            <a:lvl4pPr marR="0" lvl="3"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4pPr>
            <a:lvl5pPr marR="0" lvl="4"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5pPr>
            <a:lvl6pPr marR="0" lvl="5"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6pPr>
            <a:lvl7pPr marR="0" lvl="6"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7pPr>
            <a:lvl8pPr marR="0" lvl="7"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8pPr>
            <a:lvl9pPr marR="0" lvl="8" algn="ctr" rtl="0">
              <a:spcBef>
                <a:spcPts val="0"/>
              </a:spcBef>
              <a:spcAft>
                <a:spcPts val="0"/>
              </a:spcAft>
              <a:buSzPts val="1400"/>
              <a:buNone/>
              <a:defRPr sz="4400" b="0" i="0" u="none" strike="noStrike" cap="none">
                <a:solidFill>
                  <a:schemeClr val="dk1"/>
                </a:solidFill>
                <a:latin typeface="Calibri"/>
                <a:ea typeface="Calibri"/>
                <a:cs typeface="Calibri"/>
                <a:sym typeface="Calibri"/>
              </a:defRPr>
            </a:lvl9pPr>
          </a:lstStyle>
          <a:p>
            <a:endParaRPr/>
          </a:p>
        </p:txBody>
      </p:sp>
      <p:sp>
        <p:nvSpPr>
          <p:cNvPr id="11" name="Google Shape;11;p78"/>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7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3" name="Google Shape;13;p7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4" name="Google Shape;14;p7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None/>
              <a:defRPr sz="1200" b="0" i="0" u="none" strike="noStrike" cap="none">
                <a:solidFill>
                  <a:schemeClr val="dk1"/>
                </a:solidFill>
                <a:latin typeface="Calibri"/>
                <a:ea typeface="Calibri"/>
                <a:cs typeface="Calibri"/>
                <a:sym typeface="Calibri"/>
              </a:defRPr>
            </a:lvl1pPr>
            <a:lvl2pPr marL="0" marR="0" lvl="1" indent="0" algn="r" rtl="0">
              <a:spcBef>
                <a:spcPts val="0"/>
              </a:spcBef>
              <a:spcAft>
                <a:spcPts val="0"/>
              </a:spcAft>
              <a:buNone/>
              <a:defRPr sz="1200" b="0" i="0" u="none" strike="noStrike" cap="none">
                <a:solidFill>
                  <a:schemeClr val="dk1"/>
                </a:solidFill>
                <a:latin typeface="Calibri"/>
                <a:ea typeface="Calibri"/>
                <a:cs typeface="Calibri"/>
                <a:sym typeface="Calibri"/>
              </a:defRPr>
            </a:lvl2pPr>
            <a:lvl3pPr marL="0" marR="0" lvl="2" indent="0" algn="r" rtl="0">
              <a:spcBef>
                <a:spcPts val="0"/>
              </a:spcBef>
              <a:spcAft>
                <a:spcPts val="0"/>
              </a:spcAft>
              <a:buNone/>
              <a:defRPr sz="1200" b="0" i="0" u="none" strike="noStrike" cap="none">
                <a:solidFill>
                  <a:schemeClr val="dk1"/>
                </a:solidFill>
                <a:latin typeface="Calibri"/>
                <a:ea typeface="Calibri"/>
                <a:cs typeface="Calibri"/>
                <a:sym typeface="Calibri"/>
              </a:defRPr>
            </a:lvl3pPr>
            <a:lvl4pPr marL="0" marR="0" lvl="3" indent="0" algn="r" rtl="0">
              <a:spcBef>
                <a:spcPts val="0"/>
              </a:spcBef>
              <a:spcAft>
                <a:spcPts val="0"/>
              </a:spcAft>
              <a:buNone/>
              <a:defRPr sz="1200" b="0" i="0" u="none" strike="noStrike" cap="none">
                <a:solidFill>
                  <a:schemeClr val="dk1"/>
                </a:solidFill>
                <a:latin typeface="Calibri"/>
                <a:ea typeface="Calibri"/>
                <a:cs typeface="Calibri"/>
                <a:sym typeface="Calibri"/>
              </a:defRPr>
            </a:lvl4pPr>
            <a:lvl5pPr marL="0" marR="0" lvl="4" indent="0" algn="r" rtl="0">
              <a:spcBef>
                <a:spcPts val="0"/>
              </a:spcBef>
              <a:spcAft>
                <a:spcPts val="0"/>
              </a:spcAft>
              <a:buNone/>
              <a:defRPr sz="1200" b="0" i="0" u="none" strike="noStrike" cap="none">
                <a:solidFill>
                  <a:schemeClr val="dk1"/>
                </a:solidFill>
                <a:latin typeface="Calibri"/>
                <a:ea typeface="Calibri"/>
                <a:cs typeface="Calibri"/>
                <a:sym typeface="Calibri"/>
              </a:defRPr>
            </a:lvl5pPr>
            <a:lvl6pPr marL="0" marR="0" lvl="5" indent="0" algn="r" rtl="0">
              <a:spcBef>
                <a:spcPts val="0"/>
              </a:spcBef>
              <a:spcAft>
                <a:spcPts val="0"/>
              </a:spcAft>
              <a:buNone/>
              <a:defRPr sz="1200" b="0" i="0" u="none" strike="noStrike" cap="none">
                <a:solidFill>
                  <a:schemeClr val="dk1"/>
                </a:solidFill>
                <a:latin typeface="Calibri"/>
                <a:ea typeface="Calibri"/>
                <a:cs typeface="Calibri"/>
                <a:sym typeface="Calibri"/>
              </a:defRPr>
            </a:lvl6pPr>
            <a:lvl7pPr marL="0" marR="0" lvl="6" indent="0" algn="r" rtl="0">
              <a:spcBef>
                <a:spcPts val="0"/>
              </a:spcBef>
              <a:spcAft>
                <a:spcPts val="0"/>
              </a:spcAft>
              <a:buNone/>
              <a:defRPr sz="1200" b="0" i="0" u="none" strike="noStrike" cap="none">
                <a:solidFill>
                  <a:schemeClr val="dk1"/>
                </a:solidFill>
                <a:latin typeface="Calibri"/>
                <a:ea typeface="Calibri"/>
                <a:cs typeface="Calibri"/>
                <a:sym typeface="Calibri"/>
              </a:defRPr>
            </a:lvl7pPr>
            <a:lvl8pPr marL="0" marR="0" lvl="7" indent="0" algn="r" rtl="0">
              <a:spcBef>
                <a:spcPts val="0"/>
              </a:spcBef>
              <a:spcAft>
                <a:spcPts val="0"/>
              </a:spcAft>
              <a:buNone/>
              <a:defRPr sz="1200" b="0" i="0" u="none" strike="noStrike" cap="none">
                <a:solidFill>
                  <a:schemeClr val="dk1"/>
                </a:solidFill>
                <a:latin typeface="Calibri"/>
                <a:ea typeface="Calibri"/>
                <a:cs typeface="Calibri"/>
                <a:sym typeface="Calibri"/>
              </a:defRPr>
            </a:lvl8pPr>
            <a:lvl9pPr marL="0" marR="0" lvl="8" indent="0" algn="r" rtl="0">
              <a:spcBef>
                <a:spcPts val="0"/>
              </a:spcBef>
              <a:spcAft>
                <a:spcPts val="0"/>
              </a:spcAft>
              <a:buNone/>
              <a:defRPr sz="1200" b="0" i="0" u="none" strike="noStrike" cap="none">
                <a:solidFill>
                  <a:schemeClr val="dk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7.jp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5.png"/></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5.png"/></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5.png"/></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5.png"/></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5.png"/></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5.png"/></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5.png"/></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5.png"/></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5.png"/></Relationships>
</file>

<file path=ppt/slides/_rels/slide2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5.png"/></Relationships>
</file>

<file path=ppt/slides/_rels/slide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9.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5.png"/></Relationships>
</file>

<file path=ppt/slides/_rels/slide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0.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5.png"/></Relationships>
</file>

<file path=ppt/slides/_rels/slide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1.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5.png"/></Relationships>
</file>

<file path=ppt/slides/_rels/slide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2.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5.png"/></Relationships>
</file>

<file path=ppt/slides/_rels/slide3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3.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5.png"/></Relationships>
</file>

<file path=ppt/slides/_rels/slide3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4.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5.png"/></Relationships>
</file>

<file path=ppt/slides/_rels/slide3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5.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5.png"/></Relationships>
</file>

<file path=ppt/slides/_rels/slide3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3.png"/><Relationship Id="rId4" Type="http://schemas.openxmlformats.org/officeDocument/2006/relationships/image" Target="../media/image5.png"/></Relationships>
</file>

<file path=ppt/slides/_rels/slide3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7.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5.png"/></Relationships>
</file>

<file path=ppt/slides/_rels/slide3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8.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5.png"/></Relationships>
</file>

<file path=ppt/slides/_rels/slide4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9.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5.png"/></Relationships>
</file>

<file path=ppt/slides/_rels/slide4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0.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3.png"/><Relationship Id="rId4" Type="http://schemas.openxmlformats.org/officeDocument/2006/relationships/image" Target="../media/image5.png"/></Relationships>
</file>

<file path=ppt/slides/_rels/slide4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1.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5.png"/></Relationships>
</file>

<file path=ppt/slides/_rels/slide4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hyperlink" Target="https://sourceforge.net/projects/hibernate/files/hibernate-annotations/" TargetMode="External"/><Relationship Id="rId4" Type="http://schemas.openxmlformats.org/officeDocument/2006/relationships/image" Target="../media/image5.png"/></Relationships>
</file>

<file path=ppt/slides/_rels/slide4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3.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5.png"/></Relationships>
</file>

<file path=ppt/slides/_rels/slide4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4.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5.png"/></Relationships>
</file>

<file path=ppt/slides/_rels/slide4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5.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5.png"/></Relationships>
</file>

<file path=ppt/slides/_rels/slide4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6.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5.png"/></Relationships>
</file>

<file path=ppt/slides/_rels/slide4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7.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5.png"/></Relationships>
</file>

<file path=ppt/slides/_rels/slide4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8.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5.png"/></Relationships>
</file>

<file path=ppt/slides/_rels/slide5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9.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5.png"/></Relationships>
</file>

<file path=ppt/slides/_rels/slide5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0.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5.png"/></Relationships>
</file>

<file path=ppt/slides/_rels/slide5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1.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5.png"/></Relationships>
</file>

<file path=ppt/slides/_rels/slide5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2.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5.png"/></Relationships>
</file>

<file path=ppt/slides/_rels/slide5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3.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5.png"/></Relationships>
</file>

<file path=ppt/slides/_rels/slide5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4.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5.png"/></Relationships>
</file>

<file path=ppt/slides/_rels/slide5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5.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5.png"/></Relationships>
</file>

<file path=ppt/slides/_rels/slide5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6.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5.png"/></Relationships>
</file>

<file path=ppt/slides/_rels/slide5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7.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pic>
        <p:nvPicPr>
          <p:cNvPr id="88" name="Google Shape;88;p1" descr="C:\Users\parul\Desktop\temp.png"/>
          <p:cNvPicPr preferRelativeResize="0"/>
          <p:nvPr/>
        </p:nvPicPr>
        <p:blipFill rotWithShape="1">
          <a:blip r:embed="rId3">
            <a:alphaModFix/>
          </a:blip>
          <a:srcRect/>
          <a:stretch/>
        </p:blipFill>
        <p:spPr>
          <a:xfrm>
            <a:off x="0" y="0"/>
            <a:ext cx="9144000" cy="6900863"/>
          </a:xfrm>
          <a:prstGeom prst="rect">
            <a:avLst/>
          </a:prstGeom>
          <a:noFill/>
          <a:ln>
            <a:noFill/>
          </a:ln>
        </p:spPr>
      </p:pic>
      <p:sp>
        <p:nvSpPr>
          <p:cNvPr id="89" name="Google Shape;89;p1"/>
          <p:cNvSpPr/>
          <p:nvPr/>
        </p:nvSpPr>
        <p:spPr>
          <a:xfrm>
            <a:off x="1143000" y="1916113"/>
            <a:ext cx="6858000" cy="1169987"/>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000000"/>
              </a:buClr>
              <a:buSzPts val="3500"/>
              <a:buFont typeface="Arial"/>
              <a:buNone/>
            </a:pPr>
            <a:r>
              <a:rPr lang="en-IN" sz="3500" b="1" dirty="0">
                <a:latin typeface="Calibri"/>
                <a:ea typeface="Calibri"/>
                <a:cs typeface="Calibri"/>
                <a:sym typeface="Calibri"/>
              </a:rPr>
              <a:t>Enterprise Programming</a:t>
            </a:r>
            <a:endParaRPr dirty="0"/>
          </a:p>
        </p:txBody>
      </p:sp>
      <p:sp>
        <p:nvSpPr>
          <p:cNvPr id="90" name="Google Shape;90;p1"/>
          <p:cNvSpPr/>
          <p:nvPr/>
        </p:nvSpPr>
        <p:spPr>
          <a:xfrm>
            <a:off x="1527175" y="2854325"/>
            <a:ext cx="6089650" cy="769938"/>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000000"/>
              </a:buClr>
              <a:buSzPts val="2200"/>
              <a:buFont typeface="Arial"/>
              <a:buNone/>
            </a:pPr>
            <a:r>
              <a:rPr lang="en-IN" sz="2200" b="1" dirty="0">
                <a:latin typeface="Calibri"/>
                <a:ea typeface="Calibri"/>
                <a:cs typeface="Calibri"/>
                <a:sym typeface="Calibri"/>
              </a:rPr>
              <a:t>Lecturer Parmanand Tiwari</a:t>
            </a:r>
            <a:r>
              <a:rPr lang="en-IN" sz="2200" b="1" i="0" u="none" strike="noStrike" cap="none" dirty="0">
                <a:solidFill>
                  <a:srgbClr val="000000"/>
                </a:solidFill>
                <a:latin typeface="Calibri"/>
                <a:ea typeface="Calibri"/>
                <a:cs typeface="Calibri"/>
                <a:sym typeface="Calibri"/>
              </a:rPr>
              <a:t>, </a:t>
            </a:r>
            <a:r>
              <a:rPr lang="en-IN" sz="2200" dirty="0">
                <a:latin typeface="Calibri"/>
                <a:ea typeface="Calibri"/>
                <a:cs typeface="Calibri"/>
                <a:sym typeface="Calibri"/>
              </a:rPr>
              <a:t>Lecturer</a:t>
            </a:r>
            <a:endParaRPr dirty="0"/>
          </a:p>
          <a:p>
            <a:pPr marL="0" marR="0" lvl="0" indent="0" algn="ctr" rtl="0">
              <a:spcBef>
                <a:spcPts val="0"/>
              </a:spcBef>
              <a:spcAft>
                <a:spcPts val="0"/>
              </a:spcAft>
              <a:buClr>
                <a:srgbClr val="000000"/>
              </a:buClr>
              <a:buSzPts val="2200"/>
              <a:buFont typeface="Arial"/>
              <a:buNone/>
            </a:pPr>
            <a:r>
              <a:rPr lang="en-IN" sz="2200" b="0" i="0" u="none" strike="noStrike" cap="none" dirty="0">
                <a:solidFill>
                  <a:srgbClr val="000000"/>
                </a:solidFill>
                <a:latin typeface="Calibri"/>
                <a:ea typeface="Calibri"/>
                <a:cs typeface="Calibri"/>
                <a:sym typeface="Calibri"/>
              </a:rPr>
              <a:t>Computer Science &amp; Engineering</a:t>
            </a:r>
            <a:endParaRPr sz="2200" b="0" i="0" u="none" strike="noStrike" cap="none" dirty="0">
              <a:solidFill>
                <a:srgbClr val="000000"/>
              </a:solidFill>
              <a:latin typeface="Calibri"/>
              <a:ea typeface="Calibri"/>
              <a:cs typeface="Calibri"/>
              <a:sym typeface="Calibri"/>
            </a:endParaRPr>
          </a:p>
        </p:txBody>
      </p:sp>
      <p:pic>
        <p:nvPicPr>
          <p:cNvPr id="91" name="Google Shape;91;p1" descr="C:\Users\parul\Desktop\Registered Logosd.png"/>
          <p:cNvPicPr preferRelativeResize="0"/>
          <p:nvPr/>
        </p:nvPicPr>
        <p:blipFill rotWithShape="1">
          <a:blip r:embed="rId4">
            <a:alphaModFix/>
          </a:blip>
          <a:srcRect/>
          <a:stretch/>
        </p:blipFill>
        <p:spPr>
          <a:xfrm>
            <a:off x="3381375" y="500063"/>
            <a:ext cx="2381250" cy="628650"/>
          </a:xfrm>
          <a:prstGeom prst="rect">
            <a:avLst/>
          </a:prstGeom>
          <a:noFill/>
          <a:ln>
            <a:noFill/>
          </a:ln>
        </p:spPr>
      </p:pic>
      <p:grpSp>
        <p:nvGrpSpPr>
          <p:cNvPr id="92" name="Google Shape;92;p1"/>
          <p:cNvGrpSpPr/>
          <p:nvPr/>
        </p:nvGrpSpPr>
        <p:grpSpPr>
          <a:xfrm>
            <a:off x="1417638" y="2692400"/>
            <a:ext cx="6308725" cy="93663"/>
            <a:chOff x="1428728" y="2571744"/>
            <a:chExt cx="6309404" cy="94298"/>
          </a:xfrm>
        </p:grpSpPr>
        <p:cxnSp>
          <p:nvCxnSpPr>
            <p:cNvPr id="93" name="Google Shape;93;p1"/>
            <p:cNvCxnSpPr/>
            <p:nvPr/>
          </p:nvCxnSpPr>
          <p:spPr>
            <a:xfrm>
              <a:off x="1428728" y="2618094"/>
              <a:ext cx="6287177" cy="1598"/>
            </a:xfrm>
            <a:prstGeom prst="straightConnector1">
              <a:avLst/>
            </a:prstGeom>
            <a:noFill/>
            <a:ln w="9525" cap="flat" cmpd="sng">
              <a:solidFill>
                <a:srgbClr val="000000"/>
              </a:solidFill>
              <a:prstDash val="solid"/>
              <a:round/>
              <a:headEnd type="none" w="med" len="med"/>
              <a:tailEnd type="none" w="med" len="med"/>
            </a:ln>
          </p:spPr>
        </p:cxnSp>
        <p:sp>
          <p:nvSpPr>
            <p:cNvPr id="94" name="Google Shape;94;p1"/>
            <p:cNvSpPr/>
            <p:nvPr/>
          </p:nvSpPr>
          <p:spPr>
            <a:xfrm rot="10800000">
              <a:off x="1428728" y="2571744"/>
              <a:ext cx="93672" cy="94298"/>
            </a:xfrm>
            <a:prstGeom prst="ellipse">
              <a:avLst/>
            </a:prstGeom>
            <a:solidFill>
              <a:srgbClr val="0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95" name="Google Shape;95;p1"/>
            <p:cNvSpPr/>
            <p:nvPr/>
          </p:nvSpPr>
          <p:spPr>
            <a:xfrm rot="10800000">
              <a:off x="7644459" y="2571744"/>
              <a:ext cx="93673" cy="94298"/>
            </a:xfrm>
            <a:prstGeom prst="ellipse">
              <a:avLst/>
            </a:prstGeom>
            <a:solidFill>
              <a:srgbClr val="0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grpSp>
      <p:pic>
        <p:nvPicPr>
          <p:cNvPr id="2" name="Picture 12">
            <a:extLst>
              <a:ext uri="{FF2B5EF4-FFF2-40B4-BE49-F238E27FC236}">
                <a16:creationId xmlns:a16="http://schemas.microsoft.com/office/drawing/2014/main" id="{E014B1A2-8371-369D-EAC1-4133BAB5F335}"/>
              </a:ext>
            </a:extLst>
          </p:cNvPr>
          <p:cNvPicPr>
            <a:picLocks noChangeAspect="1" noChangeArrowheads="1"/>
          </p:cNvPicPr>
          <p:nvPr/>
        </p:nvPicPr>
        <p:blipFill>
          <a:blip r:embed="rId5"/>
          <a:srcRect/>
          <a:stretch>
            <a:fillRect/>
          </a:stretch>
        </p:blipFill>
        <p:spPr bwMode="auto">
          <a:xfrm>
            <a:off x="381000" y="0"/>
            <a:ext cx="1524000" cy="1395413"/>
          </a:xfrm>
          <a:prstGeom prst="rect">
            <a:avLst/>
          </a:prstGeom>
          <a:noFill/>
          <a:ln w="9525">
            <a:noFill/>
            <a:miter lim="800000"/>
            <a:headEnd/>
            <a:tailEnd/>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pic>
        <p:nvPicPr>
          <p:cNvPr id="100" name="Google Shape;100;p2" descr="C:\Users\parul\Desktop\Digital Learning Content.png"/>
          <p:cNvPicPr preferRelativeResize="0"/>
          <p:nvPr/>
        </p:nvPicPr>
        <p:blipFill rotWithShape="1">
          <a:blip r:embed="rId3">
            <a:alphaModFix/>
          </a:blip>
          <a:srcRect/>
          <a:stretch/>
        </p:blipFill>
        <p:spPr>
          <a:xfrm>
            <a:off x="0" y="0"/>
            <a:ext cx="9144000" cy="6900863"/>
          </a:xfrm>
          <a:prstGeom prst="rect">
            <a:avLst/>
          </a:prstGeom>
          <a:noFill/>
          <a:ln>
            <a:noFill/>
          </a:ln>
        </p:spPr>
      </p:pic>
      <p:pic>
        <p:nvPicPr>
          <p:cNvPr id="101" name="Google Shape;101;p2" descr="C:\Users\parul\Desktop\Untitled-1.png"/>
          <p:cNvPicPr preferRelativeResize="0"/>
          <p:nvPr/>
        </p:nvPicPr>
        <p:blipFill rotWithShape="1">
          <a:blip r:embed="rId4">
            <a:alphaModFix/>
          </a:blip>
          <a:srcRect/>
          <a:stretch/>
        </p:blipFill>
        <p:spPr>
          <a:xfrm>
            <a:off x="1857375" y="2571750"/>
            <a:ext cx="5430838" cy="2803525"/>
          </a:xfrm>
          <a:prstGeom prst="rect">
            <a:avLst/>
          </a:prstGeom>
          <a:noFill/>
          <a:ln>
            <a:noFill/>
          </a:ln>
        </p:spPr>
      </p:pic>
      <p:sp>
        <p:nvSpPr>
          <p:cNvPr id="102" name="Google Shape;102;p2"/>
          <p:cNvSpPr/>
          <p:nvPr/>
        </p:nvSpPr>
        <p:spPr>
          <a:xfrm>
            <a:off x="0" y="3714750"/>
            <a:ext cx="9144000" cy="714375"/>
          </a:xfrm>
          <a:prstGeom prst="rect">
            <a:avLst/>
          </a:prstGeom>
          <a:solidFill>
            <a:srgbClr val="1F497D"/>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103" name="Google Shape;103;p2"/>
          <p:cNvSpPr/>
          <p:nvPr/>
        </p:nvSpPr>
        <p:spPr>
          <a:xfrm>
            <a:off x="857250" y="3756025"/>
            <a:ext cx="7429500" cy="631825"/>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chemeClr val="lt1"/>
              </a:buClr>
              <a:buSzPts val="3500"/>
              <a:buFont typeface="Arial"/>
              <a:buNone/>
            </a:pPr>
            <a:r>
              <a:rPr lang="en-IN" sz="3500" b="1" dirty="0">
                <a:solidFill>
                  <a:schemeClr val="lt1"/>
                </a:solidFill>
                <a:latin typeface="Calibri"/>
                <a:ea typeface="Calibri"/>
                <a:cs typeface="Calibri"/>
                <a:sym typeface="Calibri"/>
              </a:rPr>
              <a:t>Hibernate</a:t>
            </a:r>
            <a:endParaRPr dirty="0"/>
          </a:p>
        </p:txBody>
      </p:sp>
      <p:sp>
        <p:nvSpPr>
          <p:cNvPr id="104" name="Google Shape;104;p2"/>
          <p:cNvSpPr/>
          <p:nvPr/>
        </p:nvSpPr>
        <p:spPr>
          <a:xfrm>
            <a:off x="1714500" y="3071813"/>
            <a:ext cx="5715000" cy="630237"/>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chemeClr val="dk1"/>
              </a:buClr>
              <a:buSzPts val="3500"/>
              <a:buFont typeface="Arial"/>
              <a:buNone/>
            </a:pPr>
            <a:r>
              <a:rPr lang="en-IN" sz="3500" b="1" i="0" u="none" strike="noStrike" cap="none" dirty="0">
                <a:solidFill>
                  <a:schemeClr val="dk1"/>
                </a:solidFill>
                <a:latin typeface="Calibri"/>
                <a:ea typeface="Calibri"/>
                <a:cs typeface="Calibri"/>
                <a:sym typeface="Calibri"/>
              </a:rPr>
              <a:t>CHAPTER-4</a:t>
            </a:r>
            <a:endParaRPr dirty="0"/>
          </a:p>
        </p:txBody>
      </p:sp>
      <p:pic>
        <p:nvPicPr>
          <p:cNvPr id="2" name="Picture 12">
            <a:extLst>
              <a:ext uri="{FF2B5EF4-FFF2-40B4-BE49-F238E27FC236}">
                <a16:creationId xmlns:a16="http://schemas.microsoft.com/office/drawing/2014/main" id="{98957517-2C4C-F7B5-921E-87C97F75870A}"/>
              </a:ext>
            </a:extLst>
          </p:cNvPr>
          <p:cNvPicPr>
            <a:picLocks noChangeAspect="1" noChangeArrowheads="1"/>
          </p:cNvPicPr>
          <p:nvPr/>
        </p:nvPicPr>
        <p:blipFill>
          <a:blip r:embed="rId5"/>
          <a:srcRect/>
          <a:stretch>
            <a:fillRect/>
          </a:stretch>
        </p:blipFill>
        <p:spPr bwMode="auto">
          <a:xfrm>
            <a:off x="381000" y="0"/>
            <a:ext cx="1524000" cy="1395413"/>
          </a:xfrm>
          <a:prstGeom prst="rect">
            <a:avLst/>
          </a:prstGeom>
          <a:noFill/>
          <a:ln w="9525">
            <a:noFill/>
            <a:miter lim="800000"/>
            <a:headEnd/>
            <a:tailEnd/>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pic>
        <p:nvPicPr>
          <p:cNvPr id="109" name="Google Shape;109;p3" descr="C:\Users\parul\Desktop\Digital Learning Content.png"/>
          <p:cNvPicPr preferRelativeResize="0"/>
          <p:nvPr/>
        </p:nvPicPr>
        <p:blipFill rotWithShape="1">
          <a:blip r:embed="rId3">
            <a:alphaModFix/>
          </a:blip>
          <a:srcRect/>
          <a:stretch/>
        </p:blipFill>
        <p:spPr>
          <a:xfrm>
            <a:off x="0" y="0"/>
            <a:ext cx="9144000" cy="6900863"/>
          </a:xfrm>
          <a:prstGeom prst="rect">
            <a:avLst/>
          </a:prstGeom>
          <a:noFill/>
          <a:ln>
            <a:noFill/>
          </a:ln>
        </p:spPr>
      </p:pic>
      <p:pic>
        <p:nvPicPr>
          <p:cNvPr id="110" name="Google Shape;110;p3" descr="C:\Users\parul\Desktop\Untitled-1.png"/>
          <p:cNvPicPr preferRelativeResize="0"/>
          <p:nvPr/>
        </p:nvPicPr>
        <p:blipFill rotWithShape="1">
          <a:blip r:embed="rId4">
            <a:alphaModFix/>
          </a:blip>
          <a:srcRect/>
          <a:stretch/>
        </p:blipFill>
        <p:spPr>
          <a:xfrm>
            <a:off x="1857375" y="3071813"/>
            <a:ext cx="5430838" cy="2803525"/>
          </a:xfrm>
          <a:prstGeom prst="rect">
            <a:avLst/>
          </a:prstGeom>
          <a:noFill/>
          <a:ln>
            <a:noFill/>
          </a:ln>
        </p:spPr>
      </p:pic>
      <p:sp>
        <p:nvSpPr>
          <p:cNvPr id="111" name="Google Shape;111;p3"/>
          <p:cNvSpPr txBox="1"/>
          <p:nvPr/>
        </p:nvSpPr>
        <p:spPr>
          <a:xfrm>
            <a:off x="190500" y="2286000"/>
            <a:ext cx="8558213" cy="1759416"/>
          </a:xfrm>
          <a:prstGeom prst="rect">
            <a:avLst/>
          </a:prstGeom>
          <a:noFill/>
          <a:ln>
            <a:noFill/>
          </a:ln>
        </p:spPr>
        <p:txBody>
          <a:bodyPr spcFirstLastPara="1" wrap="square" lIns="91425" tIns="45700" rIns="91425" bIns="45700" anchor="t" anchorCtr="0">
            <a:spAutoFit/>
          </a:bodyPr>
          <a:lstStyle/>
          <a:p>
            <a:pPr marL="0" marR="0" lvl="0" indent="0" algn="just" rtl="0">
              <a:spcBef>
                <a:spcPts val="480"/>
              </a:spcBef>
              <a:spcAft>
                <a:spcPts val="0"/>
              </a:spcAft>
              <a:buClr>
                <a:schemeClr val="dk1"/>
              </a:buClr>
              <a:buSzPts val="2400"/>
              <a:buFont typeface="Arial"/>
              <a:buNone/>
            </a:pPr>
            <a:r>
              <a:rPr lang="en-US" sz="2000" b="0" i="0" dirty="0">
                <a:solidFill>
                  <a:schemeClr val="tx1"/>
                </a:solidFill>
                <a:effectLst/>
                <a:highlight>
                  <a:srgbClr val="FFFFFF"/>
                </a:highlight>
                <a:latin typeface="Times New Roman" panose="02020603050405020304" pitchFamily="18" charset="0"/>
                <a:cs typeface="Times New Roman" panose="02020603050405020304" pitchFamily="18" charset="0"/>
              </a:rPr>
              <a:t>Hibernate is a Java framework that simplifies the development of Java application to interact with the database. </a:t>
            </a:r>
          </a:p>
          <a:p>
            <a:pPr marL="0" marR="0" lvl="0" indent="0" algn="just" rtl="0">
              <a:spcBef>
                <a:spcPts val="480"/>
              </a:spcBef>
              <a:spcAft>
                <a:spcPts val="0"/>
              </a:spcAft>
              <a:buClr>
                <a:schemeClr val="dk1"/>
              </a:buClr>
              <a:buSzPts val="2400"/>
              <a:buFont typeface="Arial"/>
              <a:buNone/>
            </a:pPr>
            <a:r>
              <a:rPr lang="en-US" sz="2000" b="0" i="0" dirty="0">
                <a:solidFill>
                  <a:schemeClr val="tx1"/>
                </a:solidFill>
                <a:effectLst/>
                <a:highlight>
                  <a:srgbClr val="FFFFFF"/>
                </a:highlight>
                <a:latin typeface="Times New Roman" panose="02020603050405020304" pitchFamily="18" charset="0"/>
                <a:cs typeface="Times New Roman" panose="02020603050405020304" pitchFamily="18" charset="0"/>
              </a:rPr>
              <a:t>It is an open source, lightweight, ORM (Object Relational Mapping) tool. Hibernate implements the specifications of JPA (Java Persistence API) for data persistence. Developed in 2001 by Gavin King.</a:t>
            </a:r>
            <a:endParaRPr sz="2000" b="0" i="0" u="none" strike="noStrike" cap="none" dirty="0">
              <a:solidFill>
                <a:schemeClr val="tx1"/>
              </a:solidFill>
              <a:latin typeface="Times New Roman" panose="02020603050405020304" pitchFamily="18" charset="0"/>
              <a:ea typeface="Calibri"/>
              <a:cs typeface="Times New Roman" panose="02020603050405020304" pitchFamily="18" charset="0"/>
              <a:sym typeface="Calibri"/>
            </a:endParaRPr>
          </a:p>
        </p:txBody>
      </p:sp>
      <p:sp>
        <p:nvSpPr>
          <p:cNvPr id="112" name="Google Shape;112;p3"/>
          <p:cNvSpPr/>
          <p:nvPr/>
        </p:nvSpPr>
        <p:spPr>
          <a:xfrm>
            <a:off x="0" y="1643063"/>
            <a:ext cx="9144000" cy="642937"/>
          </a:xfrm>
          <a:prstGeom prst="rect">
            <a:avLst/>
          </a:prstGeom>
          <a:solidFill>
            <a:srgbClr val="1F497D"/>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113" name="Google Shape;113;p3"/>
          <p:cNvSpPr/>
          <p:nvPr/>
        </p:nvSpPr>
        <p:spPr>
          <a:xfrm>
            <a:off x="190500" y="1687513"/>
            <a:ext cx="8763000" cy="55403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lt1"/>
              </a:buClr>
              <a:buSzPts val="3000"/>
              <a:buFont typeface="Arial"/>
              <a:buNone/>
            </a:pPr>
            <a:r>
              <a:rPr lang="en-IN" sz="3000" b="1" dirty="0">
                <a:solidFill>
                  <a:schemeClr val="lt1"/>
                </a:solidFill>
                <a:latin typeface="Calibri"/>
                <a:ea typeface="Calibri"/>
                <a:cs typeface="Calibri"/>
                <a:sym typeface="Calibri"/>
              </a:rPr>
              <a:t>What is Hibernate?</a:t>
            </a:r>
            <a:endParaRPr sz="3000" b="1" i="0" u="none" strike="noStrike" cap="none" dirty="0">
              <a:solidFill>
                <a:schemeClr val="lt1"/>
              </a:solidFill>
              <a:latin typeface="Calibri"/>
              <a:ea typeface="Calibri"/>
              <a:cs typeface="Calibri"/>
              <a:sym typeface="Calibri"/>
            </a:endParaRPr>
          </a:p>
        </p:txBody>
      </p:sp>
      <p:pic>
        <p:nvPicPr>
          <p:cNvPr id="2" name="Picture 12">
            <a:extLst>
              <a:ext uri="{FF2B5EF4-FFF2-40B4-BE49-F238E27FC236}">
                <a16:creationId xmlns:a16="http://schemas.microsoft.com/office/drawing/2014/main" id="{5E34A062-D343-ACBB-D599-3FB7BD6680AC}"/>
              </a:ext>
            </a:extLst>
          </p:cNvPr>
          <p:cNvPicPr>
            <a:picLocks noChangeAspect="1" noChangeArrowheads="1"/>
          </p:cNvPicPr>
          <p:nvPr/>
        </p:nvPicPr>
        <p:blipFill>
          <a:blip r:embed="rId5"/>
          <a:srcRect/>
          <a:stretch>
            <a:fillRect/>
          </a:stretch>
        </p:blipFill>
        <p:spPr bwMode="auto">
          <a:xfrm>
            <a:off x="381000" y="0"/>
            <a:ext cx="1524000" cy="1395413"/>
          </a:xfrm>
          <a:prstGeom prst="rect">
            <a:avLst/>
          </a:prstGeom>
          <a:noFill/>
          <a:ln w="9525">
            <a:noFill/>
            <a:miter lim="800000"/>
            <a:headEnd/>
            <a:tailEnd/>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pic>
        <p:nvPicPr>
          <p:cNvPr id="118" name="Google Shape;118;p4" descr="C:\Users\parul\Desktop\Digital Learning Content.png"/>
          <p:cNvPicPr preferRelativeResize="0"/>
          <p:nvPr/>
        </p:nvPicPr>
        <p:blipFill rotWithShape="1">
          <a:blip r:embed="rId3">
            <a:alphaModFix/>
          </a:blip>
          <a:srcRect/>
          <a:stretch/>
        </p:blipFill>
        <p:spPr>
          <a:xfrm>
            <a:off x="0" y="0"/>
            <a:ext cx="9144000" cy="6900863"/>
          </a:xfrm>
          <a:prstGeom prst="rect">
            <a:avLst/>
          </a:prstGeom>
          <a:noFill/>
          <a:ln>
            <a:noFill/>
          </a:ln>
        </p:spPr>
      </p:pic>
      <p:pic>
        <p:nvPicPr>
          <p:cNvPr id="119" name="Google Shape;119;p4" descr="C:\Users\parul\Desktop\Untitled-1.png"/>
          <p:cNvPicPr preferRelativeResize="0"/>
          <p:nvPr/>
        </p:nvPicPr>
        <p:blipFill rotWithShape="1">
          <a:blip r:embed="rId4">
            <a:alphaModFix/>
          </a:blip>
          <a:srcRect/>
          <a:stretch/>
        </p:blipFill>
        <p:spPr>
          <a:xfrm>
            <a:off x="1857375" y="3071813"/>
            <a:ext cx="5430838" cy="2803525"/>
          </a:xfrm>
          <a:prstGeom prst="rect">
            <a:avLst/>
          </a:prstGeom>
          <a:noFill/>
          <a:ln>
            <a:noFill/>
          </a:ln>
        </p:spPr>
      </p:pic>
      <p:sp>
        <p:nvSpPr>
          <p:cNvPr id="120" name="Google Shape;120;p4"/>
          <p:cNvSpPr txBox="1"/>
          <p:nvPr/>
        </p:nvSpPr>
        <p:spPr>
          <a:xfrm>
            <a:off x="190500" y="2286000"/>
            <a:ext cx="8629650" cy="2323673"/>
          </a:xfrm>
          <a:prstGeom prst="rect">
            <a:avLst/>
          </a:prstGeom>
          <a:noFill/>
          <a:ln>
            <a:noFill/>
          </a:ln>
        </p:spPr>
        <p:txBody>
          <a:bodyPr spcFirstLastPara="1" wrap="square" lIns="91425" tIns="45700" rIns="91425" bIns="45700" anchor="t" anchorCtr="0">
            <a:spAutoFit/>
          </a:bodyPr>
          <a:lstStyle/>
          <a:p>
            <a:pPr marL="342900" marR="0" lvl="0" indent="-342900" algn="l" rtl="0">
              <a:spcBef>
                <a:spcPts val="480"/>
              </a:spcBef>
              <a:spcAft>
                <a:spcPts val="0"/>
              </a:spcAft>
              <a:buClr>
                <a:schemeClr val="dk1"/>
              </a:buClr>
              <a:buSzPts val="2400"/>
              <a:buFont typeface="Arial" panose="020B0604020202020204" pitchFamily="34" charset="0"/>
              <a:buChar char="•"/>
            </a:pPr>
            <a:r>
              <a:rPr lang="en-IN" sz="20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It is open source Object-Relational Mapping (ORM) tool for java.</a:t>
            </a:r>
          </a:p>
          <a:p>
            <a:pPr marL="342900" marR="0" lvl="0" indent="-342900" algn="l" rtl="0">
              <a:spcBef>
                <a:spcPts val="480"/>
              </a:spcBef>
              <a:spcAft>
                <a:spcPts val="0"/>
              </a:spcAft>
              <a:buClr>
                <a:schemeClr val="dk1"/>
              </a:buClr>
              <a:buSzPts val="2400"/>
              <a:buFont typeface="Arial" panose="020B0604020202020204" pitchFamily="34" charset="0"/>
              <a:buChar char="•"/>
            </a:pPr>
            <a:r>
              <a:rPr lang="en-IN" sz="2000" dirty="0">
                <a:solidFill>
                  <a:schemeClr val="dk1"/>
                </a:solidFill>
                <a:latin typeface="Times New Roman" panose="02020603050405020304" pitchFamily="18" charset="0"/>
                <a:ea typeface="Calibri"/>
                <a:cs typeface="Times New Roman" panose="02020603050405020304" pitchFamily="18" charset="0"/>
                <a:sym typeface="Calibri"/>
              </a:rPr>
              <a:t>Hibernate is responsible for making data persistent by storing it in a database.</a:t>
            </a:r>
          </a:p>
          <a:p>
            <a:pPr marL="342900" marR="0" lvl="0" indent="-342900" algn="l" rtl="0">
              <a:spcBef>
                <a:spcPts val="480"/>
              </a:spcBef>
              <a:spcAft>
                <a:spcPts val="0"/>
              </a:spcAft>
              <a:buClr>
                <a:schemeClr val="dk1"/>
              </a:buClr>
              <a:buSzPts val="2400"/>
              <a:buFont typeface="Arial" panose="020B0604020202020204" pitchFamily="34" charset="0"/>
              <a:buChar char="•"/>
            </a:pPr>
            <a:r>
              <a:rPr lang="en-IN" sz="2000" dirty="0">
                <a:solidFill>
                  <a:schemeClr val="dk1"/>
                </a:solidFill>
                <a:latin typeface="Times New Roman" panose="02020603050405020304" pitchFamily="18" charset="0"/>
                <a:ea typeface="Calibri"/>
                <a:cs typeface="Times New Roman" panose="02020603050405020304" pitchFamily="18" charset="0"/>
                <a:sym typeface="Calibri"/>
              </a:rPr>
              <a:t>Hibernate is light weight.</a:t>
            </a:r>
          </a:p>
          <a:p>
            <a:pPr marL="342900" marR="0" lvl="0" indent="-342900" algn="l" rtl="0">
              <a:spcBef>
                <a:spcPts val="480"/>
              </a:spcBef>
              <a:spcAft>
                <a:spcPts val="0"/>
              </a:spcAft>
              <a:buClr>
                <a:schemeClr val="dk1"/>
              </a:buClr>
              <a:buSzPts val="2400"/>
              <a:buFont typeface="Arial" panose="020B0604020202020204" pitchFamily="34" charset="0"/>
              <a:buChar char="•"/>
            </a:pPr>
            <a:r>
              <a:rPr lang="en-IN" sz="2000" dirty="0">
                <a:solidFill>
                  <a:schemeClr val="dk1"/>
                </a:solidFill>
                <a:latin typeface="Times New Roman" panose="02020603050405020304" pitchFamily="18" charset="0"/>
                <a:ea typeface="Calibri"/>
                <a:cs typeface="Times New Roman" panose="02020603050405020304" pitchFamily="18" charset="0"/>
                <a:sym typeface="Calibri"/>
              </a:rPr>
              <a:t>It was developed by Gavin King in 2001.</a:t>
            </a:r>
          </a:p>
          <a:p>
            <a:pPr marL="342900" marR="0" lvl="0" indent="-342900" algn="l" rtl="0">
              <a:spcBef>
                <a:spcPts val="480"/>
              </a:spcBef>
              <a:spcAft>
                <a:spcPts val="0"/>
              </a:spcAft>
              <a:buClr>
                <a:schemeClr val="dk1"/>
              </a:buClr>
              <a:buSzPts val="2400"/>
              <a:buFont typeface="Arial" panose="020B0604020202020204" pitchFamily="34" charset="0"/>
              <a:buChar char="•"/>
            </a:pPr>
            <a:endParaRPr lang="en-IN" sz="20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endParaRPr>
          </a:p>
          <a:p>
            <a:pPr marL="0" marR="0" lvl="0" indent="0" algn="l" rtl="0">
              <a:spcBef>
                <a:spcPts val="480"/>
              </a:spcBef>
              <a:spcAft>
                <a:spcPts val="0"/>
              </a:spcAft>
              <a:buClr>
                <a:schemeClr val="dk1"/>
              </a:buClr>
              <a:buSzPts val="2400"/>
              <a:buFont typeface="Arial"/>
              <a:buNone/>
            </a:pPr>
            <a:endParaRPr sz="20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121" name="Google Shape;121;p4"/>
          <p:cNvSpPr/>
          <p:nvPr/>
        </p:nvSpPr>
        <p:spPr>
          <a:xfrm>
            <a:off x="0" y="1643063"/>
            <a:ext cx="9144000" cy="642937"/>
          </a:xfrm>
          <a:prstGeom prst="rect">
            <a:avLst/>
          </a:prstGeom>
          <a:solidFill>
            <a:srgbClr val="1F497D"/>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122" name="Google Shape;122;p4"/>
          <p:cNvSpPr/>
          <p:nvPr/>
        </p:nvSpPr>
        <p:spPr>
          <a:xfrm>
            <a:off x="190500" y="1687513"/>
            <a:ext cx="8763000" cy="55403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lt1"/>
              </a:buClr>
              <a:buSzPts val="3000"/>
              <a:buFont typeface="Arial"/>
              <a:buNone/>
            </a:pPr>
            <a:r>
              <a:rPr lang="en-IN" sz="3000" b="1" dirty="0">
                <a:solidFill>
                  <a:schemeClr val="lt1"/>
                </a:solidFill>
                <a:latin typeface="Calibri"/>
                <a:ea typeface="Calibri"/>
                <a:cs typeface="Calibri"/>
                <a:sym typeface="Calibri"/>
              </a:rPr>
              <a:t>Introduction to Hibernate.</a:t>
            </a:r>
            <a:endParaRPr dirty="0"/>
          </a:p>
        </p:txBody>
      </p:sp>
      <p:pic>
        <p:nvPicPr>
          <p:cNvPr id="2" name="Picture 12">
            <a:extLst>
              <a:ext uri="{FF2B5EF4-FFF2-40B4-BE49-F238E27FC236}">
                <a16:creationId xmlns:a16="http://schemas.microsoft.com/office/drawing/2014/main" id="{F00E8080-0984-78A6-A529-38E6FC256FB2}"/>
              </a:ext>
            </a:extLst>
          </p:cNvPr>
          <p:cNvPicPr>
            <a:picLocks noChangeAspect="1" noChangeArrowheads="1"/>
          </p:cNvPicPr>
          <p:nvPr/>
        </p:nvPicPr>
        <p:blipFill>
          <a:blip r:embed="rId5"/>
          <a:srcRect/>
          <a:stretch>
            <a:fillRect/>
          </a:stretch>
        </p:blipFill>
        <p:spPr bwMode="auto">
          <a:xfrm>
            <a:off x="381000" y="0"/>
            <a:ext cx="1524000" cy="1395413"/>
          </a:xfrm>
          <a:prstGeom prst="rect">
            <a:avLst/>
          </a:prstGeom>
          <a:noFill/>
          <a:ln w="9525">
            <a:noFill/>
            <a:miter lim="800000"/>
            <a:headEnd/>
            <a:tailEnd/>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pic>
        <p:nvPicPr>
          <p:cNvPr id="127" name="Google Shape;127;p5" descr="C:\Users\parul\Desktop\Digital Learning Content.png"/>
          <p:cNvPicPr preferRelativeResize="0"/>
          <p:nvPr/>
        </p:nvPicPr>
        <p:blipFill rotWithShape="1">
          <a:blip r:embed="rId3">
            <a:alphaModFix/>
          </a:blip>
          <a:srcRect/>
          <a:stretch/>
        </p:blipFill>
        <p:spPr>
          <a:xfrm>
            <a:off x="0" y="0"/>
            <a:ext cx="9144000" cy="6900863"/>
          </a:xfrm>
          <a:prstGeom prst="rect">
            <a:avLst/>
          </a:prstGeom>
          <a:noFill/>
          <a:ln>
            <a:noFill/>
          </a:ln>
        </p:spPr>
      </p:pic>
      <p:pic>
        <p:nvPicPr>
          <p:cNvPr id="128" name="Google Shape;128;p5" descr="C:\Users\parul\Desktop\Untitled-1.png"/>
          <p:cNvPicPr preferRelativeResize="0"/>
          <p:nvPr/>
        </p:nvPicPr>
        <p:blipFill rotWithShape="1">
          <a:blip r:embed="rId4">
            <a:alphaModFix/>
          </a:blip>
          <a:srcRect/>
          <a:stretch/>
        </p:blipFill>
        <p:spPr>
          <a:xfrm>
            <a:off x="1857375" y="3071813"/>
            <a:ext cx="5430838" cy="2803525"/>
          </a:xfrm>
          <a:prstGeom prst="rect">
            <a:avLst/>
          </a:prstGeom>
          <a:noFill/>
          <a:ln>
            <a:noFill/>
          </a:ln>
        </p:spPr>
      </p:pic>
      <p:sp>
        <p:nvSpPr>
          <p:cNvPr id="129" name="Google Shape;129;p5"/>
          <p:cNvSpPr txBox="1"/>
          <p:nvPr/>
        </p:nvSpPr>
        <p:spPr>
          <a:xfrm>
            <a:off x="190500" y="2286000"/>
            <a:ext cx="8629650" cy="3054642"/>
          </a:xfrm>
          <a:prstGeom prst="rect">
            <a:avLst/>
          </a:prstGeom>
          <a:noFill/>
          <a:ln>
            <a:noFill/>
          </a:ln>
        </p:spPr>
        <p:txBody>
          <a:bodyPr spcFirstLastPara="1" wrap="square" lIns="91425" tIns="45700" rIns="91425" bIns="45700" anchor="t" anchorCtr="0">
            <a:spAutoFit/>
          </a:bodyPr>
          <a:lstStyle/>
          <a:p>
            <a:pPr algn="just">
              <a:spcBef>
                <a:spcPts val="480"/>
              </a:spcBef>
              <a:buClr>
                <a:schemeClr val="dk1"/>
              </a:buClr>
              <a:buSzPts val="2400"/>
            </a:pPr>
            <a:r>
              <a:rPr lang="en-US" sz="2000" dirty="0">
                <a:solidFill>
                  <a:schemeClr val="dk1"/>
                </a:solidFill>
                <a:latin typeface="Times New Roman" panose="02020603050405020304" pitchFamily="18" charset="0"/>
                <a:ea typeface="Calibri"/>
                <a:cs typeface="Times New Roman" panose="02020603050405020304" pitchFamily="18" charset="0"/>
                <a:sym typeface="Calibri"/>
              </a:rPr>
              <a:t>ORM simplifies database interaction in object-oriented programming languages by allowing developers to work with objects in their code while transparently handling the conversion to and form relational database tables. This leads to faster development cycles, reduced boilerplate code and improve maintainability of the codebase.</a:t>
            </a:r>
          </a:p>
          <a:p>
            <a:pPr algn="just">
              <a:spcBef>
                <a:spcPts val="480"/>
              </a:spcBef>
              <a:buClr>
                <a:schemeClr val="dk1"/>
              </a:buClr>
              <a:buSzPts val="2400"/>
            </a:pPr>
            <a:endParaRPr lang="en-US" sz="20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endParaRPr>
          </a:p>
          <a:p>
            <a:pPr marL="0" marR="0" lvl="0" indent="0" algn="just" rtl="0">
              <a:spcBef>
                <a:spcPts val="480"/>
              </a:spcBef>
              <a:spcAft>
                <a:spcPts val="0"/>
              </a:spcAft>
              <a:buClr>
                <a:schemeClr val="dk1"/>
              </a:buClr>
              <a:buSzPts val="2400"/>
              <a:buFont typeface="Arial"/>
              <a:buNone/>
            </a:pPr>
            <a:r>
              <a:rPr lang="en-IN" sz="2000" dirty="0">
                <a:solidFill>
                  <a:schemeClr val="dk1"/>
                </a:solidFill>
                <a:latin typeface="Times New Roman" panose="02020603050405020304" pitchFamily="18" charset="0"/>
                <a:ea typeface="Calibri"/>
                <a:cs typeface="Times New Roman" panose="02020603050405020304" pitchFamily="18" charset="0"/>
                <a:sym typeface="Calibri"/>
              </a:rPr>
              <a:t>ORM stands for Object-Relational Mapping. It’s a programming technique use to convert data between incompatible systems by creating, in effect, a “virtual object database” that can be used from within the programming language.</a:t>
            </a:r>
          </a:p>
        </p:txBody>
      </p:sp>
      <p:sp>
        <p:nvSpPr>
          <p:cNvPr id="130" name="Google Shape;130;p5"/>
          <p:cNvSpPr/>
          <p:nvPr/>
        </p:nvSpPr>
        <p:spPr>
          <a:xfrm>
            <a:off x="0" y="1643063"/>
            <a:ext cx="9144000" cy="642937"/>
          </a:xfrm>
          <a:prstGeom prst="rect">
            <a:avLst/>
          </a:prstGeom>
          <a:solidFill>
            <a:srgbClr val="1F497D"/>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131" name="Google Shape;131;p5"/>
          <p:cNvSpPr/>
          <p:nvPr/>
        </p:nvSpPr>
        <p:spPr>
          <a:xfrm>
            <a:off x="190500" y="1687513"/>
            <a:ext cx="8763000" cy="55403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lt1"/>
              </a:buClr>
              <a:buSzPts val="3000"/>
              <a:buFont typeface="Arial"/>
              <a:buNone/>
            </a:pPr>
            <a:r>
              <a:rPr lang="en-IN" sz="3000" b="1" i="0" u="none" strike="noStrike" cap="none" dirty="0">
                <a:solidFill>
                  <a:schemeClr val="lt1"/>
                </a:solidFill>
                <a:latin typeface="Calibri"/>
                <a:ea typeface="Calibri"/>
                <a:cs typeface="Calibri"/>
                <a:sym typeface="Calibri"/>
              </a:rPr>
              <a:t>ORM TOOL</a:t>
            </a:r>
            <a:endParaRPr sz="3000" b="1" i="0" u="none" strike="noStrike" cap="none" dirty="0">
              <a:solidFill>
                <a:schemeClr val="lt1"/>
              </a:solidFill>
              <a:latin typeface="Calibri"/>
              <a:ea typeface="Calibri"/>
              <a:cs typeface="Calibri"/>
              <a:sym typeface="Calibri"/>
            </a:endParaRPr>
          </a:p>
        </p:txBody>
      </p:sp>
      <p:pic>
        <p:nvPicPr>
          <p:cNvPr id="2" name="Picture 12">
            <a:extLst>
              <a:ext uri="{FF2B5EF4-FFF2-40B4-BE49-F238E27FC236}">
                <a16:creationId xmlns:a16="http://schemas.microsoft.com/office/drawing/2014/main" id="{8B536F38-336D-F5B3-DC58-5F1E288B7482}"/>
              </a:ext>
            </a:extLst>
          </p:cNvPr>
          <p:cNvPicPr>
            <a:picLocks noChangeAspect="1" noChangeArrowheads="1"/>
          </p:cNvPicPr>
          <p:nvPr/>
        </p:nvPicPr>
        <p:blipFill>
          <a:blip r:embed="rId5"/>
          <a:srcRect/>
          <a:stretch>
            <a:fillRect/>
          </a:stretch>
        </p:blipFill>
        <p:spPr bwMode="auto">
          <a:xfrm>
            <a:off x="381000" y="0"/>
            <a:ext cx="1524000" cy="1395413"/>
          </a:xfrm>
          <a:prstGeom prst="rect">
            <a:avLst/>
          </a:prstGeom>
          <a:noFill/>
          <a:ln w="9525">
            <a:noFill/>
            <a:miter lim="800000"/>
            <a:headEnd/>
            <a:tailEnd/>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oogle Shape;136;p6" descr="C:\Users\parul\Desktop\Digital Learning Content.png">
            <a:extLst>
              <a:ext uri="{FF2B5EF4-FFF2-40B4-BE49-F238E27FC236}">
                <a16:creationId xmlns:a16="http://schemas.microsoft.com/office/drawing/2014/main" id="{3D39C2DC-EBA9-F837-E3FE-9F7E3111485D}"/>
              </a:ext>
            </a:extLst>
          </p:cNvPr>
          <p:cNvPicPr preferRelativeResize="0"/>
          <p:nvPr/>
        </p:nvPicPr>
        <p:blipFill rotWithShape="1">
          <a:blip r:embed="rId2">
            <a:alphaModFix/>
          </a:blip>
          <a:srcRect/>
          <a:stretch/>
        </p:blipFill>
        <p:spPr>
          <a:xfrm>
            <a:off x="41040" y="202964"/>
            <a:ext cx="9102960" cy="6697899"/>
          </a:xfrm>
          <a:prstGeom prst="rect">
            <a:avLst/>
          </a:prstGeom>
          <a:noFill/>
          <a:ln>
            <a:noFill/>
          </a:ln>
        </p:spPr>
      </p:pic>
      <p:pic>
        <p:nvPicPr>
          <p:cNvPr id="2050" name="Picture 2" descr="hibernate tutorial, An introduction to hibernate">
            <a:extLst>
              <a:ext uri="{FF2B5EF4-FFF2-40B4-BE49-F238E27FC236}">
                <a16:creationId xmlns:a16="http://schemas.microsoft.com/office/drawing/2014/main" id="{34CE9606-8C0F-60AC-3157-E3715A05E50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3368" y="3429000"/>
            <a:ext cx="5327720" cy="1414463"/>
          </a:xfrm>
          <a:prstGeom prst="rect">
            <a:avLst/>
          </a:prstGeom>
          <a:noFill/>
          <a:extLst>
            <a:ext uri="{909E8E84-426E-40DD-AFC4-6F175D3DCCD1}">
              <a14:hiddenFill xmlns:a14="http://schemas.microsoft.com/office/drawing/2010/main">
                <a:solidFill>
                  <a:srgbClr val="FFFFFF"/>
                </a:solidFill>
              </a14:hiddenFill>
            </a:ext>
          </a:extLst>
        </p:spPr>
      </p:pic>
      <p:sp>
        <p:nvSpPr>
          <p:cNvPr id="3" name="Google Shape;130;p5">
            <a:extLst>
              <a:ext uri="{FF2B5EF4-FFF2-40B4-BE49-F238E27FC236}">
                <a16:creationId xmlns:a16="http://schemas.microsoft.com/office/drawing/2014/main" id="{2614510B-F202-6765-4C79-B0EF8D25AA9C}"/>
              </a:ext>
            </a:extLst>
          </p:cNvPr>
          <p:cNvSpPr/>
          <p:nvPr/>
        </p:nvSpPr>
        <p:spPr>
          <a:xfrm>
            <a:off x="0" y="1643063"/>
            <a:ext cx="9144000" cy="642937"/>
          </a:xfrm>
          <a:prstGeom prst="rect">
            <a:avLst/>
          </a:prstGeom>
          <a:solidFill>
            <a:srgbClr val="1F497D"/>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b="0" i="0" u="none" strike="noStrike" cap="none" dirty="0">
              <a:solidFill>
                <a:schemeClr val="dk1"/>
              </a:solidFill>
              <a:latin typeface="Arial"/>
              <a:ea typeface="Arial"/>
              <a:cs typeface="Arial"/>
              <a:sym typeface="Arial"/>
            </a:endParaRPr>
          </a:p>
        </p:txBody>
      </p:sp>
      <p:pic>
        <p:nvPicPr>
          <p:cNvPr id="4" name="Picture 12">
            <a:extLst>
              <a:ext uri="{FF2B5EF4-FFF2-40B4-BE49-F238E27FC236}">
                <a16:creationId xmlns:a16="http://schemas.microsoft.com/office/drawing/2014/main" id="{4EC32A5B-F488-57C5-33CA-51AD51C98218}"/>
              </a:ext>
            </a:extLst>
          </p:cNvPr>
          <p:cNvPicPr>
            <a:picLocks noChangeAspect="1" noChangeArrowheads="1"/>
          </p:cNvPicPr>
          <p:nvPr/>
        </p:nvPicPr>
        <p:blipFill>
          <a:blip r:embed="rId4"/>
          <a:srcRect/>
          <a:stretch>
            <a:fillRect/>
          </a:stretch>
        </p:blipFill>
        <p:spPr bwMode="auto">
          <a:xfrm>
            <a:off x="381000" y="0"/>
            <a:ext cx="1524000" cy="1395413"/>
          </a:xfrm>
          <a:prstGeom prst="rect">
            <a:avLst/>
          </a:prstGeom>
          <a:noFill/>
          <a:ln w="9525">
            <a:noFill/>
            <a:miter lim="800000"/>
            <a:headEnd/>
            <a:tailEnd/>
          </a:ln>
        </p:spPr>
      </p:pic>
    </p:spTree>
    <p:extLst>
      <p:ext uri="{BB962C8B-B14F-4D97-AF65-F5344CB8AC3E}">
        <p14:creationId xmlns:p14="http://schemas.microsoft.com/office/powerpoint/2010/main" val="479114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pic>
        <p:nvPicPr>
          <p:cNvPr id="145" name="Google Shape;145;p7" descr="C:\Users\parul\Desktop\Digital Learning Content.png"/>
          <p:cNvPicPr preferRelativeResize="0"/>
          <p:nvPr/>
        </p:nvPicPr>
        <p:blipFill rotWithShape="1">
          <a:blip r:embed="rId3">
            <a:alphaModFix/>
          </a:blip>
          <a:srcRect/>
          <a:stretch/>
        </p:blipFill>
        <p:spPr>
          <a:xfrm>
            <a:off x="0" y="9832"/>
            <a:ext cx="9144000" cy="6900863"/>
          </a:xfrm>
          <a:prstGeom prst="rect">
            <a:avLst/>
          </a:prstGeom>
          <a:noFill/>
          <a:ln>
            <a:noFill/>
          </a:ln>
        </p:spPr>
      </p:pic>
      <p:pic>
        <p:nvPicPr>
          <p:cNvPr id="146" name="Google Shape;146;p7" descr="C:\Users\parul\Desktop\Untitled-1.png"/>
          <p:cNvPicPr preferRelativeResize="0"/>
          <p:nvPr/>
        </p:nvPicPr>
        <p:blipFill rotWithShape="1">
          <a:blip r:embed="rId4">
            <a:alphaModFix/>
          </a:blip>
          <a:srcRect/>
          <a:stretch/>
        </p:blipFill>
        <p:spPr>
          <a:xfrm>
            <a:off x="1857375" y="3071813"/>
            <a:ext cx="5430838" cy="2803525"/>
          </a:xfrm>
          <a:prstGeom prst="rect">
            <a:avLst/>
          </a:prstGeom>
          <a:noFill/>
          <a:ln>
            <a:noFill/>
          </a:ln>
        </p:spPr>
      </p:pic>
      <p:sp>
        <p:nvSpPr>
          <p:cNvPr id="147" name="Google Shape;147;p7"/>
          <p:cNvSpPr txBox="1"/>
          <p:nvPr/>
        </p:nvSpPr>
        <p:spPr>
          <a:xfrm>
            <a:off x="190500" y="2286000"/>
            <a:ext cx="8629650" cy="2682745"/>
          </a:xfrm>
          <a:prstGeom prst="rect">
            <a:avLst/>
          </a:prstGeom>
          <a:noFill/>
          <a:ln>
            <a:noFill/>
          </a:ln>
        </p:spPr>
        <p:txBody>
          <a:bodyPr spcFirstLastPara="1" wrap="square" lIns="91425" tIns="45700" rIns="91425" bIns="45700" anchor="t" anchorCtr="0">
            <a:spAutoFit/>
          </a:bodyPr>
          <a:lstStyle/>
          <a:p>
            <a:pPr marL="342900" marR="0" lvl="0" indent="-342900" algn="just" rtl="0">
              <a:spcBef>
                <a:spcPts val="0"/>
              </a:spcBef>
              <a:spcAft>
                <a:spcPts val="0"/>
              </a:spcAft>
              <a:buClr>
                <a:schemeClr val="dk1"/>
              </a:buClr>
              <a:buSzPts val="2400"/>
              <a:buFont typeface="Arial"/>
              <a:buChar char="•"/>
            </a:pPr>
            <a:r>
              <a:rPr lang="en-US" sz="2000" dirty="0">
                <a:solidFill>
                  <a:schemeClr val="dk1"/>
                </a:solidFill>
                <a:latin typeface="Times New Roman" panose="02020603050405020304" pitchFamily="18" charset="0"/>
                <a:ea typeface="Calibri"/>
                <a:cs typeface="Times New Roman" panose="02020603050405020304" pitchFamily="18" charset="0"/>
                <a:sym typeface="Calibri"/>
              </a:rPr>
              <a:t>The architecture of Hibernate typically follows a layered design, with each layer responsible for specific aspect of database interaction and object-relational mapping.</a:t>
            </a:r>
          </a:p>
          <a:p>
            <a:pPr marR="0" lvl="0" algn="just" rtl="0">
              <a:spcBef>
                <a:spcPts val="0"/>
              </a:spcBef>
              <a:spcAft>
                <a:spcPts val="0"/>
              </a:spcAft>
              <a:buClr>
                <a:schemeClr val="dk1"/>
              </a:buClr>
              <a:buSzPts val="2400"/>
            </a:pPr>
            <a:endParaRPr lang="en-US" sz="2000" dirty="0">
              <a:solidFill>
                <a:schemeClr val="dk1"/>
              </a:solidFill>
              <a:latin typeface="Times New Roman" panose="02020603050405020304" pitchFamily="18" charset="0"/>
              <a:ea typeface="Calibri"/>
              <a:cs typeface="Times New Roman" panose="02020603050405020304" pitchFamily="18" charset="0"/>
              <a:sym typeface="Calibri"/>
            </a:endParaRPr>
          </a:p>
          <a:p>
            <a:pPr marL="342900" marR="0" lvl="0" indent="-342900" algn="just" rtl="0">
              <a:spcBef>
                <a:spcPts val="0"/>
              </a:spcBef>
              <a:spcAft>
                <a:spcPts val="0"/>
              </a:spcAft>
              <a:buClr>
                <a:schemeClr val="dk1"/>
              </a:buClr>
              <a:buSzPts val="2400"/>
              <a:buFont typeface="Arial"/>
              <a:buChar char="•"/>
            </a:pPr>
            <a:r>
              <a:rPr lang="en-US" sz="2000" dirty="0">
                <a:solidFill>
                  <a:schemeClr val="dk1"/>
                </a:solidFill>
                <a:latin typeface="Times New Roman" panose="02020603050405020304" pitchFamily="18" charset="0"/>
                <a:ea typeface="Calibri"/>
                <a:cs typeface="Times New Roman" panose="02020603050405020304" pitchFamily="18" charset="0"/>
                <a:sym typeface="Calibri"/>
              </a:rPr>
              <a:t>Hibernate architecture includes many object such as persistent object, factory, transaction factory, connection factory, session, transaction etc.</a:t>
            </a:r>
            <a:endParaRPr lang="en-US" sz="2000" dirty="0">
              <a:latin typeface="Times New Roman" panose="02020603050405020304" pitchFamily="18" charset="0"/>
              <a:cs typeface="Times New Roman" panose="02020603050405020304" pitchFamily="18" charset="0"/>
            </a:endParaRPr>
          </a:p>
          <a:p>
            <a:pPr marL="342900" marR="0" lvl="0" indent="-190500" algn="just" rtl="0">
              <a:spcBef>
                <a:spcPts val="480"/>
              </a:spcBef>
              <a:spcAft>
                <a:spcPts val="0"/>
              </a:spcAft>
              <a:buClr>
                <a:schemeClr val="dk1"/>
              </a:buClr>
              <a:buSzPts val="2400"/>
              <a:buFont typeface="Arial"/>
              <a:buNone/>
            </a:pPr>
            <a:endParaRPr lang="en-US" sz="20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endParaRPr>
          </a:p>
          <a:p>
            <a:pPr marL="342900" marR="0" lvl="0" indent="-190500" algn="just" rtl="0">
              <a:spcBef>
                <a:spcPts val="480"/>
              </a:spcBef>
              <a:spcAft>
                <a:spcPts val="0"/>
              </a:spcAft>
              <a:buClr>
                <a:schemeClr val="dk1"/>
              </a:buClr>
              <a:buSzPts val="2400"/>
              <a:buFont typeface="Arial"/>
              <a:buNone/>
            </a:pPr>
            <a:endParaRPr lang="en-US" sz="20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148" name="Google Shape;148;p7"/>
          <p:cNvSpPr/>
          <p:nvPr/>
        </p:nvSpPr>
        <p:spPr>
          <a:xfrm>
            <a:off x="0" y="1643063"/>
            <a:ext cx="9144000" cy="642937"/>
          </a:xfrm>
          <a:prstGeom prst="rect">
            <a:avLst/>
          </a:prstGeom>
          <a:solidFill>
            <a:srgbClr val="1F497D"/>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149" name="Google Shape;149;p7"/>
          <p:cNvSpPr/>
          <p:nvPr/>
        </p:nvSpPr>
        <p:spPr>
          <a:xfrm>
            <a:off x="190500" y="1687513"/>
            <a:ext cx="8763000" cy="55403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lt1"/>
              </a:buClr>
              <a:buSzPts val="3000"/>
              <a:buFont typeface="Arial"/>
              <a:buNone/>
            </a:pPr>
            <a:r>
              <a:rPr lang="en-IN" sz="3000" b="1" dirty="0">
                <a:solidFill>
                  <a:schemeClr val="lt1"/>
                </a:solidFill>
                <a:latin typeface="Calibri"/>
                <a:ea typeface="Calibri"/>
                <a:cs typeface="Calibri"/>
                <a:sym typeface="Calibri"/>
              </a:rPr>
              <a:t>Hibernate Architecture</a:t>
            </a:r>
            <a:endParaRPr sz="3000" b="1" i="0" u="none" strike="noStrike" cap="none" dirty="0">
              <a:solidFill>
                <a:schemeClr val="lt1"/>
              </a:solidFill>
              <a:latin typeface="Calibri"/>
              <a:ea typeface="Calibri"/>
              <a:cs typeface="Calibri"/>
              <a:sym typeface="Calibri"/>
            </a:endParaRPr>
          </a:p>
        </p:txBody>
      </p:sp>
      <p:pic>
        <p:nvPicPr>
          <p:cNvPr id="2" name="Picture 12">
            <a:extLst>
              <a:ext uri="{FF2B5EF4-FFF2-40B4-BE49-F238E27FC236}">
                <a16:creationId xmlns:a16="http://schemas.microsoft.com/office/drawing/2014/main" id="{E16C15F6-E1AD-7C69-A164-7A4C31777292}"/>
              </a:ext>
            </a:extLst>
          </p:cNvPr>
          <p:cNvPicPr>
            <a:picLocks noChangeAspect="1" noChangeArrowheads="1"/>
          </p:cNvPicPr>
          <p:nvPr/>
        </p:nvPicPr>
        <p:blipFill>
          <a:blip r:embed="rId5"/>
          <a:srcRect/>
          <a:stretch>
            <a:fillRect/>
          </a:stretch>
        </p:blipFill>
        <p:spPr bwMode="auto">
          <a:xfrm>
            <a:off x="381000" y="0"/>
            <a:ext cx="1524000" cy="1395413"/>
          </a:xfrm>
          <a:prstGeom prst="rect">
            <a:avLst/>
          </a:prstGeom>
          <a:noFill/>
          <a:ln w="9525">
            <a:noFill/>
            <a:miter lim="800000"/>
            <a:headEnd/>
            <a:tailEnd/>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pic>
        <p:nvPicPr>
          <p:cNvPr id="154" name="Google Shape;154;p8" descr="C:\Users\parul\Desktop\Digital Learning Content.png"/>
          <p:cNvPicPr preferRelativeResize="0"/>
          <p:nvPr/>
        </p:nvPicPr>
        <p:blipFill rotWithShape="1">
          <a:blip r:embed="rId3">
            <a:alphaModFix/>
          </a:blip>
          <a:srcRect/>
          <a:stretch/>
        </p:blipFill>
        <p:spPr>
          <a:xfrm>
            <a:off x="0" y="0"/>
            <a:ext cx="9144000" cy="6900863"/>
          </a:xfrm>
          <a:prstGeom prst="rect">
            <a:avLst/>
          </a:prstGeom>
          <a:noFill/>
          <a:ln>
            <a:noFill/>
          </a:ln>
        </p:spPr>
      </p:pic>
      <p:pic>
        <p:nvPicPr>
          <p:cNvPr id="155" name="Google Shape;155;p8" descr="C:\Users\parul\Desktop\Untitled-1.png"/>
          <p:cNvPicPr preferRelativeResize="0"/>
          <p:nvPr/>
        </p:nvPicPr>
        <p:blipFill rotWithShape="1">
          <a:blip r:embed="rId4">
            <a:alphaModFix/>
          </a:blip>
          <a:srcRect/>
          <a:stretch/>
        </p:blipFill>
        <p:spPr>
          <a:xfrm>
            <a:off x="1857375" y="3071813"/>
            <a:ext cx="5430838" cy="2803525"/>
          </a:xfrm>
          <a:prstGeom prst="rect">
            <a:avLst/>
          </a:prstGeom>
          <a:noFill/>
          <a:ln>
            <a:noFill/>
          </a:ln>
        </p:spPr>
      </p:pic>
      <p:sp>
        <p:nvSpPr>
          <p:cNvPr id="156" name="Google Shape;156;p8"/>
          <p:cNvSpPr txBox="1"/>
          <p:nvPr/>
        </p:nvSpPr>
        <p:spPr>
          <a:xfrm>
            <a:off x="190500" y="2286000"/>
            <a:ext cx="8629650" cy="1938952"/>
          </a:xfrm>
          <a:prstGeom prst="rect">
            <a:avLst/>
          </a:prstGeom>
          <a:noFill/>
          <a:ln>
            <a:noFill/>
          </a:ln>
        </p:spPr>
        <p:txBody>
          <a:bodyPr spcFirstLastPara="1" wrap="square" lIns="91425" tIns="45700" rIns="91425" bIns="45700" anchor="t" anchorCtr="0">
            <a:spAutoFit/>
          </a:bodyPr>
          <a:lstStyle/>
          <a:p>
            <a:pPr marR="0" lvl="0" algn="just" rtl="0">
              <a:spcBef>
                <a:spcPts val="0"/>
              </a:spcBef>
              <a:spcAft>
                <a:spcPts val="0"/>
              </a:spcAft>
              <a:buClr>
                <a:schemeClr val="dk1"/>
              </a:buClr>
              <a:buSzPts val="2400"/>
            </a:pPr>
            <a:r>
              <a:rPr lang="en-US" sz="2000" b="1"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The Hibernate architecture is categorized in four layer.</a:t>
            </a:r>
          </a:p>
          <a:p>
            <a:pPr marR="0" lvl="0" algn="just" rtl="0">
              <a:spcBef>
                <a:spcPts val="0"/>
              </a:spcBef>
              <a:spcAft>
                <a:spcPts val="0"/>
              </a:spcAft>
              <a:buClr>
                <a:schemeClr val="dk1"/>
              </a:buClr>
              <a:buSzPts val="2400"/>
            </a:pPr>
            <a:endParaRPr lang="en-US" sz="2000" b="1"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endParaRPr>
          </a:p>
          <a:p>
            <a:pPr marL="342900" marR="0" lvl="0" indent="-342900" algn="just" rtl="0">
              <a:spcBef>
                <a:spcPts val="0"/>
              </a:spcBef>
              <a:spcAft>
                <a:spcPts val="0"/>
              </a:spcAft>
              <a:buClr>
                <a:schemeClr val="dk1"/>
              </a:buClr>
              <a:buSzPts val="2400"/>
              <a:buFont typeface="Arial"/>
              <a:buChar char="•"/>
            </a:pPr>
            <a:r>
              <a:rPr lang="en-US" sz="2000" dirty="0">
                <a:solidFill>
                  <a:schemeClr val="dk1"/>
                </a:solidFill>
                <a:latin typeface="Times New Roman" panose="02020603050405020304" pitchFamily="18" charset="0"/>
                <a:ea typeface="Calibri"/>
                <a:cs typeface="Times New Roman" panose="02020603050405020304" pitchFamily="18" charset="0"/>
                <a:sym typeface="Calibri"/>
              </a:rPr>
              <a:t>Java application layer</a:t>
            </a:r>
          </a:p>
          <a:p>
            <a:pPr marL="342900" marR="0" lvl="0" indent="-342900" algn="just" rtl="0">
              <a:spcBef>
                <a:spcPts val="0"/>
              </a:spcBef>
              <a:spcAft>
                <a:spcPts val="0"/>
              </a:spcAft>
              <a:buClr>
                <a:schemeClr val="dk1"/>
              </a:buClr>
              <a:buSzPts val="2400"/>
              <a:buFont typeface="Arial"/>
              <a:buChar char="•"/>
            </a:pPr>
            <a:r>
              <a:rPr lang="en-US" sz="20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Hibernate framework layer</a:t>
            </a:r>
          </a:p>
          <a:p>
            <a:pPr marL="342900" marR="0" lvl="0" indent="-342900" algn="just" rtl="0">
              <a:spcBef>
                <a:spcPts val="0"/>
              </a:spcBef>
              <a:spcAft>
                <a:spcPts val="0"/>
              </a:spcAft>
              <a:buClr>
                <a:schemeClr val="dk1"/>
              </a:buClr>
              <a:buSzPts val="2400"/>
              <a:buFont typeface="Arial"/>
              <a:buChar char="•"/>
            </a:pPr>
            <a:r>
              <a:rPr lang="en-US" sz="2000" dirty="0">
                <a:solidFill>
                  <a:schemeClr val="dk1"/>
                </a:solidFill>
                <a:latin typeface="Times New Roman" panose="02020603050405020304" pitchFamily="18" charset="0"/>
                <a:ea typeface="Calibri"/>
                <a:cs typeface="Times New Roman" panose="02020603050405020304" pitchFamily="18" charset="0"/>
                <a:sym typeface="Calibri"/>
              </a:rPr>
              <a:t>Backhand </a:t>
            </a:r>
            <a:r>
              <a:rPr lang="en-US" sz="2000" dirty="0" err="1">
                <a:solidFill>
                  <a:schemeClr val="dk1"/>
                </a:solidFill>
                <a:latin typeface="Times New Roman" panose="02020603050405020304" pitchFamily="18" charset="0"/>
                <a:ea typeface="Calibri"/>
                <a:cs typeface="Times New Roman" panose="02020603050405020304" pitchFamily="18" charset="0"/>
                <a:sym typeface="Calibri"/>
              </a:rPr>
              <a:t>api</a:t>
            </a:r>
            <a:r>
              <a:rPr lang="en-US" sz="2000" dirty="0">
                <a:solidFill>
                  <a:schemeClr val="dk1"/>
                </a:solidFill>
                <a:latin typeface="Times New Roman" panose="02020603050405020304" pitchFamily="18" charset="0"/>
                <a:ea typeface="Calibri"/>
                <a:cs typeface="Times New Roman" panose="02020603050405020304" pitchFamily="18" charset="0"/>
                <a:sym typeface="Calibri"/>
              </a:rPr>
              <a:t> layer</a:t>
            </a:r>
          </a:p>
          <a:p>
            <a:pPr marL="342900" marR="0" lvl="0" indent="-342900" algn="just" rtl="0">
              <a:spcBef>
                <a:spcPts val="0"/>
              </a:spcBef>
              <a:spcAft>
                <a:spcPts val="0"/>
              </a:spcAft>
              <a:buClr>
                <a:schemeClr val="dk1"/>
              </a:buClr>
              <a:buSzPts val="2400"/>
              <a:buFont typeface="Arial"/>
              <a:buChar char="•"/>
            </a:pPr>
            <a:r>
              <a:rPr lang="en-US" sz="20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Database layer</a:t>
            </a:r>
          </a:p>
        </p:txBody>
      </p:sp>
      <p:sp>
        <p:nvSpPr>
          <p:cNvPr id="157" name="Google Shape;157;p8"/>
          <p:cNvSpPr/>
          <p:nvPr/>
        </p:nvSpPr>
        <p:spPr>
          <a:xfrm>
            <a:off x="0" y="1643063"/>
            <a:ext cx="9144000" cy="642937"/>
          </a:xfrm>
          <a:prstGeom prst="rect">
            <a:avLst/>
          </a:prstGeom>
          <a:solidFill>
            <a:srgbClr val="1F497D"/>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b="0" i="0" u="none" strike="noStrike" cap="none" dirty="0">
              <a:solidFill>
                <a:schemeClr val="dk1"/>
              </a:solidFill>
              <a:latin typeface="Arial"/>
              <a:ea typeface="Arial"/>
              <a:cs typeface="Arial"/>
              <a:sym typeface="Arial"/>
            </a:endParaRPr>
          </a:p>
        </p:txBody>
      </p:sp>
      <p:sp>
        <p:nvSpPr>
          <p:cNvPr id="158" name="Google Shape;158;p8"/>
          <p:cNvSpPr/>
          <p:nvPr/>
        </p:nvSpPr>
        <p:spPr>
          <a:xfrm>
            <a:off x="190500" y="1687513"/>
            <a:ext cx="8763000" cy="55403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lt1"/>
              </a:buClr>
              <a:buSzPts val="3000"/>
              <a:buFont typeface="Arial"/>
              <a:buNone/>
            </a:pPr>
            <a:r>
              <a:rPr lang="en-US" sz="3000" b="1" dirty="0">
                <a:solidFill>
                  <a:schemeClr val="lt1"/>
                </a:solidFill>
                <a:latin typeface="Calibri"/>
                <a:ea typeface="Calibri"/>
                <a:cs typeface="Calibri"/>
                <a:sym typeface="Calibri"/>
              </a:rPr>
              <a:t>Hibernate Architecture</a:t>
            </a:r>
            <a:endParaRPr lang="en-US" dirty="0"/>
          </a:p>
        </p:txBody>
      </p:sp>
      <p:pic>
        <p:nvPicPr>
          <p:cNvPr id="2" name="Picture 12">
            <a:extLst>
              <a:ext uri="{FF2B5EF4-FFF2-40B4-BE49-F238E27FC236}">
                <a16:creationId xmlns:a16="http://schemas.microsoft.com/office/drawing/2014/main" id="{DC8D6E47-0176-D6E8-D876-8256ACCEA05B}"/>
              </a:ext>
            </a:extLst>
          </p:cNvPr>
          <p:cNvPicPr>
            <a:picLocks noChangeAspect="1" noChangeArrowheads="1"/>
          </p:cNvPicPr>
          <p:nvPr/>
        </p:nvPicPr>
        <p:blipFill>
          <a:blip r:embed="rId5"/>
          <a:srcRect/>
          <a:stretch>
            <a:fillRect/>
          </a:stretch>
        </p:blipFill>
        <p:spPr bwMode="auto">
          <a:xfrm>
            <a:off x="381000" y="0"/>
            <a:ext cx="1524000" cy="1395413"/>
          </a:xfrm>
          <a:prstGeom prst="rect">
            <a:avLst/>
          </a:prstGeom>
          <a:noFill/>
          <a:ln w="9525">
            <a:noFill/>
            <a:miter lim="800000"/>
            <a:headEnd/>
            <a:tailEnd/>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pic>
        <p:nvPicPr>
          <p:cNvPr id="145" name="Google Shape;145;p7" descr="C:\Users\parul\Desktop\Digital Learning Content.png"/>
          <p:cNvPicPr preferRelativeResize="0"/>
          <p:nvPr/>
        </p:nvPicPr>
        <p:blipFill rotWithShape="1">
          <a:blip r:embed="rId3">
            <a:alphaModFix/>
          </a:blip>
          <a:srcRect/>
          <a:stretch/>
        </p:blipFill>
        <p:spPr>
          <a:xfrm>
            <a:off x="0" y="0"/>
            <a:ext cx="9144000" cy="6900863"/>
          </a:xfrm>
          <a:prstGeom prst="rect">
            <a:avLst/>
          </a:prstGeom>
          <a:noFill/>
          <a:ln>
            <a:noFill/>
          </a:ln>
        </p:spPr>
      </p:pic>
      <p:pic>
        <p:nvPicPr>
          <p:cNvPr id="146" name="Google Shape;146;p7" descr="C:\Users\parul\Desktop\Untitled-1.png"/>
          <p:cNvPicPr preferRelativeResize="0"/>
          <p:nvPr/>
        </p:nvPicPr>
        <p:blipFill rotWithShape="1">
          <a:blip r:embed="rId4">
            <a:alphaModFix/>
          </a:blip>
          <a:srcRect/>
          <a:stretch/>
        </p:blipFill>
        <p:spPr>
          <a:xfrm>
            <a:off x="1857375" y="3071813"/>
            <a:ext cx="5430838" cy="2803525"/>
          </a:xfrm>
          <a:prstGeom prst="rect">
            <a:avLst/>
          </a:prstGeom>
          <a:noFill/>
          <a:ln>
            <a:noFill/>
          </a:ln>
        </p:spPr>
      </p:pic>
      <p:sp>
        <p:nvSpPr>
          <p:cNvPr id="148" name="Google Shape;148;p7"/>
          <p:cNvSpPr/>
          <p:nvPr/>
        </p:nvSpPr>
        <p:spPr>
          <a:xfrm>
            <a:off x="0" y="1643063"/>
            <a:ext cx="9144000" cy="642937"/>
          </a:xfrm>
          <a:prstGeom prst="rect">
            <a:avLst/>
          </a:prstGeom>
          <a:solidFill>
            <a:srgbClr val="1F497D"/>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149" name="Google Shape;149;p7"/>
          <p:cNvSpPr/>
          <p:nvPr/>
        </p:nvSpPr>
        <p:spPr>
          <a:xfrm>
            <a:off x="190500" y="1687513"/>
            <a:ext cx="8763000" cy="55403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lt1"/>
              </a:buClr>
              <a:buSzPts val="3000"/>
              <a:buFont typeface="Arial"/>
              <a:buNone/>
            </a:pPr>
            <a:r>
              <a:rPr lang="en-IN" sz="3000" b="1" dirty="0">
                <a:solidFill>
                  <a:schemeClr val="lt1"/>
                </a:solidFill>
                <a:latin typeface="Calibri"/>
                <a:ea typeface="Calibri"/>
                <a:cs typeface="Calibri"/>
                <a:sym typeface="Calibri"/>
              </a:rPr>
              <a:t>Hibernate Architecture</a:t>
            </a:r>
            <a:endParaRPr sz="3000" b="1" i="0" u="none" strike="noStrike" cap="none" dirty="0">
              <a:solidFill>
                <a:schemeClr val="lt1"/>
              </a:solidFill>
              <a:latin typeface="Calibri"/>
              <a:ea typeface="Calibri"/>
              <a:cs typeface="Calibri"/>
              <a:sym typeface="Calibri"/>
            </a:endParaRPr>
          </a:p>
        </p:txBody>
      </p:sp>
      <p:pic>
        <p:nvPicPr>
          <p:cNvPr id="3" name="Picture 2">
            <a:extLst>
              <a:ext uri="{FF2B5EF4-FFF2-40B4-BE49-F238E27FC236}">
                <a16:creationId xmlns:a16="http://schemas.microsoft.com/office/drawing/2014/main" id="{419A1D2E-402A-4833-4EC6-5A54838647D7}"/>
              </a:ext>
            </a:extLst>
          </p:cNvPr>
          <p:cNvPicPr>
            <a:picLocks noChangeAspect="1"/>
          </p:cNvPicPr>
          <p:nvPr/>
        </p:nvPicPr>
        <p:blipFill>
          <a:blip r:embed="rId5"/>
          <a:stretch>
            <a:fillRect/>
          </a:stretch>
        </p:blipFill>
        <p:spPr>
          <a:xfrm>
            <a:off x="2314575" y="2435225"/>
            <a:ext cx="4381500" cy="4076700"/>
          </a:xfrm>
          <a:prstGeom prst="rect">
            <a:avLst/>
          </a:prstGeom>
        </p:spPr>
      </p:pic>
      <p:pic>
        <p:nvPicPr>
          <p:cNvPr id="2" name="Picture 12">
            <a:extLst>
              <a:ext uri="{FF2B5EF4-FFF2-40B4-BE49-F238E27FC236}">
                <a16:creationId xmlns:a16="http://schemas.microsoft.com/office/drawing/2014/main" id="{FDABBC3A-E586-C80F-E457-435556410A09}"/>
              </a:ext>
            </a:extLst>
          </p:cNvPr>
          <p:cNvPicPr>
            <a:picLocks noChangeAspect="1" noChangeArrowheads="1"/>
          </p:cNvPicPr>
          <p:nvPr/>
        </p:nvPicPr>
        <p:blipFill>
          <a:blip r:embed="rId6"/>
          <a:srcRect/>
          <a:stretch>
            <a:fillRect/>
          </a:stretch>
        </p:blipFill>
        <p:spPr bwMode="auto">
          <a:xfrm>
            <a:off x="381000" y="0"/>
            <a:ext cx="1524000" cy="1395413"/>
          </a:xfrm>
          <a:prstGeom prst="rect">
            <a:avLst/>
          </a:prstGeom>
          <a:noFill/>
          <a:ln w="9525">
            <a:noFill/>
            <a:miter lim="800000"/>
            <a:headEnd/>
            <a:tailEnd/>
          </a:ln>
        </p:spPr>
      </p:pic>
      <p:sp>
        <p:nvSpPr>
          <p:cNvPr id="7" name="TextBox 6">
            <a:extLst>
              <a:ext uri="{FF2B5EF4-FFF2-40B4-BE49-F238E27FC236}">
                <a16:creationId xmlns:a16="http://schemas.microsoft.com/office/drawing/2014/main" id="{BB9956A9-24FF-D389-8098-B83BF6A25DEB}"/>
              </a:ext>
            </a:extLst>
          </p:cNvPr>
          <p:cNvSpPr txBox="1"/>
          <p:nvPr/>
        </p:nvSpPr>
        <p:spPr>
          <a:xfrm>
            <a:off x="2314575" y="6410632"/>
            <a:ext cx="4676160" cy="307777"/>
          </a:xfrm>
          <a:prstGeom prst="rect">
            <a:avLst/>
          </a:prstGeom>
          <a:noFill/>
        </p:spPr>
        <p:txBody>
          <a:bodyPr wrap="square">
            <a:spAutoFit/>
          </a:bodyPr>
          <a:lstStyle/>
          <a:p>
            <a:r>
              <a:rPr lang="en-IN" dirty="0"/>
              <a:t>https://images.app.goo.gl/9QruozHi8uiEwbaJA</a:t>
            </a:r>
          </a:p>
        </p:txBody>
      </p:sp>
    </p:spTree>
    <p:extLst>
      <p:ext uri="{BB962C8B-B14F-4D97-AF65-F5344CB8AC3E}">
        <p14:creationId xmlns:p14="http://schemas.microsoft.com/office/powerpoint/2010/main" val="34949593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pic>
        <p:nvPicPr>
          <p:cNvPr id="163" name="Google Shape;163;p9" descr="C:\Users\parul\Desktop\Digital Learning Content.png"/>
          <p:cNvPicPr preferRelativeResize="0"/>
          <p:nvPr/>
        </p:nvPicPr>
        <p:blipFill rotWithShape="1">
          <a:blip r:embed="rId3">
            <a:alphaModFix/>
          </a:blip>
          <a:srcRect/>
          <a:stretch/>
        </p:blipFill>
        <p:spPr>
          <a:xfrm>
            <a:off x="0" y="0"/>
            <a:ext cx="9144000" cy="6900863"/>
          </a:xfrm>
          <a:prstGeom prst="rect">
            <a:avLst/>
          </a:prstGeom>
          <a:noFill/>
          <a:ln>
            <a:noFill/>
          </a:ln>
        </p:spPr>
      </p:pic>
      <p:pic>
        <p:nvPicPr>
          <p:cNvPr id="164" name="Google Shape;164;p9" descr="C:\Users\parul\Desktop\Untitled-1.png"/>
          <p:cNvPicPr preferRelativeResize="0"/>
          <p:nvPr/>
        </p:nvPicPr>
        <p:blipFill rotWithShape="1">
          <a:blip r:embed="rId4">
            <a:alphaModFix/>
          </a:blip>
          <a:srcRect/>
          <a:stretch/>
        </p:blipFill>
        <p:spPr>
          <a:xfrm>
            <a:off x="1857375" y="3071813"/>
            <a:ext cx="5430838" cy="2803525"/>
          </a:xfrm>
          <a:prstGeom prst="rect">
            <a:avLst/>
          </a:prstGeom>
          <a:noFill/>
          <a:ln>
            <a:noFill/>
          </a:ln>
        </p:spPr>
      </p:pic>
      <p:sp>
        <p:nvSpPr>
          <p:cNvPr id="165" name="Google Shape;165;p9"/>
          <p:cNvSpPr txBox="1"/>
          <p:nvPr/>
        </p:nvSpPr>
        <p:spPr>
          <a:xfrm>
            <a:off x="190500" y="2286000"/>
            <a:ext cx="8763000" cy="1015622"/>
          </a:xfrm>
          <a:prstGeom prst="rect">
            <a:avLst/>
          </a:prstGeom>
          <a:noFill/>
          <a:ln>
            <a:noFill/>
          </a:ln>
        </p:spPr>
        <p:txBody>
          <a:bodyPr spcFirstLastPara="1" wrap="square" lIns="91425" tIns="45700" rIns="91425" bIns="45700" anchor="t" anchorCtr="0">
            <a:spAutoFit/>
          </a:bodyPr>
          <a:lstStyle/>
          <a:p>
            <a:pPr marL="342900" marR="0" lvl="0" indent="-342900" algn="just" rtl="0">
              <a:spcBef>
                <a:spcPts val="0"/>
              </a:spcBef>
              <a:spcAft>
                <a:spcPts val="0"/>
              </a:spcAft>
              <a:buClr>
                <a:schemeClr val="dk1"/>
              </a:buClr>
              <a:buSzPts val="2000"/>
              <a:buFont typeface="Arial"/>
              <a:buChar char="•"/>
            </a:pPr>
            <a:r>
              <a:rPr lang="en-US" sz="2000" b="0" i="0" u="none" strike="noStrike" cap="none" dirty="0">
                <a:solidFill>
                  <a:schemeClr val="dk1"/>
                </a:solidFill>
                <a:latin typeface="Times New Roman" panose="02020603050405020304" pitchFamily="18" charset="0"/>
                <a:cs typeface="Times New Roman" panose="02020603050405020304" pitchFamily="18" charset="0"/>
                <a:sym typeface="Arial"/>
              </a:rPr>
              <a:t>Hibernate Core:- This is the main components of Hibernate, providing the basic functionality for mapping java object to database tables. It includes </a:t>
            </a:r>
            <a:r>
              <a:rPr lang="en-US" sz="2000" dirty="0">
                <a:solidFill>
                  <a:schemeClr val="dk1"/>
                </a:solidFill>
                <a:latin typeface="Times New Roman" panose="02020603050405020304" pitchFamily="18" charset="0"/>
                <a:cs typeface="Times New Roman" panose="02020603050405020304" pitchFamily="18" charset="0"/>
              </a:rPr>
              <a:t>the </a:t>
            </a:r>
            <a:r>
              <a:rPr lang="en-US" sz="2000" dirty="0" err="1">
                <a:solidFill>
                  <a:schemeClr val="dk1"/>
                </a:solidFill>
                <a:latin typeface="Times New Roman" panose="02020603050405020304" pitchFamily="18" charset="0"/>
                <a:cs typeface="Times New Roman" panose="02020603050405020304" pitchFamily="18" charset="0"/>
              </a:rPr>
              <a:t>SessionFactory</a:t>
            </a:r>
            <a:r>
              <a:rPr lang="en-US" sz="2000" dirty="0">
                <a:solidFill>
                  <a:schemeClr val="dk1"/>
                </a:solidFill>
                <a:latin typeface="Times New Roman" panose="02020603050405020304" pitchFamily="18" charset="0"/>
                <a:cs typeface="Times New Roman" panose="02020603050405020304" pitchFamily="18" charset="0"/>
              </a:rPr>
              <a:t>, session and Transaction interfaces.</a:t>
            </a:r>
            <a:endParaRPr lang="en-US" sz="2000" b="0" i="0" u="none" strike="noStrike" cap="none" dirty="0">
              <a:solidFill>
                <a:schemeClr val="dk1"/>
              </a:solidFill>
              <a:latin typeface="Times New Roman" panose="02020603050405020304" pitchFamily="18" charset="0"/>
              <a:cs typeface="Times New Roman" panose="02020603050405020304" pitchFamily="18" charset="0"/>
              <a:sym typeface="Arial"/>
            </a:endParaRPr>
          </a:p>
        </p:txBody>
      </p:sp>
      <p:sp>
        <p:nvSpPr>
          <p:cNvPr id="166" name="Google Shape;166;p9"/>
          <p:cNvSpPr/>
          <p:nvPr/>
        </p:nvSpPr>
        <p:spPr>
          <a:xfrm>
            <a:off x="0" y="1643063"/>
            <a:ext cx="9144000" cy="642937"/>
          </a:xfrm>
          <a:prstGeom prst="rect">
            <a:avLst/>
          </a:prstGeom>
          <a:solidFill>
            <a:srgbClr val="1F497D"/>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167" name="Google Shape;167;p9"/>
          <p:cNvSpPr/>
          <p:nvPr/>
        </p:nvSpPr>
        <p:spPr>
          <a:xfrm>
            <a:off x="190500" y="1687513"/>
            <a:ext cx="8763000" cy="55403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lt1"/>
              </a:buClr>
              <a:buSzPts val="3000"/>
              <a:buFont typeface="Arial"/>
              <a:buNone/>
            </a:pPr>
            <a:r>
              <a:rPr lang="en-IN" sz="3000" b="1" dirty="0">
                <a:solidFill>
                  <a:schemeClr val="lt1"/>
                </a:solidFill>
                <a:latin typeface="Calibri"/>
                <a:ea typeface="Calibri"/>
                <a:cs typeface="Calibri"/>
                <a:sym typeface="Calibri"/>
              </a:rPr>
              <a:t>Hibernate Elements Architecture</a:t>
            </a:r>
            <a:endParaRPr dirty="0"/>
          </a:p>
        </p:txBody>
      </p:sp>
      <p:sp>
        <p:nvSpPr>
          <p:cNvPr id="168" name="Google Shape;168;p9"/>
          <p:cNvSpPr/>
          <p:nvPr/>
        </p:nvSpPr>
        <p:spPr>
          <a:xfrm>
            <a:off x="6194425" y="6197600"/>
            <a:ext cx="2500313" cy="214313"/>
          </a:xfrm>
          <a:prstGeom prst="rect">
            <a:avLst/>
          </a:prstGeom>
          <a:solidFill>
            <a:srgbClr val="F2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169" name="Google Shape;169;p9"/>
          <p:cNvSpPr/>
          <p:nvPr/>
        </p:nvSpPr>
        <p:spPr>
          <a:xfrm flipH="1">
            <a:off x="6115050" y="6196013"/>
            <a:ext cx="46038" cy="214312"/>
          </a:xfrm>
          <a:prstGeom prst="rect">
            <a:avLst/>
          </a:prstGeom>
          <a:solidFill>
            <a:srgbClr val="F2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pic>
        <p:nvPicPr>
          <p:cNvPr id="2" name="Picture 12">
            <a:extLst>
              <a:ext uri="{FF2B5EF4-FFF2-40B4-BE49-F238E27FC236}">
                <a16:creationId xmlns:a16="http://schemas.microsoft.com/office/drawing/2014/main" id="{333B38B4-120F-B7A6-757E-D9393C2F37D2}"/>
              </a:ext>
            </a:extLst>
          </p:cNvPr>
          <p:cNvPicPr>
            <a:picLocks noChangeAspect="1" noChangeArrowheads="1"/>
          </p:cNvPicPr>
          <p:nvPr/>
        </p:nvPicPr>
        <p:blipFill>
          <a:blip r:embed="rId5"/>
          <a:srcRect/>
          <a:stretch>
            <a:fillRect/>
          </a:stretch>
        </p:blipFill>
        <p:spPr bwMode="auto">
          <a:xfrm>
            <a:off x="381000" y="0"/>
            <a:ext cx="1524000" cy="1395413"/>
          </a:xfrm>
          <a:prstGeom prst="rect">
            <a:avLst/>
          </a:prstGeom>
          <a:noFill/>
          <a:ln w="9525">
            <a:noFill/>
            <a:miter lim="800000"/>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pic>
        <p:nvPicPr>
          <p:cNvPr id="163" name="Google Shape;163;p9" descr="C:\Users\parul\Desktop\Digital Learning Content.png"/>
          <p:cNvPicPr preferRelativeResize="0"/>
          <p:nvPr/>
        </p:nvPicPr>
        <p:blipFill rotWithShape="1">
          <a:blip r:embed="rId3">
            <a:alphaModFix/>
          </a:blip>
          <a:srcRect/>
          <a:stretch/>
        </p:blipFill>
        <p:spPr>
          <a:xfrm>
            <a:off x="0" y="0"/>
            <a:ext cx="9144000" cy="6900863"/>
          </a:xfrm>
          <a:prstGeom prst="rect">
            <a:avLst/>
          </a:prstGeom>
          <a:noFill/>
          <a:ln>
            <a:noFill/>
          </a:ln>
        </p:spPr>
      </p:pic>
      <p:pic>
        <p:nvPicPr>
          <p:cNvPr id="164" name="Google Shape;164;p9" descr="C:\Users\parul\Desktop\Untitled-1.png"/>
          <p:cNvPicPr preferRelativeResize="0"/>
          <p:nvPr/>
        </p:nvPicPr>
        <p:blipFill rotWithShape="1">
          <a:blip r:embed="rId4">
            <a:alphaModFix/>
          </a:blip>
          <a:srcRect/>
          <a:stretch/>
        </p:blipFill>
        <p:spPr>
          <a:xfrm>
            <a:off x="1857375" y="3071813"/>
            <a:ext cx="5430838" cy="2803525"/>
          </a:xfrm>
          <a:prstGeom prst="rect">
            <a:avLst/>
          </a:prstGeom>
          <a:noFill/>
          <a:ln>
            <a:noFill/>
          </a:ln>
        </p:spPr>
      </p:pic>
      <p:sp>
        <p:nvSpPr>
          <p:cNvPr id="165" name="Google Shape;165;p9"/>
          <p:cNvSpPr txBox="1"/>
          <p:nvPr/>
        </p:nvSpPr>
        <p:spPr>
          <a:xfrm>
            <a:off x="190500" y="2286000"/>
            <a:ext cx="8763000" cy="2554505"/>
          </a:xfrm>
          <a:prstGeom prst="rect">
            <a:avLst/>
          </a:prstGeom>
          <a:noFill/>
          <a:ln>
            <a:noFill/>
          </a:ln>
        </p:spPr>
        <p:txBody>
          <a:bodyPr spcFirstLastPara="1" wrap="square" lIns="91425" tIns="45700" rIns="91425" bIns="45700" anchor="t" anchorCtr="0">
            <a:spAutoFit/>
          </a:bodyPr>
          <a:lstStyle/>
          <a:p>
            <a:pPr marL="342900" marR="0" lvl="0" indent="-342900" algn="just" rtl="0">
              <a:spcBef>
                <a:spcPts val="0"/>
              </a:spcBef>
              <a:spcAft>
                <a:spcPts val="0"/>
              </a:spcAft>
              <a:buClr>
                <a:schemeClr val="dk1"/>
              </a:buClr>
              <a:buSzPts val="2000"/>
              <a:buFont typeface="Arial"/>
              <a:buChar char="•"/>
            </a:pPr>
            <a:r>
              <a:rPr lang="en-US" sz="2000" b="0" i="0" u="none" strike="noStrike" cap="none" dirty="0">
                <a:solidFill>
                  <a:schemeClr val="dk1"/>
                </a:solidFill>
                <a:latin typeface="Times New Roman" panose="02020603050405020304" pitchFamily="18" charset="0"/>
                <a:cs typeface="Times New Roman" panose="02020603050405020304" pitchFamily="18" charset="0"/>
                <a:sym typeface="Arial"/>
              </a:rPr>
              <a:t>Configuration Object:- The configuration object is the first Hibernate object you create in any Hibernate application. It is usually created only once during application initialization. It represents a configuration or properties file require by Hibernate.</a:t>
            </a:r>
          </a:p>
          <a:p>
            <a:pPr marL="342900" marR="0" lvl="0" indent="-342900" algn="just" rtl="0">
              <a:spcBef>
                <a:spcPts val="0"/>
              </a:spcBef>
              <a:spcAft>
                <a:spcPts val="0"/>
              </a:spcAft>
              <a:buClr>
                <a:schemeClr val="dk1"/>
              </a:buClr>
              <a:buSzPts val="2000"/>
              <a:buFont typeface="Arial"/>
              <a:buChar char="•"/>
            </a:pPr>
            <a:endParaRPr lang="en-US" sz="2000" dirty="0">
              <a:solidFill>
                <a:schemeClr val="dk1"/>
              </a:solidFill>
              <a:latin typeface="Times New Roman" panose="02020603050405020304" pitchFamily="18" charset="0"/>
              <a:cs typeface="Times New Roman" panose="02020603050405020304" pitchFamily="18" charset="0"/>
            </a:endParaRPr>
          </a:p>
          <a:p>
            <a:pPr marL="342900" marR="0" lvl="0" indent="-342900" algn="just" rtl="0">
              <a:spcBef>
                <a:spcPts val="0"/>
              </a:spcBef>
              <a:spcAft>
                <a:spcPts val="0"/>
              </a:spcAft>
              <a:buClr>
                <a:schemeClr val="dk1"/>
              </a:buClr>
              <a:buSzPts val="2000"/>
              <a:buFont typeface="Arial"/>
              <a:buChar char="•"/>
            </a:pPr>
            <a:r>
              <a:rPr lang="en-US" sz="2000" b="0" i="0" u="none" strike="noStrike" cap="none" dirty="0">
                <a:solidFill>
                  <a:schemeClr val="dk1"/>
                </a:solidFill>
                <a:latin typeface="Times New Roman" panose="02020603050405020304" pitchFamily="18" charset="0"/>
                <a:cs typeface="Times New Roman" panose="02020603050405020304" pitchFamily="18" charset="0"/>
                <a:sym typeface="Arial"/>
              </a:rPr>
              <a:t>The configuration object provides two keys components-</a:t>
            </a:r>
          </a:p>
          <a:p>
            <a:pPr marR="0" lvl="0" algn="just" rtl="0">
              <a:spcBef>
                <a:spcPts val="0"/>
              </a:spcBef>
              <a:spcAft>
                <a:spcPts val="0"/>
              </a:spcAft>
              <a:buClr>
                <a:schemeClr val="dk1"/>
              </a:buClr>
              <a:buSzPts val="2000"/>
            </a:pPr>
            <a:r>
              <a:rPr lang="en-US" sz="2000" dirty="0">
                <a:solidFill>
                  <a:schemeClr val="dk1"/>
                </a:solidFill>
                <a:latin typeface="Times New Roman" panose="02020603050405020304" pitchFamily="18" charset="0"/>
                <a:cs typeface="Times New Roman" panose="02020603050405020304" pitchFamily="18" charset="0"/>
              </a:rPr>
              <a:t>        - database connection</a:t>
            </a:r>
          </a:p>
          <a:p>
            <a:pPr marR="0" lvl="0" algn="just" rtl="0">
              <a:spcBef>
                <a:spcPts val="0"/>
              </a:spcBef>
              <a:spcAft>
                <a:spcPts val="0"/>
              </a:spcAft>
              <a:buClr>
                <a:schemeClr val="dk1"/>
              </a:buClr>
              <a:buSzPts val="2000"/>
            </a:pPr>
            <a:r>
              <a:rPr lang="en-US" sz="2000" b="0" i="0" u="none" strike="noStrike" cap="none" dirty="0">
                <a:solidFill>
                  <a:schemeClr val="dk1"/>
                </a:solidFill>
                <a:latin typeface="Times New Roman" panose="02020603050405020304" pitchFamily="18" charset="0"/>
                <a:cs typeface="Times New Roman" panose="02020603050405020304" pitchFamily="18" charset="0"/>
                <a:sym typeface="Arial"/>
              </a:rPr>
              <a:t>        - class Mapping setup</a:t>
            </a:r>
          </a:p>
        </p:txBody>
      </p:sp>
      <p:sp>
        <p:nvSpPr>
          <p:cNvPr id="166" name="Google Shape;166;p9"/>
          <p:cNvSpPr/>
          <p:nvPr/>
        </p:nvSpPr>
        <p:spPr>
          <a:xfrm>
            <a:off x="0" y="1643063"/>
            <a:ext cx="9144000" cy="642937"/>
          </a:xfrm>
          <a:prstGeom prst="rect">
            <a:avLst/>
          </a:prstGeom>
          <a:solidFill>
            <a:srgbClr val="1F497D"/>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167" name="Google Shape;167;p9"/>
          <p:cNvSpPr/>
          <p:nvPr/>
        </p:nvSpPr>
        <p:spPr>
          <a:xfrm>
            <a:off x="190500" y="1687513"/>
            <a:ext cx="8763000" cy="55403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lt1"/>
              </a:buClr>
              <a:buSzPts val="3000"/>
              <a:buFont typeface="Arial"/>
              <a:buNone/>
            </a:pPr>
            <a:r>
              <a:rPr lang="en-IN" sz="3000" b="1" dirty="0">
                <a:solidFill>
                  <a:schemeClr val="lt1"/>
                </a:solidFill>
                <a:latin typeface="Calibri"/>
                <a:ea typeface="Calibri"/>
                <a:cs typeface="Calibri"/>
                <a:sym typeface="Calibri"/>
              </a:rPr>
              <a:t>Hibernate Elements Architecture</a:t>
            </a:r>
            <a:endParaRPr dirty="0"/>
          </a:p>
        </p:txBody>
      </p:sp>
      <p:sp>
        <p:nvSpPr>
          <p:cNvPr id="168" name="Google Shape;168;p9"/>
          <p:cNvSpPr/>
          <p:nvPr/>
        </p:nvSpPr>
        <p:spPr>
          <a:xfrm>
            <a:off x="6194425" y="6197600"/>
            <a:ext cx="2500313" cy="214313"/>
          </a:xfrm>
          <a:prstGeom prst="rect">
            <a:avLst/>
          </a:prstGeom>
          <a:solidFill>
            <a:srgbClr val="F2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169" name="Google Shape;169;p9"/>
          <p:cNvSpPr/>
          <p:nvPr/>
        </p:nvSpPr>
        <p:spPr>
          <a:xfrm flipH="1">
            <a:off x="6115050" y="6196013"/>
            <a:ext cx="46038" cy="214312"/>
          </a:xfrm>
          <a:prstGeom prst="rect">
            <a:avLst/>
          </a:prstGeom>
          <a:solidFill>
            <a:srgbClr val="F2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pic>
        <p:nvPicPr>
          <p:cNvPr id="2" name="Picture 12">
            <a:extLst>
              <a:ext uri="{FF2B5EF4-FFF2-40B4-BE49-F238E27FC236}">
                <a16:creationId xmlns:a16="http://schemas.microsoft.com/office/drawing/2014/main" id="{B12EADA5-C7B0-2D8F-2274-5BDAAE843987}"/>
              </a:ext>
            </a:extLst>
          </p:cNvPr>
          <p:cNvPicPr>
            <a:picLocks noChangeAspect="1" noChangeArrowheads="1"/>
          </p:cNvPicPr>
          <p:nvPr/>
        </p:nvPicPr>
        <p:blipFill>
          <a:blip r:embed="rId5"/>
          <a:srcRect/>
          <a:stretch>
            <a:fillRect/>
          </a:stretch>
        </p:blipFill>
        <p:spPr bwMode="auto">
          <a:xfrm>
            <a:off x="381000" y="0"/>
            <a:ext cx="1524000" cy="1395413"/>
          </a:xfrm>
          <a:prstGeom prst="rect">
            <a:avLst/>
          </a:prstGeom>
          <a:noFill/>
          <a:ln w="9525">
            <a:noFill/>
            <a:miter lim="800000"/>
            <a:headEnd/>
            <a:tailEnd/>
          </a:ln>
        </p:spPr>
      </p:pic>
    </p:spTree>
    <p:extLst>
      <p:ext uri="{BB962C8B-B14F-4D97-AF65-F5344CB8AC3E}">
        <p14:creationId xmlns:p14="http://schemas.microsoft.com/office/powerpoint/2010/main" val="6070856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pic>
        <p:nvPicPr>
          <p:cNvPr id="163" name="Google Shape;163;p9" descr="C:\Users\parul\Desktop\Digital Learning Content.png"/>
          <p:cNvPicPr preferRelativeResize="0"/>
          <p:nvPr/>
        </p:nvPicPr>
        <p:blipFill rotWithShape="1">
          <a:blip r:embed="rId3">
            <a:alphaModFix/>
          </a:blip>
          <a:srcRect/>
          <a:stretch/>
        </p:blipFill>
        <p:spPr>
          <a:xfrm>
            <a:off x="0" y="0"/>
            <a:ext cx="9144000" cy="6900863"/>
          </a:xfrm>
          <a:prstGeom prst="rect">
            <a:avLst/>
          </a:prstGeom>
          <a:noFill/>
          <a:ln>
            <a:noFill/>
          </a:ln>
        </p:spPr>
      </p:pic>
      <p:pic>
        <p:nvPicPr>
          <p:cNvPr id="164" name="Google Shape;164;p9" descr="C:\Users\parul\Desktop\Untitled-1.png"/>
          <p:cNvPicPr preferRelativeResize="0"/>
          <p:nvPr/>
        </p:nvPicPr>
        <p:blipFill rotWithShape="1">
          <a:blip r:embed="rId4">
            <a:alphaModFix/>
          </a:blip>
          <a:srcRect/>
          <a:stretch/>
        </p:blipFill>
        <p:spPr>
          <a:xfrm>
            <a:off x="1857375" y="3071813"/>
            <a:ext cx="5430838" cy="2803525"/>
          </a:xfrm>
          <a:prstGeom prst="rect">
            <a:avLst/>
          </a:prstGeom>
          <a:noFill/>
          <a:ln>
            <a:noFill/>
          </a:ln>
        </p:spPr>
      </p:pic>
      <p:sp>
        <p:nvSpPr>
          <p:cNvPr id="165" name="Google Shape;165;p9"/>
          <p:cNvSpPr txBox="1"/>
          <p:nvPr/>
        </p:nvSpPr>
        <p:spPr>
          <a:xfrm>
            <a:off x="190500" y="2286000"/>
            <a:ext cx="8763000" cy="3170058"/>
          </a:xfrm>
          <a:prstGeom prst="rect">
            <a:avLst/>
          </a:prstGeom>
          <a:noFill/>
          <a:ln>
            <a:noFill/>
          </a:ln>
        </p:spPr>
        <p:txBody>
          <a:bodyPr spcFirstLastPara="1" wrap="square" lIns="91425" tIns="45700" rIns="91425" bIns="45700" anchor="t" anchorCtr="0">
            <a:spAutoFit/>
          </a:bodyPr>
          <a:lstStyle/>
          <a:p>
            <a:pPr algn="l"/>
            <a:r>
              <a:rPr lang="en-US" sz="2000" b="0" i="0" u="none" strike="noStrike" cap="none" dirty="0">
                <a:solidFill>
                  <a:schemeClr val="dk1"/>
                </a:solidFill>
                <a:latin typeface="Times New Roman" panose="02020603050405020304" pitchFamily="18" charset="0"/>
                <a:cs typeface="Times New Roman" panose="02020603050405020304" pitchFamily="18" charset="0"/>
                <a:sym typeface="Arial"/>
              </a:rPr>
              <a:t>Session Factory:- </a:t>
            </a:r>
            <a:r>
              <a:rPr lang="en-US" sz="2000" b="0" i="0" dirty="0">
                <a:solidFill>
                  <a:srgbClr val="000000"/>
                </a:solidFill>
                <a:effectLst/>
                <a:latin typeface="Times New Roman" panose="02020603050405020304" pitchFamily="18" charset="0"/>
                <a:cs typeface="Times New Roman" panose="02020603050405020304" pitchFamily="18" charset="0"/>
              </a:rPr>
              <a:t>Configuration object is used to create a </a:t>
            </a:r>
            <a:r>
              <a:rPr lang="en-US" sz="2000" b="0" i="0" dirty="0" err="1">
                <a:solidFill>
                  <a:srgbClr val="000000"/>
                </a:solidFill>
                <a:effectLst/>
                <a:latin typeface="Times New Roman" panose="02020603050405020304" pitchFamily="18" charset="0"/>
                <a:cs typeface="Times New Roman" panose="02020603050405020304" pitchFamily="18" charset="0"/>
              </a:rPr>
              <a:t>SessionFactory</a:t>
            </a:r>
            <a:r>
              <a:rPr lang="en-US" sz="2000" b="0" i="0" dirty="0">
                <a:solidFill>
                  <a:srgbClr val="000000"/>
                </a:solidFill>
                <a:effectLst/>
                <a:latin typeface="Times New Roman" panose="02020603050405020304" pitchFamily="18" charset="0"/>
                <a:cs typeface="Times New Roman" panose="02020603050405020304" pitchFamily="18" charset="0"/>
              </a:rPr>
              <a:t> object which in turn configures Hibernate for the application using the supplied configuration file and allows for a Session object to be instantiated. The </a:t>
            </a:r>
            <a:r>
              <a:rPr lang="en-US" sz="2000" b="0" i="0" dirty="0" err="1">
                <a:solidFill>
                  <a:srgbClr val="000000"/>
                </a:solidFill>
                <a:effectLst/>
                <a:latin typeface="Times New Roman" panose="02020603050405020304" pitchFamily="18" charset="0"/>
                <a:cs typeface="Times New Roman" panose="02020603050405020304" pitchFamily="18" charset="0"/>
              </a:rPr>
              <a:t>SessionFactory</a:t>
            </a:r>
            <a:r>
              <a:rPr lang="en-US" sz="2000" b="0" i="0" dirty="0">
                <a:solidFill>
                  <a:srgbClr val="000000"/>
                </a:solidFill>
                <a:effectLst/>
                <a:latin typeface="Times New Roman" panose="02020603050405020304" pitchFamily="18" charset="0"/>
                <a:cs typeface="Times New Roman" panose="02020603050405020304" pitchFamily="18" charset="0"/>
              </a:rPr>
              <a:t> is a thread safe object and used by all the threads of an application.</a:t>
            </a:r>
          </a:p>
          <a:p>
            <a:pPr algn="l"/>
            <a:endParaRPr lang="en-US" sz="2000" b="0" i="0" dirty="0">
              <a:solidFill>
                <a:srgbClr val="000000"/>
              </a:solidFill>
              <a:effectLst/>
              <a:latin typeface="Times New Roman" panose="02020603050405020304" pitchFamily="18" charset="0"/>
              <a:cs typeface="Times New Roman" panose="02020603050405020304" pitchFamily="18" charset="0"/>
            </a:endParaRPr>
          </a:p>
          <a:p>
            <a:pPr algn="l"/>
            <a:r>
              <a:rPr lang="en-US" sz="2000" b="0" i="0" dirty="0">
                <a:solidFill>
                  <a:srgbClr val="000000"/>
                </a:solidFill>
                <a:effectLst/>
                <a:latin typeface="Times New Roman" panose="02020603050405020304" pitchFamily="18" charset="0"/>
                <a:cs typeface="Times New Roman" panose="02020603050405020304" pitchFamily="18" charset="0"/>
              </a:rPr>
              <a:t>The </a:t>
            </a:r>
            <a:r>
              <a:rPr lang="en-US" sz="2000" b="0" i="0" dirty="0" err="1">
                <a:solidFill>
                  <a:srgbClr val="000000"/>
                </a:solidFill>
                <a:effectLst/>
                <a:latin typeface="Times New Roman" panose="02020603050405020304" pitchFamily="18" charset="0"/>
                <a:cs typeface="Times New Roman" panose="02020603050405020304" pitchFamily="18" charset="0"/>
              </a:rPr>
              <a:t>SessionFactory</a:t>
            </a:r>
            <a:r>
              <a:rPr lang="en-US" sz="2000" b="0" i="0" dirty="0">
                <a:solidFill>
                  <a:srgbClr val="000000"/>
                </a:solidFill>
                <a:effectLst/>
                <a:latin typeface="Times New Roman" panose="02020603050405020304" pitchFamily="18" charset="0"/>
                <a:cs typeface="Times New Roman" panose="02020603050405020304" pitchFamily="18" charset="0"/>
              </a:rPr>
              <a:t> is a heavyweight object; it is usually created during application start up and kept for later use. You would need one </a:t>
            </a:r>
            <a:r>
              <a:rPr lang="en-US" sz="2000" b="0" i="0" dirty="0" err="1">
                <a:solidFill>
                  <a:srgbClr val="000000"/>
                </a:solidFill>
                <a:effectLst/>
                <a:latin typeface="Times New Roman" panose="02020603050405020304" pitchFamily="18" charset="0"/>
                <a:cs typeface="Times New Roman" panose="02020603050405020304" pitchFamily="18" charset="0"/>
              </a:rPr>
              <a:t>SessionFactory</a:t>
            </a:r>
            <a:r>
              <a:rPr lang="en-US" sz="2000" b="0" i="0" dirty="0">
                <a:solidFill>
                  <a:srgbClr val="000000"/>
                </a:solidFill>
                <a:effectLst/>
                <a:latin typeface="Times New Roman" panose="02020603050405020304" pitchFamily="18" charset="0"/>
                <a:cs typeface="Times New Roman" panose="02020603050405020304" pitchFamily="18" charset="0"/>
              </a:rPr>
              <a:t> object per database using a separate configuration file. So, if you are using multiple databases, then you would have to create multiple </a:t>
            </a:r>
            <a:r>
              <a:rPr lang="en-US" sz="2000" b="0" i="0" dirty="0" err="1">
                <a:solidFill>
                  <a:srgbClr val="000000"/>
                </a:solidFill>
                <a:effectLst/>
                <a:latin typeface="Times New Roman" panose="02020603050405020304" pitchFamily="18" charset="0"/>
                <a:cs typeface="Times New Roman" panose="02020603050405020304" pitchFamily="18" charset="0"/>
              </a:rPr>
              <a:t>SessionFactory</a:t>
            </a:r>
            <a:r>
              <a:rPr lang="en-US" sz="2000" b="0" i="0" dirty="0">
                <a:solidFill>
                  <a:srgbClr val="000000"/>
                </a:solidFill>
                <a:effectLst/>
                <a:latin typeface="Times New Roman" panose="02020603050405020304" pitchFamily="18" charset="0"/>
                <a:cs typeface="Times New Roman" panose="02020603050405020304" pitchFamily="18" charset="0"/>
              </a:rPr>
              <a:t> objects.</a:t>
            </a:r>
          </a:p>
          <a:p>
            <a:pPr marL="342900" marR="0" lvl="0" indent="-342900" algn="just" rtl="0">
              <a:spcBef>
                <a:spcPts val="0"/>
              </a:spcBef>
              <a:spcAft>
                <a:spcPts val="0"/>
              </a:spcAft>
              <a:buClr>
                <a:schemeClr val="dk1"/>
              </a:buClr>
              <a:buSzPts val="2000"/>
              <a:buFont typeface="Arial"/>
              <a:buChar char="•"/>
            </a:pPr>
            <a:endParaRPr lang="en-US" sz="2000" b="0" i="0" u="none" strike="noStrike" cap="none" dirty="0">
              <a:solidFill>
                <a:schemeClr val="dk1"/>
              </a:solidFill>
              <a:latin typeface="Times New Roman" panose="02020603050405020304" pitchFamily="18" charset="0"/>
              <a:cs typeface="Times New Roman" panose="02020603050405020304" pitchFamily="18" charset="0"/>
              <a:sym typeface="Arial"/>
            </a:endParaRPr>
          </a:p>
        </p:txBody>
      </p:sp>
      <p:sp>
        <p:nvSpPr>
          <p:cNvPr id="166" name="Google Shape;166;p9"/>
          <p:cNvSpPr/>
          <p:nvPr/>
        </p:nvSpPr>
        <p:spPr>
          <a:xfrm>
            <a:off x="0" y="1643063"/>
            <a:ext cx="9144000" cy="642937"/>
          </a:xfrm>
          <a:prstGeom prst="rect">
            <a:avLst/>
          </a:prstGeom>
          <a:solidFill>
            <a:srgbClr val="1F497D"/>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167" name="Google Shape;167;p9"/>
          <p:cNvSpPr/>
          <p:nvPr/>
        </p:nvSpPr>
        <p:spPr>
          <a:xfrm>
            <a:off x="190500" y="1687513"/>
            <a:ext cx="8763000" cy="55403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lt1"/>
              </a:buClr>
              <a:buSzPts val="3000"/>
              <a:buFont typeface="Arial"/>
              <a:buNone/>
            </a:pPr>
            <a:r>
              <a:rPr lang="en-IN" sz="3000" b="1" dirty="0">
                <a:solidFill>
                  <a:schemeClr val="lt1"/>
                </a:solidFill>
                <a:latin typeface="Calibri"/>
                <a:ea typeface="Calibri"/>
                <a:cs typeface="Calibri"/>
                <a:sym typeface="Calibri"/>
              </a:rPr>
              <a:t>Hibernate Elements Architecture</a:t>
            </a:r>
            <a:endParaRPr dirty="0"/>
          </a:p>
        </p:txBody>
      </p:sp>
      <p:sp>
        <p:nvSpPr>
          <p:cNvPr id="168" name="Google Shape;168;p9"/>
          <p:cNvSpPr/>
          <p:nvPr/>
        </p:nvSpPr>
        <p:spPr>
          <a:xfrm>
            <a:off x="6194425" y="6197600"/>
            <a:ext cx="2500313" cy="214313"/>
          </a:xfrm>
          <a:prstGeom prst="rect">
            <a:avLst/>
          </a:prstGeom>
          <a:solidFill>
            <a:srgbClr val="F2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169" name="Google Shape;169;p9"/>
          <p:cNvSpPr/>
          <p:nvPr/>
        </p:nvSpPr>
        <p:spPr>
          <a:xfrm flipH="1">
            <a:off x="6115050" y="6196013"/>
            <a:ext cx="46038" cy="214312"/>
          </a:xfrm>
          <a:prstGeom prst="rect">
            <a:avLst/>
          </a:prstGeom>
          <a:solidFill>
            <a:srgbClr val="F2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pic>
        <p:nvPicPr>
          <p:cNvPr id="2" name="Picture 12">
            <a:extLst>
              <a:ext uri="{FF2B5EF4-FFF2-40B4-BE49-F238E27FC236}">
                <a16:creationId xmlns:a16="http://schemas.microsoft.com/office/drawing/2014/main" id="{00DB496D-6880-C47B-7F30-FE18DFC26D5F}"/>
              </a:ext>
            </a:extLst>
          </p:cNvPr>
          <p:cNvPicPr>
            <a:picLocks noChangeAspect="1" noChangeArrowheads="1"/>
          </p:cNvPicPr>
          <p:nvPr/>
        </p:nvPicPr>
        <p:blipFill>
          <a:blip r:embed="rId5"/>
          <a:srcRect/>
          <a:stretch>
            <a:fillRect/>
          </a:stretch>
        </p:blipFill>
        <p:spPr bwMode="auto">
          <a:xfrm>
            <a:off x="381000" y="0"/>
            <a:ext cx="1524000" cy="1395413"/>
          </a:xfrm>
          <a:prstGeom prst="rect">
            <a:avLst/>
          </a:prstGeom>
          <a:noFill/>
          <a:ln w="9525">
            <a:noFill/>
            <a:miter lim="800000"/>
            <a:headEnd/>
            <a:tailEnd/>
          </a:ln>
        </p:spPr>
      </p:pic>
    </p:spTree>
    <p:extLst>
      <p:ext uri="{BB962C8B-B14F-4D97-AF65-F5344CB8AC3E}">
        <p14:creationId xmlns:p14="http://schemas.microsoft.com/office/powerpoint/2010/main" val="17691345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pic>
        <p:nvPicPr>
          <p:cNvPr id="163" name="Google Shape;163;p9" descr="C:\Users\parul\Desktop\Digital Learning Content.png"/>
          <p:cNvPicPr preferRelativeResize="0"/>
          <p:nvPr/>
        </p:nvPicPr>
        <p:blipFill rotWithShape="1">
          <a:blip r:embed="rId3">
            <a:alphaModFix/>
          </a:blip>
          <a:srcRect/>
          <a:stretch/>
        </p:blipFill>
        <p:spPr>
          <a:xfrm>
            <a:off x="0" y="0"/>
            <a:ext cx="9144000" cy="6900863"/>
          </a:xfrm>
          <a:prstGeom prst="rect">
            <a:avLst/>
          </a:prstGeom>
          <a:noFill/>
          <a:ln>
            <a:noFill/>
          </a:ln>
        </p:spPr>
      </p:pic>
      <p:pic>
        <p:nvPicPr>
          <p:cNvPr id="164" name="Google Shape;164;p9" descr="C:\Users\parul\Desktop\Untitled-1.png"/>
          <p:cNvPicPr preferRelativeResize="0"/>
          <p:nvPr/>
        </p:nvPicPr>
        <p:blipFill rotWithShape="1">
          <a:blip r:embed="rId4">
            <a:alphaModFix/>
          </a:blip>
          <a:srcRect/>
          <a:stretch/>
        </p:blipFill>
        <p:spPr>
          <a:xfrm>
            <a:off x="1857375" y="3071813"/>
            <a:ext cx="5430838" cy="2803525"/>
          </a:xfrm>
          <a:prstGeom prst="rect">
            <a:avLst/>
          </a:prstGeom>
          <a:noFill/>
          <a:ln>
            <a:noFill/>
          </a:ln>
        </p:spPr>
      </p:pic>
      <p:sp>
        <p:nvSpPr>
          <p:cNvPr id="165" name="Google Shape;165;p9"/>
          <p:cNvSpPr txBox="1"/>
          <p:nvPr/>
        </p:nvSpPr>
        <p:spPr>
          <a:xfrm>
            <a:off x="190500" y="2286000"/>
            <a:ext cx="8763000" cy="2554505"/>
          </a:xfrm>
          <a:prstGeom prst="rect">
            <a:avLst/>
          </a:prstGeom>
          <a:noFill/>
          <a:ln>
            <a:noFill/>
          </a:ln>
        </p:spPr>
        <p:txBody>
          <a:bodyPr spcFirstLastPara="1" wrap="square" lIns="91425" tIns="45700" rIns="91425" bIns="45700" anchor="t" anchorCtr="0">
            <a:spAutoFit/>
          </a:bodyPr>
          <a:lstStyle/>
          <a:p>
            <a:pPr algn="l"/>
            <a:r>
              <a:rPr lang="en-US" sz="2000" b="0" i="0" u="none" strike="noStrike" cap="none" dirty="0">
                <a:solidFill>
                  <a:schemeClr val="dk1"/>
                </a:solidFill>
                <a:latin typeface="Times New Roman" panose="02020603050405020304" pitchFamily="18" charset="0"/>
                <a:cs typeface="Times New Roman" panose="02020603050405020304" pitchFamily="18" charset="0"/>
                <a:sym typeface="Arial"/>
              </a:rPr>
              <a:t>Session Object:- </a:t>
            </a:r>
            <a:r>
              <a:rPr lang="en-US" sz="2000" b="0" i="0" dirty="0">
                <a:solidFill>
                  <a:srgbClr val="000000"/>
                </a:solidFill>
                <a:effectLst/>
                <a:latin typeface="Times New Roman" panose="02020603050405020304" pitchFamily="18" charset="0"/>
                <a:cs typeface="Times New Roman" panose="02020603050405020304" pitchFamily="18" charset="0"/>
              </a:rPr>
              <a:t>A Session is used to get a physical connection with a database. The Session object is lightweight and designed to be instantiated each time an interaction is needed with the database. Persistent objects are saved and retrieved through a Session object.</a:t>
            </a:r>
          </a:p>
          <a:p>
            <a:pPr algn="l"/>
            <a:endParaRPr lang="en-US" sz="2000" b="0" i="0" dirty="0">
              <a:solidFill>
                <a:srgbClr val="000000"/>
              </a:solidFill>
              <a:effectLst/>
              <a:latin typeface="Times New Roman" panose="02020603050405020304" pitchFamily="18" charset="0"/>
              <a:cs typeface="Times New Roman" panose="02020603050405020304" pitchFamily="18" charset="0"/>
            </a:endParaRPr>
          </a:p>
          <a:p>
            <a:pPr algn="l"/>
            <a:r>
              <a:rPr lang="en-US" sz="2000" b="0" i="0" dirty="0">
                <a:solidFill>
                  <a:srgbClr val="000000"/>
                </a:solidFill>
                <a:effectLst/>
                <a:latin typeface="Times New Roman" panose="02020603050405020304" pitchFamily="18" charset="0"/>
                <a:cs typeface="Times New Roman" panose="02020603050405020304" pitchFamily="18" charset="0"/>
              </a:rPr>
              <a:t>The session objects should not be kept open for a long time because they are not usually thread safe and they should be created and destroyed them as needed.</a:t>
            </a:r>
          </a:p>
          <a:p>
            <a:pPr algn="l"/>
            <a:endParaRPr lang="en-US" sz="2000" b="0" i="0" u="none" strike="noStrike" cap="none" dirty="0">
              <a:solidFill>
                <a:schemeClr val="dk1"/>
              </a:solidFill>
              <a:latin typeface="Times New Roman" panose="02020603050405020304" pitchFamily="18" charset="0"/>
              <a:cs typeface="Times New Roman" panose="02020603050405020304" pitchFamily="18" charset="0"/>
              <a:sym typeface="Arial"/>
            </a:endParaRPr>
          </a:p>
        </p:txBody>
      </p:sp>
      <p:sp>
        <p:nvSpPr>
          <p:cNvPr id="166" name="Google Shape;166;p9"/>
          <p:cNvSpPr/>
          <p:nvPr/>
        </p:nvSpPr>
        <p:spPr>
          <a:xfrm>
            <a:off x="0" y="1643063"/>
            <a:ext cx="9144000" cy="642937"/>
          </a:xfrm>
          <a:prstGeom prst="rect">
            <a:avLst/>
          </a:prstGeom>
          <a:solidFill>
            <a:srgbClr val="1F497D"/>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167" name="Google Shape;167;p9"/>
          <p:cNvSpPr/>
          <p:nvPr/>
        </p:nvSpPr>
        <p:spPr>
          <a:xfrm>
            <a:off x="190500" y="1687513"/>
            <a:ext cx="8763000" cy="55403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lt1"/>
              </a:buClr>
              <a:buSzPts val="3000"/>
              <a:buFont typeface="Arial"/>
              <a:buNone/>
            </a:pPr>
            <a:r>
              <a:rPr lang="en-IN" sz="3000" b="1" dirty="0">
                <a:solidFill>
                  <a:schemeClr val="lt1"/>
                </a:solidFill>
                <a:latin typeface="Calibri"/>
                <a:ea typeface="Calibri"/>
                <a:cs typeface="Calibri"/>
                <a:sym typeface="Calibri"/>
              </a:rPr>
              <a:t>Hibernate Elements Architecture</a:t>
            </a:r>
            <a:endParaRPr dirty="0"/>
          </a:p>
        </p:txBody>
      </p:sp>
      <p:sp>
        <p:nvSpPr>
          <p:cNvPr id="168" name="Google Shape;168;p9"/>
          <p:cNvSpPr/>
          <p:nvPr/>
        </p:nvSpPr>
        <p:spPr>
          <a:xfrm>
            <a:off x="6194425" y="6197600"/>
            <a:ext cx="2500313" cy="214313"/>
          </a:xfrm>
          <a:prstGeom prst="rect">
            <a:avLst/>
          </a:prstGeom>
          <a:solidFill>
            <a:srgbClr val="F2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169" name="Google Shape;169;p9"/>
          <p:cNvSpPr/>
          <p:nvPr/>
        </p:nvSpPr>
        <p:spPr>
          <a:xfrm flipH="1">
            <a:off x="6115050" y="6196013"/>
            <a:ext cx="46038" cy="214312"/>
          </a:xfrm>
          <a:prstGeom prst="rect">
            <a:avLst/>
          </a:prstGeom>
          <a:solidFill>
            <a:srgbClr val="F2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pic>
        <p:nvPicPr>
          <p:cNvPr id="2" name="Picture 12">
            <a:extLst>
              <a:ext uri="{FF2B5EF4-FFF2-40B4-BE49-F238E27FC236}">
                <a16:creationId xmlns:a16="http://schemas.microsoft.com/office/drawing/2014/main" id="{45949C3E-1041-4286-46A8-D7150A99796B}"/>
              </a:ext>
            </a:extLst>
          </p:cNvPr>
          <p:cNvPicPr>
            <a:picLocks noChangeAspect="1" noChangeArrowheads="1"/>
          </p:cNvPicPr>
          <p:nvPr/>
        </p:nvPicPr>
        <p:blipFill>
          <a:blip r:embed="rId5"/>
          <a:srcRect/>
          <a:stretch>
            <a:fillRect/>
          </a:stretch>
        </p:blipFill>
        <p:spPr bwMode="auto">
          <a:xfrm>
            <a:off x="381000" y="0"/>
            <a:ext cx="1524000" cy="1395413"/>
          </a:xfrm>
          <a:prstGeom prst="rect">
            <a:avLst/>
          </a:prstGeom>
          <a:noFill/>
          <a:ln w="9525">
            <a:noFill/>
            <a:miter lim="800000"/>
            <a:headEnd/>
            <a:tailEnd/>
          </a:ln>
        </p:spPr>
      </p:pic>
    </p:spTree>
    <p:extLst>
      <p:ext uri="{BB962C8B-B14F-4D97-AF65-F5344CB8AC3E}">
        <p14:creationId xmlns:p14="http://schemas.microsoft.com/office/powerpoint/2010/main" val="10725294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pic>
        <p:nvPicPr>
          <p:cNvPr id="163" name="Google Shape;163;p9" descr="C:\Users\parul\Desktop\Digital Learning Content.png"/>
          <p:cNvPicPr preferRelativeResize="0"/>
          <p:nvPr/>
        </p:nvPicPr>
        <p:blipFill rotWithShape="1">
          <a:blip r:embed="rId3">
            <a:alphaModFix/>
          </a:blip>
          <a:srcRect/>
          <a:stretch/>
        </p:blipFill>
        <p:spPr>
          <a:xfrm>
            <a:off x="0" y="0"/>
            <a:ext cx="9144000" cy="6900863"/>
          </a:xfrm>
          <a:prstGeom prst="rect">
            <a:avLst/>
          </a:prstGeom>
          <a:noFill/>
          <a:ln>
            <a:noFill/>
          </a:ln>
        </p:spPr>
      </p:pic>
      <p:pic>
        <p:nvPicPr>
          <p:cNvPr id="164" name="Google Shape;164;p9" descr="C:\Users\parul\Desktop\Untitled-1.png"/>
          <p:cNvPicPr preferRelativeResize="0"/>
          <p:nvPr/>
        </p:nvPicPr>
        <p:blipFill rotWithShape="1">
          <a:blip r:embed="rId4">
            <a:alphaModFix/>
          </a:blip>
          <a:srcRect/>
          <a:stretch/>
        </p:blipFill>
        <p:spPr>
          <a:xfrm>
            <a:off x="1857375" y="3071813"/>
            <a:ext cx="5430838" cy="2803525"/>
          </a:xfrm>
          <a:prstGeom prst="rect">
            <a:avLst/>
          </a:prstGeom>
          <a:noFill/>
          <a:ln>
            <a:noFill/>
          </a:ln>
        </p:spPr>
      </p:pic>
      <p:sp>
        <p:nvSpPr>
          <p:cNvPr id="165" name="Google Shape;165;p9"/>
          <p:cNvSpPr txBox="1"/>
          <p:nvPr/>
        </p:nvSpPr>
        <p:spPr>
          <a:xfrm>
            <a:off x="190500" y="2286000"/>
            <a:ext cx="8763000" cy="2554505"/>
          </a:xfrm>
          <a:prstGeom prst="rect">
            <a:avLst/>
          </a:prstGeom>
          <a:noFill/>
          <a:ln>
            <a:noFill/>
          </a:ln>
        </p:spPr>
        <p:txBody>
          <a:bodyPr spcFirstLastPara="1" wrap="square" lIns="91425" tIns="45700" rIns="91425" bIns="45700" anchor="t" anchorCtr="0">
            <a:spAutoFit/>
          </a:bodyPr>
          <a:lstStyle/>
          <a:p>
            <a:pPr algn="l"/>
            <a:r>
              <a:rPr lang="en-US" sz="2000" dirty="0">
                <a:solidFill>
                  <a:schemeClr val="dk1"/>
                </a:solidFill>
                <a:latin typeface="Times New Roman" panose="02020603050405020304" pitchFamily="18" charset="0"/>
                <a:cs typeface="Times New Roman" panose="02020603050405020304" pitchFamily="18" charset="0"/>
              </a:rPr>
              <a:t>Transaction Object:- </a:t>
            </a:r>
            <a:r>
              <a:rPr lang="en-US" sz="2000" b="0" i="0" dirty="0">
                <a:solidFill>
                  <a:srgbClr val="000000"/>
                </a:solidFill>
                <a:effectLst/>
                <a:latin typeface="Times New Roman" panose="02020603050405020304" pitchFamily="18" charset="0"/>
                <a:cs typeface="Times New Roman" panose="02020603050405020304" pitchFamily="18" charset="0"/>
              </a:rPr>
              <a:t>A Transaction represents a unit of work with the database and most of the RDBMS supports transaction functionality. Transactions in Hibernate are handled by an underlying transaction manager and transaction (from JDBC or JTA).</a:t>
            </a:r>
          </a:p>
          <a:p>
            <a:pPr algn="l"/>
            <a:endParaRPr lang="en-US" sz="2000" b="0" i="0" dirty="0">
              <a:solidFill>
                <a:srgbClr val="000000"/>
              </a:solidFill>
              <a:effectLst/>
              <a:latin typeface="Times New Roman" panose="02020603050405020304" pitchFamily="18" charset="0"/>
              <a:cs typeface="Times New Roman" panose="02020603050405020304" pitchFamily="18" charset="0"/>
            </a:endParaRPr>
          </a:p>
          <a:p>
            <a:pPr algn="l"/>
            <a:r>
              <a:rPr lang="en-US" sz="2000" b="0" i="0" dirty="0">
                <a:solidFill>
                  <a:srgbClr val="000000"/>
                </a:solidFill>
                <a:effectLst/>
                <a:latin typeface="Times New Roman" panose="02020603050405020304" pitchFamily="18" charset="0"/>
                <a:cs typeface="Times New Roman" panose="02020603050405020304" pitchFamily="18" charset="0"/>
              </a:rPr>
              <a:t>This is an optional object and Hibernate applications may choose not to use this interface, instead managing transactions in their own application code.</a:t>
            </a:r>
          </a:p>
          <a:p>
            <a:pPr algn="l"/>
            <a:endParaRPr lang="en-US" sz="2000" b="0" i="0" u="none" strike="noStrike" cap="none" dirty="0">
              <a:solidFill>
                <a:schemeClr val="dk1"/>
              </a:solidFill>
              <a:latin typeface="Times New Roman" panose="02020603050405020304" pitchFamily="18" charset="0"/>
              <a:cs typeface="Times New Roman" panose="02020603050405020304" pitchFamily="18" charset="0"/>
              <a:sym typeface="Arial"/>
            </a:endParaRPr>
          </a:p>
        </p:txBody>
      </p:sp>
      <p:sp>
        <p:nvSpPr>
          <p:cNvPr id="166" name="Google Shape;166;p9"/>
          <p:cNvSpPr/>
          <p:nvPr/>
        </p:nvSpPr>
        <p:spPr>
          <a:xfrm>
            <a:off x="0" y="1643063"/>
            <a:ext cx="9144000" cy="642937"/>
          </a:xfrm>
          <a:prstGeom prst="rect">
            <a:avLst/>
          </a:prstGeom>
          <a:solidFill>
            <a:srgbClr val="1F497D"/>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167" name="Google Shape;167;p9"/>
          <p:cNvSpPr/>
          <p:nvPr/>
        </p:nvSpPr>
        <p:spPr>
          <a:xfrm>
            <a:off x="190500" y="1687513"/>
            <a:ext cx="8763000" cy="55403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lt1"/>
              </a:buClr>
              <a:buSzPts val="3000"/>
              <a:buFont typeface="Arial"/>
              <a:buNone/>
            </a:pPr>
            <a:r>
              <a:rPr lang="en-IN" sz="3000" b="1" dirty="0">
                <a:solidFill>
                  <a:schemeClr val="lt1"/>
                </a:solidFill>
                <a:latin typeface="Calibri"/>
                <a:ea typeface="Calibri"/>
                <a:cs typeface="Calibri"/>
                <a:sym typeface="Calibri"/>
              </a:rPr>
              <a:t>Hibernate Elements Architecture</a:t>
            </a:r>
            <a:endParaRPr dirty="0"/>
          </a:p>
        </p:txBody>
      </p:sp>
      <p:sp>
        <p:nvSpPr>
          <p:cNvPr id="168" name="Google Shape;168;p9"/>
          <p:cNvSpPr/>
          <p:nvPr/>
        </p:nvSpPr>
        <p:spPr>
          <a:xfrm>
            <a:off x="6194425" y="6197600"/>
            <a:ext cx="2500313" cy="214313"/>
          </a:xfrm>
          <a:prstGeom prst="rect">
            <a:avLst/>
          </a:prstGeom>
          <a:solidFill>
            <a:srgbClr val="F2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169" name="Google Shape;169;p9"/>
          <p:cNvSpPr/>
          <p:nvPr/>
        </p:nvSpPr>
        <p:spPr>
          <a:xfrm flipH="1">
            <a:off x="6115050" y="6196013"/>
            <a:ext cx="46038" cy="214312"/>
          </a:xfrm>
          <a:prstGeom prst="rect">
            <a:avLst/>
          </a:prstGeom>
          <a:solidFill>
            <a:srgbClr val="F2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pic>
        <p:nvPicPr>
          <p:cNvPr id="2" name="Picture 12">
            <a:extLst>
              <a:ext uri="{FF2B5EF4-FFF2-40B4-BE49-F238E27FC236}">
                <a16:creationId xmlns:a16="http://schemas.microsoft.com/office/drawing/2014/main" id="{3E7E374F-0B98-9296-5450-9C636E0F83CA}"/>
              </a:ext>
            </a:extLst>
          </p:cNvPr>
          <p:cNvPicPr>
            <a:picLocks noChangeAspect="1" noChangeArrowheads="1"/>
          </p:cNvPicPr>
          <p:nvPr/>
        </p:nvPicPr>
        <p:blipFill>
          <a:blip r:embed="rId5"/>
          <a:srcRect/>
          <a:stretch>
            <a:fillRect/>
          </a:stretch>
        </p:blipFill>
        <p:spPr bwMode="auto">
          <a:xfrm>
            <a:off x="381000" y="0"/>
            <a:ext cx="1524000" cy="1395413"/>
          </a:xfrm>
          <a:prstGeom prst="rect">
            <a:avLst/>
          </a:prstGeom>
          <a:noFill/>
          <a:ln w="9525">
            <a:noFill/>
            <a:miter lim="800000"/>
            <a:headEnd/>
            <a:tailEnd/>
          </a:ln>
        </p:spPr>
      </p:pic>
    </p:spTree>
    <p:extLst>
      <p:ext uri="{BB962C8B-B14F-4D97-AF65-F5344CB8AC3E}">
        <p14:creationId xmlns:p14="http://schemas.microsoft.com/office/powerpoint/2010/main" val="24306508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pic>
        <p:nvPicPr>
          <p:cNvPr id="163" name="Google Shape;163;p9" descr="C:\Users\parul\Desktop\Digital Learning Content.png"/>
          <p:cNvPicPr preferRelativeResize="0"/>
          <p:nvPr/>
        </p:nvPicPr>
        <p:blipFill rotWithShape="1">
          <a:blip r:embed="rId3">
            <a:alphaModFix/>
          </a:blip>
          <a:srcRect/>
          <a:stretch/>
        </p:blipFill>
        <p:spPr>
          <a:xfrm>
            <a:off x="0" y="0"/>
            <a:ext cx="9144000" cy="6900863"/>
          </a:xfrm>
          <a:prstGeom prst="rect">
            <a:avLst/>
          </a:prstGeom>
          <a:noFill/>
          <a:ln>
            <a:noFill/>
          </a:ln>
        </p:spPr>
      </p:pic>
      <p:pic>
        <p:nvPicPr>
          <p:cNvPr id="164" name="Google Shape;164;p9" descr="C:\Users\parul\Desktop\Untitled-1.png"/>
          <p:cNvPicPr preferRelativeResize="0"/>
          <p:nvPr/>
        </p:nvPicPr>
        <p:blipFill rotWithShape="1">
          <a:blip r:embed="rId4">
            <a:alphaModFix/>
          </a:blip>
          <a:srcRect/>
          <a:stretch/>
        </p:blipFill>
        <p:spPr>
          <a:xfrm>
            <a:off x="1857375" y="3071813"/>
            <a:ext cx="5430838" cy="2803525"/>
          </a:xfrm>
          <a:prstGeom prst="rect">
            <a:avLst/>
          </a:prstGeom>
          <a:noFill/>
          <a:ln>
            <a:noFill/>
          </a:ln>
        </p:spPr>
      </p:pic>
      <p:sp>
        <p:nvSpPr>
          <p:cNvPr id="165" name="Google Shape;165;p9"/>
          <p:cNvSpPr txBox="1"/>
          <p:nvPr/>
        </p:nvSpPr>
        <p:spPr>
          <a:xfrm>
            <a:off x="190500" y="2286000"/>
            <a:ext cx="8763000" cy="1323399"/>
          </a:xfrm>
          <a:prstGeom prst="rect">
            <a:avLst/>
          </a:prstGeom>
          <a:noFill/>
          <a:ln>
            <a:noFill/>
          </a:ln>
        </p:spPr>
        <p:txBody>
          <a:bodyPr spcFirstLastPara="1" wrap="square" lIns="91425" tIns="45700" rIns="91425" bIns="45700" anchor="t" anchorCtr="0">
            <a:spAutoFit/>
          </a:bodyPr>
          <a:lstStyle/>
          <a:p>
            <a:pPr algn="l"/>
            <a:r>
              <a:rPr lang="en-US" sz="2000" b="0" i="0" u="none" strike="noStrike" cap="none" dirty="0">
                <a:solidFill>
                  <a:schemeClr val="dk1"/>
                </a:solidFill>
                <a:latin typeface="Times New Roman" panose="02020603050405020304" pitchFamily="18" charset="0"/>
                <a:cs typeface="Times New Roman" panose="02020603050405020304" pitchFamily="18" charset="0"/>
                <a:sym typeface="Arial"/>
              </a:rPr>
              <a:t>Query Object:- </a:t>
            </a:r>
            <a:r>
              <a:rPr lang="en-US" sz="2000" b="0" i="0" dirty="0">
                <a:solidFill>
                  <a:srgbClr val="000000"/>
                </a:solidFill>
                <a:effectLst/>
                <a:highlight>
                  <a:srgbClr val="FFFFFF"/>
                </a:highlight>
                <a:latin typeface="Times New Roman" panose="02020603050405020304" pitchFamily="18" charset="0"/>
                <a:cs typeface="Times New Roman" panose="02020603050405020304" pitchFamily="18" charset="0"/>
              </a:rPr>
              <a:t>Query objects use SQL or Hibernate Query Language (HQL) string to retrieve data from the database and create objects. A Query instance is used to bind query parameters, limit the number of results returned by the query, and finally to execute the query.</a:t>
            </a:r>
            <a:endParaRPr lang="en-US" sz="2000" b="0" i="0" u="none" strike="noStrike" cap="none" dirty="0">
              <a:solidFill>
                <a:schemeClr val="dk1"/>
              </a:solidFill>
              <a:latin typeface="Times New Roman" panose="02020603050405020304" pitchFamily="18" charset="0"/>
              <a:cs typeface="Times New Roman" panose="02020603050405020304" pitchFamily="18" charset="0"/>
              <a:sym typeface="Arial"/>
            </a:endParaRPr>
          </a:p>
        </p:txBody>
      </p:sp>
      <p:sp>
        <p:nvSpPr>
          <p:cNvPr id="166" name="Google Shape;166;p9"/>
          <p:cNvSpPr/>
          <p:nvPr/>
        </p:nvSpPr>
        <p:spPr>
          <a:xfrm>
            <a:off x="0" y="1643063"/>
            <a:ext cx="9144000" cy="642937"/>
          </a:xfrm>
          <a:prstGeom prst="rect">
            <a:avLst/>
          </a:prstGeom>
          <a:solidFill>
            <a:srgbClr val="1F497D"/>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167" name="Google Shape;167;p9"/>
          <p:cNvSpPr/>
          <p:nvPr/>
        </p:nvSpPr>
        <p:spPr>
          <a:xfrm>
            <a:off x="190500" y="1687513"/>
            <a:ext cx="8763000" cy="55403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lt1"/>
              </a:buClr>
              <a:buSzPts val="3000"/>
              <a:buFont typeface="Arial"/>
              <a:buNone/>
            </a:pPr>
            <a:r>
              <a:rPr lang="en-IN" sz="3000" b="1" dirty="0">
                <a:solidFill>
                  <a:schemeClr val="lt1"/>
                </a:solidFill>
                <a:latin typeface="Calibri"/>
                <a:ea typeface="Calibri"/>
                <a:cs typeface="Calibri"/>
                <a:sym typeface="Calibri"/>
              </a:rPr>
              <a:t>Hibernate Elements Architecture</a:t>
            </a:r>
            <a:endParaRPr dirty="0"/>
          </a:p>
        </p:txBody>
      </p:sp>
      <p:sp>
        <p:nvSpPr>
          <p:cNvPr id="168" name="Google Shape;168;p9"/>
          <p:cNvSpPr/>
          <p:nvPr/>
        </p:nvSpPr>
        <p:spPr>
          <a:xfrm>
            <a:off x="6194425" y="6197600"/>
            <a:ext cx="2500313" cy="214313"/>
          </a:xfrm>
          <a:prstGeom prst="rect">
            <a:avLst/>
          </a:prstGeom>
          <a:solidFill>
            <a:srgbClr val="F2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169" name="Google Shape;169;p9"/>
          <p:cNvSpPr/>
          <p:nvPr/>
        </p:nvSpPr>
        <p:spPr>
          <a:xfrm flipH="1">
            <a:off x="6115050" y="6196013"/>
            <a:ext cx="46038" cy="214312"/>
          </a:xfrm>
          <a:prstGeom prst="rect">
            <a:avLst/>
          </a:prstGeom>
          <a:solidFill>
            <a:srgbClr val="F2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pic>
        <p:nvPicPr>
          <p:cNvPr id="2" name="Picture 12">
            <a:extLst>
              <a:ext uri="{FF2B5EF4-FFF2-40B4-BE49-F238E27FC236}">
                <a16:creationId xmlns:a16="http://schemas.microsoft.com/office/drawing/2014/main" id="{55B34270-F28C-F62D-D82E-A75EF3DFCD6A}"/>
              </a:ext>
            </a:extLst>
          </p:cNvPr>
          <p:cNvPicPr>
            <a:picLocks noChangeAspect="1" noChangeArrowheads="1"/>
          </p:cNvPicPr>
          <p:nvPr/>
        </p:nvPicPr>
        <p:blipFill>
          <a:blip r:embed="rId5"/>
          <a:srcRect/>
          <a:stretch>
            <a:fillRect/>
          </a:stretch>
        </p:blipFill>
        <p:spPr bwMode="auto">
          <a:xfrm>
            <a:off x="381000" y="0"/>
            <a:ext cx="1524000" cy="1395413"/>
          </a:xfrm>
          <a:prstGeom prst="rect">
            <a:avLst/>
          </a:prstGeom>
          <a:noFill/>
          <a:ln w="9525">
            <a:noFill/>
            <a:miter lim="800000"/>
            <a:headEnd/>
            <a:tailEnd/>
          </a:ln>
        </p:spPr>
      </p:pic>
    </p:spTree>
    <p:extLst>
      <p:ext uri="{BB962C8B-B14F-4D97-AF65-F5344CB8AC3E}">
        <p14:creationId xmlns:p14="http://schemas.microsoft.com/office/powerpoint/2010/main" val="34177186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pic>
        <p:nvPicPr>
          <p:cNvPr id="163" name="Google Shape;163;p9" descr="C:\Users\parul\Desktop\Digital Learning Content.png"/>
          <p:cNvPicPr preferRelativeResize="0"/>
          <p:nvPr/>
        </p:nvPicPr>
        <p:blipFill rotWithShape="1">
          <a:blip r:embed="rId3">
            <a:alphaModFix/>
          </a:blip>
          <a:srcRect/>
          <a:stretch/>
        </p:blipFill>
        <p:spPr>
          <a:xfrm>
            <a:off x="0" y="0"/>
            <a:ext cx="9144000" cy="6900863"/>
          </a:xfrm>
          <a:prstGeom prst="rect">
            <a:avLst/>
          </a:prstGeom>
          <a:noFill/>
          <a:ln>
            <a:noFill/>
          </a:ln>
        </p:spPr>
      </p:pic>
      <p:pic>
        <p:nvPicPr>
          <p:cNvPr id="164" name="Google Shape;164;p9" descr="C:\Users\parul\Desktop\Untitled-1.png"/>
          <p:cNvPicPr preferRelativeResize="0"/>
          <p:nvPr/>
        </p:nvPicPr>
        <p:blipFill rotWithShape="1">
          <a:blip r:embed="rId4">
            <a:alphaModFix/>
          </a:blip>
          <a:srcRect/>
          <a:stretch/>
        </p:blipFill>
        <p:spPr>
          <a:xfrm>
            <a:off x="1857375" y="3071813"/>
            <a:ext cx="5430838" cy="2803525"/>
          </a:xfrm>
          <a:prstGeom prst="rect">
            <a:avLst/>
          </a:prstGeom>
          <a:noFill/>
          <a:ln>
            <a:noFill/>
          </a:ln>
        </p:spPr>
      </p:pic>
      <p:sp>
        <p:nvSpPr>
          <p:cNvPr id="165" name="Google Shape;165;p9"/>
          <p:cNvSpPr txBox="1"/>
          <p:nvPr/>
        </p:nvSpPr>
        <p:spPr>
          <a:xfrm>
            <a:off x="190500" y="2286000"/>
            <a:ext cx="8763000" cy="1631175"/>
          </a:xfrm>
          <a:prstGeom prst="rect">
            <a:avLst/>
          </a:prstGeom>
          <a:noFill/>
          <a:ln>
            <a:noFill/>
          </a:ln>
        </p:spPr>
        <p:txBody>
          <a:bodyPr spcFirstLastPara="1" wrap="square" lIns="91425" tIns="45700" rIns="91425" bIns="45700" anchor="t" anchorCtr="0">
            <a:spAutoFit/>
          </a:bodyPr>
          <a:lstStyle/>
          <a:p>
            <a:pPr algn="l"/>
            <a:r>
              <a:rPr lang="en-US" sz="2000" b="0" i="0" u="none" strike="noStrike" cap="none" dirty="0">
                <a:solidFill>
                  <a:schemeClr val="dk1"/>
                </a:solidFill>
                <a:latin typeface="Times New Roman" panose="02020603050405020304" pitchFamily="18" charset="0"/>
                <a:cs typeface="Times New Roman" panose="02020603050405020304" pitchFamily="18" charset="0"/>
                <a:sym typeface="Arial"/>
              </a:rPr>
              <a:t>Criteria Object:- </a:t>
            </a:r>
            <a:r>
              <a:rPr lang="en-US" sz="2000" b="0" i="0" dirty="0">
                <a:solidFill>
                  <a:srgbClr val="000000"/>
                </a:solidFill>
                <a:effectLst/>
                <a:highlight>
                  <a:srgbClr val="FFFFFF"/>
                </a:highlight>
                <a:latin typeface="Times New Roman" panose="02020603050405020304" pitchFamily="18" charset="0"/>
                <a:cs typeface="Times New Roman" panose="02020603050405020304" pitchFamily="18" charset="0"/>
              </a:rPr>
              <a:t>Criteria objects are used to create and execute object oriented criteria queries to retrieve objects.</a:t>
            </a:r>
          </a:p>
          <a:p>
            <a:pPr algn="l"/>
            <a:endParaRPr lang="en-US" sz="2000" u="none" strike="noStrike" cap="none" dirty="0">
              <a:highlight>
                <a:srgbClr val="FFFFFF"/>
              </a:highlight>
              <a:latin typeface="Times New Roman" panose="02020603050405020304" pitchFamily="18" charset="0"/>
              <a:cs typeface="Times New Roman" panose="02020603050405020304" pitchFamily="18" charset="0"/>
              <a:sym typeface="Arial"/>
            </a:endParaRPr>
          </a:p>
          <a:p>
            <a:pPr algn="l"/>
            <a:r>
              <a:rPr lang="en-US" sz="2000" b="0" i="0" dirty="0">
                <a:solidFill>
                  <a:schemeClr val="dk1"/>
                </a:solidFill>
                <a:highlight>
                  <a:srgbClr val="FFFFFF"/>
                </a:highlight>
                <a:latin typeface="Times New Roman" panose="02020603050405020304" pitchFamily="18" charset="0"/>
                <a:cs typeface="Times New Roman" panose="02020603050405020304" pitchFamily="18" charset="0"/>
              </a:rPr>
              <a:t>Cache:- Hibernate provides support for various levels of caching to improve performance. This includes first-level cache and second-level cache.</a:t>
            </a:r>
            <a:endParaRPr lang="en-US" sz="2000" b="0" i="0" u="none" strike="noStrike" cap="none" dirty="0">
              <a:solidFill>
                <a:schemeClr val="dk1"/>
              </a:solidFill>
              <a:latin typeface="Times New Roman" panose="02020603050405020304" pitchFamily="18" charset="0"/>
              <a:cs typeface="Times New Roman" panose="02020603050405020304" pitchFamily="18" charset="0"/>
              <a:sym typeface="Arial"/>
            </a:endParaRPr>
          </a:p>
        </p:txBody>
      </p:sp>
      <p:sp>
        <p:nvSpPr>
          <p:cNvPr id="166" name="Google Shape;166;p9"/>
          <p:cNvSpPr/>
          <p:nvPr/>
        </p:nvSpPr>
        <p:spPr>
          <a:xfrm>
            <a:off x="0" y="1643063"/>
            <a:ext cx="9144000" cy="642937"/>
          </a:xfrm>
          <a:prstGeom prst="rect">
            <a:avLst/>
          </a:prstGeom>
          <a:solidFill>
            <a:srgbClr val="1F497D"/>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167" name="Google Shape;167;p9"/>
          <p:cNvSpPr/>
          <p:nvPr/>
        </p:nvSpPr>
        <p:spPr>
          <a:xfrm>
            <a:off x="190500" y="1687513"/>
            <a:ext cx="8763000" cy="55403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lt1"/>
              </a:buClr>
              <a:buSzPts val="3000"/>
              <a:buFont typeface="Arial"/>
              <a:buNone/>
            </a:pPr>
            <a:r>
              <a:rPr lang="en-IN" sz="3000" b="1" dirty="0">
                <a:solidFill>
                  <a:schemeClr val="lt1"/>
                </a:solidFill>
                <a:latin typeface="Calibri"/>
                <a:ea typeface="Calibri"/>
                <a:cs typeface="Calibri"/>
                <a:sym typeface="Calibri"/>
              </a:rPr>
              <a:t>Hibernate Elements Architecture</a:t>
            </a:r>
            <a:endParaRPr dirty="0"/>
          </a:p>
        </p:txBody>
      </p:sp>
      <p:sp>
        <p:nvSpPr>
          <p:cNvPr id="168" name="Google Shape;168;p9"/>
          <p:cNvSpPr/>
          <p:nvPr/>
        </p:nvSpPr>
        <p:spPr>
          <a:xfrm>
            <a:off x="6194425" y="6197600"/>
            <a:ext cx="2500313" cy="214313"/>
          </a:xfrm>
          <a:prstGeom prst="rect">
            <a:avLst/>
          </a:prstGeom>
          <a:solidFill>
            <a:srgbClr val="F2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169" name="Google Shape;169;p9"/>
          <p:cNvSpPr/>
          <p:nvPr/>
        </p:nvSpPr>
        <p:spPr>
          <a:xfrm flipH="1">
            <a:off x="6115050" y="6196013"/>
            <a:ext cx="46038" cy="214312"/>
          </a:xfrm>
          <a:prstGeom prst="rect">
            <a:avLst/>
          </a:prstGeom>
          <a:solidFill>
            <a:srgbClr val="F2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pic>
        <p:nvPicPr>
          <p:cNvPr id="2" name="Picture 12">
            <a:extLst>
              <a:ext uri="{FF2B5EF4-FFF2-40B4-BE49-F238E27FC236}">
                <a16:creationId xmlns:a16="http://schemas.microsoft.com/office/drawing/2014/main" id="{69075772-38A7-3C40-DFD8-2BD68380D2BD}"/>
              </a:ext>
            </a:extLst>
          </p:cNvPr>
          <p:cNvPicPr>
            <a:picLocks noChangeAspect="1" noChangeArrowheads="1"/>
          </p:cNvPicPr>
          <p:nvPr/>
        </p:nvPicPr>
        <p:blipFill>
          <a:blip r:embed="rId5"/>
          <a:srcRect/>
          <a:stretch>
            <a:fillRect/>
          </a:stretch>
        </p:blipFill>
        <p:spPr bwMode="auto">
          <a:xfrm>
            <a:off x="381000" y="0"/>
            <a:ext cx="1524000" cy="1395413"/>
          </a:xfrm>
          <a:prstGeom prst="rect">
            <a:avLst/>
          </a:prstGeom>
          <a:noFill/>
          <a:ln w="9525">
            <a:noFill/>
            <a:miter lim="800000"/>
            <a:headEnd/>
            <a:tailEnd/>
          </a:ln>
        </p:spPr>
      </p:pic>
    </p:spTree>
    <p:extLst>
      <p:ext uri="{BB962C8B-B14F-4D97-AF65-F5344CB8AC3E}">
        <p14:creationId xmlns:p14="http://schemas.microsoft.com/office/powerpoint/2010/main" val="12505881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pic>
        <p:nvPicPr>
          <p:cNvPr id="163" name="Google Shape;163;p9" descr="C:\Users\parul\Desktop\Digital Learning Content.png"/>
          <p:cNvPicPr preferRelativeResize="0"/>
          <p:nvPr/>
        </p:nvPicPr>
        <p:blipFill rotWithShape="1">
          <a:blip r:embed="rId3">
            <a:alphaModFix/>
          </a:blip>
          <a:srcRect/>
          <a:stretch/>
        </p:blipFill>
        <p:spPr>
          <a:xfrm>
            <a:off x="0" y="0"/>
            <a:ext cx="9144000" cy="6900863"/>
          </a:xfrm>
          <a:prstGeom prst="rect">
            <a:avLst/>
          </a:prstGeom>
          <a:noFill/>
          <a:ln>
            <a:noFill/>
          </a:ln>
        </p:spPr>
      </p:pic>
      <p:pic>
        <p:nvPicPr>
          <p:cNvPr id="164" name="Google Shape;164;p9" descr="C:\Users\parul\Desktop\Untitled-1.png"/>
          <p:cNvPicPr preferRelativeResize="0"/>
          <p:nvPr/>
        </p:nvPicPr>
        <p:blipFill rotWithShape="1">
          <a:blip r:embed="rId4">
            <a:alphaModFix/>
          </a:blip>
          <a:srcRect/>
          <a:stretch/>
        </p:blipFill>
        <p:spPr>
          <a:xfrm>
            <a:off x="1857375" y="3071813"/>
            <a:ext cx="5430838" cy="2803525"/>
          </a:xfrm>
          <a:prstGeom prst="rect">
            <a:avLst/>
          </a:prstGeom>
          <a:noFill/>
          <a:ln>
            <a:noFill/>
          </a:ln>
        </p:spPr>
      </p:pic>
      <p:sp>
        <p:nvSpPr>
          <p:cNvPr id="165" name="Google Shape;165;p9"/>
          <p:cNvSpPr txBox="1"/>
          <p:nvPr/>
        </p:nvSpPr>
        <p:spPr>
          <a:xfrm>
            <a:off x="190500" y="2286000"/>
            <a:ext cx="8763000" cy="2862282"/>
          </a:xfrm>
          <a:prstGeom prst="rect">
            <a:avLst/>
          </a:prstGeom>
          <a:noFill/>
          <a:ln>
            <a:noFill/>
          </a:ln>
        </p:spPr>
        <p:txBody>
          <a:bodyPr spcFirstLastPara="1" wrap="square" lIns="91425" tIns="45700" rIns="91425" bIns="45700" anchor="t" anchorCtr="0">
            <a:spAutoFit/>
          </a:bodyPr>
          <a:lstStyle/>
          <a:p>
            <a:pPr algn="l"/>
            <a:r>
              <a:rPr lang="en-US" sz="2000" b="0" i="0" dirty="0">
                <a:solidFill>
                  <a:schemeClr val="tx1"/>
                </a:solidFill>
                <a:effectLst/>
                <a:latin typeface="Times New Roman" panose="02020603050405020304" pitchFamily="18" charset="0"/>
                <a:cs typeface="Times New Roman" panose="02020603050405020304" pitchFamily="18" charset="0"/>
              </a:rPr>
              <a:t>Java Persistence API (JPA) is a Java specification that provides a standardized way to persist Java objects into relational databases and manage their relationships. It offers a set of interfaces, classes, and annotations that enable developers to map Java classes to database tables, define object-relational mappings, and perform database operations using object-oriented approaches. JPA abstracts away the complexities of database interaction, allowing developers to focus on business logic rather than low-level JDBC code. It is a key component of Java EE (Enterprise Edition) and Jakarta EE platforms, widely used in Java enterprise applications for efficient and portable data persistence solutions</a:t>
            </a:r>
            <a:endParaRPr lang="en-US" sz="2000" b="0" i="0" u="none" strike="noStrike" cap="none" dirty="0">
              <a:solidFill>
                <a:schemeClr val="tx1"/>
              </a:solidFill>
              <a:latin typeface="Times New Roman" panose="02020603050405020304" pitchFamily="18" charset="0"/>
              <a:cs typeface="Times New Roman" panose="02020603050405020304" pitchFamily="18" charset="0"/>
              <a:sym typeface="Arial"/>
            </a:endParaRPr>
          </a:p>
        </p:txBody>
      </p:sp>
      <p:sp>
        <p:nvSpPr>
          <p:cNvPr id="166" name="Google Shape;166;p9"/>
          <p:cNvSpPr/>
          <p:nvPr/>
        </p:nvSpPr>
        <p:spPr>
          <a:xfrm>
            <a:off x="0" y="1643063"/>
            <a:ext cx="9144000" cy="642937"/>
          </a:xfrm>
          <a:prstGeom prst="rect">
            <a:avLst/>
          </a:prstGeom>
          <a:solidFill>
            <a:srgbClr val="1F497D"/>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167" name="Google Shape;167;p9"/>
          <p:cNvSpPr/>
          <p:nvPr/>
        </p:nvSpPr>
        <p:spPr>
          <a:xfrm>
            <a:off x="190500" y="1687513"/>
            <a:ext cx="8763000" cy="55403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lt1"/>
              </a:buClr>
              <a:buSzPts val="3000"/>
              <a:buFont typeface="Arial"/>
              <a:buNone/>
            </a:pPr>
            <a:r>
              <a:rPr lang="en-IN" sz="3000" b="1" dirty="0">
                <a:solidFill>
                  <a:schemeClr val="lt1"/>
                </a:solidFill>
                <a:latin typeface="Calibri"/>
                <a:ea typeface="Calibri"/>
                <a:cs typeface="Calibri"/>
                <a:sym typeface="Calibri"/>
              </a:rPr>
              <a:t>JPA</a:t>
            </a:r>
            <a:endParaRPr dirty="0"/>
          </a:p>
        </p:txBody>
      </p:sp>
      <p:sp>
        <p:nvSpPr>
          <p:cNvPr id="168" name="Google Shape;168;p9"/>
          <p:cNvSpPr/>
          <p:nvPr/>
        </p:nvSpPr>
        <p:spPr>
          <a:xfrm>
            <a:off x="6194425" y="6197600"/>
            <a:ext cx="2500313" cy="214313"/>
          </a:xfrm>
          <a:prstGeom prst="rect">
            <a:avLst/>
          </a:prstGeom>
          <a:solidFill>
            <a:srgbClr val="F2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169" name="Google Shape;169;p9"/>
          <p:cNvSpPr/>
          <p:nvPr/>
        </p:nvSpPr>
        <p:spPr>
          <a:xfrm flipH="1">
            <a:off x="6115050" y="6196013"/>
            <a:ext cx="46038" cy="214312"/>
          </a:xfrm>
          <a:prstGeom prst="rect">
            <a:avLst/>
          </a:prstGeom>
          <a:solidFill>
            <a:srgbClr val="F2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pic>
        <p:nvPicPr>
          <p:cNvPr id="2" name="Picture 12">
            <a:extLst>
              <a:ext uri="{FF2B5EF4-FFF2-40B4-BE49-F238E27FC236}">
                <a16:creationId xmlns:a16="http://schemas.microsoft.com/office/drawing/2014/main" id="{8EAE9F81-3928-1D54-190D-0F77B017D506}"/>
              </a:ext>
            </a:extLst>
          </p:cNvPr>
          <p:cNvPicPr>
            <a:picLocks noChangeAspect="1" noChangeArrowheads="1"/>
          </p:cNvPicPr>
          <p:nvPr/>
        </p:nvPicPr>
        <p:blipFill>
          <a:blip r:embed="rId5"/>
          <a:srcRect/>
          <a:stretch>
            <a:fillRect/>
          </a:stretch>
        </p:blipFill>
        <p:spPr bwMode="auto">
          <a:xfrm>
            <a:off x="381000" y="0"/>
            <a:ext cx="1524000" cy="1395413"/>
          </a:xfrm>
          <a:prstGeom prst="rect">
            <a:avLst/>
          </a:prstGeom>
          <a:noFill/>
          <a:ln w="9525">
            <a:noFill/>
            <a:miter lim="800000"/>
            <a:headEnd/>
            <a:tailEnd/>
          </a:ln>
        </p:spPr>
      </p:pic>
    </p:spTree>
    <p:extLst>
      <p:ext uri="{BB962C8B-B14F-4D97-AF65-F5344CB8AC3E}">
        <p14:creationId xmlns:p14="http://schemas.microsoft.com/office/powerpoint/2010/main" val="37499275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pic>
        <p:nvPicPr>
          <p:cNvPr id="163" name="Google Shape;163;p9" descr="C:\Users\parul\Desktop\Digital Learning Content.png"/>
          <p:cNvPicPr preferRelativeResize="0"/>
          <p:nvPr/>
        </p:nvPicPr>
        <p:blipFill rotWithShape="1">
          <a:blip r:embed="rId3">
            <a:alphaModFix/>
          </a:blip>
          <a:srcRect/>
          <a:stretch/>
        </p:blipFill>
        <p:spPr>
          <a:xfrm>
            <a:off x="0" y="0"/>
            <a:ext cx="9144000" cy="6900863"/>
          </a:xfrm>
          <a:prstGeom prst="rect">
            <a:avLst/>
          </a:prstGeom>
          <a:noFill/>
          <a:ln>
            <a:noFill/>
          </a:ln>
        </p:spPr>
      </p:pic>
      <p:pic>
        <p:nvPicPr>
          <p:cNvPr id="164" name="Google Shape;164;p9" descr="C:\Users\parul\Desktop\Untitled-1.png"/>
          <p:cNvPicPr preferRelativeResize="0"/>
          <p:nvPr/>
        </p:nvPicPr>
        <p:blipFill rotWithShape="1">
          <a:blip r:embed="rId4">
            <a:alphaModFix/>
          </a:blip>
          <a:srcRect/>
          <a:stretch/>
        </p:blipFill>
        <p:spPr>
          <a:xfrm>
            <a:off x="1857375" y="3071813"/>
            <a:ext cx="5430838" cy="2803525"/>
          </a:xfrm>
          <a:prstGeom prst="rect">
            <a:avLst/>
          </a:prstGeom>
          <a:noFill/>
          <a:ln>
            <a:noFill/>
          </a:ln>
        </p:spPr>
      </p:pic>
      <p:sp>
        <p:nvSpPr>
          <p:cNvPr id="165" name="Google Shape;165;p9"/>
          <p:cNvSpPr txBox="1"/>
          <p:nvPr/>
        </p:nvSpPr>
        <p:spPr>
          <a:xfrm>
            <a:off x="190500" y="2286000"/>
            <a:ext cx="8763000" cy="4401164"/>
          </a:xfrm>
          <a:prstGeom prst="rect">
            <a:avLst/>
          </a:prstGeom>
          <a:noFill/>
          <a:ln>
            <a:noFill/>
          </a:ln>
        </p:spPr>
        <p:txBody>
          <a:bodyPr spcFirstLastPara="1" wrap="square" lIns="91425" tIns="45700" rIns="91425" bIns="45700" anchor="t" anchorCtr="0">
            <a:spAutoFit/>
          </a:bodyPr>
          <a:lstStyle/>
          <a:p>
            <a:pPr algn="l"/>
            <a:r>
              <a:rPr lang="en-US" sz="2000" b="0" i="0" u="none" strike="noStrike" cap="none" dirty="0">
                <a:solidFill>
                  <a:schemeClr val="tx1"/>
                </a:solidFill>
                <a:latin typeface="Times New Roman" panose="02020603050405020304" pitchFamily="18" charset="0"/>
                <a:cs typeface="Times New Roman" panose="02020603050405020304" pitchFamily="18" charset="0"/>
                <a:sym typeface="Arial"/>
              </a:rPr>
              <a:t>1.Entity: An annotated Java class representing a table in the database.</a:t>
            </a:r>
          </a:p>
          <a:p>
            <a:pPr algn="l"/>
            <a:endParaRPr lang="en-US" sz="2000" b="0" i="0" u="none" strike="noStrike" cap="none" dirty="0">
              <a:solidFill>
                <a:schemeClr val="tx1"/>
              </a:solidFill>
              <a:latin typeface="Times New Roman" panose="02020603050405020304" pitchFamily="18" charset="0"/>
              <a:cs typeface="Times New Roman" panose="02020603050405020304" pitchFamily="18" charset="0"/>
              <a:sym typeface="Arial"/>
            </a:endParaRPr>
          </a:p>
          <a:p>
            <a:pPr algn="l"/>
            <a:r>
              <a:rPr lang="en-US" sz="2000" dirty="0">
                <a:solidFill>
                  <a:schemeClr val="tx1"/>
                </a:solidFill>
                <a:latin typeface="Times New Roman" panose="02020603050405020304" pitchFamily="18" charset="0"/>
                <a:cs typeface="Times New Roman" panose="02020603050405020304" pitchFamily="18" charset="0"/>
              </a:rPr>
              <a:t>2.EntityManager:The interface used to interact with the persistence context, Which manages the lifecycle of entities.</a:t>
            </a:r>
          </a:p>
          <a:p>
            <a:pPr algn="l"/>
            <a:endParaRPr lang="en-US" sz="2000" dirty="0">
              <a:solidFill>
                <a:schemeClr val="tx1"/>
              </a:solidFill>
              <a:latin typeface="Times New Roman" panose="02020603050405020304" pitchFamily="18" charset="0"/>
              <a:cs typeface="Times New Roman" panose="02020603050405020304" pitchFamily="18" charset="0"/>
            </a:endParaRPr>
          </a:p>
          <a:p>
            <a:pPr algn="l"/>
            <a:r>
              <a:rPr lang="en-US" sz="2000" b="0" i="0" u="none" strike="noStrike" cap="none" dirty="0">
                <a:solidFill>
                  <a:schemeClr val="tx1"/>
                </a:solidFill>
                <a:latin typeface="Times New Roman" panose="02020603050405020304" pitchFamily="18" charset="0"/>
                <a:cs typeface="Times New Roman" panose="02020603050405020304" pitchFamily="18" charset="0"/>
                <a:sym typeface="Arial"/>
              </a:rPr>
              <a:t>3. Persistence Unit: A set of entity classes that are managed together.</a:t>
            </a:r>
          </a:p>
          <a:p>
            <a:pPr algn="l"/>
            <a:endParaRPr lang="en-US" sz="2000" b="0" i="0" u="none" strike="noStrike" cap="none" dirty="0">
              <a:solidFill>
                <a:schemeClr val="tx1"/>
              </a:solidFill>
              <a:latin typeface="Times New Roman" panose="02020603050405020304" pitchFamily="18" charset="0"/>
              <a:cs typeface="Times New Roman" panose="02020603050405020304" pitchFamily="18" charset="0"/>
              <a:sym typeface="Arial"/>
            </a:endParaRPr>
          </a:p>
          <a:p>
            <a:pPr algn="l"/>
            <a:r>
              <a:rPr lang="en-US" sz="2000" dirty="0">
                <a:solidFill>
                  <a:schemeClr val="tx1"/>
                </a:solidFill>
                <a:latin typeface="Times New Roman" panose="02020603050405020304" pitchFamily="18" charset="0"/>
                <a:cs typeface="Times New Roman" panose="02020603050405020304" pitchFamily="18" charset="0"/>
              </a:rPr>
              <a:t>4.JPQL (Java Persistence Query Language): A query language similar to SQL but operates on java objects rather than database tables.</a:t>
            </a:r>
          </a:p>
          <a:p>
            <a:pPr algn="l"/>
            <a:endParaRPr lang="en-US" sz="2000" dirty="0">
              <a:solidFill>
                <a:schemeClr val="tx1"/>
              </a:solidFill>
              <a:latin typeface="Times New Roman" panose="02020603050405020304" pitchFamily="18" charset="0"/>
              <a:cs typeface="Times New Roman" panose="02020603050405020304" pitchFamily="18" charset="0"/>
            </a:endParaRPr>
          </a:p>
          <a:p>
            <a:pPr algn="l"/>
            <a:r>
              <a:rPr lang="en-US" sz="2000" b="0" i="0" u="none" strike="noStrike" cap="none" dirty="0">
                <a:solidFill>
                  <a:schemeClr val="tx1"/>
                </a:solidFill>
                <a:latin typeface="Times New Roman" panose="02020603050405020304" pitchFamily="18" charset="0"/>
                <a:cs typeface="Times New Roman" panose="02020603050405020304" pitchFamily="18" charset="0"/>
                <a:sym typeface="Arial"/>
              </a:rPr>
              <a:t>5.Transactions: </a:t>
            </a:r>
            <a:r>
              <a:rPr lang="en-US" sz="2000" dirty="0">
                <a:solidFill>
                  <a:schemeClr val="tx1"/>
                </a:solidFill>
                <a:latin typeface="Times New Roman" panose="02020603050405020304" pitchFamily="18" charset="0"/>
                <a:cs typeface="Times New Roman" panose="02020603050405020304" pitchFamily="18" charset="0"/>
              </a:rPr>
              <a:t>A set of operations performed on the database as a single unit of word ensuring data integrity.</a:t>
            </a:r>
          </a:p>
          <a:p>
            <a:pPr algn="l"/>
            <a:r>
              <a:rPr lang="en-US" sz="2000" b="0" i="0" u="none" strike="noStrike" cap="none" dirty="0">
                <a:solidFill>
                  <a:schemeClr val="tx1"/>
                </a:solidFill>
                <a:latin typeface="Times New Roman" panose="02020603050405020304" pitchFamily="18" charset="0"/>
                <a:cs typeface="Times New Roman" panose="02020603050405020304" pitchFamily="18" charset="0"/>
                <a:sym typeface="Arial"/>
              </a:rPr>
              <a:t>6.Annotation: J</a:t>
            </a:r>
            <a:r>
              <a:rPr lang="en-US" sz="2000" dirty="0">
                <a:solidFill>
                  <a:schemeClr val="tx1"/>
                </a:solidFill>
                <a:latin typeface="Times New Roman" panose="02020603050405020304" pitchFamily="18" charset="0"/>
                <a:cs typeface="Times New Roman" panose="02020603050405020304" pitchFamily="18" charset="0"/>
              </a:rPr>
              <a:t>PA  uses annotation like `@</a:t>
            </a:r>
            <a:r>
              <a:rPr lang="en-US" sz="2000" dirty="0" err="1">
                <a:solidFill>
                  <a:schemeClr val="tx1"/>
                </a:solidFill>
                <a:latin typeface="Times New Roman" panose="02020603050405020304" pitchFamily="18" charset="0"/>
                <a:cs typeface="Times New Roman" panose="02020603050405020304" pitchFamily="18" charset="0"/>
              </a:rPr>
              <a:t>Entity`,`@Id</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etc</a:t>
            </a:r>
            <a:r>
              <a:rPr lang="en-US" sz="2000" dirty="0">
                <a:solidFill>
                  <a:schemeClr val="tx1"/>
                </a:solidFill>
                <a:latin typeface="Times New Roman" panose="02020603050405020304" pitchFamily="18" charset="0"/>
                <a:cs typeface="Times New Roman" panose="02020603050405020304" pitchFamily="18" charset="0"/>
              </a:rPr>
              <a:t> to map java classes to database tables and define their properties.</a:t>
            </a:r>
            <a:endParaRPr lang="en-US" sz="2000" b="0" i="0" u="none" strike="noStrike" cap="none" dirty="0">
              <a:solidFill>
                <a:schemeClr val="tx1"/>
              </a:solidFill>
              <a:latin typeface="Times New Roman" panose="02020603050405020304" pitchFamily="18" charset="0"/>
              <a:cs typeface="Times New Roman" panose="02020603050405020304" pitchFamily="18" charset="0"/>
              <a:sym typeface="Arial"/>
            </a:endParaRPr>
          </a:p>
        </p:txBody>
      </p:sp>
      <p:sp>
        <p:nvSpPr>
          <p:cNvPr id="166" name="Google Shape;166;p9"/>
          <p:cNvSpPr/>
          <p:nvPr/>
        </p:nvSpPr>
        <p:spPr>
          <a:xfrm>
            <a:off x="0" y="1643063"/>
            <a:ext cx="9144000" cy="642937"/>
          </a:xfrm>
          <a:prstGeom prst="rect">
            <a:avLst/>
          </a:prstGeom>
          <a:solidFill>
            <a:srgbClr val="1F497D"/>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167" name="Google Shape;167;p9"/>
          <p:cNvSpPr/>
          <p:nvPr/>
        </p:nvSpPr>
        <p:spPr>
          <a:xfrm>
            <a:off x="190500" y="1687513"/>
            <a:ext cx="8763000" cy="55403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lt1"/>
              </a:buClr>
              <a:buSzPts val="3000"/>
              <a:buFont typeface="Arial"/>
              <a:buNone/>
            </a:pPr>
            <a:r>
              <a:rPr lang="en-IN" sz="3000" b="1" dirty="0">
                <a:solidFill>
                  <a:schemeClr val="lt1"/>
                </a:solidFill>
                <a:latin typeface="Calibri"/>
                <a:ea typeface="Calibri"/>
                <a:cs typeface="Calibri"/>
                <a:sym typeface="Calibri"/>
              </a:rPr>
              <a:t>Key Components of JPA</a:t>
            </a:r>
            <a:endParaRPr dirty="0"/>
          </a:p>
        </p:txBody>
      </p:sp>
      <p:sp>
        <p:nvSpPr>
          <p:cNvPr id="168" name="Google Shape;168;p9"/>
          <p:cNvSpPr/>
          <p:nvPr/>
        </p:nvSpPr>
        <p:spPr>
          <a:xfrm>
            <a:off x="6194425" y="6197600"/>
            <a:ext cx="2500313" cy="214313"/>
          </a:xfrm>
          <a:prstGeom prst="rect">
            <a:avLst/>
          </a:prstGeom>
          <a:solidFill>
            <a:srgbClr val="F2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169" name="Google Shape;169;p9"/>
          <p:cNvSpPr/>
          <p:nvPr/>
        </p:nvSpPr>
        <p:spPr>
          <a:xfrm flipH="1">
            <a:off x="6115050" y="6196013"/>
            <a:ext cx="46038" cy="214312"/>
          </a:xfrm>
          <a:prstGeom prst="rect">
            <a:avLst/>
          </a:prstGeom>
          <a:solidFill>
            <a:srgbClr val="F2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pic>
        <p:nvPicPr>
          <p:cNvPr id="4" name="Picture 12">
            <a:extLst>
              <a:ext uri="{FF2B5EF4-FFF2-40B4-BE49-F238E27FC236}">
                <a16:creationId xmlns:a16="http://schemas.microsoft.com/office/drawing/2014/main" id="{DCBE8399-5AD3-1C9D-794E-F4771A86D79E}"/>
              </a:ext>
            </a:extLst>
          </p:cNvPr>
          <p:cNvPicPr>
            <a:picLocks noChangeAspect="1" noChangeArrowheads="1"/>
          </p:cNvPicPr>
          <p:nvPr/>
        </p:nvPicPr>
        <p:blipFill>
          <a:blip r:embed="rId5"/>
          <a:srcRect/>
          <a:stretch>
            <a:fillRect/>
          </a:stretch>
        </p:blipFill>
        <p:spPr bwMode="auto">
          <a:xfrm>
            <a:off x="381000" y="0"/>
            <a:ext cx="1524000" cy="1395413"/>
          </a:xfrm>
          <a:prstGeom prst="rect">
            <a:avLst/>
          </a:prstGeom>
          <a:noFill/>
          <a:ln w="9525">
            <a:noFill/>
            <a:miter lim="800000"/>
            <a:headEnd/>
            <a:tailEnd/>
          </a:ln>
        </p:spPr>
      </p:pic>
    </p:spTree>
    <p:extLst>
      <p:ext uri="{BB962C8B-B14F-4D97-AF65-F5344CB8AC3E}">
        <p14:creationId xmlns:p14="http://schemas.microsoft.com/office/powerpoint/2010/main" val="29807181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pic>
        <p:nvPicPr>
          <p:cNvPr id="176" name="Google Shape;176;p10" descr="C:\Users\parul\Desktop\Digital Learning Content.png"/>
          <p:cNvPicPr preferRelativeResize="0"/>
          <p:nvPr/>
        </p:nvPicPr>
        <p:blipFill rotWithShape="1">
          <a:blip r:embed="rId3">
            <a:alphaModFix/>
          </a:blip>
          <a:srcRect/>
          <a:stretch/>
        </p:blipFill>
        <p:spPr>
          <a:xfrm>
            <a:off x="0" y="0"/>
            <a:ext cx="9144000" cy="6900863"/>
          </a:xfrm>
          <a:prstGeom prst="rect">
            <a:avLst/>
          </a:prstGeom>
          <a:noFill/>
          <a:ln>
            <a:noFill/>
          </a:ln>
        </p:spPr>
      </p:pic>
      <p:pic>
        <p:nvPicPr>
          <p:cNvPr id="177" name="Google Shape;177;p10" descr="C:\Users\parul\Desktop\Untitled-1.png"/>
          <p:cNvPicPr preferRelativeResize="0"/>
          <p:nvPr/>
        </p:nvPicPr>
        <p:blipFill rotWithShape="1">
          <a:blip r:embed="rId4">
            <a:alphaModFix/>
          </a:blip>
          <a:srcRect/>
          <a:stretch/>
        </p:blipFill>
        <p:spPr>
          <a:xfrm>
            <a:off x="1857375" y="3071813"/>
            <a:ext cx="5430838" cy="2803525"/>
          </a:xfrm>
          <a:prstGeom prst="rect">
            <a:avLst/>
          </a:prstGeom>
          <a:noFill/>
          <a:ln>
            <a:noFill/>
          </a:ln>
        </p:spPr>
      </p:pic>
      <p:sp>
        <p:nvSpPr>
          <p:cNvPr id="178" name="Google Shape;178;p10"/>
          <p:cNvSpPr txBox="1"/>
          <p:nvPr/>
        </p:nvSpPr>
        <p:spPr>
          <a:xfrm>
            <a:off x="190500" y="2286000"/>
            <a:ext cx="8629650" cy="3477835"/>
          </a:xfrm>
          <a:prstGeom prst="rect">
            <a:avLst/>
          </a:prstGeom>
          <a:noFill/>
          <a:ln>
            <a:noFill/>
          </a:ln>
        </p:spPr>
        <p:txBody>
          <a:bodyPr spcFirstLastPara="1" wrap="square" lIns="91425" tIns="45700" rIns="91425" bIns="45700" anchor="t" anchorCtr="0">
            <a:spAutoFit/>
          </a:bodyPr>
          <a:lstStyle/>
          <a:p>
            <a:pPr marL="342900" marR="0" lvl="0" indent="-342900" algn="just" rtl="0">
              <a:spcBef>
                <a:spcPts val="0"/>
              </a:spcBef>
              <a:spcAft>
                <a:spcPts val="0"/>
              </a:spcAft>
              <a:buClr>
                <a:schemeClr val="dk1"/>
              </a:buClr>
              <a:buSzPts val="2400"/>
              <a:buFont typeface="Arial"/>
              <a:buChar char="•"/>
            </a:pPr>
            <a:r>
              <a:rPr lang="en-IN" sz="2000" dirty="0">
                <a:latin typeface="Times New Roman" panose="02020603050405020304" pitchFamily="18" charset="0"/>
                <a:cs typeface="Times New Roman" panose="02020603050405020304" pitchFamily="18" charset="0"/>
              </a:rPr>
              <a:t>In Hibernate a generator class is a strategy used to generate unique identifiers for entities. Entities are objects that are persisted to a database using Hibernate. Each entity typically has a unique identifier to distinguish it from other entities of the same type.</a:t>
            </a:r>
          </a:p>
          <a:p>
            <a:pPr marL="342900" marR="0" lvl="0" indent="-342900" algn="just" rtl="0">
              <a:spcBef>
                <a:spcPts val="0"/>
              </a:spcBef>
              <a:spcAft>
                <a:spcPts val="0"/>
              </a:spcAft>
              <a:buClr>
                <a:schemeClr val="dk1"/>
              </a:buClr>
              <a:buSzPts val="2400"/>
              <a:buFont typeface="Arial"/>
              <a:buChar char="•"/>
            </a:pPr>
            <a:endParaRPr lang="en-IN" sz="2000" dirty="0">
              <a:latin typeface="Times New Roman" panose="02020603050405020304" pitchFamily="18" charset="0"/>
              <a:cs typeface="Times New Roman" panose="02020603050405020304" pitchFamily="18" charset="0"/>
            </a:endParaRPr>
          </a:p>
          <a:p>
            <a:pPr marL="342900" marR="0" lvl="0" indent="-342900" algn="just" rtl="0">
              <a:spcBef>
                <a:spcPts val="0"/>
              </a:spcBef>
              <a:spcAft>
                <a:spcPts val="0"/>
              </a:spcAft>
              <a:buClr>
                <a:schemeClr val="dk1"/>
              </a:buClr>
              <a:buSzPts val="2400"/>
              <a:buFont typeface="Arial"/>
              <a:buChar char="•"/>
            </a:pPr>
            <a:r>
              <a:rPr lang="en-IN" sz="2000" dirty="0">
                <a:latin typeface="Times New Roman" panose="02020603050405020304" pitchFamily="18" charset="0"/>
                <a:cs typeface="Times New Roman" panose="02020603050405020304" pitchFamily="18" charset="0"/>
              </a:rPr>
              <a:t>All Hibernate generator classes implements </a:t>
            </a:r>
            <a:r>
              <a:rPr lang="en-IN" sz="2000" dirty="0" err="1">
                <a:latin typeface="Times New Roman" panose="02020603050405020304" pitchFamily="18" charset="0"/>
                <a:cs typeface="Times New Roman" panose="02020603050405020304" pitchFamily="18" charset="0"/>
              </a:rPr>
              <a:t>hibernate.id.IdentifierGenerator</a:t>
            </a:r>
            <a:r>
              <a:rPr lang="en-IN" sz="2000" dirty="0">
                <a:latin typeface="Times New Roman" panose="02020603050405020304" pitchFamily="18" charset="0"/>
                <a:cs typeface="Times New Roman" panose="02020603050405020304" pitchFamily="18" charset="0"/>
              </a:rPr>
              <a:t> interface, and overrides the generate(</a:t>
            </a:r>
            <a:r>
              <a:rPr lang="en-IN" sz="2000" dirty="0" err="1">
                <a:latin typeface="Times New Roman" panose="02020603050405020304" pitchFamily="18" charset="0"/>
                <a:cs typeface="Times New Roman" panose="02020603050405020304" pitchFamily="18" charset="0"/>
              </a:rPr>
              <a:t>SessionImplementor</a:t>
            </a:r>
            <a:r>
              <a:rPr lang="en-IN" sz="2000" dirty="0">
                <a:latin typeface="Times New Roman" panose="02020603050405020304" pitchFamily="18" charset="0"/>
                <a:cs typeface="Times New Roman" panose="02020603050405020304" pitchFamily="18" charset="0"/>
              </a:rPr>
              <a:t>, Object) method to generate the identifier or primary key value. We can create our own generate the identifier or primary key value. We can create our own generator classes by implementing the </a:t>
            </a:r>
            <a:r>
              <a:rPr lang="en-IN" sz="2000" dirty="0" err="1">
                <a:latin typeface="Times New Roman" panose="02020603050405020304" pitchFamily="18" charset="0"/>
                <a:cs typeface="Times New Roman" panose="02020603050405020304" pitchFamily="18" charset="0"/>
              </a:rPr>
              <a:t>identifierGeneratoe</a:t>
            </a:r>
            <a:r>
              <a:rPr lang="en-IN" sz="2000" dirty="0">
                <a:latin typeface="Times New Roman" panose="02020603050405020304" pitchFamily="18" charset="0"/>
                <a:cs typeface="Times New Roman" panose="02020603050405020304" pitchFamily="18" charset="0"/>
              </a:rPr>
              <a:t> interface and by overriding the </a:t>
            </a:r>
            <a:r>
              <a:rPr lang="en-IN" sz="2000" dirty="0" err="1">
                <a:latin typeface="Times New Roman" panose="02020603050405020304" pitchFamily="18" charset="0"/>
                <a:cs typeface="Times New Roman" panose="02020603050405020304" pitchFamily="18" charset="0"/>
              </a:rPr>
              <a:t>generatoe</a:t>
            </a:r>
            <a:r>
              <a:rPr lang="en-IN" sz="2000" dirty="0">
                <a:latin typeface="Times New Roman" panose="02020603050405020304" pitchFamily="18" charset="0"/>
                <a:cs typeface="Times New Roman" panose="02020603050405020304" pitchFamily="18" charset="0"/>
              </a:rPr>
              <a:t>() method.</a:t>
            </a:r>
            <a:endParaRPr sz="2000" dirty="0">
              <a:latin typeface="Times New Roman" panose="02020603050405020304" pitchFamily="18" charset="0"/>
              <a:cs typeface="Times New Roman" panose="02020603050405020304" pitchFamily="18" charset="0"/>
            </a:endParaRPr>
          </a:p>
        </p:txBody>
      </p:sp>
      <p:sp>
        <p:nvSpPr>
          <p:cNvPr id="179" name="Google Shape;179;p10"/>
          <p:cNvSpPr/>
          <p:nvPr/>
        </p:nvSpPr>
        <p:spPr>
          <a:xfrm>
            <a:off x="0" y="1643063"/>
            <a:ext cx="9144000" cy="642937"/>
          </a:xfrm>
          <a:prstGeom prst="rect">
            <a:avLst/>
          </a:prstGeom>
          <a:solidFill>
            <a:srgbClr val="1F497D"/>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180" name="Google Shape;180;p10"/>
          <p:cNvSpPr/>
          <p:nvPr/>
        </p:nvSpPr>
        <p:spPr>
          <a:xfrm>
            <a:off x="190500" y="1687513"/>
            <a:ext cx="8763000" cy="55403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lt1"/>
              </a:buClr>
              <a:buSzPts val="3000"/>
              <a:buFont typeface="Arial"/>
              <a:buNone/>
            </a:pPr>
            <a:r>
              <a:rPr lang="en-IN" sz="3000" b="1" dirty="0">
                <a:solidFill>
                  <a:schemeClr val="lt1"/>
                </a:solidFill>
                <a:latin typeface="Calibri"/>
                <a:ea typeface="Calibri"/>
                <a:cs typeface="Calibri"/>
                <a:sym typeface="Calibri"/>
              </a:rPr>
              <a:t>Generator Class </a:t>
            </a:r>
            <a:endParaRPr dirty="0"/>
          </a:p>
        </p:txBody>
      </p:sp>
      <p:pic>
        <p:nvPicPr>
          <p:cNvPr id="2" name="Picture 12">
            <a:extLst>
              <a:ext uri="{FF2B5EF4-FFF2-40B4-BE49-F238E27FC236}">
                <a16:creationId xmlns:a16="http://schemas.microsoft.com/office/drawing/2014/main" id="{9D9EFF59-7D6D-985E-3076-AFAD2C75FA3F}"/>
              </a:ext>
            </a:extLst>
          </p:cNvPr>
          <p:cNvPicPr>
            <a:picLocks noChangeAspect="1" noChangeArrowheads="1"/>
          </p:cNvPicPr>
          <p:nvPr/>
        </p:nvPicPr>
        <p:blipFill>
          <a:blip r:embed="rId5"/>
          <a:srcRect/>
          <a:stretch>
            <a:fillRect/>
          </a:stretch>
        </p:blipFill>
        <p:spPr bwMode="auto">
          <a:xfrm>
            <a:off x="381000" y="0"/>
            <a:ext cx="1524000" cy="1395413"/>
          </a:xfrm>
          <a:prstGeom prst="rect">
            <a:avLst/>
          </a:prstGeom>
          <a:noFill/>
          <a:ln w="9525">
            <a:noFill/>
            <a:miter lim="800000"/>
            <a:headEnd/>
            <a:tailEnd/>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pic>
        <p:nvPicPr>
          <p:cNvPr id="176" name="Google Shape;176;p10" descr="C:\Users\parul\Desktop\Digital Learning Content.png"/>
          <p:cNvPicPr preferRelativeResize="0"/>
          <p:nvPr/>
        </p:nvPicPr>
        <p:blipFill rotWithShape="1">
          <a:blip r:embed="rId3">
            <a:alphaModFix/>
          </a:blip>
          <a:srcRect/>
          <a:stretch/>
        </p:blipFill>
        <p:spPr>
          <a:xfrm>
            <a:off x="0" y="0"/>
            <a:ext cx="9144000" cy="6900863"/>
          </a:xfrm>
          <a:prstGeom prst="rect">
            <a:avLst/>
          </a:prstGeom>
          <a:noFill/>
          <a:ln>
            <a:noFill/>
          </a:ln>
        </p:spPr>
      </p:pic>
      <p:pic>
        <p:nvPicPr>
          <p:cNvPr id="177" name="Google Shape;177;p10" descr="C:\Users\parul\Desktop\Untitled-1.png"/>
          <p:cNvPicPr preferRelativeResize="0"/>
          <p:nvPr/>
        </p:nvPicPr>
        <p:blipFill rotWithShape="1">
          <a:blip r:embed="rId4">
            <a:alphaModFix/>
          </a:blip>
          <a:srcRect/>
          <a:stretch/>
        </p:blipFill>
        <p:spPr>
          <a:xfrm>
            <a:off x="1857375" y="3071813"/>
            <a:ext cx="5430838" cy="2803525"/>
          </a:xfrm>
          <a:prstGeom prst="rect">
            <a:avLst/>
          </a:prstGeom>
          <a:noFill/>
          <a:ln>
            <a:noFill/>
          </a:ln>
        </p:spPr>
      </p:pic>
      <p:sp>
        <p:nvSpPr>
          <p:cNvPr id="178" name="Google Shape;178;p10"/>
          <p:cNvSpPr txBox="1"/>
          <p:nvPr/>
        </p:nvSpPr>
        <p:spPr>
          <a:xfrm>
            <a:off x="190500" y="2286000"/>
            <a:ext cx="8629650" cy="3785611"/>
          </a:xfrm>
          <a:prstGeom prst="rect">
            <a:avLst/>
          </a:prstGeom>
          <a:noFill/>
          <a:ln>
            <a:noFill/>
          </a:ln>
        </p:spPr>
        <p:txBody>
          <a:bodyPr spcFirstLastPara="1" wrap="square" lIns="91425" tIns="45700" rIns="91425" bIns="45700" anchor="t" anchorCtr="0">
            <a:spAutoFit/>
          </a:bodyPr>
          <a:lstStyle/>
          <a:p>
            <a:pPr marL="342900" marR="0" lvl="0" indent="-342900" algn="just" rtl="0">
              <a:spcBef>
                <a:spcPts val="0"/>
              </a:spcBef>
              <a:spcAft>
                <a:spcPts val="0"/>
              </a:spcAft>
              <a:buClr>
                <a:schemeClr val="dk1"/>
              </a:buClr>
              <a:buSzPts val="2400"/>
              <a:buFont typeface="Arial"/>
              <a:buChar char="•"/>
            </a:pPr>
            <a:r>
              <a:rPr lang="en-IN" sz="2000" dirty="0">
                <a:latin typeface="Times New Roman" panose="02020603050405020304" pitchFamily="18" charset="0"/>
                <a:cs typeface="Times New Roman" panose="02020603050405020304" pitchFamily="18" charset="0"/>
              </a:rPr>
              <a:t>Hibernate provides various generator classes, each with its own strategy for generating identifiers.</a:t>
            </a:r>
          </a:p>
          <a:p>
            <a:pPr marR="0" lvl="0" algn="just" rtl="0">
              <a:spcBef>
                <a:spcPts val="0"/>
              </a:spcBef>
              <a:spcAft>
                <a:spcPts val="0"/>
              </a:spcAft>
              <a:buClr>
                <a:schemeClr val="dk1"/>
              </a:buClr>
              <a:buSzPts val="2400"/>
            </a:pPr>
            <a:endParaRPr lang="en-IN" sz="2000" dirty="0">
              <a:latin typeface="Times New Roman" panose="02020603050405020304" pitchFamily="18" charset="0"/>
              <a:cs typeface="Times New Roman" panose="02020603050405020304" pitchFamily="18" charset="0"/>
            </a:endParaRPr>
          </a:p>
          <a:p>
            <a:pPr marL="457200" marR="0" lvl="0" indent="-457200" algn="just" rtl="0">
              <a:spcBef>
                <a:spcPts val="0"/>
              </a:spcBef>
              <a:spcAft>
                <a:spcPts val="0"/>
              </a:spcAft>
              <a:buClr>
                <a:schemeClr val="dk1"/>
              </a:buClr>
              <a:buSzPts val="2400"/>
              <a:buAutoNum type="arabicPeriod"/>
            </a:pPr>
            <a:r>
              <a:rPr lang="en-IN" sz="2000" dirty="0">
                <a:latin typeface="Times New Roman" panose="02020603050405020304" pitchFamily="18" charset="0"/>
                <a:cs typeface="Times New Roman" panose="02020603050405020304" pitchFamily="18" charset="0"/>
              </a:rPr>
              <a:t>Assigned</a:t>
            </a:r>
          </a:p>
          <a:p>
            <a:pPr marL="457200" marR="0" lvl="0" indent="-457200" algn="just" rtl="0">
              <a:spcBef>
                <a:spcPts val="0"/>
              </a:spcBef>
              <a:spcAft>
                <a:spcPts val="0"/>
              </a:spcAft>
              <a:buClr>
                <a:schemeClr val="dk1"/>
              </a:buClr>
              <a:buSzPts val="2400"/>
              <a:buAutoNum type="arabicPeriod"/>
            </a:pPr>
            <a:r>
              <a:rPr lang="en-IN" sz="2000" dirty="0">
                <a:latin typeface="Times New Roman" panose="02020603050405020304" pitchFamily="18" charset="0"/>
                <a:cs typeface="Times New Roman" panose="02020603050405020304" pitchFamily="18" charset="0"/>
              </a:rPr>
              <a:t>Identity</a:t>
            </a:r>
          </a:p>
          <a:p>
            <a:pPr marL="457200" marR="0" lvl="0" indent="-457200" algn="just" rtl="0">
              <a:spcBef>
                <a:spcPts val="0"/>
              </a:spcBef>
              <a:spcAft>
                <a:spcPts val="0"/>
              </a:spcAft>
              <a:buClr>
                <a:schemeClr val="dk1"/>
              </a:buClr>
              <a:buSzPts val="2400"/>
              <a:buAutoNum type="arabicPeriod"/>
            </a:pPr>
            <a:r>
              <a:rPr lang="en-IN" sz="2000" dirty="0">
                <a:latin typeface="Times New Roman" panose="02020603050405020304" pitchFamily="18" charset="0"/>
                <a:cs typeface="Times New Roman" panose="02020603050405020304" pitchFamily="18" charset="0"/>
              </a:rPr>
              <a:t>Sequence</a:t>
            </a:r>
          </a:p>
          <a:p>
            <a:pPr marL="457200" marR="0" lvl="0" indent="-457200" algn="just" rtl="0">
              <a:spcBef>
                <a:spcPts val="0"/>
              </a:spcBef>
              <a:spcAft>
                <a:spcPts val="0"/>
              </a:spcAft>
              <a:buClr>
                <a:schemeClr val="dk1"/>
              </a:buClr>
              <a:buSzPts val="2400"/>
              <a:buAutoNum type="arabicPeriod"/>
            </a:pPr>
            <a:r>
              <a:rPr lang="en-IN" sz="2000" dirty="0">
                <a:latin typeface="Times New Roman" panose="02020603050405020304" pitchFamily="18" charset="0"/>
                <a:cs typeface="Times New Roman" panose="02020603050405020304" pitchFamily="18" charset="0"/>
              </a:rPr>
              <a:t>Table</a:t>
            </a:r>
          </a:p>
          <a:p>
            <a:pPr marL="457200" marR="0" lvl="0" indent="-457200" algn="just" rtl="0">
              <a:spcBef>
                <a:spcPts val="0"/>
              </a:spcBef>
              <a:spcAft>
                <a:spcPts val="0"/>
              </a:spcAft>
              <a:buClr>
                <a:schemeClr val="dk1"/>
              </a:buClr>
              <a:buSzPts val="2400"/>
              <a:buAutoNum type="arabicPeriod"/>
            </a:pPr>
            <a:r>
              <a:rPr lang="en-IN" sz="2000" dirty="0">
                <a:latin typeface="Times New Roman" panose="02020603050405020304" pitchFamily="18" charset="0"/>
                <a:cs typeface="Times New Roman" panose="02020603050405020304" pitchFamily="18" charset="0"/>
              </a:rPr>
              <a:t>UUID</a:t>
            </a:r>
          </a:p>
          <a:p>
            <a:pPr marL="457200" marR="0" lvl="0" indent="-457200" algn="just" rtl="0">
              <a:spcBef>
                <a:spcPts val="0"/>
              </a:spcBef>
              <a:spcAft>
                <a:spcPts val="0"/>
              </a:spcAft>
              <a:buClr>
                <a:schemeClr val="dk1"/>
              </a:buClr>
              <a:buSzPts val="2400"/>
              <a:buAutoNum type="arabicPeriod"/>
            </a:pPr>
            <a:r>
              <a:rPr lang="en-IN" sz="2000" dirty="0">
                <a:latin typeface="Times New Roman" panose="02020603050405020304" pitchFamily="18" charset="0"/>
                <a:cs typeface="Times New Roman" panose="02020603050405020304" pitchFamily="18" charset="0"/>
              </a:rPr>
              <a:t>Foreign</a:t>
            </a:r>
          </a:p>
          <a:p>
            <a:pPr marL="457200" marR="0" lvl="0" indent="-457200" algn="just" rtl="0">
              <a:spcBef>
                <a:spcPts val="0"/>
              </a:spcBef>
              <a:spcAft>
                <a:spcPts val="0"/>
              </a:spcAft>
              <a:buClr>
                <a:schemeClr val="dk1"/>
              </a:buClr>
              <a:buSzPts val="2400"/>
              <a:buAutoNum type="arabicPeriod"/>
            </a:pPr>
            <a:r>
              <a:rPr lang="en-IN" sz="2000" dirty="0">
                <a:latin typeface="Times New Roman" panose="02020603050405020304" pitchFamily="18" charset="0"/>
                <a:cs typeface="Times New Roman" panose="02020603050405020304" pitchFamily="18" charset="0"/>
              </a:rPr>
              <a:t>Increment</a:t>
            </a:r>
          </a:p>
          <a:p>
            <a:pPr marL="457200" marR="0" lvl="0" indent="-457200" algn="just" rtl="0">
              <a:spcBef>
                <a:spcPts val="0"/>
              </a:spcBef>
              <a:spcAft>
                <a:spcPts val="0"/>
              </a:spcAft>
              <a:buClr>
                <a:schemeClr val="dk1"/>
              </a:buClr>
              <a:buSzPts val="2400"/>
              <a:buAutoNum type="arabicPeriod"/>
            </a:pPr>
            <a:r>
              <a:rPr lang="en-IN" sz="2000" dirty="0">
                <a:latin typeface="Times New Roman" panose="02020603050405020304" pitchFamily="18" charset="0"/>
                <a:cs typeface="Times New Roman" panose="02020603050405020304" pitchFamily="18" charset="0"/>
              </a:rPr>
              <a:t>Sequence</a:t>
            </a:r>
          </a:p>
          <a:p>
            <a:pPr marR="0" lvl="0" algn="just" rtl="0">
              <a:spcBef>
                <a:spcPts val="0"/>
              </a:spcBef>
              <a:spcAft>
                <a:spcPts val="0"/>
              </a:spcAft>
              <a:buClr>
                <a:schemeClr val="dk1"/>
              </a:buClr>
              <a:buSzPts val="2400"/>
            </a:pPr>
            <a:r>
              <a:rPr lang="en-IN" sz="2000" dirty="0">
                <a:latin typeface="Times New Roman" panose="02020603050405020304" pitchFamily="18" charset="0"/>
                <a:cs typeface="Times New Roman" panose="02020603050405020304" pitchFamily="18" charset="0"/>
              </a:rPr>
              <a:t>       etc……</a:t>
            </a:r>
          </a:p>
        </p:txBody>
      </p:sp>
      <p:sp>
        <p:nvSpPr>
          <p:cNvPr id="179" name="Google Shape;179;p10"/>
          <p:cNvSpPr/>
          <p:nvPr/>
        </p:nvSpPr>
        <p:spPr>
          <a:xfrm>
            <a:off x="0" y="1643063"/>
            <a:ext cx="9144000" cy="642937"/>
          </a:xfrm>
          <a:prstGeom prst="rect">
            <a:avLst/>
          </a:prstGeom>
          <a:solidFill>
            <a:srgbClr val="1F497D"/>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180" name="Google Shape;180;p10"/>
          <p:cNvSpPr/>
          <p:nvPr/>
        </p:nvSpPr>
        <p:spPr>
          <a:xfrm>
            <a:off x="190500" y="1687513"/>
            <a:ext cx="8763000" cy="55403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lt1"/>
              </a:buClr>
              <a:buSzPts val="3000"/>
              <a:buFont typeface="Arial"/>
              <a:buNone/>
            </a:pPr>
            <a:r>
              <a:rPr lang="en-IN" sz="3000" b="1" dirty="0">
                <a:solidFill>
                  <a:schemeClr val="lt1"/>
                </a:solidFill>
                <a:latin typeface="Calibri"/>
                <a:ea typeface="Calibri"/>
                <a:cs typeface="Calibri"/>
                <a:sym typeface="Calibri"/>
              </a:rPr>
              <a:t>Generator Class </a:t>
            </a:r>
            <a:endParaRPr dirty="0"/>
          </a:p>
        </p:txBody>
      </p:sp>
      <p:pic>
        <p:nvPicPr>
          <p:cNvPr id="2" name="Picture 12">
            <a:extLst>
              <a:ext uri="{FF2B5EF4-FFF2-40B4-BE49-F238E27FC236}">
                <a16:creationId xmlns:a16="http://schemas.microsoft.com/office/drawing/2014/main" id="{3C4BC8E9-8FF7-F741-F2B5-1ADF1A48B6BF}"/>
              </a:ext>
            </a:extLst>
          </p:cNvPr>
          <p:cNvPicPr>
            <a:picLocks noChangeAspect="1" noChangeArrowheads="1"/>
          </p:cNvPicPr>
          <p:nvPr/>
        </p:nvPicPr>
        <p:blipFill>
          <a:blip r:embed="rId5"/>
          <a:srcRect/>
          <a:stretch>
            <a:fillRect/>
          </a:stretch>
        </p:blipFill>
        <p:spPr bwMode="auto">
          <a:xfrm>
            <a:off x="381000" y="0"/>
            <a:ext cx="1524000" cy="1395413"/>
          </a:xfrm>
          <a:prstGeom prst="rect">
            <a:avLst/>
          </a:prstGeom>
          <a:noFill/>
          <a:ln w="9525">
            <a:noFill/>
            <a:miter lim="800000"/>
            <a:headEnd/>
            <a:tailEnd/>
          </a:ln>
        </p:spPr>
      </p:pic>
    </p:spTree>
    <p:extLst>
      <p:ext uri="{BB962C8B-B14F-4D97-AF65-F5344CB8AC3E}">
        <p14:creationId xmlns:p14="http://schemas.microsoft.com/office/powerpoint/2010/main" val="42769218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pic>
        <p:nvPicPr>
          <p:cNvPr id="176" name="Google Shape;176;p10" descr="C:\Users\parul\Desktop\Digital Learning Content.png"/>
          <p:cNvPicPr preferRelativeResize="0"/>
          <p:nvPr/>
        </p:nvPicPr>
        <p:blipFill rotWithShape="1">
          <a:blip r:embed="rId3">
            <a:alphaModFix/>
          </a:blip>
          <a:srcRect/>
          <a:stretch/>
        </p:blipFill>
        <p:spPr>
          <a:xfrm>
            <a:off x="0" y="0"/>
            <a:ext cx="9144000" cy="6900863"/>
          </a:xfrm>
          <a:prstGeom prst="rect">
            <a:avLst/>
          </a:prstGeom>
          <a:noFill/>
          <a:ln>
            <a:noFill/>
          </a:ln>
        </p:spPr>
      </p:pic>
      <p:pic>
        <p:nvPicPr>
          <p:cNvPr id="177" name="Google Shape;177;p10" descr="C:\Users\parul\Desktop\Untitled-1.png"/>
          <p:cNvPicPr preferRelativeResize="0"/>
          <p:nvPr/>
        </p:nvPicPr>
        <p:blipFill rotWithShape="1">
          <a:blip r:embed="rId4">
            <a:alphaModFix/>
          </a:blip>
          <a:srcRect/>
          <a:stretch/>
        </p:blipFill>
        <p:spPr>
          <a:xfrm>
            <a:off x="1857375" y="3071813"/>
            <a:ext cx="5430838" cy="2803525"/>
          </a:xfrm>
          <a:prstGeom prst="rect">
            <a:avLst/>
          </a:prstGeom>
          <a:noFill/>
          <a:ln>
            <a:noFill/>
          </a:ln>
        </p:spPr>
      </p:pic>
      <p:sp>
        <p:nvSpPr>
          <p:cNvPr id="178" name="Google Shape;178;p10"/>
          <p:cNvSpPr txBox="1"/>
          <p:nvPr/>
        </p:nvSpPr>
        <p:spPr>
          <a:xfrm>
            <a:off x="190500" y="2286000"/>
            <a:ext cx="8629650" cy="1631175"/>
          </a:xfrm>
          <a:prstGeom prst="rect">
            <a:avLst/>
          </a:prstGeom>
          <a:noFill/>
          <a:ln>
            <a:noFill/>
          </a:ln>
        </p:spPr>
        <p:txBody>
          <a:bodyPr spcFirstLastPara="1" wrap="square" lIns="91425" tIns="45700" rIns="91425" bIns="45700" anchor="t" anchorCtr="0">
            <a:spAutoFit/>
          </a:bodyPr>
          <a:lstStyle/>
          <a:p>
            <a:pPr marL="342900" marR="0" lvl="0" indent="-342900" algn="just" rtl="0">
              <a:spcBef>
                <a:spcPts val="0"/>
              </a:spcBef>
              <a:spcAft>
                <a:spcPts val="0"/>
              </a:spcAft>
              <a:buClr>
                <a:schemeClr val="dk1"/>
              </a:buClr>
              <a:buSzPts val="2400"/>
              <a:buFont typeface="Arial"/>
              <a:buChar char="•"/>
            </a:pPr>
            <a:r>
              <a:rPr lang="en-IN" sz="2000" dirty="0">
                <a:latin typeface="Times New Roman" panose="02020603050405020304" pitchFamily="18" charset="0"/>
                <a:cs typeface="Times New Roman" panose="02020603050405020304" pitchFamily="18" charset="0"/>
              </a:rPr>
              <a:t>Assigned:- The `assigned` generator call in Hibernate allows the application to assign identifiers to entities before saving them to the database. This means that the entity objects must have their identifiers values set before persisting them using Hibernate. It is the default generator strategy if there is no &lt;generator&gt; element. In this case, application assigns the id.</a:t>
            </a:r>
          </a:p>
        </p:txBody>
      </p:sp>
      <p:sp>
        <p:nvSpPr>
          <p:cNvPr id="179" name="Google Shape;179;p10"/>
          <p:cNvSpPr/>
          <p:nvPr/>
        </p:nvSpPr>
        <p:spPr>
          <a:xfrm>
            <a:off x="0" y="1643063"/>
            <a:ext cx="9144000" cy="642937"/>
          </a:xfrm>
          <a:prstGeom prst="rect">
            <a:avLst/>
          </a:prstGeom>
          <a:solidFill>
            <a:srgbClr val="1F497D"/>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180" name="Google Shape;180;p10"/>
          <p:cNvSpPr/>
          <p:nvPr/>
        </p:nvSpPr>
        <p:spPr>
          <a:xfrm>
            <a:off x="190500" y="1687513"/>
            <a:ext cx="8763000" cy="55403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lt1"/>
              </a:buClr>
              <a:buSzPts val="3000"/>
              <a:buFont typeface="Arial"/>
              <a:buNone/>
            </a:pPr>
            <a:r>
              <a:rPr lang="en-IN" sz="3000" b="1" dirty="0">
                <a:solidFill>
                  <a:schemeClr val="lt1"/>
                </a:solidFill>
                <a:latin typeface="Calibri"/>
                <a:ea typeface="Calibri"/>
                <a:cs typeface="Calibri"/>
                <a:sym typeface="Calibri"/>
              </a:rPr>
              <a:t>Assigned Generator Class </a:t>
            </a:r>
            <a:endParaRPr dirty="0"/>
          </a:p>
        </p:txBody>
      </p:sp>
      <p:pic>
        <p:nvPicPr>
          <p:cNvPr id="2" name="Picture 12">
            <a:extLst>
              <a:ext uri="{FF2B5EF4-FFF2-40B4-BE49-F238E27FC236}">
                <a16:creationId xmlns:a16="http://schemas.microsoft.com/office/drawing/2014/main" id="{2B72CA93-22C5-11D7-960E-D4D08897F81C}"/>
              </a:ext>
            </a:extLst>
          </p:cNvPr>
          <p:cNvPicPr>
            <a:picLocks noChangeAspect="1" noChangeArrowheads="1"/>
          </p:cNvPicPr>
          <p:nvPr/>
        </p:nvPicPr>
        <p:blipFill>
          <a:blip r:embed="rId5"/>
          <a:srcRect/>
          <a:stretch>
            <a:fillRect/>
          </a:stretch>
        </p:blipFill>
        <p:spPr bwMode="auto">
          <a:xfrm>
            <a:off x="381000" y="0"/>
            <a:ext cx="1524000" cy="1395413"/>
          </a:xfrm>
          <a:prstGeom prst="rect">
            <a:avLst/>
          </a:prstGeom>
          <a:noFill/>
          <a:ln w="9525">
            <a:noFill/>
            <a:miter lim="800000"/>
            <a:headEnd/>
            <a:tailEnd/>
          </a:ln>
        </p:spPr>
      </p:pic>
    </p:spTree>
    <p:extLst>
      <p:ext uri="{BB962C8B-B14F-4D97-AF65-F5344CB8AC3E}">
        <p14:creationId xmlns:p14="http://schemas.microsoft.com/office/powerpoint/2010/main" val="5901552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pic>
        <p:nvPicPr>
          <p:cNvPr id="176" name="Google Shape;176;p10" descr="C:\Users\parul\Desktop\Digital Learning Content.png"/>
          <p:cNvPicPr preferRelativeResize="0"/>
          <p:nvPr/>
        </p:nvPicPr>
        <p:blipFill rotWithShape="1">
          <a:blip r:embed="rId3">
            <a:alphaModFix/>
          </a:blip>
          <a:srcRect/>
          <a:stretch/>
        </p:blipFill>
        <p:spPr>
          <a:xfrm>
            <a:off x="0" y="0"/>
            <a:ext cx="9144000" cy="6900863"/>
          </a:xfrm>
          <a:prstGeom prst="rect">
            <a:avLst/>
          </a:prstGeom>
          <a:noFill/>
          <a:ln>
            <a:noFill/>
          </a:ln>
        </p:spPr>
      </p:pic>
      <p:pic>
        <p:nvPicPr>
          <p:cNvPr id="177" name="Google Shape;177;p10" descr="C:\Users\parul\Desktop\Untitled-1.png"/>
          <p:cNvPicPr preferRelativeResize="0"/>
          <p:nvPr/>
        </p:nvPicPr>
        <p:blipFill rotWithShape="1">
          <a:blip r:embed="rId4">
            <a:alphaModFix/>
          </a:blip>
          <a:srcRect/>
          <a:stretch/>
        </p:blipFill>
        <p:spPr>
          <a:xfrm>
            <a:off x="1857375" y="3071813"/>
            <a:ext cx="5430838" cy="2803525"/>
          </a:xfrm>
          <a:prstGeom prst="rect">
            <a:avLst/>
          </a:prstGeom>
          <a:noFill/>
          <a:ln>
            <a:noFill/>
          </a:ln>
        </p:spPr>
      </p:pic>
      <p:sp>
        <p:nvSpPr>
          <p:cNvPr id="178" name="Google Shape;178;p10"/>
          <p:cNvSpPr txBox="1"/>
          <p:nvPr/>
        </p:nvSpPr>
        <p:spPr>
          <a:xfrm>
            <a:off x="190500" y="2286000"/>
            <a:ext cx="8629650" cy="3477835"/>
          </a:xfrm>
          <a:prstGeom prst="rect">
            <a:avLst/>
          </a:prstGeom>
          <a:noFill/>
          <a:ln>
            <a:noFill/>
          </a:ln>
        </p:spPr>
        <p:txBody>
          <a:bodyPr spcFirstLastPara="1" wrap="square" lIns="91425" tIns="45700" rIns="91425" bIns="45700" anchor="t" anchorCtr="0">
            <a:spAutoFit/>
          </a:bodyPr>
          <a:lstStyle/>
          <a:p>
            <a:pPr marL="342900" marR="0" lvl="0" indent="-342900" algn="just" rtl="0">
              <a:spcBef>
                <a:spcPts val="0"/>
              </a:spcBef>
              <a:spcAft>
                <a:spcPts val="0"/>
              </a:spcAft>
              <a:buClr>
                <a:schemeClr val="dk1"/>
              </a:buClr>
              <a:buSzPts val="2400"/>
              <a:buFont typeface="Arial"/>
              <a:buChar char="•"/>
            </a:pPr>
            <a:r>
              <a:rPr lang="en-IN" sz="2000" dirty="0">
                <a:latin typeface="Times New Roman" panose="02020603050405020304" pitchFamily="18" charset="0"/>
                <a:cs typeface="Times New Roman" panose="02020603050405020304" pitchFamily="18" charset="0"/>
              </a:rPr>
              <a:t>Here’s how you might use the `assigned` generator class in Hibernate mapping file (XML).</a:t>
            </a:r>
          </a:p>
          <a:p>
            <a:pPr marL="342900" marR="0" lvl="0" indent="-342900" algn="just" rtl="0">
              <a:spcBef>
                <a:spcPts val="0"/>
              </a:spcBef>
              <a:spcAft>
                <a:spcPts val="0"/>
              </a:spcAft>
              <a:buClr>
                <a:schemeClr val="dk1"/>
              </a:buClr>
              <a:buSzPts val="2400"/>
              <a:buFont typeface="Arial"/>
              <a:buChar char="•"/>
            </a:pPr>
            <a:endParaRPr lang="en-IN" sz="2000" dirty="0">
              <a:latin typeface="Times New Roman" panose="02020603050405020304" pitchFamily="18" charset="0"/>
              <a:cs typeface="Times New Roman" panose="02020603050405020304" pitchFamily="18" charset="0"/>
            </a:endParaRPr>
          </a:p>
          <a:p>
            <a:pPr marL="342900" marR="0" lvl="0" indent="-342900" algn="just" rtl="0">
              <a:spcBef>
                <a:spcPts val="0"/>
              </a:spcBef>
              <a:spcAft>
                <a:spcPts val="0"/>
              </a:spcAft>
              <a:buClr>
                <a:schemeClr val="dk1"/>
              </a:buClr>
              <a:buSzPts val="2400"/>
              <a:buFont typeface="Arial"/>
              <a:buChar char="•"/>
            </a:pPr>
            <a:r>
              <a:rPr lang="en-US" sz="2000" dirty="0">
                <a:latin typeface="Times New Roman" panose="02020603050405020304" pitchFamily="18" charset="0"/>
                <a:cs typeface="Times New Roman" panose="02020603050405020304" pitchFamily="18" charset="0"/>
              </a:rPr>
              <a:t>&lt;class name="Employee" table="employees"&gt;</a:t>
            </a:r>
          </a:p>
          <a:p>
            <a:pPr marL="342900" marR="0" lvl="0" indent="-342900" algn="just" rtl="0">
              <a:spcBef>
                <a:spcPts val="0"/>
              </a:spcBef>
              <a:spcAft>
                <a:spcPts val="0"/>
              </a:spcAft>
              <a:buClr>
                <a:schemeClr val="dk1"/>
              </a:buClr>
              <a:buSzPts val="2400"/>
              <a:buFont typeface="Arial"/>
              <a:buChar char="•"/>
            </a:pPr>
            <a:r>
              <a:rPr lang="en-US" sz="2000" dirty="0">
                <a:latin typeface="Times New Roman" panose="02020603050405020304" pitchFamily="18" charset="0"/>
                <a:cs typeface="Times New Roman" panose="02020603050405020304" pitchFamily="18" charset="0"/>
              </a:rPr>
              <a:t>    &lt;id name="id"&gt;</a:t>
            </a:r>
          </a:p>
          <a:p>
            <a:pPr marL="342900" marR="0" lvl="0" indent="-342900" algn="just" rtl="0">
              <a:spcBef>
                <a:spcPts val="0"/>
              </a:spcBef>
              <a:spcAft>
                <a:spcPts val="0"/>
              </a:spcAft>
              <a:buClr>
                <a:schemeClr val="dk1"/>
              </a:buClr>
              <a:buSzPts val="2400"/>
              <a:buFont typeface="Arial"/>
              <a:buChar char="•"/>
            </a:pPr>
            <a:r>
              <a:rPr lang="en-US" sz="2000" dirty="0">
                <a:latin typeface="Times New Roman" panose="02020603050405020304" pitchFamily="18" charset="0"/>
                <a:cs typeface="Times New Roman" panose="02020603050405020304" pitchFamily="18" charset="0"/>
              </a:rPr>
              <a:t>        &lt;generator class="assigned"/&gt;</a:t>
            </a:r>
          </a:p>
          <a:p>
            <a:pPr marL="342900" marR="0" lvl="0" indent="-342900" algn="just" rtl="0">
              <a:spcBef>
                <a:spcPts val="0"/>
              </a:spcBef>
              <a:spcAft>
                <a:spcPts val="0"/>
              </a:spcAft>
              <a:buClr>
                <a:schemeClr val="dk1"/>
              </a:buClr>
              <a:buSzPts val="2400"/>
              <a:buFont typeface="Arial"/>
              <a:buChar char="•"/>
            </a:pPr>
            <a:r>
              <a:rPr lang="en-US" sz="2000" dirty="0">
                <a:latin typeface="Times New Roman" panose="02020603050405020304" pitchFamily="18" charset="0"/>
                <a:cs typeface="Times New Roman" panose="02020603050405020304" pitchFamily="18" charset="0"/>
              </a:rPr>
              <a:t>    &lt;/id&gt;</a:t>
            </a:r>
          </a:p>
          <a:p>
            <a:pPr marL="342900" marR="0" lvl="0" indent="-342900" algn="just" rtl="0">
              <a:spcBef>
                <a:spcPts val="0"/>
              </a:spcBef>
              <a:spcAft>
                <a:spcPts val="0"/>
              </a:spcAft>
              <a:buClr>
                <a:schemeClr val="dk1"/>
              </a:buClr>
              <a:buSzPts val="2400"/>
              <a:buFont typeface="Arial"/>
              <a:buChar char="•"/>
            </a:pPr>
            <a:r>
              <a:rPr lang="en-US" sz="2000" dirty="0">
                <a:latin typeface="Times New Roman" panose="02020603050405020304" pitchFamily="18" charset="0"/>
                <a:cs typeface="Times New Roman" panose="02020603050405020304" pitchFamily="18" charset="0"/>
              </a:rPr>
              <a:t>    &lt;property name="name"/&gt;</a:t>
            </a:r>
          </a:p>
          <a:p>
            <a:pPr marL="342900" marR="0" lvl="0" indent="-342900" algn="just" rtl="0">
              <a:spcBef>
                <a:spcPts val="0"/>
              </a:spcBef>
              <a:spcAft>
                <a:spcPts val="0"/>
              </a:spcAft>
              <a:buClr>
                <a:schemeClr val="dk1"/>
              </a:buClr>
              <a:buSzPts val="2400"/>
              <a:buFont typeface="Arial"/>
              <a:buChar char="•"/>
            </a:pPr>
            <a:r>
              <a:rPr lang="en-US" sz="2000" dirty="0">
                <a:latin typeface="Times New Roman" panose="02020603050405020304" pitchFamily="18" charset="0"/>
                <a:cs typeface="Times New Roman" panose="02020603050405020304" pitchFamily="18" charset="0"/>
              </a:rPr>
              <a:t>    &lt;!-- other properties --&gt;</a:t>
            </a:r>
          </a:p>
          <a:p>
            <a:pPr marL="342900" marR="0" lvl="0" indent="-342900" algn="just" rtl="0">
              <a:spcBef>
                <a:spcPts val="0"/>
              </a:spcBef>
              <a:spcAft>
                <a:spcPts val="0"/>
              </a:spcAft>
              <a:buClr>
                <a:schemeClr val="dk1"/>
              </a:buClr>
              <a:buSzPts val="2400"/>
              <a:buFont typeface="Arial"/>
              <a:buChar char="•"/>
            </a:pPr>
            <a:r>
              <a:rPr lang="en-US" sz="2000" dirty="0">
                <a:latin typeface="Times New Roman" panose="02020603050405020304" pitchFamily="18" charset="0"/>
                <a:cs typeface="Times New Roman" panose="02020603050405020304" pitchFamily="18" charset="0"/>
              </a:rPr>
              <a:t>&lt;/class&gt;</a:t>
            </a:r>
          </a:p>
          <a:p>
            <a:pPr marL="342900" marR="0" lvl="0" indent="-342900" algn="just" rtl="0">
              <a:spcBef>
                <a:spcPts val="0"/>
              </a:spcBef>
              <a:spcAft>
                <a:spcPts val="0"/>
              </a:spcAft>
              <a:buClr>
                <a:schemeClr val="dk1"/>
              </a:buClr>
              <a:buSzPts val="2400"/>
              <a:buFont typeface="Arial"/>
              <a:buChar char="•"/>
            </a:pPr>
            <a:endParaRPr lang="en-IN" sz="2000" dirty="0">
              <a:latin typeface="Times New Roman" panose="02020603050405020304" pitchFamily="18" charset="0"/>
              <a:cs typeface="Times New Roman" panose="02020603050405020304" pitchFamily="18" charset="0"/>
            </a:endParaRPr>
          </a:p>
        </p:txBody>
      </p:sp>
      <p:sp>
        <p:nvSpPr>
          <p:cNvPr id="179" name="Google Shape;179;p10"/>
          <p:cNvSpPr/>
          <p:nvPr/>
        </p:nvSpPr>
        <p:spPr>
          <a:xfrm>
            <a:off x="0" y="1643063"/>
            <a:ext cx="9144000" cy="642937"/>
          </a:xfrm>
          <a:prstGeom prst="rect">
            <a:avLst/>
          </a:prstGeom>
          <a:solidFill>
            <a:srgbClr val="1F497D"/>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180" name="Google Shape;180;p10"/>
          <p:cNvSpPr/>
          <p:nvPr/>
        </p:nvSpPr>
        <p:spPr>
          <a:xfrm>
            <a:off x="190500" y="1687513"/>
            <a:ext cx="8763000" cy="55403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lt1"/>
              </a:buClr>
              <a:buSzPts val="3000"/>
              <a:buFont typeface="Arial"/>
              <a:buNone/>
            </a:pPr>
            <a:r>
              <a:rPr lang="en-IN" sz="3000" b="1" dirty="0">
                <a:solidFill>
                  <a:schemeClr val="lt1"/>
                </a:solidFill>
                <a:latin typeface="Calibri"/>
                <a:ea typeface="Calibri"/>
                <a:cs typeface="Calibri"/>
                <a:sym typeface="Calibri"/>
              </a:rPr>
              <a:t>Assigned Generator Class </a:t>
            </a:r>
            <a:endParaRPr dirty="0"/>
          </a:p>
        </p:txBody>
      </p:sp>
      <p:pic>
        <p:nvPicPr>
          <p:cNvPr id="2" name="Picture 12">
            <a:extLst>
              <a:ext uri="{FF2B5EF4-FFF2-40B4-BE49-F238E27FC236}">
                <a16:creationId xmlns:a16="http://schemas.microsoft.com/office/drawing/2014/main" id="{B914447F-8B94-0EE3-210E-2A01AC341E60}"/>
              </a:ext>
            </a:extLst>
          </p:cNvPr>
          <p:cNvPicPr>
            <a:picLocks noChangeAspect="1" noChangeArrowheads="1"/>
          </p:cNvPicPr>
          <p:nvPr/>
        </p:nvPicPr>
        <p:blipFill>
          <a:blip r:embed="rId5"/>
          <a:srcRect/>
          <a:stretch>
            <a:fillRect/>
          </a:stretch>
        </p:blipFill>
        <p:spPr bwMode="auto">
          <a:xfrm>
            <a:off x="381000" y="0"/>
            <a:ext cx="1524000" cy="1395413"/>
          </a:xfrm>
          <a:prstGeom prst="rect">
            <a:avLst/>
          </a:prstGeom>
          <a:noFill/>
          <a:ln w="9525">
            <a:noFill/>
            <a:miter lim="800000"/>
            <a:headEnd/>
            <a:tailEnd/>
          </a:ln>
        </p:spPr>
      </p:pic>
    </p:spTree>
    <p:extLst>
      <p:ext uri="{BB962C8B-B14F-4D97-AF65-F5344CB8AC3E}">
        <p14:creationId xmlns:p14="http://schemas.microsoft.com/office/powerpoint/2010/main" val="17577677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pic>
        <p:nvPicPr>
          <p:cNvPr id="176" name="Google Shape;176;p10" descr="C:\Users\parul\Desktop\Digital Learning Content.png"/>
          <p:cNvPicPr preferRelativeResize="0"/>
          <p:nvPr/>
        </p:nvPicPr>
        <p:blipFill rotWithShape="1">
          <a:blip r:embed="rId3">
            <a:alphaModFix/>
          </a:blip>
          <a:srcRect/>
          <a:stretch/>
        </p:blipFill>
        <p:spPr>
          <a:xfrm>
            <a:off x="0" y="0"/>
            <a:ext cx="9144000" cy="6900863"/>
          </a:xfrm>
          <a:prstGeom prst="rect">
            <a:avLst/>
          </a:prstGeom>
          <a:noFill/>
          <a:ln>
            <a:noFill/>
          </a:ln>
        </p:spPr>
      </p:pic>
      <p:pic>
        <p:nvPicPr>
          <p:cNvPr id="177" name="Google Shape;177;p10" descr="C:\Users\parul\Desktop\Untitled-1.png"/>
          <p:cNvPicPr preferRelativeResize="0"/>
          <p:nvPr/>
        </p:nvPicPr>
        <p:blipFill rotWithShape="1">
          <a:blip r:embed="rId4">
            <a:alphaModFix/>
          </a:blip>
          <a:srcRect/>
          <a:stretch/>
        </p:blipFill>
        <p:spPr>
          <a:xfrm>
            <a:off x="1857375" y="3071813"/>
            <a:ext cx="5430838" cy="2803525"/>
          </a:xfrm>
          <a:prstGeom prst="rect">
            <a:avLst/>
          </a:prstGeom>
          <a:noFill/>
          <a:ln>
            <a:noFill/>
          </a:ln>
        </p:spPr>
      </p:pic>
      <p:sp>
        <p:nvSpPr>
          <p:cNvPr id="178" name="Google Shape;178;p10"/>
          <p:cNvSpPr txBox="1"/>
          <p:nvPr/>
        </p:nvSpPr>
        <p:spPr>
          <a:xfrm>
            <a:off x="190500" y="2286000"/>
            <a:ext cx="8629650" cy="1938952"/>
          </a:xfrm>
          <a:prstGeom prst="rect">
            <a:avLst/>
          </a:prstGeom>
          <a:noFill/>
          <a:ln>
            <a:noFill/>
          </a:ln>
        </p:spPr>
        <p:txBody>
          <a:bodyPr spcFirstLastPara="1" wrap="square" lIns="91425" tIns="45700" rIns="91425" bIns="45700" anchor="t" anchorCtr="0">
            <a:spAutoFit/>
          </a:bodyPr>
          <a:lstStyle/>
          <a:p>
            <a:pPr marL="342900" marR="0" lvl="0" indent="-342900" algn="just" rtl="0">
              <a:spcBef>
                <a:spcPts val="0"/>
              </a:spcBef>
              <a:spcAft>
                <a:spcPts val="0"/>
              </a:spcAft>
              <a:buClr>
                <a:schemeClr val="dk1"/>
              </a:buClr>
              <a:buSzPts val="2400"/>
              <a:buFont typeface="Arial"/>
              <a:buChar char="•"/>
            </a:pPr>
            <a:r>
              <a:rPr lang="en-IN" sz="2000" dirty="0">
                <a:latin typeface="Times New Roman" panose="02020603050405020304" pitchFamily="18" charset="0"/>
                <a:cs typeface="Times New Roman" panose="02020603050405020304" pitchFamily="18" charset="0"/>
              </a:rPr>
              <a:t>The `identity` generator class in hibernate delegates the responsibility of generating unique to the underlying database system. This strategy typically involves the use of auto-increment columns in relational databases. Identity generator supports databases like Sybase, </a:t>
            </a:r>
            <a:r>
              <a:rPr lang="en-IN" sz="2000" dirty="0" err="1">
                <a:latin typeface="Times New Roman" panose="02020603050405020304" pitchFamily="18" charset="0"/>
                <a:cs typeface="Times New Roman" panose="02020603050405020304" pitchFamily="18" charset="0"/>
              </a:rPr>
              <a:t>MySql</a:t>
            </a:r>
            <a:r>
              <a:rPr lang="en-IN" sz="2000" dirty="0">
                <a:latin typeface="Times New Roman" panose="02020603050405020304" pitchFamily="18" charset="0"/>
                <a:cs typeface="Times New Roman" panose="02020603050405020304" pitchFamily="18" charset="0"/>
              </a:rPr>
              <a:t>. MS SQL Server, DB2, and </a:t>
            </a:r>
            <a:r>
              <a:rPr lang="en-IN" sz="2000" dirty="0" err="1">
                <a:latin typeface="Times New Roman" panose="02020603050405020304" pitchFamily="18" charset="0"/>
                <a:cs typeface="Times New Roman" panose="02020603050405020304" pitchFamily="18" charset="0"/>
              </a:rPr>
              <a:t>HypersonicSQL</a:t>
            </a:r>
            <a:r>
              <a:rPr lang="en-IN" sz="2000" dirty="0">
                <a:latin typeface="Times New Roman" panose="02020603050405020304" pitchFamily="18" charset="0"/>
                <a:cs typeface="Times New Roman" panose="02020603050405020304" pitchFamily="18" charset="0"/>
              </a:rPr>
              <a:t> but doesn’t support Oracle database. Hence identity generator can be considered as a database-dependent generator.</a:t>
            </a:r>
          </a:p>
        </p:txBody>
      </p:sp>
      <p:sp>
        <p:nvSpPr>
          <p:cNvPr id="179" name="Google Shape;179;p10"/>
          <p:cNvSpPr/>
          <p:nvPr/>
        </p:nvSpPr>
        <p:spPr>
          <a:xfrm>
            <a:off x="0" y="1643063"/>
            <a:ext cx="9144000" cy="642937"/>
          </a:xfrm>
          <a:prstGeom prst="rect">
            <a:avLst/>
          </a:prstGeom>
          <a:solidFill>
            <a:srgbClr val="1F497D"/>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180" name="Google Shape;180;p10"/>
          <p:cNvSpPr/>
          <p:nvPr/>
        </p:nvSpPr>
        <p:spPr>
          <a:xfrm>
            <a:off x="190500" y="1687513"/>
            <a:ext cx="8763000" cy="55403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lt1"/>
              </a:buClr>
              <a:buSzPts val="3000"/>
              <a:buFont typeface="Arial"/>
              <a:buNone/>
            </a:pPr>
            <a:r>
              <a:rPr lang="en-IN" sz="3000" b="1" dirty="0">
                <a:solidFill>
                  <a:schemeClr val="lt1"/>
                </a:solidFill>
                <a:latin typeface="Calibri"/>
                <a:ea typeface="Calibri"/>
                <a:cs typeface="Calibri"/>
                <a:sym typeface="Calibri"/>
              </a:rPr>
              <a:t>Identity Generator Class </a:t>
            </a:r>
            <a:endParaRPr dirty="0"/>
          </a:p>
        </p:txBody>
      </p:sp>
      <p:pic>
        <p:nvPicPr>
          <p:cNvPr id="2" name="Picture 12">
            <a:extLst>
              <a:ext uri="{FF2B5EF4-FFF2-40B4-BE49-F238E27FC236}">
                <a16:creationId xmlns:a16="http://schemas.microsoft.com/office/drawing/2014/main" id="{59084D54-577E-0AE8-1998-94AA0CD49A4F}"/>
              </a:ext>
            </a:extLst>
          </p:cNvPr>
          <p:cNvPicPr>
            <a:picLocks noChangeAspect="1" noChangeArrowheads="1"/>
          </p:cNvPicPr>
          <p:nvPr/>
        </p:nvPicPr>
        <p:blipFill>
          <a:blip r:embed="rId5"/>
          <a:srcRect/>
          <a:stretch>
            <a:fillRect/>
          </a:stretch>
        </p:blipFill>
        <p:spPr bwMode="auto">
          <a:xfrm>
            <a:off x="381000" y="16329"/>
            <a:ext cx="1524000" cy="1395413"/>
          </a:xfrm>
          <a:prstGeom prst="rect">
            <a:avLst/>
          </a:prstGeom>
          <a:noFill/>
          <a:ln w="9525">
            <a:noFill/>
            <a:miter lim="800000"/>
            <a:headEnd/>
            <a:tailEnd/>
          </a:ln>
        </p:spPr>
      </p:pic>
    </p:spTree>
    <p:extLst>
      <p:ext uri="{BB962C8B-B14F-4D97-AF65-F5344CB8AC3E}">
        <p14:creationId xmlns:p14="http://schemas.microsoft.com/office/powerpoint/2010/main" val="26709620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pic>
        <p:nvPicPr>
          <p:cNvPr id="176" name="Google Shape;176;p10" descr="C:\Users\parul\Desktop\Digital Learning Content.png"/>
          <p:cNvPicPr preferRelativeResize="0"/>
          <p:nvPr/>
        </p:nvPicPr>
        <p:blipFill rotWithShape="1">
          <a:blip r:embed="rId3">
            <a:alphaModFix/>
          </a:blip>
          <a:srcRect/>
          <a:stretch/>
        </p:blipFill>
        <p:spPr>
          <a:xfrm>
            <a:off x="0" y="0"/>
            <a:ext cx="9144000" cy="6900863"/>
          </a:xfrm>
          <a:prstGeom prst="rect">
            <a:avLst/>
          </a:prstGeom>
          <a:noFill/>
          <a:ln>
            <a:noFill/>
          </a:ln>
        </p:spPr>
      </p:pic>
      <p:pic>
        <p:nvPicPr>
          <p:cNvPr id="177" name="Google Shape;177;p10" descr="C:\Users\parul\Desktop\Untitled-1.png"/>
          <p:cNvPicPr preferRelativeResize="0"/>
          <p:nvPr/>
        </p:nvPicPr>
        <p:blipFill rotWithShape="1">
          <a:blip r:embed="rId4">
            <a:alphaModFix/>
          </a:blip>
          <a:srcRect/>
          <a:stretch/>
        </p:blipFill>
        <p:spPr>
          <a:xfrm>
            <a:off x="1857375" y="3071813"/>
            <a:ext cx="5430838" cy="2803525"/>
          </a:xfrm>
          <a:prstGeom prst="rect">
            <a:avLst/>
          </a:prstGeom>
          <a:noFill/>
          <a:ln>
            <a:noFill/>
          </a:ln>
        </p:spPr>
      </p:pic>
      <p:sp>
        <p:nvSpPr>
          <p:cNvPr id="178" name="Google Shape;178;p10"/>
          <p:cNvSpPr txBox="1"/>
          <p:nvPr/>
        </p:nvSpPr>
        <p:spPr>
          <a:xfrm>
            <a:off x="190500" y="2286000"/>
            <a:ext cx="8629650" cy="3477835"/>
          </a:xfrm>
          <a:prstGeom prst="rect">
            <a:avLst/>
          </a:prstGeom>
          <a:noFill/>
          <a:ln>
            <a:noFill/>
          </a:ln>
        </p:spPr>
        <p:txBody>
          <a:bodyPr spcFirstLastPara="1" wrap="square" lIns="91425" tIns="45700" rIns="91425" bIns="45700" anchor="t" anchorCtr="0">
            <a:spAutoFit/>
          </a:bodyPr>
          <a:lstStyle/>
          <a:p>
            <a:pPr marL="342900" marR="0" lvl="0" indent="-342900" algn="just" rtl="0">
              <a:spcBef>
                <a:spcPts val="0"/>
              </a:spcBef>
              <a:spcAft>
                <a:spcPts val="0"/>
              </a:spcAft>
              <a:buClr>
                <a:schemeClr val="dk1"/>
              </a:buClr>
              <a:buSzPts val="2400"/>
              <a:buFont typeface="Arial"/>
              <a:buChar char="•"/>
            </a:pPr>
            <a:r>
              <a:rPr lang="en-IN" sz="2000" dirty="0">
                <a:latin typeface="Times New Roman" panose="02020603050405020304" pitchFamily="18" charset="0"/>
                <a:cs typeface="Times New Roman" panose="02020603050405020304" pitchFamily="18" charset="0"/>
              </a:rPr>
              <a:t>Here’s how you might use the `identity` generator class in Hibernate mapping file (XML).</a:t>
            </a:r>
          </a:p>
          <a:p>
            <a:pPr marL="342900" marR="0" lvl="0" indent="-342900" algn="just" rtl="0">
              <a:spcBef>
                <a:spcPts val="0"/>
              </a:spcBef>
              <a:spcAft>
                <a:spcPts val="0"/>
              </a:spcAft>
              <a:buClr>
                <a:schemeClr val="dk1"/>
              </a:buClr>
              <a:buSzPts val="2400"/>
              <a:buFont typeface="Arial"/>
              <a:buChar char="•"/>
            </a:pPr>
            <a:endParaRPr lang="en-IN" sz="2000" dirty="0">
              <a:latin typeface="Times New Roman" panose="02020603050405020304" pitchFamily="18" charset="0"/>
              <a:cs typeface="Times New Roman" panose="02020603050405020304" pitchFamily="18" charset="0"/>
            </a:endParaRPr>
          </a:p>
          <a:p>
            <a:pPr marL="342900" marR="0" lvl="0" indent="-342900" algn="just" rtl="0">
              <a:spcBef>
                <a:spcPts val="0"/>
              </a:spcBef>
              <a:spcAft>
                <a:spcPts val="0"/>
              </a:spcAft>
              <a:buClr>
                <a:schemeClr val="dk1"/>
              </a:buClr>
              <a:buSzPts val="2400"/>
              <a:buFont typeface="Arial"/>
              <a:buChar char="•"/>
            </a:pPr>
            <a:r>
              <a:rPr lang="en-US" sz="2000" dirty="0">
                <a:latin typeface="Times New Roman" panose="02020603050405020304" pitchFamily="18" charset="0"/>
                <a:cs typeface="Times New Roman" panose="02020603050405020304" pitchFamily="18" charset="0"/>
              </a:rPr>
              <a:t>&lt;class name="Employee" table="employees"&gt;</a:t>
            </a:r>
          </a:p>
          <a:p>
            <a:pPr marL="342900" marR="0" lvl="0" indent="-342900" algn="just" rtl="0">
              <a:spcBef>
                <a:spcPts val="0"/>
              </a:spcBef>
              <a:spcAft>
                <a:spcPts val="0"/>
              </a:spcAft>
              <a:buClr>
                <a:schemeClr val="dk1"/>
              </a:buClr>
              <a:buSzPts val="2400"/>
              <a:buFont typeface="Arial"/>
              <a:buChar char="•"/>
            </a:pPr>
            <a:r>
              <a:rPr lang="en-US" sz="2000" dirty="0">
                <a:latin typeface="Times New Roman" panose="02020603050405020304" pitchFamily="18" charset="0"/>
                <a:cs typeface="Times New Roman" panose="02020603050405020304" pitchFamily="18" charset="0"/>
              </a:rPr>
              <a:t>    &lt;id name="id"&gt;</a:t>
            </a:r>
          </a:p>
          <a:p>
            <a:pPr marL="342900" marR="0" lvl="0" indent="-342900" algn="just" rtl="0">
              <a:spcBef>
                <a:spcPts val="0"/>
              </a:spcBef>
              <a:spcAft>
                <a:spcPts val="0"/>
              </a:spcAft>
              <a:buClr>
                <a:schemeClr val="dk1"/>
              </a:buClr>
              <a:buSzPts val="2400"/>
              <a:buFont typeface="Arial"/>
              <a:buChar char="•"/>
            </a:pPr>
            <a:r>
              <a:rPr lang="en-US" sz="2000" dirty="0">
                <a:latin typeface="Times New Roman" panose="02020603050405020304" pitchFamily="18" charset="0"/>
                <a:cs typeface="Times New Roman" panose="02020603050405020304" pitchFamily="18" charset="0"/>
              </a:rPr>
              <a:t>        &lt;generator class="identity"/&gt;</a:t>
            </a:r>
          </a:p>
          <a:p>
            <a:pPr marL="342900" marR="0" lvl="0" indent="-342900" algn="just" rtl="0">
              <a:spcBef>
                <a:spcPts val="0"/>
              </a:spcBef>
              <a:spcAft>
                <a:spcPts val="0"/>
              </a:spcAft>
              <a:buClr>
                <a:schemeClr val="dk1"/>
              </a:buClr>
              <a:buSzPts val="2400"/>
              <a:buFont typeface="Arial"/>
              <a:buChar char="•"/>
            </a:pPr>
            <a:r>
              <a:rPr lang="en-US" sz="2000" dirty="0">
                <a:latin typeface="Times New Roman" panose="02020603050405020304" pitchFamily="18" charset="0"/>
                <a:cs typeface="Times New Roman" panose="02020603050405020304" pitchFamily="18" charset="0"/>
              </a:rPr>
              <a:t>    &lt;/id&gt;</a:t>
            </a:r>
          </a:p>
          <a:p>
            <a:pPr marL="342900" marR="0" lvl="0" indent="-342900" algn="just" rtl="0">
              <a:spcBef>
                <a:spcPts val="0"/>
              </a:spcBef>
              <a:spcAft>
                <a:spcPts val="0"/>
              </a:spcAft>
              <a:buClr>
                <a:schemeClr val="dk1"/>
              </a:buClr>
              <a:buSzPts val="2400"/>
              <a:buFont typeface="Arial"/>
              <a:buChar char="•"/>
            </a:pPr>
            <a:r>
              <a:rPr lang="en-US" sz="2000" dirty="0">
                <a:latin typeface="Times New Roman" panose="02020603050405020304" pitchFamily="18" charset="0"/>
                <a:cs typeface="Times New Roman" panose="02020603050405020304" pitchFamily="18" charset="0"/>
              </a:rPr>
              <a:t>    &lt;property name="name"/&gt;</a:t>
            </a:r>
          </a:p>
          <a:p>
            <a:pPr marL="342900" marR="0" lvl="0" indent="-342900" algn="just" rtl="0">
              <a:spcBef>
                <a:spcPts val="0"/>
              </a:spcBef>
              <a:spcAft>
                <a:spcPts val="0"/>
              </a:spcAft>
              <a:buClr>
                <a:schemeClr val="dk1"/>
              </a:buClr>
              <a:buSzPts val="2400"/>
              <a:buFont typeface="Arial"/>
              <a:buChar char="•"/>
            </a:pPr>
            <a:r>
              <a:rPr lang="en-US" sz="2000" dirty="0">
                <a:latin typeface="Times New Roman" panose="02020603050405020304" pitchFamily="18" charset="0"/>
                <a:cs typeface="Times New Roman" panose="02020603050405020304" pitchFamily="18" charset="0"/>
              </a:rPr>
              <a:t>    &lt;!-- other properties --&gt;</a:t>
            </a:r>
          </a:p>
          <a:p>
            <a:pPr marL="342900" marR="0" lvl="0" indent="-342900" algn="just" rtl="0">
              <a:spcBef>
                <a:spcPts val="0"/>
              </a:spcBef>
              <a:spcAft>
                <a:spcPts val="0"/>
              </a:spcAft>
              <a:buClr>
                <a:schemeClr val="dk1"/>
              </a:buClr>
              <a:buSzPts val="2400"/>
              <a:buFont typeface="Arial"/>
              <a:buChar char="•"/>
            </a:pPr>
            <a:r>
              <a:rPr lang="en-US" sz="2000" dirty="0">
                <a:latin typeface="Times New Roman" panose="02020603050405020304" pitchFamily="18" charset="0"/>
                <a:cs typeface="Times New Roman" panose="02020603050405020304" pitchFamily="18" charset="0"/>
              </a:rPr>
              <a:t>&lt;/class&gt;</a:t>
            </a:r>
          </a:p>
          <a:p>
            <a:pPr marL="342900" marR="0" lvl="0" indent="-342900" algn="just" rtl="0">
              <a:spcBef>
                <a:spcPts val="0"/>
              </a:spcBef>
              <a:spcAft>
                <a:spcPts val="0"/>
              </a:spcAft>
              <a:buClr>
                <a:schemeClr val="dk1"/>
              </a:buClr>
              <a:buSzPts val="2400"/>
              <a:buFont typeface="Arial"/>
              <a:buChar char="•"/>
            </a:pPr>
            <a:endParaRPr lang="en-IN" sz="2000" dirty="0">
              <a:latin typeface="Times New Roman" panose="02020603050405020304" pitchFamily="18" charset="0"/>
              <a:cs typeface="Times New Roman" panose="02020603050405020304" pitchFamily="18" charset="0"/>
            </a:endParaRPr>
          </a:p>
        </p:txBody>
      </p:sp>
      <p:sp>
        <p:nvSpPr>
          <p:cNvPr id="179" name="Google Shape;179;p10"/>
          <p:cNvSpPr/>
          <p:nvPr/>
        </p:nvSpPr>
        <p:spPr>
          <a:xfrm>
            <a:off x="0" y="1643063"/>
            <a:ext cx="9144000" cy="642937"/>
          </a:xfrm>
          <a:prstGeom prst="rect">
            <a:avLst/>
          </a:prstGeom>
          <a:solidFill>
            <a:srgbClr val="1F497D"/>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180" name="Google Shape;180;p10"/>
          <p:cNvSpPr/>
          <p:nvPr/>
        </p:nvSpPr>
        <p:spPr>
          <a:xfrm>
            <a:off x="190500" y="1687513"/>
            <a:ext cx="8763000" cy="55403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lt1"/>
              </a:buClr>
              <a:buSzPts val="3000"/>
              <a:buFont typeface="Arial"/>
              <a:buNone/>
            </a:pPr>
            <a:r>
              <a:rPr lang="en-IN" sz="3000" b="1" dirty="0">
                <a:solidFill>
                  <a:schemeClr val="lt1"/>
                </a:solidFill>
                <a:latin typeface="Calibri"/>
                <a:ea typeface="Calibri"/>
                <a:cs typeface="Calibri"/>
                <a:sym typeface="Calibri"/>
              </a:rPr>
              <a:t>Identity Generator Class </a:t>
            </a:r>
            <a:endParaRPr dirty="0"/>
          </a:p>
        </p:txBody>
      </p:sp>
      <p:pic>
        <p:nvPicPr>
          <p:cNvPr id="2" name="Picture 12">
            <a:extLst>
              <a:ext uri="{FF2B5EF4-FFF2-40B4-BE49-F238E27FC236}">
                <a16:creationId xmlns:a16="http://schemas.microsoft.com/office/drawing/2014/main" id="{7C780374-F0AF-6569-99E3-3B9C5E664126}"/>
              </a:ext>
            </a:extLst>
          </p:cNvPr>
          <p:cNvPicPr>
            <a:picLocks noChangeAspect="1" noChangeArrowheads="1"/>
          </p:cNvPicPr>
          <p:nvPr/>
        </p:nvPicPr>
        <p:blipFill>
          <a:blip r:embed="rId5"/>
          <a:srcRect/>
          <a:stretch>
            <a:fillRect/>
          </a:stretch>
        </p:blipFill>
        <p:spPr bwMode="auto">
          <a:xfrm>
            <a:off x="381000" y="0"/>
            <a:ext cx="1524000" cy="1395413"/>
          </a:xfrm>
          <a:prstGeom prst="rect">
            <a:avLst/>
          </a:prstGeom>
          <a:noFill/>
          <a:ln w="9525">
            <a:noFill/>
            <a:miter lim="800000"/>
            <a:headEnd/>
            <a:tailEnd/>
          </a:ln>
        </p:spPr>
      </p:pic>
    </p:spTree>
    <p:extLst>
      <p:ext uri="{BB962C8B-B14F-4D97-AF65-F5344CB8AC3E}">
        <p14:creationId xmlns:p14="http://schemas.microsoft.com/office/powerpoint/2010/main" val="7609953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pic>
        <p:nvPicPr>
          <p:cNvPr id="176" name="Google Shape;176;p10" descr="C:\Users\parul\Desktop\Digital Learning Content.png"/>
          <p:cNvPicPr preferRelativeResize="0"/>
          <p:nvPr/>
        </p:nvPicPr>
        <p:blipFill rotWithShape="1">
          <a:blip r:embed="rId3">
            <a:alphaModFix/>
          </a:blip>
          <a:srcRect/>
          <a:stretch/>
        </p:blipFill>
        <p:spPr>
          <a:xfrm>
            <a:off x="0" y="0"/>
            <a:ext cx="9144000" cy="6900863"/>
          </a:xfrm>
          <a:prstGeom prst="rect">
            <a:avLst/>
          </a:prstGeom>
          <a:noFill/>
          <a:ln>
            <a:noFill/>
          </a:ln>
        </p:spPr>
      </p:pic>
      <p:pic>
        <p:nvPicPr>
          <p:cNvPr id="177" name="Google Shape;177;p10" descr="C:\Users\parul\Desktop\Untitled-1.png"/>
          <p:cNvPicPr preferRelativeResize="0"/>
          <p:nvPr/>
        </p:nvPicPr>
        <p:blipFill rotWithShape="1">
          <a:blip r:embed="rId4">
            <a:alphaModFix/>
          </a:blip>
          <a:srcRect/>
          <a:stretch/>
        </p:blipFill>
        <p:spPr>
          <a:xfrm>
            <a:off x="1857375" y="3071813"/>
            <a:ext cx="5430838" cy="2803525"/>
          </a:xfrm>
          <a:prstGeom prst="rect">
            <a:avLst/>
          </a:prstGeom>
          <a:noFill/>
          <a:ln>
            <a:noFill/>
          </a:ln>
        </p:spPr>
      </p:pic>
      <p:sp>
        <p:nvSpPr>
          <p:cNvPr id="178" name="Google Shape;178;p10"/>
          <p:cNvSpPr txBox="1"/>
          <p:nvPr/>
        </p:nvSpPr>
        <p:spPr>
          <a:xfrm>
            <a:off x="190500" y="2286000"/>
            <a:ext cx="8629650" cy="1323399"/>
          </a:xfrm>
          <a:prstGeom prst="rect">
            <a:avLst/>
          </a:prstGeom>
          <a:noFill/>
          <a:ln>
            <a:noFill/>
          </a:ln>
        </p:spPr>
        <p:txBody>
          <a:bodyPr spcFirstLastPara="1" wrap="square" lIns="91425" tIns="45700" rIns="91425" bIns="45700" anchor="t" anchorCtr="0">
            <a:spAutoFit/>
          </a:bodyPr>
          <a:lstStyle/>
          <a:p>
            <a:pPr marL="342900" marR="0" lvl="0" indent="-342900" algn="just" rtl="0">
              <a:spcBef>
                <a:spcPts val="0"/>
              </a:spcBef>
              <a:spcAft>
                <a:spcPts val="0"/>
              </a:spcAft>
              <a:buClr>
                <a:schemeClr val="dk1"/>
              </a:buClr>
              <a:buSzPts val="2400"/>
              <a:buFont typeface="Arial"/>
              <a:buChar char="•"/>
            </a:pPr>
            <a:r>
              <a:rPr lang="en-IN" sz="2000" dirty="0">
                <a:latin typeface="Times New Roman" panose="02020603050405020304" pitchFamily="18" charset="0"/>
                <a:cs typeface="Times New Roman" panose="02020603050405020304" pitchFamily="18" charset="0"/>
              </a:rPr>
              <a:t>The `sequence` generator class in Hibernate is used to generate unique identifiers for entities by leveraging database sequence. Sequences are database objects designed to generate a sequence of unique numeric values, typically for use as primary key values in database table.</a:t>
            </a:r>
          </a:p>
        </p:txBody>
      </p:sp>
      <p:sp>
        <p:nvSpPr>
          <p:cNvPr id="179" name="Google Shape;179;p10"/>
          <p:cNvSpPr/>
          <p:nvPr/>
        </p:nvSpPr>
        <p:spPr>
          <a:xfrm>
            <a:off x="0" y="1643063"/>
            <a:ext cx="9144000" cy="642937"/>
          </a:xfrm>
          <a:prstGeom prst="rect">
            <a:avLst/>
          </a:prstGeom>
          <a:solidFill>
            <a:srgbClr val="1F497D"/>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180" name="Google Shape;180;p10"/>
          <p:cNvSpPr/>
          <p:nvPr/>
        </p:nvSpPr>
        <p:spPr>
          <a:xfrm>
            <a:off x="190500" y="1687513"/>
            <a:ext cx="8763000" cy="55403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lt1"/>
              </a:buClr>
              <a:buSzPts val="3000"/>
              <a:buFont typeface="Arial"/>
              <a:buNone/>
            </a:pPr>
            <a:r>
              <a:rPr lang="en-IN" sz="3000" b="1" dirty="0">
                <a:solidFill>
                  <a:schemeClr val="lt1"/>
                </a:solidFill>
                <a:latin typeface="Calibri"/>
                <a:ea typeface="Calibri"/>
                <a:cs typeface="Calibri"/>
                <a:sym typeface="Calibri"/>
              </a:rPr>
              <a:t>Sequence Generator Class </a:t>
            </a:r>
            <a:endParaRPr dirty="0"/>
          </a:p>
        </p:txBody>
      </p:sp>
      <p:pic>
        <p:nvPicPr>
          <p:cNvPr id="2" name="Picture 12">
            <a:extLst>
              <a:ext uri="{FF2B5EF4-FFF2-40B4-BE49-F238E27FC236}">
                <a16:creationId xmlns:a16="http://schemas.microsoft.com/office/drawing/2014/main" id="{67960A92-AF07-6100-546E-226F126BD884}"/>
              </a:ext>
            </a:extLst>
          </p:cNvPr>
          <p:cNvPicPr>
            <a:picLocks noChangeAspect="1" noChangeArrowheads="1"/>
          </p:cNvPicPr>
          <p:nvPr/>
        </p:nvPicPr>
        <p:blipFill>
          <a:blip r:embed="rId5"/>
          <a:srcRect/>
          <a:stretch>
            <a:fillRect/>
          </a:stretch>
        </p:blipFill>
        <p:spPr bwMode="auto">
          <a:xfrm>
            <a:off x="381000" y="0"/>
            <a:ext cx="1524000" cy="1395413"/>
          </a:xfrm>
          <a:prstGeom prst="rect">
            <a:avLst/>
          </a:prstGeom>
          <a:noFill/>
          <a:ln w="9525">
            <a:noFill/>
            <a:miter lim="800000"/>
            <a:headEnd/>
            <a:tailEnd/>
          </a:ln>
        </p:spPr>
      </p:pic>
    </p:spTree>
    <p:extLst>
      <p:ext uri="{BB962C8B-B14F-4D97-AF65-F5344CB8AC3E}">
        <p14:creationId xmlns:p14="http://schemas.microsoft.com/office/powerpoint/2010/main" val="13053301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pic>
        <p:nvPicPr>
          <p:cNvPr id="176" name="Google Shape;176;p10" descr="C:\Users\parul\Desktop\Digital Learning Content.png"/>
          <p:cNvPicPr preferRelativeResize="0"/>
          <p:nvPr/>
        </p:nvPicPr>
        <p:blipFill rotWithShape="1">
          <a:blip r:embed="rId3">
            <a:alphaModFix/>
          </a:blip>
          <a:srcRect/>
          <a:stretch/>
        </p:blipFill>
        <p:spPr>
          <a:xfrm>
            <a:off x="0" y="0"/>
            <a:ext cx="9144000" cy="6900863"/>
          </a:xfrm>
          <a:prstGeom prst="rect">
            <a:avLst/>
          </a:prstGeom>
          <a:noFill/>
          <a:ln>
            <a:noFill/>
          </a:ln>
        </p:spPr>
      </p:pic>
      <p:pic>
        <p:nvPicPr>
          <p:cNvPr id="177" name="Google Shape;177;p10" descr="C:\Users\parul\Desktop\Untitled-1.png"/>
          <p:cNvPicPr preferRelativeResize="0"/>
          <p:nvPr/>
        </p:nvPicPr>
        <p:blipFill rotWithShape="1">
          <a:blip r:embed="rId4">
            <a:alphaModFix/>
          </a:blip>
          <a:srcRect/>
          <a:stretch/>
        </p:blipFill>
        <p:spPr>
          <a:xfrm>
            <a:off x="1857375" y="3071813"/>
            <a:ext cx="5430838" cy="2803525"/>
          </a:xfrm>
          <a:prstGeom prst="rect">
            <a:avLst/>
          </a:prstGeom>
          <a:noFill/>
          <a:ln>
            <a:noFill/>
          </a:ln>
        </p:spPr>
      </p:pic>
      <p:sp>
        <p:nvSpPr>
          <p:cNvPr id="178" name="Google Shape;178;p10"/>
          <p:cNvSpPr txBox="1"/>
          <p:nvPr/>
        </p:nvSpPr>
        <p:spPr>
          <a:xfrm>
            <a:off x="190500" y="2286000"/>
            <a:ext cx="8629650" cy="4093388"/>
          </a:xfrm>
          <a:prstGeom prst="rect">
            <a:avLst/>
          </a:prstGeom>
          <a:noFill/>
          <a:ln>
            <a:noFill/>
          </a:ln>
        </p:spPr>
        <p:txBody>
          <a:bodyPr spcFirstLastPara="1" wrap="square" lIns="91425" tIns="45700" rIns="91425" bIns="45700" anchor="t" anchorCtr="0">
            <a:spAutoFit/>
          </a:bodyPr>
          <a:lstStyle/>
          <a:p>
            <a:pPr marL="342900" marR="0" lvl="0" indent="-342900" algn="just" rtl="0">
              <a:spcBef>
                <a:spcPts val="0"/>
              </a:spcBef>
              <a:spcAft>
                <a:spcPts val="0"/>
              </a:spcAft>
              <a:buClr>
                <a:schemeClr val="dk1"/>
              </a:buClr>
              <a:buSzPts val="2400"/>
              <a:buFont typeface="Arial"/>
              <a:buChar char="•"/>
            </a:pPr>
            <a:r>
              <a:rPr lang="en-IN" sz="2000" dirty="0">
                <a:latin typeface="Times New Roman" panose="02020603050405020304" pitchFamily="18" charset="0"/>
                <a:cs typeface="Times New Roman" panose="02020603050405020304" pitchFamily="18" charset="0"/>
              </a:rPr>
              <a:t>Here’s how you might use the `sequence` generator class in Hibernate mapping file (XML).</a:t>
            </a:r>
          </a:p>
          <a:p>
            <a:pPr marL="342900" marR="0" lvl="0" indent="-342900" algn="just" rtl="0">
              <a:spcBef>
                <a:spcPts val="0"/>
              </a:spcBef>
              <a:spcAft>
                <a:spcPts val="0"/>
              </a:spcAft>
              <a:buClr>
                <a:schemeClr val="dk1"/>
              </a:buClr>
              <a:buSzPts val="2400"/>
              <a:buFont typeface="Arial"/>
              <a:buChar char="•"/>
            </a:pPr>
            <a:endParaRPr lang="en-IN" sz="2000" dirty="0">
              <a:latin typeface="Times New Roman" panose="02020603050405020304" pitchFamily="18" charset="0"/>
              <a:cs typeface="Times New Roman" panose="02020603050405020304" pitchFamily="18" charset="0"/>
            </a:endParaRPr>
          </a:p>
          <a:p>
            <a:pPr marL="342900" marR="0" lvl="0" indent="-342900" algn="just" rtl="0">
              <a:spcBef>
                <a:spcPts val="0"/>
              </a:spcBef>
              <a:spcAft>
                <a:spcPts val="0"/>
              </a:spcAft>
              <a:buClr>
                <a:schemeClr val="dk1"/>
              </a:buClr>
              <a:buSzPts val="2400"/>
              <a:buFont typeface="Arial"/>
              <a:buChar char="•"/>
            </a:pPr>
            <a:r>
              <a:rPr lang="en-US" sz="2000" dirty="0">
                <a:latin typeface="Times New Roman" panose="02020603050405020304" pitchFamily="18" charset="0"/>
                <a:cs typeface="Times New Roman" panose="02020603050405020304" pitchFamily="18" charset="0"/>
              </a:rPr>
              <a:t>&lt;class name="Employee" table="employees"&gt;</a:t>
            </a:r>
          </a:p>
          <a:p>
            <a:pPr marL="342900" marR="0" lvl="0" indent="-342900" algn="just" rtl="0">
              <a:spcBef>
                <a:spcPts val="0"/>
              </a:spcBef>
              <a:spcAft>
                <a:spcPts val="0"/>
              </a:spcAft>
              <a:buClr>
                <a:schemeClr val="dk1"/>
              </a:buClr>
              <a:buSzPts val="2400"/>
              <a:buFont typeface="Arial"/>
              <a:buChar char="•"/>
            </a:pPr>
            <a:r>
              <a:rPr lang="en-US" sz="2000" dirty="0">
                <a:latin typeface="Times New Roman" panose="02020603050405020304" pitchFamily="18" charset="0"/>
                <a:cs typeface="Times New Roman" panose="02020603050405020304" pitchFamily="18" charset="0"/>
              </a:rPr>
              <a:t>    &lt;id name="id"&gt;</a:t>
            </a:r>
          </a:p>
          <a:p>
            <a:pPr marL="342900" marR="0" lvl="0" indent="-342900" algn="just" rtl="0">
              <a:spcBef>
                <a:spcPts val="0"/>
              </a:spcBef>
              <a:spcAft>
                <a:spcPts val="0"/>
              </a:spcAft>
              <a:buClr>
                <a:schemeClr val="dk1"/>
              </a:buClr>
              <a:buSzPts val="2400"/>
              <a:buFont typeface="Arial"/>
              <a:buChar char="•"/>
            </a:pPr>
            <a:r>
              <a:rPr lang="en-US" sz="2000" dirty="0">
                <a:latin typeface="Times New Roman" panose="02020603050405020304" pitchFamily="18" charset="0"/>
                <a:cs typeface="Times New Roman" panose="02020603050405020304" pitchFamily="18" charset="0"/>
              </a:rPr>
              <a:t>        &lt;generator class="sequence"&gt;</a:t>
            </a:r>
          </a:p>
          <a:p>
            <a:pPr marL="342900" marR="0" lvl="0" indent="-342900" algn="just" rtl="0">
              <a:spcBef>
                <a:spcPts val="0"/>
              </a:spcBef>
              <a:spcAft>
                <a:spcPts val="0"/>
              </a:spcAft>
              <a:buClr>
                <a:schemeClr val="dk1"/>
              </a:buClr>
              <a:buSzPts val="2400"/>
              <a:buFont typeface="Arial"/>
              <a:buChar char="•"/>
            </a:pPr>
            <a:r>
              <a:rPr lang="en-US" sz="2000" dirty="0">
                <a:latin typeface="Times New Roman" panose="02020603050405020304" pitchFamily="18" charset="0"/>
                <a:cs typeface="Times New Roman" panose="02020603050405020304" pitchFamily="18" charset="0"/>
              </a:rPr>
              <a:t>            &lt;param name="</a:t>
            </a:r>
            <a:r>
              <a:rPr lang="en-US" sz="2000" dirty="0" err="1">
                <a:latin typeface="Times New Roman" panose="02020603050405020304" pitchFamily="18" charset="0"/>
                <a:cs typeface="Times New Roman" panose="02020603050405020304" pitchFamily="18" charset="0"/>
              </a:rPr>
              <a:t>sequence_name</a:t>
            </a:r>
            <a:r>
              <a:rPr lang="en-US" sz="2000" dirty="0">
                <a:latin typeface="Times New Roman" panose="02020603050405020304" pitchFamily="18" charset="0"/>
                <a:cs typeface="Times New Roman" panose="02020603050405020304" pitchFamily="18" charset="0"/>
              </a:rPr>
              <a:t>"&gt;</a:t>
            </a:r>
            <a:r>
              <a:rPr lang="en-US" sz="2000" dirty="0" err="1">
                <a:latin typeface="Times New Roman" panose="02020603050405020304" pitchFamily="18" charset="0"/>
                <a:cs typeface="Times New Roman" panose="02020603050405020304" pitchFamily="18" charset="0"/>
              </a:rPr>
              <a:t>employee_sequence</a:t>
            </a:r>
            <a:r>
              <a:rPr lang="en-US" sz="2000" dirty="0">
                <a:latin typeface="Times New Roman" panose="02020603050405020304" pitchFamily="18" charset="0"/>
                <a:cs typeface="Times New Roman" panose="02020603050405020304" pitchFamily="18" charset="0"/>
              </a:rPr>
              <a:t>&lt;/param&gt;</a:t>
            </a:r>
          </a:p>
          <a:p>
            <a:pPr marL="342900" marR="0" lvl="0" indent="-342900" algn="just" rtl="0">
              <a:spcBef>
                <a:spcPts val="0"/>
              </a:spcBef>
              <a:spcAft>
                <a:spcPts val="0"/>
              </a:spcAft>
              <a:buClr>
                <a:schemeClr val="dk1"/>
              </a:buClr>
              <a:buSzPts val="2400"/>
              <a:buFont typeface="Arial"/>
              <a:buChar char="•"/>
            </a:pPr>
            <a:r>
              <a:rPr lang="en-US" sz="2000" dirty="0">
                <a:latin typeface="Times New Roman" panose="02020603050405020304" pitchFamily="18" charset="0"/>
                <a:cs typeface="Times New Roman" panose="02020603050405020304" pitchFamily="18" charset="0"/>
              </a:rPr>
              <a:t>        &lt;/generator&gt;</a:t>
            </a:r>
          </a:p>
          <a:p>
            <a:pPr marL="342900" marR="0" lvl="0" indent="-342900" algn="just" rtl="0">
              <a:spcBef>
                <a:spcPts val="0"/>
              </a:spcBef>
              <a:spcAft>
                <a:spcPts val="0"/>
              </a:spcAft>
              <a:buClr>
                <a:schemeClr val="dk1"/>
              </a:buClr>
              <a:buSzPts val="2400"/>
              <a:buFont typeface="Arial"/>
              <a:buChar char="•"/>
            </a:pPr>
            <a:r>
              <a:rPr lang="en-US" sz="2000" dirty="0">
                <a:latin typeface="Times New Roman" panose="02020603050405020304" pitchFamily="18" charset="0"/>
                <a:cs typeface="Times New Roman" panose="02020603050405020304" pitchFamily="18" charset="0"/>
              </a:rPr>
              <a:t>    &lt;/id&gt;</a:t>
            </a:r>
          </a:p>
          <a:p>
            <a:pPr marL="342900" marR="0" lvl="0" indent="-342900" algn="just" rtl="0">
              <a:spcBef>
                <a:spcPts val="0"/>
              </a:spcBef>
              <a:spcAft>
                <a:spcPts val="0"/>
              </a:spcAft>
              <a:buClr>
                <a:schemeClr val="dk1"/>
              </a:buClr>
              <a:buSzPts val="2400"/>
              <a:buFont typeface="Arial"/>
              <a:buChar char="•"/>
            </a:pPr>
            <a:r>
              <a:rPr lang="en-US" sz="2000" dirty="0">
                <a:latin typeface="Times New Roman" panose="02020603050405020304" pitchFamily="18" charset="0"/>
                <a:cs typeface="Times New Roman" panose="02020603050405020304" pitchFamily="18" charset="0"/>
              </a:rPr>
              <a:t>    &lt;property name="name"/&gt;</a:t>
            </a:r>
          </a:p>
          <a:p>
            <a:pPr marL="342900" marR="0" lvl="0" indent="-342900" algn="just" rtl="0">
              <a:spcBef>
                <a:spcPts val="0"/>
              </a:spcBef>
              <a:spcAft>
                <a:spcPts val="0"/>
              </a:spcAft>
              <a:buClr>
                <a:schemeClr val="dk1"/>
              </a:buClr>
              <a:buSzPts val="2400"/>
              <a:buFont typeface="Arial"/>
              <a:buChar char="•"/>
            </a:pPr>
            <a:r>
              <a:rPr lang="en-US" sz="2000" dirty="0">
                <a:latin typeface="Times New Roman" panose="02020603050405020304" pitchFamily="18" charset="0"/>
                <a:cs typeface="Times New Roman" panose="02020603050405020304" pitchFamily="18" charset="0"/>
              </a:rPr>
              <a:t>    &lt;!-- other properties --&gt;</a:t>
            </a:r>
          </a:p>
          <a:p>
            <a:pPr marL="342900" marR="0" lvl="0" indent="-342900" algn="just" rtl="0">
              <a:spcBef>
                <a:spcPts val="0"/>
              </a:spcBef>
              <a:spcAft>
                <a:spcPts val="0"/>
              </a:spcAft>
              <a:buClr>
                <a:schemeClr val="dk1"/>
              </a:buClr>
              <a:buSzPts val="2400"/>
              <a:buFont typeface="Arial"/>
              <a:buChar char="•"/>
            </a:pPr>
            <a:r>
              <a:rPr lang="en-US" sz="2000" dirty="0">
                <a:latin typeface="Times New Roman" panose="02020603050405020304" pitchFamily="18" charset="0"/>
                <a:cs typeface="Times New Roman" panose="02020603050405020304" pitchFamily="18" charset="0"/>
              </a:rPr>
              <a:t>&lt;/class&gt;</a:t>
            </a:r>
          </a:p>
          <a:p>
            <a:pPr marL="342900" marR="0" lvl="0" indent="-342900" algn="just" rtl="0">
              <a:spcBef>
                <a:spcPts val="0"/>
              </a:spcBef>
              <a:spcAft>
                <a:spcPts val="0"/>
              </a:spcAft>
              <a:buClr>
                <a:schemeClr val="dk1"/>
              </a:buClr>
              <a:buSzPts val="2400"/>
              <a:buFont typeface="Arial"/>
              <a:buChar char="•"/>
            </a:pPr>
            <a:endParaRPr lang="en-IN" sz="2000" dirty="0">
              <a:latin typeface="Times New Roman" panose="02020603050405020304" pitchFamily="18" charset="0"/>
              <a:cs typeface="Times New Roman" panose="02020603050405020304" pitchFamily="18" charset="0"/>
            </a:endParaRPr>
          </a:p>
        </p:txBody>
      </p:sp>
      <p:sp>
        <p:nvSpPr>
          <p:cNvPr id="179" name="Google Shape;179;p10"/>
          <p:cNvSpPr/>
          <p:nvPr/>
        </p:nvSpPr>
        <p:spPr>
          <a:xfrm>
            <a:off x="0" y="1643063"/>
            <a:ext cx="9144000" cy="642937"/>
          </a:xfrm>
          <a:prstGeom prst="rect">
            <a:avLst/>
          </a:prstGeom>
          <a:solidFill>
            <a:srgbClr val="1F497D"/>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180" name="Google Shape;180;p10"/>
          <p:cNvSpPr/>
          <p:nvPr/>
        </p:nvSpPr>
        <p:spPr>
          <a:xfrm>
            <a:off x="190500" y="1687513"/>
            <a:ext cx="8763000" cy="55403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lt1"/>
              </a:buClr>
              <a:buSzPts val="3000"/>
              <a:buFont typeface="Arial"/>
              <a:buNone/>
            </a:pPr>
            <a:r>
              <a:rPr lang="en-IN" sz="3000" b="1" dirty="0">
                <a:solidFill>
                  <a:schemeClr val="lt1"/>
                </a:solidFill>
                <a:latin typeface="Calibri"/>
                <a:ea typeface="Calibri"/>
                <a:cs typeface="Calibri"/>
                <a:sym typeface="Calibri"/>
              </a:rPr>
              <a:t>Sequence Generator Class </a:t>
            </a:r>
            <a:endParaRPr dirty="0"/>
          </a:p>
        </p:txBody>
      </p:sp>
      <p:pic>
        <p:nvPicPr>
          <p:cNvPr id="2" name="Picture 12">
            <a:extLst>
              <a:ext uri="{FF2B5EF4-FFF2-40B4-BE49-F238E27FC236}">
                <a16:creationId xmlns:a16="http://schemas.microsoft.com/office/drawing/2014/main" id="{1146DEEC-5CDA-EEA9-4693-DE24681E04DA}"/>
              </a:ext>
            </a:extLst>
          </p:cNvPr>
          <p:cNvPicPr>
            <a:picLocks noChangeAspect="1" noChangeArrowheads="1"/>
          </p:cNvPicPr>
          <p:nvPr/>
        </p:nvPicPr>
        <p:blipFill>
          <a:blip r:embed="rId5"/>
          <a:srcRect/>
          <a:stretch>
            <a:fillRect/>
          </a:stretch>
        </p:blipFill>
        <p:spPr bwMode="auto">
          <a:xfrm>
            <a:off x="381000" y="0"/>
            <a:ext cx="1524000" cy="1395413"/>
          </a:xfrm>
          <a:prstGeom prst="rect">
            <a:avLst/>
          </a:prstGeom>
          <a:noFill/>
          <a:ln w="9525">
            <a:noFill/>
            <a:miter lim="800000"/>
            <a:headEnd/>
            <a:tailEnd/>
          </a:ln>
        </p:spPr>
      </p:pic>
    </p:spTree>
    <p:extLst>
      <p:ext uri="{BB962C8B-B14F-4D97-AF65-F5344CB8AC3E}">
        <p14:creationId xmlns:p14="http://schemas.microsoft.com/office/powerpoint/2010/main" val="33826172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pic>
        <p:nvPicPr>
          <p:cNvPr id="176" name="Google Shape;176;p10" descr="C:\Users\parul\Desktop\Digital Learning Content.png"/>
          <p:cNvPicPr preferRelativeResize="0"/>
          <p:nvPr/>
        </p:nvPicPr>
        <p:blipFill rotWithShape="1">
          <a:blip r:embed="rId3">
            <a:alphaModFix/>
          </a:blip>
          <a:srcRect/>
          <a:stretch/>
        </p:blipFill>
        <p:spPr>
          <a:xfrm>
            <a:off x="0" y="0"/>
            <a:ext cx="9144000" cy="6900863"/>
          </a:xfrm>
          <a:prstGeom prst="rect">
            <a:avLst/>
          </a:prstGeom>
          <a:noFill/>
          <a:ln>
            <a:noFill/>
          </a:ln>
        </p:spPr>
      </p:pic>
      <p:pic>
        <p:nvPicPr>
          <p:cNvPr id="177" name="Google Shape;177;p10" descr="C:\Users\parul\Desktop\Untitled-1.png"/>
          <p:cNvPicPr preferRelativeResize="0"/>
          <p:nvPr/>
        </p:nvPicPr>
        <p:blipFill rotWithShape="1">
          <a:blip r:embed="rId4">
            <a:alphaModFix/>
          </a:blip>
          <a:srcRect/>
          <a:stretch/>
        </p:blipFill>
        <p:spPr>
          <a:xfrm>
            <a:off x="1857375" y="3071813"/>
            <a:ext cx="5430838" cy="2803525"/>
          </a:xfrm>
          <a:prstGeom prst="rect">
            <a:avLst/>
          </a:prstGeom>
          <a:noFill/>
          <a:ln>
            <a:noFill/>
          </a:ln>
        </p:spPr>
      </p:pic>
      <p:sp>
        <p:nvSpPr>
          <p:cNvPr id="178" name="Google Shape;178;p10"/>
          <p:cNvSpPr txBox="1"/>
          <p:nvPr/>
        </p:nvSpPr>
        <p:spPr>
          <a:xfrm>
            <a:off x="190500" y="2286000"/>
            <a:ext cx="8629650" cy="2246729"/>
          </a:xfrm>
          <a:prstGeom prst="rect">
            <a:avLst/>
          </a:prstGeom>
          <a:noFill/>
          <a:ln>
            <a:noFill/>
          </a:ln>
        </p:spPr>
        <p:txBody>
          <a:bodyPr spcFirstLastPara="1" wrap="square" lIns="91425" tIns="45700" rIns="91425" bIns="45700" anchor="t" anchorCtr="0">
            <a:spAutoFit/>
          </a:bodyPr>
          <a:lstStyle/>
          <a:p>
            <a:pPr marL="342900" marR="0" lvl="0" indent="-342900" algn="just" rtl="0">
              <a:spcBef>
                <a:spcPts val="0"/>
              </a:spcBef>
              <a:spcAft>
                <a:spcPts val="0"/>
              </a:spcAft>
              <a:buClr>
                <a:schemeClr val="dk1"/>
              </a:buClr>
              <a:buSzPts val="2400"/>
              <a:buFont typeface="Arial"/>
              <a:buChar char="•"/>
            </a:pPr>
            <a:r>
              <a:rPr lang="en-US" sz="2000" b="1" i="0" dirty="0">
                <a:solidFill>
                  <a:schemeClr val="tx1">
                    <a:lumMod val="95000"/>
                    <a:lumOff val="5000"/>
                  </a:schemeClr>
                </a:solidFill>
                <a:effectLst/>
                <a:latin typeface="Times New Roman" panose="02020603050405020304" pitchFamily="18" charset="0"/>
                <a:cs typeface="Times New Roman" panose="02020603050405020304" pitchFamily="18" charset="0"/>
              </a:rPr>
              <a:t>Dialect </a:t>
            </a:r>
            <a:r>
              <a:rPr lang="en-US" sz="2000" b="0" i="0" dirty="0">
                <a:solidFill>
                  <a:schemeClr val="tx1">
                    <a:lumMod val="95000"/>
                    <a:lumOff val="5000"/>
                  </a:schemeClr>
                </a:solidFill>
                <a:effectLst/>
                <a:latin typeface="Times New Roman" panose="02020603050405020304" pitchFamily="18" charset="0"/>
                <a:cs typeface="Times New Roman" panose="02020603050405020304" pitchFamily="18" charset="0"/>
              </a:rPr>
              <a:t>is a class that acts as a bridge between </a:t>
            </a:r>
            <a:r>
              <a:rPr lang="en-US" sz="2000" b="1" i="0" dirty="0">
                <a:solidFill>
                  <a:schemeClr val="tx1">
                    <a:lumMod val="95000"/>
                    <a:lumOff val="5000"/>
                  </a:schemeClr>
                </a:solidFill>
                <a:effectLst/>
                <a:latin typeface="Times New Roman" panose="02020603050405020304" pitchFamily="18" charset="0"/>
                <a:cs typeface="Times New Roman" panose="02020603050405020304" pitchFamily="18" charset="0"/>
              </a:rPr>
              <a:t>Java JDBC types</a:t>
            </a:r>
            <a:r>
              <a:rPr lang="en-US" sz="2000" b="0" i="0" dirty="0">
                <a:solidFill>
                  <a:schemeClr val="tx1">
                    <a:lumMod val="95000"/>
                    <a:lumOff val="5000"/>
                  </a:schemeClr>
                </a:solidFill>
                <a:effectLst/>
                <a:latin typeface="Times New Roman" panose="02020603050405020304" pitchFamily="18" charset="0"/>
                <a:cs typeface="Times New Roman" panose="02020603050405020304" pitchFamily="18" charset="0"/>
              </a:rPr>
              <a:t> and </a:t>
            </a:r>
            <a:r>
              <a:rPr lang="en-US" sz="2000" b="1" i="0" dirty="0">
                <a:solidFill>
                  <a:schemeClr val="tx1">
                    <a:lumMod val="95000"/>
                    <a:lumOff val="5000"/>
                  </a:schemeClr>
                </a:solidFill>
                <a:effectLst/>
                <a:latin typeface="Times New Roman" panose="02020603050405020304" pitchFamily="18" charset="0"/>
                <a:cs typeface="Times New Roman" panose="02020603050405020304" pitchFamily="18" charset="0"/>
              </a:rPr>
              <a:t>SQL types</a:t>
            </a:r>
            <a:r>
              <a:rPr lang="en-US" sz="2000" b="0" i="0" dirty="0">
                <a:solidFill>
                  <a:schemeClr val="tx1">
                    <a:lumMod val="95000"/>
                    <a:lumOff val="5000"/>
                  </a:schemeClr>
                </a:solidFill>
                <a:effectLst/>
                <a:latin typeface="Times New Roman" panose="02020603050405020304" pitchFamily="18" charset="0"/>
                <a:cs typeface="Times New Roman" panose="02020603050405020304" pitchFamily="18" charset="0"/>
              </a:rPr>
              <a:t>, which contains the mapping between java language data type and database datatype. Dialect allows Hibernate to generate SQL optimized for a particular relational database. Hibernate generates queries for the specific database based on the </a:t>
            </a:r>
            <a:r>
              <a:rPr lang="en-US" sz="2000" b="1" i="0" dirty="0">
                <a:solidFill>
                  <a:schemeClr val="tx1">
                    <a:lumMod val="95000"/>
                    <a:lumOff val="5000"/>
                  </a:schemeClr>
                </a:solidFill>
                <a:effectLst/>
                <a:latin typeface="Times New Roman" panose="02020603050405020304" pitchFamily="18" charset="0"/>
                <a:cs typeface="Times New Roman" panose="02020603050405020304" pitchFamily="18" charset="0"/>
              </a:rPr>
              <a:t>Dialect </a:t>
            </a:r>
            <a:r>
              <a:rPr lang="en-US" sz="2000" b="0" i="0" dirty="0">
                <a:solidFill>
                  <a:schemeClr val="tx1">
                    <a:lumMod val="95000"/>
                    <a:lumOff val="5000"/>
                  </a:schemeClr>
                </a:solidFill>
                <a:effectLst/>
                <a:latin typeface="Times New Roman" panose="02020603050405020304" pitchFamily="18" charset="0"/>
                <a:cs typeface="Times New Roman" panose="02020603050405020304" pitchFamily="18" charset="0"/>
              </a:rPr>
              <a:t>class. A hibernate dialect gives information to the framework of how to convert </a:t>
            </a:r>
            <a:r>
              <a:rPr lang="en-US" sz="2000" b="1" i="0" dirty="0">
                <a:solidFill>
                  <a:schemeClr val="tx1">
                    <a:lumMod val="95000"/>
                    <a:lumOff val="5000"/>
                  </a:schemeClr>
                </a:solidFill>
                <a:effectLst/>
                <a:latin typeface="Times New Roman" panose="02020603050405020304" pitchFamily="18" charset="0"/>
                <a:cs typeface="Times New Roman" panose="02020603050405020304" pitchFamily="18" charset="0"/>
              </a:rPr>
              <a:t>hibernate queries(HQL)</a:t>
            </a:r>
            <a:r>
              <a:rPr lang="en-US" sz="2000" b="0" i="0" dirty="0">
                <a:solidFill>
                  <a:schemeClr val="tx1">
                    <a:lumMod val="95000"/>
                    <a:lumOff val="5000"/>
                  </a:schemeClr>
                </a:solidFill>
                <a:effectLst/>
                <a:latin typeface="Times New Roman" panose="02020603050405020304" pitchFamily="18" charset="0"/>
                <a:cs typeface="Times New Roman" panose="02020603050405020304" pitchFamily="18" charset="0"/>
              </a:rPr>
              <a:t> into native </a:t>
            </a:r>
            <a:r>
              <a:rPr lang="en-US" sz="2000" b="1" i="0" dirty="0">
                <a:solidFill>
                  <a:schemeClr val="tx1">
                    <a:lumMod val="95000"/>
                    <a:lumOff val="5000"/>
                  </a:schemeClr>
                </a:solidFill>
                <a:effectLst/>
                <a:latin typeface="Times New Roman" panose="02020603050405020304" pitchFamily="18" charset="0"/>
                <a:cs typeface="Times New Roman" panose="02020603050405020304" pitchFamily="18" charset="0"/>
              </a:rPr>
              <a:t>SQL queries</a:t>
            </a:r>
            <a:r>
              <a:rPr lang="en-US" sz="2000" b="0" i="0" dirty="0">
                <a:solidFill>
                  <a:schemeClr val="tx1">
                    <a:lumMod val="95000"/>
                    <a:lumOff val="5000"/>
                  </a:schemeClr>
                </a:solidFill>
                <a:effectLst/>
                <a:latin typeface="Times New Roman" panose="02020603050405020304" pitchFamily="18" charset="0"/>
                <a:cs typeface="Times New Roman" panose="02020603050405020304" pitchFamily="18" charset="0"/>
              </a:rPr>
              <a:t>.</a:t>
            </a:r>
            <a:endParaRPr lang="en-IN" sz="20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79" name="Google Shape;179;p10"/>
          <p:cNvSpPr/>
          <p:nvPr/>
        </p:nvSpPr>
        <p:spPr>
          <a:xfrm>
            <a:off x="0" y="1643063"/>
            <a:ext cx="9144000" cy="642937"/>
          </a:xfrm>
          <a:prstGeom prst="rect">
            <a:avLst/>
          </a:prstGeom>
          <a:solidFill>
            <a:srgbClr val="1F497D"/>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180" name="Google Shape;180;p10"/>
          <p:cNvSpPr/>
          <p:nvPr/>
        </p:nvSpPr>
        <p:spPr>
          <a:xfrm>
            <a:off x="190500" y="1687513"/>
            <a:ext cx="8763000" cy="55403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lt1"/>
              </a:buClr>
              <a:buSzPts val="3000"/>
              <a:buFont typeface="Arial"/>
              <a:buNone/>
            </a:pPr>
            <a:r>
              <a:rPr lang="en-IN" sz="3000" b="1" dirty="0">
                <a:solidFill>
                  <a:schemeClr val="lt1"/>
                </a:solidFill>
                <a:latin typeface="Calibri"/>
                <a:ea typeface="Calibri"/>
                <a:cs typeface="Calibri"/>
                <a:sym typeface="Calibri"/>
              </a:rPr>
              <a:t>Dialects </a:t>
            </a:r>
            <a:endParaRPr dirty="0"/>
          </a:p>
        </p:txBody>
      </p:sp>
      <p:pic>
        <p:nvPicPr>
          <p:cNvPr id="2" name="Picture 12">
            <a:extLst>
              <a:ext uri="{FF2B5EF4-FFF2-40B4-BE49-F238E27FC236}">
                <a16:creationId xmlns:a16="http://schemas.microsoft.com/office/drawing/2014/main" id="{883C79F7-D318-C937-9473-7A32017DA8A8}"/>
              </a:ext>
            </a:extLst>
          </p:cNvPr>
          <p:cNvPicPr>
            <a:picLocks noChangeAspect="1" noChangeArrowheads="1"/>
          </p:cNvPicPr>
          <p:nvPr/>
        </p:nvPicPr>
        <p:blipFill>
          <a:blip r:embed="rId5"/>
          <a:srcRect/>
          <a:stretch>
            <a:fillRect/>
          </a:stretch>
        </p:blipFill>
        <p:spPr bwMode="auto">
          <a:xfrm>
            <a:off x="381000" y="0"/>
            <a:ext cx="1524000" cy="1395413"/>
          </a:xfrm>
          <a:prstGeom prst="rect">
            <a:avLst/>
          </a:prstGeom>
          <a:noFill/>
          <a:ln w="9525">
            <a:noFill/>
            <a:miter lim="800000"/>
            <a:headEnd/>
            <a:tailEnd/>
          </a:ln>
        </p:spPr>
      </p:pic>
    </p:spTree>
    <p:extLst>
      <p:ext uri="{BB962C8B-B14F-4D97-AF65-F5344CB8AC3E}">
        <p14:creationId xmlns:p14="http://schemas.microsoft.com/office/powerpoint/2010/main" val="336815668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pic>
        <p:nvPicPr>
          <p:cNvPr id="176" name="Google Shape;176;p10" descr="C:\Users\parul\Desktop\Digital Learning Content.png"/>
          <p:cNvPicPr preferRelativeResize="0"/>
          <p:nvPr/>
        </p:nvPicPr>
        <p:blipFill rotWithShape="1">
          <a:blip r:embed="rId3">
            <a:alphaModFix/>
          </a:blip>
          <a:srcRect/>
          <a:stretch/>
        </p:blipFill>
        <p:spPr>
          <a:xfrm>
            <a:off x="0" y="0"/>
            <a:ext cx="9144000" cy="6900863"/>
          </a:xfrm>
          <a:prstGeom prst="rect">
            <a:avLst/>
          </a:prstGeom>
          <a:noFill/>
          <a:ln>
            <a:noFill/>
          </a:ln>
        </p:spPr>
      </p:pic>
      <p:pic>
        <p:nvPicPr>
          <p:cNvPr id="177" name="Google Shape;177;p10" descr="C:\Users\parul\Desktop\Untitled-1.png"/>
          <p:cNvPicPr preferRelativeResize="0"/>
          <p:nvPr/>
        </p:nvPicPr>
        <p:blipFill rotWithShape="1">
          <a:blip r:embed="rId4">
            <a:alphaModFix/>
          </a:blip>
          <a:srcRect/>
          <a:stretch/>
        </p:blipFill>
        <p:spPr>
          <a:xfrm>
            <a:off x="1857375" y="3071813"/>
            <a:ext cx="5430838" cy="2803525"/>
          </a:xfrm>
          <a:prstGeom prst="rect">
            <a:avLst/>
          </a:prstGeom>
          <a:noFill/>
          <a:ln>
            <a:noFill/>
          </a:ln>
        </p:spPr>
      </p:pic>
      <p:sp>
        <p:nvSpPr>
          <p:cNvPr id="178" name="Google Shape;178;p10"/>
          <p:cNvSpPr txBox="1"/>
          <p:nvPr/>
        </p:nvSpPr>
        <p:spPr>
          <a:xfrm>
            <a:off x="190500" y="2286000"/>
            <a:ext cx="8629650" cy="2246729"/>
          </a:xfrm>
          <a:prstGeom prst="rect">
            <a:avLst/>
          </a:prstGeom>
          <a:noFill/>
          <a:ln>
            <a:noFill/>
          </a:ln>
        </p:spPr>
        <p:txBody>
          <a:bodyPr spcFirstLastPara="1" wrap="square" lIns="91425" tIns="45700" rIns="91425" bIns="45700" anchor="t" anchorCtr="0">
            <a:spAutoFit/>
          </a:bodyPr>
          <a:lstStyle/>
          <a:p>
            <a:pPr algn="l" fontAlgn="base">
              <a:buFont typeface="Arial" panose="020B0604020202020204" pitchFamily="34" charset="0"/>
              <a:buChar char="•"/>
            </a:pPr>
            <a:r>
              <a:rPr lang="en-US" sz="2000" b="0" i="0" dirty="0">
                <a:solidFill>
                  <a:schemeClr val="tx1">
                    <a:lumMod val="95000"/>
                    <a:lumOff val="5000"/>
                  </a:schemeClr>
                </a:solidFill>
                <a:effectLst/>
                <a:latin typeface="Times New Roman" panose="02020603050405020304" pitchFamily="18" charset="0"/>
                <a:cs typeface="Times New Roman" panose="02020603050405020304" pitchFamily="18" charset="0"/>
              </a:rPr>
              <a:t> To generate Optimized SQL queries.</a:t>
            </a:r>
          </a:p>
          <a:p>
            <a:pPr algn="l" fontAlgn="base">
              <a:buFont typeface="Arial" panose="020B0604020202020204" pitchFamily="34" charset="0"/>
              <a:buChar char="•"/>
            </a:pPr>
            <a:endParaRPr lang="en-US" sz="2000" b="0" i="0" dirty="0">
              <a:solidFill>
                <a:schemeClr val="tx1">
                  <a:lumMod val="95000"/>
                  <a:lumOff val="5000"/>
                </a:schemeClr>
              </a:solidFill>
              <a:effectLst/>
              <a:latin typeface="Times New Roman" panose="02020603050405020304" pitchFamily="18" charset="0"/>
              <a:cs typeface="Times New Roman" panose="02020603050405020304" pitchFamily="18" charset="0"/>
            </a:endParaRPr>
          </a:p>
          <a:p>
            <a:pPr algn="l" fontAlgn="base">
              <a:buFont typeface="Arial" panose="020B0604020202020204" pitchFamily="34" charset="0"/>
              <a:buChar char="•"/>
            </a:pPr>
            <a:r>
              <a:rPr lang="en-US" sz="2000" b="0" i="0" dirty="0">
                <a:solidFill>
                  <a:schemeClr val="tx1">
                    <a:lumMod val="95000"/>
                    <a:lumOff val="5000"/>
                  </a:schemeClr>
                </a:solidFill>
                <a:effectLst/>
                <a:latin typeface="Times New Roman" panose="02020603050405020304" pitchFamily="18" charset="0"/>
                <a:cs typeface="Times New Roman" panose="02020603050405020304" pitchFamily="18" charset="0"/>
              </a:rPr>
              <a:t> To interact with a particular Database if the application works with the       help of more than one Database.</a:t>
            </a:r>
          </a:p>
          <a:p>
            <a:pPr algn="l" fontAlgn="base">
              <a:buFont typeface="Arial" panose="020B0604020202020204" pitchFamily="34" charset="0"/>
              <a:buChar char="•"/>
            </a:pPr>
            <a:endParaRPr lang="en-US" sz="2000" b="0" i="0" dirty="0">
              <a:solidFill>
                <a:schemeClr val="tx1">
                  <a:lumMod val="95000"/>
                  <a:lumOff val="5000"/>
                </a:schemeClr>
              </a:solidFill>
              <a:effectLst/>
              <a:latin typeface="Times New Roman" panose="02020603050405020304" pitchFamily="18" charset="0"/>
              <a:cs typeface="Times New Roman" panose="02020603050405020304" pitchFamily="18" charset="0"/>
            </a:endParaRPr>
          </a:p>
          <a:p>
            <a:pPr algn="l" fontAlgn="base">
              <a:buFont typeface="Arial" panose="020B0604020202020204" pitchFamily="34" charset="0"/>
              <a:buChar char="•"/>
            </a:pPr>
            <a:r>
              <a:rPr lang="en-US" sz="2000" b="0" i="0" dirty="0">
                <a:solidFill>
                  <a:schemeClr val="tx1">
                    <a:lumMod val="95000"/>
                    <a:lumOff val="5000"/>
                  </a:schemeClr>
                </a:solidFill>
                <a:effectLst/>
                <a:latin typeface="Times New Roman" panose="02020603050405020304" pitchFamily="18" charset="0"/>
                <a:cs typeface="Times New Roman" panose="02020603050405020304" pitchFamily="18" charset="0"/>
              </a:rPr>
              <a:t> To set default values for hibernate configuration file properties based on the database software even though they are not specified in the configuration file.</a:t>
            </a:r>
          </a:p>
        </p:txBody>
      </p:sp>
      <p:sp>
        <p:nvSpPr>
          <p:cNvPr id="179" name="Google Shape;179;p10"/>
          <p:cNvSpPr/>
          <p:nvPr/>
        </p:nvSpPr>
        <p:spPr>
          <a:xfrm>
            <a:off x="0" y="1643063"/>
            <a:ext cx="9144000" cy="642937"/>
          </a:xfrm>
          <a:prstGeom prst="rect">
            <a:avLst/>
          </a:prstGeom>
          <a:solidFill>
            <a:srgbClr val="1F497D"/>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180" name="Google Shape;180;p10"/>
          <p:cNvSpPr/>
          <p:nvPr/>
        </p:nvSpPr>
        <p:spPr>
          <a:xfrm>
            <a:off x="190500" y="1687513"/>
            <a:ext cx="8763000" cy="55403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lt1"/>
              </a:buClr>
              <a:buSzPts val="3000"/>
              <a:buFont typeface="Arial"/>
              <a:buNone/>
            </a:pPr>
            <a:r>
              <a:rPr lang="en-IN" sz="3000" b="1" dirty="0">
                <a:solidFill>
                  <a:schemeClr val="lt1"/>
                </a:solidFill>
                <a:latin typeface="Calibri"/>
                <a:ea typeface="Calibri"/>
                <a:cs typeface="Calibri"/>
                <a:sym typeface="Calibri"/>
              </a:rPr>
              <a:t>Dialects uses: </a:t>
            </a:r>
            <a:endParaRPr dirty="0"/>
          </a:p>
        </p:txBody>
      </p:sp>
      <p:pic>
        <p:nvPicPr>
          <p:cNvPr id="2" name="Picture 12">
            <a:extLst>
              <a:ext uri="{FF2B5EF4-FFF2-40B4-BE49-F238E27FC236}">
                <a16:creationId xmlns:a16="http://schemas.microsoft.com/office/drawing/2014/main" id="{B42D5E84-3B31-A96E-066A-8BCF10D89371}"/>
              </a:ext>
            </a:extLst>
          </p:cNvPr>
          <p:cNvPicPr>
            <a:picLocks noChangeAspect="1" noChangeArrowheads="1"/>
          </p:cNvPicPr>
          <p:nvPr/>
        </p:nvPicPr>
        <p:blipFill>
          <a:blip r:embed="rId5"/>
          <a:srcRect/>
          <a:stretch>
            <a:fillRect/>
          </a:stretch>
        </p:blipFill>
        <p:spPr bwMode="auto">
          <a:xfrm>
            <a:off x="381000" y="0"/>
            <a:ext cx="1524000" cy="1395413"/>
          </a:xfrm>
          <a:prstGeom prst="rect">
            <a:avLst/>
          </a:prstGeom>
          <a:noFill/>
          <a:ln w="9525">
            <a:noFill/>
            <a:miter lim="800000"/>
            <a:headEnd/>
            <a:tailEnd/>
          </a:ln>
        </p:spPr>
      </p:pic>
    </p:spTree>
    <p:extLst>
      <p:ext uri="{BB962C8B-B14F-4D97-AF65-F5344CB8AC3E}">
        <p14:creationId xmlns:p14="http://schemas.microsoft.com/office/powerpoint/2010/main" val="18618490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pic>
        <p:nvPicPr>
          <p:cNvPr id="176" name="Google Shape;176;p10" descr="C:\Users\parul\Desktop\Digital Learning Content.png"/>
          <p:cNvPicPr preferRelativeResize="0"/>
          <p:nvPr/>
        </p:nvPicPr>
        <p:blipFill rotWithShape="1">
          <a:blip r:embed="rId3">
            <a:alphaModFix/>
          </a:blip>
          <a:srcRect/>
          <a:stretch/>
        </p:blipFill>
        <p:spPr>
          <a:xfrm>
            <a:off x="0" y="0"/>
            <a:ext cx="9144000" cy="6900863"/>
          </a:xfrm>
          <a:prstGeom prst="rect">
            <a:avLst/>
          </a:prstGeom>
          <a:noFill/>
          <a:ln>
            <a:noFill/>
          </a:ln>
        </p:spPr>
      </p:pic>
      <p:pic>
        <p:nvPicPr>
          <p:cNvPr id="177" name="Google Shape;177;p10" descr="C:\Users\parul\Desktop\Untitled-1.png"/>
          <p:cNvPicPr preferRelativeResize="0"/>
          <p:nvPr/>
        </p:nvPicPr>
        <p:blipFill rotWithShape="1">
          <a:blip r:embed="rId4">
            <a:alphaModFix/>
          </a:blip>
          <a:srcRect/>
          <a:stretch/>
        </p:blipFill>
        <p:spPr>
          <a:xfrm>
            <a:off x="1857375" y="3071813"/>
            <a:ext cx="5430838" cy="2803525"/>
          </a:xfrm>
          <a:prstGeom prst="rect">
            <a:avLst/>
          </a:prstGeom>
          <a:noFill/>
          <a:ln>
            <a:noFill/>
          </a:ln>
        </p:spPr>
      </p:pic>
      <p:sp>
        <p:nvSpPr>
          <p:cNvPr id="179" name="Google Shape;179;p10"/>
          <p:cNvSpPr/>
          <p:nvPr/>
        </p:nvSpPr>
        <p:spPr>
          <a:xfrm>
            <a:off x="0" y="1643063"/>
            <a:ext cx="9144000" cy="642937"/>
          </a:xfrm>
          <a:prstGeom prst="rect">
            <a:avLst/>
          </a:prstGeom>
          <a:solidFill>
            <a:srgbClr val="1F497D"/>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180" name="Google Shape;180;p10"/>
          <p:cNvSpPr/>
          <p:nvPr/>
        </p:nvSpPr>
        <p:spPr>
          <a:xfrm>
            <a:off x="190500" y="1687513"/>
            <a:ext cx="8763000" cy="55403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lt1"/>
              </a:buClr>
              <a:buSzPts val="3000"/>
              <a:buFont typeface="Arial"/>
              <a:buNone/>
            </a:pPr>
            <a:r>
              <a:rPr lang="en-IN" sz="3000" b="1" dirty="0">
                <a:solidFill>
                  <a:schemeClr val="lt1"/>
                </a:solidFill>
                <a:latin typeface="Calibri"/>
                <a:ea typeface="Calibri"/>
                <a:cs typeface="Calibri"/>
                <a:sym typeface="Calibri"/>
              </a:rPr>
              <a:t>List of Dialects in Hibernate </a:t>
            </a:r>
            <a:endParaRPr dirty="0"/>
          </a:p>
        </p:txBody>
      </p:sp>
      <p:graphicFrame>
        <p:nvGraphicFramePr>
          <p:cNvPr id="2" name="Table 1">
            <a:extLst>
              <a:ext uri="{FF2B5EF4-FFF2-40B4-BE49-F238E27FC236}">
                <a16:creationId xmlns:a16="http://schemas.microsoft.com/office/drawing/2014/main" id="{84994DBB-34D2-E528-5181-7CC237E05732}"/>
              </a:ext>
            </a:extLst>
          </p:cNvPr>
          <p:cNvGraphicFramePr>
            <a:graphicFrameLocks noGrp="1"/>
          </p:cNvGraphicFramePr>
          <p:nvPr/>
        </p:nvGraphicFramePr>
        <p:xfrm>
          <a:off x="462116" y="2418735"/>
          <a:ext cx="7433188" cy="4435286"/>
        </p:xfrm>
        <a:graphic>
          <a:graphicData uri="http://schemas.openxmlformats.org/drawingml/2006/table">
            <a:tbl>
              <a:tblPr/>
              <a:tblGrid>
                <a:gridCol w="3716594">
                  <a:extLst>
                    <a:ext uri="{9D8B030D-6E8A-4147-A177-3AD203B41FA5}">
                      <a16:colId xmlns:a16="http://schemas.microsoft.com/office/drawing/2014/main" val="2037192085"/>
                    </a:ext>
                  </a:extLst>
                </a:gridCol>
                <a:gridCol w="3716594">
                  <a:extLst>
                    <a:ext uri="{9D8B030D-6E8A-4147-A177-3AD203B41FA5}">
                      <a16:colId xmlns:a16="http://schemas.microsoft.com/office/drawing/2014/main" val="4002187708"/>
                    </a:ext>
                  </a:extLst>
                </a:gridCol>
              </a:tblGrid>
              <a:tr h="187675">
                <a:tc>
                  <a:txBody>
                    <a:bodyPr/>
                    <a:lstStyle/>
                    <a:p>
                      <a:pPr algn="just" fontAlgn="t"/>
                      <a:r>
                        <a:rPr lang="en-IN" sz="800">
                          <a:solidFill>
                            <a:srgbClr val="333333"/>
                          </a:solidFill>
                          <a:effectLst/>
                          <a:latin typeface="inter-regular"/>
                        </a:rPr>
                        <a:t>Oracle9i</a:t>
                      </a:r>
                    </a:p>
                  </a:txBody>
                  <a:tcPr marL="35359" marR="35359" marT="35359" marB="35359">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800">
                          <a:solidFill>
                            <a:srgbClr val="333333"/>
                          </a:solidFill>
                          <a:effectLst/>
                          <a:latin typeface="inter-regular"/>
                        </a:rPr>
                        <a:t>org.hibernate.dialect.Oracle9iDialect</a:t>
                      </a:r>
                    </a:p>
                  </a:txBody>
                  <a:tcPr marL="35359" marR="35359" marT="35359" marB="35359">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3834591989"/>
                  </a:ext>
                </a:extLst>
              </a:tr>
              <a:tr h="187675">
                <a:tc>
                  <a:txBody>
                    <a:bodyPr/>
                    <a:lstStyle/>
                    <a:p>
                      <a:pPr algn="just" fontAlgn="t"/>
                      <a:r>
                        <a:rPr lang="en-IN" sz="800" dirty="0">
                          <a:solidFill>
                            <a:srgbClr val="333333"/>
                          </a:solidFill>
                          <a:effectLst/>
                          <a:latin typeface="inter-regular"/>
                        </a:rPr>
                        <a:t>Oracle10g</a:t>
                      </a:r>
                    </a:p>
                  </a:txBody>
                  <a:tcPr marL="35359" marR="35359" marT="35359" marB="35359">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800">
                          <a:solidFill>
                            <a:srgbClr val="333333"/>
                          </a:solidFill>
                          <a:effectLst/>
                          <a:latin typeface="inter-regular"/>
                        </a:rPr>
                        <a:t>org.hibernate.dialect.Oracle10gDialect</a:t>
                      </a:r>
                    </a:p>
                  </a:txBody>
                  <a:tcPr marL="35359" marR="35359" marT="35359" marB="35359">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3685977977"/>
                  </a:ext>
                </a:extLst>
              </a:tr>
              <a:tr h="187675">
                <a:tc>
                  <a:txBody>
                    <a:bodyPr/>
                    <a:lstStyle/>
                    <a:p>
                      <a:pPr algn="just" fontAlgn="t"/>
                      <a:r>
                        <a:rPr lang="en-IN" sz="800">
                          <a:solidFill>
                            <a:srgbClr val="333333"/>
                          </a:solidFill>
                          <a:effectLst/>
                          <a:latin typeface="inter-regular"/>
                        </a:rPr>
                        <a:t>MySQL</a:t>
                      </a:r>
                    </a:p>
                  </a:txBody>
                  <a:tcPr marL="35359" marR="35359" marT="35359" marB="35359">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800">
                          <a:solidFill>
                            <a:srgbClr val="333333"/>
                          </a:solidFill>
                          <a:effectLst/>
                          <a:latin typeface="inter-regular"/>
                        </a:rPr>
                        <a:t>org.hibernate.dialect.MySQLDialect</a:t>
                      </a:r>
                    </a:p>
                  </a:txBody>
                  <a:tcPr marL="35359" marR="35359" marT="35359" marB="35359">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2479786862"/>
                  </a:ext>
                </a:extLst>
              </a:tr>
              <a:tr h="187675">
                <a:tc>
                  <a:txBody>
                    <a:bodyPr/>
                    <a:lstStyle/>
                    <a:p>
                      <a:pPr algn="just" fontAlgn="t"/>
                      <a:r>
                        <a:rPr lang="en-IN" sz="800">
                          <a:solidFill>
                            <a:srgbClr val="333333"/>
                          </a:solidFill>
                          <a:effectLst/>
                          <a:latin typeface="inter-regular"/>
                        </a:rPr>
                        <a:t>MySQL with InnoDB</a:t>
                      </a:r>
                    </a:p>
                  </a:txBody>
                  <a:tcPr marL="35359" marR="35359" marT="35359" marB="35359">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800">
                          <a:solidFill>
                            <a:srgbClr val="333333"/>
                          </a:solidFill>
                          <a:effectLst/>
                          <a:latin typeface="inter-regular"/>
                        </a:rPr>
                        <a:t>org.hibernate.dialect.MySQLInnoDBDialect</a:t>
                      </a:r>
                    </a:p>
                  </a:txBody>
                  <a:tcPr marL="35359" marR="35359" marT="35359" marB="35359">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2827309275"/>
                  </a:ext>
                </a:extLst>
              </a:tr>
              <a:tr h="291263">
                <a:tc>
                  <a:txBody>
                    <a:bodyPr/>
                    <a:lstStyle/>
                    <a:p>
                      <a:pPr algn="just" fontAlgn="t"/>
                      <a:r>
                        <a:rPr lang="en-IN" sz="800">
                          <a:solidFill>
                            <a:srgbClr val="333333"/>
                          </a:solidFill>
                          <a:effectLst/>
                          <a:latin typeface="inter-regular"/>
                        </a:rPr>
                        <a:t>MySQL with MyISAM</a:t>
                      </a:r>
                    </a:p>
                  </a:txBody>
                  <a:tcPr marL="35359" marR="35359" marT="35359" marB="35359">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800">
                          <a:solidFill>
                            <a:srgbClr val="333333"/>
                          </a:solidFill>
                          <a:effectLst/>
                          <a:latin typeface="inter-regular"/>
                        </a:rPr>
                        <a:t>org.hibernate.dialect.MySQLMyISAMDialect</a:t>
                      </a:r>
                    </a:p>
                  </a:txBody>
                  <a:tcPr marL="35359" marR="35359" marT="35359" marB="35359">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937796215"/>
                  </a:ext>
                </a:extLst>
              </a:tr>
              <a:tr h="187675">
                <a:tc>
                  <a:txBody>
                    <a:bodyPr/>
                    <a:lstStyle/>
                    <a:p>
                      <a:pPr algn="just" fontAlgn="t"/>
                      <a:r>
                        <a:rPr lang="en-IN" sz="800">
                          <a:solidFill>
                            <a:srgbClr val="333333"/>
                          </a:solidFill>
                          <a:effectLst/>
                          <a:latin typeface="inter-regular"/>
                        </a:rPr>
                        <a:t>DB2</a:t>
                      </a:r>
                    </a:p>
                  </a:txBody>
                  <a:tcPr marL="35359" marR="35359" marT="35359" marB="35359">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800">
                          <a:solidFill>
                            <a:srgbClr val="333333"/>
                          </a:solidFill>
                          <a:effectLst/>
                          <a:latin typeface="inter-regular"/>
                        </a:rPr>
                        <a:t>org.hibernate.dialect.DB2Dialect</a:t>
                      </a:r>
                    </a:p>
                  </a:txBody>
                  <a:tcPr marL="35359" marR="35359" marT="35359" marB="35359">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4119515665"/>
                  </a:ext>
                </a:extLst>
              </a:tr>
              <a:tr h="187675">
                <a:tc>
                  <a:txBody>
                    <a:bodyPr/>
                    <a:lstStyle/>
                    <a:p>
                      <a:pPr algn="just" fontAlgn="t"/>
                      <a:r>
                        <a:rPr lang="en-IN" sz="800">
                          <a:solidFill>
                            <a:srgbClr val="333333"/>
                          </a:solidFill>
                          <a:effectLst/>
                          <a:latin typeface="inter-regular"/>
                        </a:rPr>
                        <a:t>DB2 AS/400</a:t>
                      </a:r>
                    </a:p>
                  </a:txBody>
                  <a:tcPr marL="35359" marR="35359" marT="35359" marB="35359">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800">
                          <a:solidFill>
                            <a:srgbClr val="333333"/>
                          </a:solidFill>
                          <a:effectLst/>
                          <a:latin typeface="inter-regular"/>
                        </a:rPr>
                        <a:t>org.hibernate.dialect.DB2400Dialect</a:t>
                      </a:r>
                    </a:p>
                  </a:txBody>
                  <a:tcPr marL="35359" marR="35359" marT="35359" marB="35359">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3853572774"/>
                  </a:ext>
                </a:extLst>
              </a:tr>
              <a:tr h="187675">
                <a:tc>
                  <a:txBody>
                    <a:bodyPr/>
                    <a:lstStyle/>
                    <a:p>
                      <a:pPr algn="just" fontAlgn="t"/>
                      <a:r>
                        <a:rPr lang="en-IN" sz="800">
                          <a:solidFill>
                            <a:srgbClr val="333333"/>
                          </a:solidFill>
                          <a:effectLst/>
                          <a:latin typeface="inter-regular"/>
                        </a:rPr>
                        <a:t>DB2 OS390</a:t>
                      </a:r>
                    </a:p>
                  </a:txBody>
                  <a:tcPr marL="35359" marR="35359" marT="35359" marB="35359">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800">
                          <a:solidFill>
                            <a:srgbClr val="333333"/>
                          </a:solidFill>
                          <a:effectLst/>
                          <a:latin typeface="inter-regular"/>
                        </a:rPr>
                        <a:t>org.hibernate.dialect.DB2390Dialect</a:t>
                      </a:r>
                    </a:p>
                  </a:txBody>
                  <a:tcPr marL="35359" marR="35359" marT="35359" marB="35359">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4220456875"/>
                  </a:ext>
                </a:extLst>
              </a:tr>
              <a:tr h="187675">
                <a:tc>
                  <a:txBody>
                    <a:bodyPr/>
                    <a:lstStyle/>
                    <a:p>
                      <a:pPr algn="just" fontAlgn="t"/>
                      <a:r>
                        <a:rPr lang="en-IN" sz="800">
                          <a:solidFill>
                            <a:srgbClr val="333333"/>
                          </a:solidFill>
                          <a:effectLst/>
                          <a:latin typeface="inter-regular"/>
                        </a:rPr>
                        <a:t>Microsoft SQL Server</a:t>
                      </a:r>
                    </a:p>
                  </a:txBody>
                  <a:tcPr marL="35359" marR="35359" marT="35359" marB="35359">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800">
                          <a:solidFill>
                            <a:srgbClr val="333333"/>
                          </a:solidFill>
                          <a:effectLst/>
                          <a:latin typeface="inter-regular"/>
                        </a:rPr>
                        <a:t>org.hibernate.dialect.SQLServerDialect</a:t>
                      </a:r>
                    </a:p>
                  </a:txBody>
                  <a:tcPr marL="35359" marR="35359" marT="35359" marB="35359">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3856313368"/>
                  </a:ext>
                </a:extLst>
              </a:tr>
              <a:tr h="187675">
                <a:tc>
                  <a:txBody>
                    <a:bodyPr/>
                    <a:lstStyle/>
                    <a:p>
                      <a:pPr algn="just" fontAlgn="t"/>
                      <a:r>
                        <a:rPr lang="en-IN" sz="800">
                          <a:solidFill>
                            <a:srgbClr val="333333"/>
                          </a:solidFill>
                          <a:effectLst/>
                          <a:latin typeface="inter-regular"/>
                        </a:rPr>
                        <a:t>Sybase</a:t>
                      </a:r>
                    </a:p>
                  </a:txBody>
                  <a:tcPr marL="35359" marR="35359" marT="35359" marB="35359">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800">
                          <a:solidFill>
                            <a:srgbClr val="333333"/>
                          </a:solidFill>
                          <a:effectLst/>
                          <a:latin typeface="inter-regular"/>
                        </a:rPr>
                        <a:t>org.hibernate.dialect.SybaseDialect</a:t>
                      </a:r>
                    </a:p>
                  </a:txBody>
                  <a:tcPr marL="35359" marR="35359" marT="35359" marB="35359">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4207239324"/>
                  </a:ext>
                </a:extLst>
              </a:tr>
              <a:tr h="291263">
                <a:tc>
                  <a:txBody>
                    <a:bodyPr/>
                    <a:lstStyle/>
                    <a:p>
                      <a:pPr algn="just" fontAlgn="t"/>
                      <a:r>
                        <a:rPr lang="en-IN" sz="800">
                          <a:solidFill>
                            <a:srgbClr val="333333"/>
                          </a:solidFill>
                          <a:effectLst/>
                          <a:latin typeface="inter-regular"/>
                        </a:rPr>
                        <a:t>Sybase Anywhere</a:t>
                      </a:r>
                    </a:p>
                  </a:txBody>
                  <a:tcPr marL="35359" marR="35359" marT="35359" marB="35359">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800">
                          <a:solidFill>
                            <a:srgbClr val="333333"/>
                          </a:solidFill>
                          <a:effectLst/>
                          <a:latin typeface="inter-regular"/>
                        </a:rPr>
                        <a:t>org.hibernate.dialect.SybaseAnywhereDialect</a:t>
                      </a:r>
                    </a:p>
                  </a:txBody>
                  <a:tcPr marL="35359" marR="35359" marT="35359" marB="35359">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3614713398"/>
                  </a:ext>
                </a:extLst>
              </a:tr>
              <a:tr h="187675">
                <a:tc>
                  <a:txBody>
                    <a:bodyPr/>
                    <a:lstStyle/>
                    <a:p>
                      <a:pPr algn="just" fontAlgn="t"/>
                      <a:r>
                        <a:rPr lang="en-IN" sz="800">
                          <a:solidFill>
                            <a:srgbClr val="333333"/>
                          </a:solidFill>
                          <a:effectLst/>
                          <a:latin typeface="inter-regular"/>
                        </a:rPr>
                        <a:t>PostgreSQL</a:t>
                      </a:r>
                    </a:p>
                  </a:txBody>
                  <a:tcPr marL="35359" marR="35359" marT="35359" marB="35359">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800">
                          <a:solidFill>
                            <a:srgbClr val="333333"/>
                          </a:solidFill>
                          <a:effectLst/>
                          <a:latin typeface="inter-regular"/>
                        </a:rPr>
                        <a:t>org.hibernate.dialect.PostgreSQLDialect</a:t>
                      </a:r>
                    </a:p>
                  </a:txBody>
                  <a:tcPr marL="35359" marR="35359" marT="35359" marB="35359">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2831639341"/>
                  </a:ext>
                </a:extLst>
              </a:tr>
              <a:tr h="187675">
                <a:tc>
                  <a:txBody>
                    <a:bodyPr/>
                    <a:lstStyle/>
                    <a:p>
                      <a:pPr algn="just" fontAlgn="t"/>
                      <a:r>
                        <a:rPr lang="en-IN" sz="800">
                          <a:solidFill>
                            <a:srgbClr val="333333"/>
                          </a:solidFill>
                          <a:effectLst/>
                          <a:latin typeface="inter-regular"/>
                        </a:rPr>
                        <a:t>SAP DB</a:t>
                      </a:r>
                    </a:p>
                  </a:txBody>
                  <a:tcPr marL="35359" marR="35359" marT="35359" marB="35359">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800">
                          <a:solidFill>
                            <a:srgbClr val="333333"/>
                          </a:solidFill>
                          <a:effectLst/>
                          <a:latin typeface="inter-regular"/>
                        </a:rPr>
                        <a:t>org.hibernate.dialect.SAPDBDialect</a:t>
                      </a:r>
                    </a:p>
                  </a:txBody>
                  <a:tcPr marL="35359" marR="35359" marT="35359" marB="35359">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2184796478"/>
                  </a:ext>
                </a:extLst>
              </a:tr>
              <a:tr h="187675">
                <a:tc>
                  <a:txBody>
                    <a:bodyPr/>
                    <a:lstStyle/>
                    <a:p>
                      <a:pPr algn="just" fontAlgn="t"/>
                      <a:r>
                        <a:rPr lang="en-IN" sz="800">
                          <a:solidFill>
                            <a:srgbClr val="333333"/>
                          </a:solidFill>
                          <a:effectLst/>
                          <a:latin typeface="inter-regular"/>
                        </a:rPr>
                        <a:t>Informix</a:t>
                      </a:r>
                    </a:p>
                  </a:txBody>
                  <a:tcPr marL="35359" marR="35359" marT="35359" marB="35359">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800">
                          <a:solidFill>
                            <a:srgbClr val="333333"/>
                          </a:solidFill>
                          <a:effectLst/>
                          <a:latin typeface="inter-regular"/>
                        </a:rPr>
                        <a:t>org.hibernate.dialect.InformixDialect</a:t>
                      </a:r>
                    </a:p>
                  </a:txBody>
                  <a:tcPr marL="35359" marR="35359" marT="35359" marB="35359">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855018609"/>
                  </a:ext>
                </a:extLst>
              </a:tr>
              <a:tr h="187675">
                <a:tc>
                  <a:txBody>
                    <a:bodyPr/>
                    <a:lstStyle/>
                    <a:p>
                      <a:pPr algn="just" fontAlgn="t"/>
                      <a:r>
                        <a:rPr lang="en-IN" sz="800">
                          <a:solidFill>
                            <a:srgbClr val="333333"/>
                          </a:solidFill>
                          <a:effectLst/>
                          <a:latin typeface="inter-regular"/>
                        </a:rPr>
                        <a:t>HypersonicSQL</a:t>
                      </a:r>
                    </a:p>
                  </a:txBody>
                  <a:tcPr marL="35359" marR="35359" marT="35359" marB="35359">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800">
                          <a:solidFill>
                            <a:srgbClr val="333333"/>
                          </a:solidFill>
                          <a:effectLst/>
                          <a:latin typeface="inter-regular"/>
                        </a:rPr>
                        <a:t>org.hibernate.dialect.HSQLDialect</a:t>
                      </a:r>
                    </a:p>
                  </a:txBody>
                  <a:tcPr marL="35359" marR="35359" marT="35359" marB="35359">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354151988"/>
                  </a:ext>
                </a:extLst>
              </a:tr>
              <a:tr h="187675">
                <a:tc>
                  <a:txBody>
                    <a:bodyPr/>
                    <a:lstStyle/>
                    <a:p>
                      <a:pPr algn="just" fontAlgn="t"/>
                      <a:r>
                        <a:rPr lang="en-IN" sz="800">
                          <a:solidFill>
                            <a:srgbClr val="333333"/>
                          </a:solidFill>
                          <a:effectLst/>
                          <a:latin typeface="inter-regular"/>
                        </a:rPr>
                        <a:t>Ingres</a:t>
                      </a:r>
                    </a:p>
                  </a:txBody>
                  <a:tcPr marL="35359" marR="35359" marT="35359" marB="35359">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800">
                          <a:solidFill>
                            <a:srgbClr val="333333"/>
                          </a:solidFill>
                          <a:effectLst/>
                          <a:latin typeface="inter-regular"/>
                        </a:rPr>
                        <a:t>org.hibernate.dialect.IngresDialect</a:t>
                      </a:r>
                    </a:p>
                  </a:txBody>
                  <a:tcPr marL="35359" marR="35359" marT="35359" marB="35359">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2413975438"/>
                  </a:ext>
                </a:extLst>
              </a:tr>
              <a:tr h="187675">
                <a:tc>
                  <a:txBody>
                    <a:bodyPr/>
                    <a:lstStyle/>
                    <a:p>
                      <a:pPr algn="just" fontAlgn="t"/>
                      <a:r>
                        <a:rPr lang="en-IN" sz="800">
                          <a:solidFill>
                            <a:srgbClr val="333333"/>
                          </a:solidFill>
                          <a:effectLst/>
                          <a:latin typeface="inter-regular"/>
                        </a:rPr>
                        <a:t>Progress</a:t>
                      </a:r>
                    </a:p>
                  </a:txBody>
                  <a:tcPr marL="35359" marR="35359" marT="35359" marB="35359">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800">
                          <a:solidFill>
                            <a:srgbClr val="333333"/>
                          </a:solidFill>
                          <a:effectLst/>
                          <a:latin typeface="inter-regular"/>
                        </a:rPr>
                        <a:t>org.hibernate.dialect.ProgressDialect</a:t>
                      </a:r>
                    </a:p>
                  </a:txBody>
                  <a:tcPr marL="35359" marR="35359" marT="35359" marB="35359">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1213694393"/>
                  </a:ext>
                </a:extLst>
              </a:tr>
              <a:tr h="187675">
                <a:tc>
                  <a:txBody>
                    <a:bodyPr/>
                    <a:lstStyle/>
                    <a:p>
                      <a:pPr algn="just" fontAlgn="t"/>
                      <a:r>
                        <a:rPr lang="en-IN" sz="800">
                          <a:solidFill>
                            <a:srgbClr val="333333"/>
                          </a:solidFill>
                          <a:effectLst/>
                          <a:latin typeface="inter-regular"/>
                        </a:rPr>
                        <a:t>Mckoi SQL</a:t>
                      </a:r>
                    </a:p>
                  </a:txBody>
                  <a:tcPr marL="35359" marR="35359" marT="35359" marB="35359">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800">
                          <a:solidFill>
                            <a:srgbClr val="333333"/>
                          </a:solidFill>
                          <a:effectLst/>
                          <a:latin typeface="inter-regular"/>
                        </a:rPr>
                        <a:t>org.hibernate.dialect.MckoiDialect</a:t>
                      </a:r>
                    </a:p>
                  </a:txBody>
                  <a:tcPr marL="35359" marR="35359" marT="35359" marB="35359">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299716620"/>
                  </a:ext>
                </a:extLst>
              </a:tr>
              <a:tr h="187675">
                <a:tc>
                  <a:txBody>
                    <a:bodyPr/>
                    <a:lstStyle/>
                    <a:p>
                      <a:pPr algn="just" fontAlgn="t"/>
                      <a:r>
                        <a:rPr lang="en-IN" sz="800">
                          <a:solidFill>
                            <a:srgbClr val="333333"/>
                          </a:solidFill>
                          <a:effectLst/>
                          <a:latin typeface="inter-regular"/>
                        </a:rPr>
                        <a:t>Interbase</a:t>
                      </a:r>
                    </a:p>
                  </a:txBody>
                  <a:tcPr marL="35359" marR="35359" marT="35359" marB="35359">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800">
                          <a:solidFill>
                            <a:srgbClr val="333333"/>
                          </a:solidFill>
                          <a:effectLst/>
                          <a:latin typeface="inter-regular"/>
                        </a:rPr>
                        <a:t>org.hibernate.dialect.InterbaseDialect</a:t>
                      </a:r>
                    </a:p>
                  </a:txBody>
                  <a:tcPr marL="35359" marR="35359" marT="35359" marB="35359">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4161663917"/>
                  </a:ext>
                </a:extLst>
              </a:tr>
              <a:tr h="187675">
                <a:tc>
                  <a:txBody>
                    <a:bodyPr/>
                    <a:lstStyle/>
                    <a:p>
                      <a:pPr algn="just" fontAlgn="t"/>
                      <a:r>
                        <a:rPr lang="en-IN" sz="800">
                          <a:solidFill>
                            <a:srgbClr val="333333"/>
                          </a:solidFill>
                          <a:effectLst/>
                          <a:latin typeface="inter-regular"/>
                        </a:rPr>
                        <a:t>Pointbase</a:t>
                      </a:r>
                    </a:p>
                  </a:txBody>
                  <a:tcPr marL="35359" marR="35359" marT="35359" marB="35359">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800">
                          <a:solidFill>
                            <a:srgbClr val="333333"/>
                          </a:solidFill>
                          <a:effectLst/>
                          <a:latin typeface="inter-regular"/>
                        </a:rPr>
                        <a:t>org.hibernate.dialect.PointbaseDialect</a:t>
                      </a:r>
                    </a:p>
                  </a:txBody>
                  <a:tcPr marL="35359" marR="35359" marT="35359" marB="35359">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1440742705"/>
                  </a:ext>
                </a:extLst>
              </a:tr>
              <a:tr h="187675">
                <a:tc>
                  <a:txBody>
                    <a:bodyPr/>
                    <a:lstStyle/>
                    <a:p>
                      <a:pPr algn="just" fontAlgn="t"/>
                      <a:r>
                        <a:rPr lang="en-IN" sz="800">
                          <a:solidFill>
                            <a:srgbClr val="333333"/>
                          </a:solidFill>
                          <a:effectLst/>
                          <a:latin typeface="inter-regular"/>
                        </a:rPr>
                        <a:t>FrontBase</a:t>
                      </a:r>
                    </a:p>
                  </a:txBody>
                  <a:tcPr marL="35359" marR="35359" marT="35359" marB="35359">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tc>
                  <a:txBody>
                    <a:bodyPr/>
                    <a:lstStyle/>
                    <a:p>
                      <a:pPr algn="just" fontAlgn="t"/>
                      <a:r>
                        <a:rPr lang="en-IN" sz="800">
                          <a:solidFill>
                            <a:srgbClr val="333333"/>
                          </a:solidFill>
                          <a:effectLst/>
                          <a:latin typeface="inter-regular"/>
                        </a:rPr>
                        <a:t>org.hibernate.dialect.FrontbaseDialect</a:t>
                      </a:r>
                    </a:p>
                  </a:txBody>
                  <a:tcPr marL="35359" marR="35359" marT="35359" marB="35359">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EFF1EB"/>
                    </a:solidFill>
                  </a:tcPr>
                </a:tc>
                <a:extLst>
                  <a:ext uri="{0D108BD9-81ED-4DB2-BD59-A6C34878D82A}">
                    <a16:rowId xmlns:a16="http://schemas.microsoft.com/office/drawing/2014/main" val="240873017"/>
                  </a:ext>
                </a:extLst>
              </a:tr>
              <a:tr h="187675">
                <a:tc>
                  <a:txBody>
                    <a:bodyPr/>
                    <a:lstStyle/>
                    <a:p>
                      <a:pPr algn="just" fontAlgn="t"/>
                      <a:r>
                        <a:rPr lang="en-IN" sz="800">
                          <a:solidFill>
                            <a:srgbClr val="333333"/>
                          </a:solidFill>
                          <a:effectLst/>
                          <a:latin typeface="inter-regular"/>
                        </a:rPr>
                        <a:t>Firebird</a:t>
                      </a:r>
                    </a:p>
                  </a:txBody>
                  <a:tcPr marL="35359" marR="35359" marT="35359" marB="35359">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tc>
                  <a:txBody>
                    <a:bodyPr/>
                    <a:lstStyle/>
                    <a:p>
                      <a:pPr algn="just" fontAlgn="t"/>
                      <a:r>
                        <a:rPr lang="en-IN" sz="800" dirty="0" err="1">
                          <a:solidFill>
                            <a:srgbClr val="333333"/>
                          </a:solidFill>
                          <a:effectLst/>
                          <a:latin typeface="inter-regular"/>
                        </a:rPr>
                        <a:t>org.hibernate.dialect.FirebirdDialect</a:t>
                      </a:r>
                      <a:endParaRPr lang="en-IN" sz="800" dirty="0">
                        <a:solidFill>
                          <a:srgbClr val="333333"/>
                        </a:solidFill>
                        <a:effectLst/>
                        <a:latin typeface="inter-regular"/>
                      </a:endParaRPr>
                    </a:p>
                  </a:txBody>
                  <a:tcPr marL="35359" marR="35359" marT="35359" marB="35359">
                    <a:lnL w="7620" cap="flat" cmpd="sng" algn="ctr">
                      <a:solidFill>
                        <a:srgbClr val="C7CCBE"/>
                      </a:solidFill>
                      <a:prstDash val="solid"/>
                      <a:round/>
                      <a:headEnd type="none" w="med" len="med"/>
                      <a:tailEnd type="none" w="med" len="med"/>
                    </a:lnL>
                    <a:lnR w="7620" cap="flat" cmpd="sng" algn="ctr">
                      <a:solidFill>
                        <a:srgbClr val="C7CCBE"/>
                      </a:solidFill>
                      <a:prstDash val="solid"/>
                      <a:round/>
                      <a:headEnd type="none" w="med" len="med"/>
                      <a:tailEnd type="none" w="med" len="med"/>
                    </a:lnR>
                    <a:lnT w="7620" cap="flat" cmpd="sng" algn="ctr">
                      <a:solidFill>
                        <a:srgbClr val="C7CCBE"/>
                      </a:solidFill>
                      <a:prstDash val="solid"/>
                      <a:round/>
                      <a:headEnd type="none" w="med" len="med"/>
                      <a:tailEnd type="none" w="med" len="med"/>
                    </a:lnT>
                    <a:lnB w="7620" cap="flat" cmpd="sng" algn="ctr">
                      <a:solidFill>
                        <a:srgbClr val="C7CCBE"/>
                      </a:solidFill>
                      <a:prstDash val="solid"/>
                      <a:round/>
                      <a:headEnd type="none" w="med" len="med"/>
                      <a:tailEnd type="none" w="med" len="med"/>
                    </a:lnB>
                    <a:solidFill>
                      <a:srgbClr val="FFFFFF"/>
                    </a:solidFill>
                  </a:tcPr>
                </a:tc>
                <a:extLst>
                  <a:ext uri="{0D108BD9-81ED-4DB2-BD59-A6C34878D82A}">
                    <a16:rowId xmlns:a16="http://schemas.microsoft.com/office/drawing/2014/main" val="4245658251"/>
                  </a:ext>
                </a:extLst>
              </a:tr>
            </a:tbl>
          </a:graphicData>
        </a:graphic>
      </p:graphicFrame>
      <p:pic>
        <p:nvPicPr>
          <p:cNvPr id="3" name="Picture 12">
            <a:extLst>
              <a:ext uri="{FF2B5EF4-FFF2-40B4-BE49-F238E27FC236}">
                <a16:creationId xmlns:a16="http://schemas.microsoft.com/office/drawing/2014/main" id="{C0D9A5D8-717A-4398-0861-9CD2F7BA8534}"/>
              </a:ext>
            </a:extLst>
          </p:cNvPr>
          <p:cNvPicPr>
            <a:picLocks noChangeAspect="1" noChangeArrowheads="1"/>
          </p:cNvPicPr>
          <p:nvPr/>
        </p:nvPicPr>
        <p:blipFill>
          <a:blip r:embed="rId5"/>
          <a:srcRect/>
          <a:stretch>
            <a:fillRect/>
          </a:stretch>
        </p:blipFill>
        <p:spPr bwMode="auto">
          <a:xfrm>
            <a:off x="381000" y="0"/>
            <a:ext cx="1524000" cy="1395413"/>
          </a:xfrm>
          <a:prstGeom prst="rect">
            <a:avLst/>
          </a:prstGeom>
          <a:noFill/>
          <a:ln w="9525">
            <a:noFill/>
            <a:miter lim="800000"/>
            <a:headEnd/>
            <a:tailEnd/>
          </a:ln>
        </p:spPr>
      </p:pic>
    </p:spTree>
    <p:extLst>
      <p:ext uri="{BB962C8B-B14F-4D97-AF65-F5344CB8AC3E}">
        <p14:creationId xmlns:p14="http://schemas.microsoft.com/office/powerpoint/2010/main" val="11053464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pic>
        <p:nvPicPr>
          <p:cNvPr id="176" name="Google Shape;176;p10" descr="C:\Users\parul\Desktop\Digital Learning Content.png"/>
          <p:cNvPicPr preferRelativeResize="0"/>
          <p:nvPr/>
        </p:nvPicPr>
        <p:blipFill rotWithShape="1">
          <a:blip r:embed="rId3">
            <a:alphaModFix/>
          </a:blip>
          <a:srcRect/>
          <a:stretch/>
        </p:blipFill>
        <p:spPr>
          <a:xfrm>
            <a:off x="0" y="0"/>
            <a:ext cx="9144000" cy="6900863"/>
          </a:xfrm>
          <a:prstGeom prst="rect">
            <a:avLst/>
          </a:prstGeom>
          <a:noFill/>
          <a:ln>
            <a:noFill/>
          </a:ln>
        </p:spPr>
      </p:pic>
      <p:pic>
        <p:nvPicPr>
          <p:cNvPr id="177" name="Google Shape;177;p10" descr="C:\Users\parul\Desktop\Untitled-1.png"/>
          <p:cNvPicPr preferRelativeResize="0"/>
          <p:nvPr/>
        </p:nvPicPr>
        <p:blipFill rotWithShape="1">
          <a:blip r:embed="rId4">
            <a:alphaModFix/>
          </a:blip>
          <a:srcRect/>
          <a:stretch/>
        </p:blipFill>
        <p:spPr>
          <a:xfrm>
            <a:off x="1857375" y="3071813"/>
            <a:ext cx="5430838" cy="2803525"/>
          </a:xfrm>
          <a:prstGeom prst="rect">
            <a:avLst/>
          </a:prstGeom>
          <a:noFill/>
          <a:ln>
            <a:noFill/>
          </a:ln>
        </p:spPr>
      </p:pic>
      <p:sp>
        <p:nvSpPr>
          <p:cNvPr id="178" name="Google Shape;178;p10"/>
          <p:cNvSpPr txBox="1"/>
          <p:nvPr/>
        </p:nvSpPr>
        <p:spPr>
          <a:xfrm>
            <a:off x="190500" y="2286000"/>
            <a:ext cx="8629650" cy="3785611"/>
          </a:xfrm>
          <a:prstGeom prst="rect">
            <a:avLst/>
          </a:prstGeom>
          <a:noFill/>
          <a:ln>
            <a:noFill/>
          </a:ln>
        </p:spPr>
        <p:txBody>
          <a:bodyPr spcFirstLastPara="1" wrap="square" lIns="91425" tIns="45700" rIns="91425" bIns="45700" anchor="t" anchorCtr="0">
            <a:spAutoFit/>
          </a:bodyPr>
          <a:lstStyle/>
          <a:p>
            <a:pPr algn="l" fontAlgn="base">
              <a:buFont typeface="Arial" panose="020B0604020202020204" pitchFamily="34" charset="0"/>
              <a:buChar char="•"/>
            </a:pPr>
            <a:r>
              <a:rPr lang="en-US" sz="2000" b="0" i="0" dirty="0">
                <a:solidFill>
                  <a:schemeClr val="tx1">
                    <a:lumMod val="95000"/>
                    <a:lumOff val="5000"/>
                  </a:schemeClr>
                </a:solidFill>
                <a:effectLst/>
                <a:latin typeface="Times New Roman" panose="02020603050405020304" pitchFamily="18" charset="0"/>
                <a:cs typeface="Times New Roman" panose="02020603050405020304" pitchFamily="18" charset="0"/>
              </a:rPr>
              <a:t>The SQL dialect converts the </a:t>
            </a:r>
            <a:r>
              <a:rPr lang="en-US" sz="2000" b="1" i="0" dirty="0">
                <a:solidFill>
                  <a:schemeClr val="tx1">
                    <a:lumMod val="95000"/>
                    <a:lumOff val="5000"/>
                  </a:schemeClr>
                </a:solidFill>
                <a:effectLst/>
                <a:latin typeface="Times New Roman" panose="02020603050405020304" pitchFamily="18" charset="0"/>
                <a:cs typeface="Times New Roman" panose="02020603050405020304" pitchFamily="18" charset="0"/>
              </a:rPr>
              <a:t>HQL query</a:t>
            </a:r>
            <a:r>
              <a:rPr lang="en-US" sz="2000" b="0" i="0" dirty="0">
                <a:solidFill>
                  <a:schemeClr val="tx1">
                    <a:lumMod val="95000"/>
                    <a:lumOff val="5000"/>
                  </a:schemeClr>
                </a:solidFill>
                <a:effectLst/>
                <a:latin typeface="Times New Roman" panose="02020603050405020304" pitchFamily="18" charset="0"/>
                <a:cs typeface="Times New Roman" panose="02020603050405020304" pitchFamily="18" charset="0"/>
              </a:rPr>
              <a:t> which we write in java or any other object-oriented program to the specific database SQL query. For connecting any hibernate application with the database, it is required to provide the configuration of SQL dialect. We can provide it in </a:t>
            </a:r>
            <a:r>
              <a:rPr lang="en-US" sz="2000" b="1" i="0" dirty="0">
                <a:solidFill>
                  <a:schemeClr val="tx1">
                    <a:lumMod val="95000"/>
                    <a:lumOff val="5000"/>
                  </a:schemeClr>
                </a:solidFill>
                <a:effectLst/>
                <a:latin typeface="Times New Roman" panose="02020603050405020304" pitchFamily="18" charset="0"/>
                <a:cs typeface="Times New Roman" panose="02020603050405020304" pitchFamily="18" charset="0"/>
              </a:rPr>
              <a:t>hibernate.cfg.xml</a:t>
            </a:r>
            <a:r>
              <a:rPr lang="en-US" sz="2000" b="0" i="0" dirty="0">
                <a:solidFill>
                  <a:schemeClr val="tx1">
                    <a:lumMod val="95000"/>
                    <a:lumOff val="5000"/>
                  </a:schemeClr>
                </a:solidFill>
                <a:effectLst/>
                <a:latin typeface="Times New Roman" panose="02020603050405020304" pitchFamily="18" charset="0"/>
                <a:cs typeface="Times New Roman" panose="02020603050405020304" pitchFamily="18" charset="0"/>
              </a:rPr>
              <a:t> </a:t>
            </a:r>
            <a:r>
              <a:rPr lang="en-US" sz="2000" b="1" i="0" dirty="0">
                <a:solidFill>
                  <a:schemeClr val="tx1">
                    <a:lumMod val="95000"/>
                    <a:lumOff val="5000"/>
                  </a:schemeClr>
                </a:solidFill>
                <a:effectLst/>
                <a:latin typeface="Times New Roman" panose="02020603050405020304" pitchFamily="18" charset="0"/>
                <a:cs typeface="Times New Roman" panose="02020603050405020304" pitchFamily="18" charset="0"/>
              </a:rPr>
              <a:t>(DB2 Dialect)</a:t>
            </a:r>
            <a:r>
              <a:rPr lang="en-US" sz="2000" b="0" i="0" dirty="0">
                <a:solidFill>
                  <a:schemeClr val="tx1">
                    <a:lumMod val="95000"/>
                    <a:lumOff val="5000"/>
                  </a:schemeClr>
                </a:solidFill>
                <a:effectLst/>
                <a:latin typeface="Times New Roman" panose="02020603050405020304" pitchFamily="18" charset="0"/>
                <a:cs typeface="Times New Roman" panose="02020603050405020304" pitchFamily="18" charset="0"/>
              </a:rPr>
              <a:t> as :</a:t>
            </a:r>
          </a:p>
          <a:p>
            <a:pPr algn="l" fontAlgn="base">
              <a:buFont typeface="Arial" panose="020B0604020202020204" pitchFamily="34" charset="0"/>
              <a:buChar char="•"/>
            </a:pPr>
            <a:endParaRPr lang="en-US" sz="2000" b="0" i="0" dirty="0">
              <a:solidFill>
                <a:schemeClr val="tx1">
                  <a:lumMod val="95000"/>
                  <a:lumOff val="5000"/>
                </a:schemeClr>
              </a:solidFill>
              <a:effectLst/>
              <a:latin typeface="Times New Roman" panose="02020603050405020304" pitchFamily="18" charset="0"/>
              <a:cs typeface="Times New Roman" panose="02020603050405020304" pitchFamily="18" charset="0"/>
            </a:endParaRPr>
          </a:p>
          <a:p>
            <a:pPr algn="l" fontAlgn="base"/>
            <a:r>
              <a:rPr lang="en-IN" sz="2000" b="0" i="1" dirty="0">
                <a:solidFill>
                  <a:srgbClr val="FFFFFF"/>
                </a:solidFill>
                <a:effectLst/>
                <a:latin typeface="Times New Roman" panose="02020603050405020304" pitchFamily="18" charset="0"/>
                <a:cs typeface="Times New Roman" panose="02020603050405020304" pitchFamily="18" charset="0"/>
              </a:rPr>
              <a:t>&lt;</a:t>
            </a:r>
            <a:r>
              <a:rPr lang="en-IN" sz="2000" b="0" i="1" dirty="0">
                <a:solidFill>
                  <a:schemeClr val="tx1">
                    <a:lumMod val="95000"/>
                    <a:lumOff val="5000"/>
                  </a:schemeClr>
                </a:solidFill>
                <a:effectLst/>
                <a:latin typeface="Times New Roman" panose="02020603050405020304" pitchFamily="18" charset="0"/>
                <a:cs typeface="Times New Roman" panose="02020603050405020304" pitchFamily="18" charset="0"/>
              </a:rPr>
              <a:t>hibernate-configuration&gt;</a:t>
            </a:r>
          </a:p>
          <a:p>
            <a:pPr algn="l" fontAlgn="base"/>
            <a:r>
              <a:rPr lang="en-IN" sz="2000" b="0" i="1" dirty="0">
                <a:solidFill>
                  <a:schemeClr val="tx1">
                    <a:lumMod val="95000"/>
                    <a:lumOff val="5000"/>
                  </a:schemeClr>
                </a:solidFill>
                <a:effectLst/>
                <a:latin typeface="Times New Roman" panose="02020603050405020304" pitchFamily="18" charset="0"/>
                <a:cs typeface="Times New Roman" panose="02020603050405020304" pitchFamily="18" charset="0"/>
              </a:rPr>
              <a:t>        &lt;session-factory name=”session-factory”&gt;</a:t>
            </a:r>
          </a:p>
          <a:p>
            <a:pPr algn="l" fontAlgn="base"/>
            <a:r>
              <a:rPr lang="en-IN" sz="2000" b="0" i="1" dirty="0">
                <a:solidFill>
                  <a:schemeClr val="tx1">
                    <a:lumMod val="95000"/>
                    <a:lumOff val="5000"/>
                  </a:schemeClr>
                </a:solidFill>
                <a:effectLst/>
                <a:latin typeface="Times New Roman" panose="02020603050405020304" pitchFamily="18" charset="0"/>
                <a:cs typeface="Times New Roman" panose="02020603050405020304" pitchFamily="18" charset="0"/>
              </a:rPr>
              <a:t>               &lt;property name=“</a:t>
            </a:r>
            <a:r>
              <a:rPr lang="en-IN" sz="2000" b="0" i="1" dirty="0" err="1">
                <a:solidFill>
                  <a:schemeClr val="tx1">
                    <a:lumMod val="95000"/>
                    <a:lumOff val="5000"/>
                  </a:schemeClr>
                </a:solidFill>
                <a:effectLst/>
                <a:latin typeface="Times New Roman" panose="02020603050405020304" pitchFamily="18" charset="0"/>
                <a:cs typeface="Times New Roman" panose="02020603050405020304" pitchFamily="18" charset="0"/>
              </a:rPr>
              <a:t>hibernate.dialect</a:t>
            </a:r>
            <a:r>
              <a:rPr lang="en-IN" sz="2000" b="0" i="1" dirty="0">
                <a:solidFill>
                  <a:schemeClr val="tx1">
                    <a:lumMod val="95000"/>
                    <a:lumOff val="5000"/>
                  </a:schemeClr>
                </a:solidFill>
                <a:effectLst/>
                <a:latin typeface="Times New Roman" panose="02020603050405020304" pitchFamily="18" charset="0"/>
                <a:cs typeface="Times New Roman" panose="02020603050405020304" pitchFamily="18" charset="0"/>
              </a:rPr>
              <a:t>”&gt;org.hibernate.dialect.DB2Dialect&lt;/property</a:t>
            </a:r>
            <a:r>
              <a:rPr lang="en-IN" sz="2000" i="1" dirty="0">
                <a:solidFill>
                  <a:schemeClr val="tx1">
                    <a:lumMod val="95000"/>
                    <a:lumOff val="5000"/>
                  </a:schemeClr>
                </a:solidFill>
                <a:latin typeface="Times New Roman" panose="02020603050405020304" pitchFamily="18" charset="0"/>
                <a:cs typeface="Times New Roman" panose="02020603050405020304" pitchFamily="18" charset="0"/>
              </a:rPr>
              <a:t>&gt;</a:t>
            </a:r>
            <a:r>
              <a:rPr lang="en-IN" sz="2000" b="0" i="1" dirty="0">
                <a:solidFill>
                  <a:schemeClr val="tx1">
                    <a:lumMod val="95000"/>
                    <a:lumOff val="5000"/>
                  </a:schemeClr>
                </a:solidFill>
                <a:effectLst/>
                <a:latin typeface="Times New Roman" panose="02020603050405020304" pitchFamily="18" charset="0"/>
                <a:cs typeface="Times New Roman" panose="02020603050405020304" pitchFamily="18" charset="0"/>
              </a:rPr>
              <a:t>                  &lt;/session-factory&gt;</a:t>
            </a:r>
          </a:p>
          <a:p>
            <a:pPr algn="l" fontAlgn="base"/>
            <a:r>
              <a:rPr lang="en-IN" sz="2000" b="0" i="1" dirty="0">
                <a:solidFill>
                  <a:schemeClr val="tx1">
                    <a:lumMod val="95000"/>
                    <a:lumOff val="5000"/>
                  </a:schemeClr>
                </a:solidFill>
                <a:effectLst/>
                <a:latin typeface="Times New Roman" panose="02020603050405020304" pitchFamily="18" charset="0"/>
                <a:cs typeface="Times New Roman" panose="02020603050405020304" pitchFamily="18" charset="0"/>
              </a:rPr>
              <a:t>&lt;/hibernate-configuration&gt;</a:t>
            </a:r>
          </a:p>
          <a:p>
            <a:pPr algn="l" fontAlgn="base">
              <a:buFont typeface="Arial" panose="020B0604020202020204" pitchFamily="34" charset="0"/>
              <a:buChar char="•"/>
            </a:pPr>
            <a:endParaRPr lang="en-US" sz="2000" b="0" i="0" dirty="0">
              <a:solidFill>
                <a:schemeClr val="tx1">
                  <a:lumMod val="95000"/>
                  <a:lumOff val="5000"/>
                </a:schemeClr>
              </a:solidFill>
              <a:effectLst/>
              <a:latin typeface="Times New Roman" panose="02020603050405020304" pitchFamily="18" charset="0"/>
              <a:cs typeface="Times New Roman" panose="02020603050405020304" pitchFamily="18" charset="0"/>
            </a:endParaRPr>
          </a:p>
        </p:txBody>
      </p:sp>
      <p:sp>
        <p:nvSpPr>
          <p:cNvPr id="179" name="Google Shape;179;p10"/>
          <p:cNvSpPr/>
          <p:nvPr/>
        </p:nvSpPr>
        <p:spPr>
          <a:xfrm>
            <a:off x="0" y="1643063"/>
            <a:ext cx="9144000" cy="642937"/>
          </a:xfrm>
          <a:prstGeom prst="rect">
            <a:avLst/>
          </a:prstGeom>
          <a:solidFill>
            <a:srgbClr val="1F497D"/>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180" name="Google Shape;180;p10"/>
          <p:cNvSpPr/>
          <p:nvPr/>
        </p:nvSpPr>
        <p:spPr>
          <a:xfrm>
            <a:off x="190500" y="1687513"/>
            <a:ext cx="8763000" cy="55403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lt1"/>
              </a:buClr>
              <a:buSzPts val="3000"/>
              <a:buFont typeface="Arial"/>
              <a:buNone/>
            </a:pPr>
            <a:r>
              <a:rPr lang="en-IN" sz="3000" b="1" dirty="0">
                <a:solidFill>
                  <a:schemeClr val="lt1"/>
                </a:solidFill>
                <a:latin typeface="Calibri"/>
                <a:ea typeface="Calibri"/>
                <a:cs typeface="Calibri"/>
                <a:sym typeface="Calibri"/>
              </a:rPr>
              <a:t>SQL Dialects Configuration</a:t>
            </a:r>
            <a:endParaRPr dirty="0"/>
          </a:p>
        </p:txBody>
      </p:sp>
      <p:pic>
        <p:nvPicPr>
          <p:cNvPr id="2" name="Picture 12">
            <a:extLst>
              <a:ext uri="{FF2B5EF4-FFF2-40B4-BE49-F238E27FC236}">
                <a16:creationId xmlns:a16="http://schemas.microsoft.com/office/drawing/2014/main" id="{B42D5E84-3B31-A96E-066A-8BCF10D89371}"/>
              </a:ext>
            </a:extLst>
          </p:cNvPr>
          <p:cNvPicPr>
            <a:picLocks noChangeAspect="1" noChangeArrowheads="1"/>
          </p:cNvPicPr>
          <p:nvPr/>
        </p:nvPicPr>
        <p:blipFill>
          <a:blip r:embed="rId5"/>
          <a:srcRect/>
          <a:stretch>
            <a:fillRect/>
          </a:stretch>
        </p:blipFill>
        <p:spPr bwMode="auto">
          <a:xfrm>
            <a:off x="381000" y="0"/>
            <a:ext cx="1524000" cy="1395413"/>
          </a:xfrm>
          <a:prstGeom prst="rect">
            <a:avLst/>
          </a:prstGeom>
          <a:noFill/>
          <a:ln w="9525">
            <a:noFill/>
            <a:miter lim="800000"/>
            <a:headEnd/>
            <a:tailEnd/>
          </a:ln>
        </p:spPr>
      </p:pic>
    </p:spTree>
    <p:extLst>
      <p:ext uri="{BB962C8B-B14F-4D97-AF65-F5344CB8AC3E}">
        <p14:creationId xmlns:p14="http://schemas.microsoft.com/office/powerpoint/2010/main" val="26878847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pic>
        <p:nvPicPr>
          <p:cNvPr id="176" name="Google Shape;176;p10" descr="C:\Users\parul\Desktop\Digital Learning Content.png"/>
          <p:cNvPicPr preferRelativeResize="0"/>
          <p:nvPr/>
        </p:nvPicPr>
        <p:blipFill rotWithShape="1">
          <a:blip r:embed="rId3">
            <a:alphaModFix/>
          </a:blip>
          <a:srcRect/>
          <a:stretch/>
        </p:blipFill>
        <p:spPr>
          <a:xfrm>
            <a:off x="0" y="0"/>
            <a:ext cx="9144000" cy="6900863"/>
          </a:xfrm>
          <a:prstGeom prst="rect">
            <a:avLst/>
          </a:prstGeom>
          <a:noFill/>
          <a:ln>
            <a:noFill/>
          </a:ln>
        </p:spPr>
      </p:pic>
      <p:pic>
        <p:nvPicPr>
          <p:cNvPr id="177" name="Google Shape;177;p10" descr="C:\Users\parul\Desktop\Untitled-1.png"/>
          <p:cNvPicPr preferRelativeResize="0"/>
          <p:nvPr/>
        </p:nvPicPr>
        <p:blipFill rotWithShape="1">
          <a:blip r:embed="rId4">
            <a:alphaModFix/>
          </a:blip>
          <a:srcRect/>
          <a:stretch/>
        </p:blipFill>
        <p:spPr>
          <a:xfrm>
            <a:off x="1857375" y="3071813"/>
            <a:ext cx="5430838" cy="2803525"/>
          </a:xfrm>
          <a:prstGeom prst="rect">
            <a:avLst/>
          </a:prstGeom>
          <a:noFill/>
          <a:ln>
            <a:noFill/>
          </a:ln>
        </p:spPr>
      </p:pic>
      <p:sp>
        <p:nvSpPr>
          <p:cNvPr id="178" name="Google Shape;178;p10"/>
          <p:cNvSpPr txBox="1"/>
          <p:nvPr/>
        </p:nvSpPr>
        <p:spPr>
          <a:xfrm>
            <a:off x="190500" y="2286000"/>
            <a:ext cx="8629650" cy="2862282"/>
          </a:xfrm>
          <a:prstGeom prst="rect">
            <a:avLst/>
          </a:prstGeom>
          <a:noFill/>
          <a:ln>
            <a:noFill/>
          </a:ln>
        </p:spPr>
        <p:txBody>
          <a:bodyPr spcFirstLastPara="1" wrap="square" lIns="91425" tIns="45700" rIns="91425" bIns="45700" anchor="t" anchorCtr="0">
            <a:spAutoFit/>
          </a:bodyPr>
          <a:lstStyle/>
          <a:p>
            <a:pPr algn="l" fontAlgn="base">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Hibernate mapping refers to the process of defining the relationship       between Java objects and database tables in a Hibernate-based application. Hibernate is an object-relational mapping (ORM) framework that simplifies the interaction between Java applications and relational databases.</a:t>
            </a:r>
          </a:p>
          <a:p>
            <a:pPr algn="l" fontAlgn="base">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algn="l" fontAlgn="base">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There are two main types of mapping in Hibernate:</a:t>
            </a:r>
          </a:p>
          <a:p>
            <a:pPr algn="l" fontAlgn="base">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algn="l" fontAlgn="base">
              <a:buFont typeface="Arial" panose="020B0604020202020204" pitchFamily="34" charset="0"/>
              <a:buChar char="•"/>
            </a:pP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Class Mapping</a:t>
            </a:r>
          </a:p>
          <a:p>
            <a:pPr algn="l" fontAlgn="base">
              <a:buFont typeface="Arial" panose="020B0604020202020204" pitchFamily="34" charset="0"/>
              <a:buChar char="•"/>
            </a:pPr>
            <a:r>
              <a:rPr lang="en-US" sz="2000" b="0" i="0" dirty="0">
                <a:solidFill>
                  <a:schemeClr val="tx1">
                    <a:lumMod val="95000"/>
                    <a:lumOff val="5000"/>
                  </a:schemeClr>
                </a:solidFill>
                <a:effectLst/>
                <a:latin typeface="Times New Roman" panose="02020603050405020304" pitchFamily="18" charset="0"/>
                <a:cs typeface="Times New Roman" panose="02020603050405020304" pitchFamily="18" charset="0"/>
              </a:rPr>
              <a:t>Association Mapping</a:t>
            </a:r>
          </a:p>
        </p:txBody>
      </p:sp>
      <p:sp>
        <p:nvSpPr>
          <p:cNvPr id="179" name="Google Shape;179;p10"/>
          <p:cNvSpPr/>
          <p:nvPr/>
        </p:nvSpPr>
        <p:spPr>
          <a:xfrm>
            <a:off x="0" y="1643063"/>
            <a:ext cx="9144000" cy="642937"/>
          </a:xfrm>
          <a:prstGeom prst="rect">
            <a:avLst/>
          </a:prstGeom>
          <a:solidFill>
            <a:srgbClr val="1F497D"/>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180" name="Google Shape;180;p10"/>
          <p:cNvSpPr/>
          <p:nvPr/>
        </p:nvSpPr>
        <p:spPr>
          <a:xfrm>
            <a:off x="190500" y="1687513"/>
            <a:ext cx="8763000" cy="55403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lt1"/>
              </a:buClr>
              <a:buSzPts val="3000"/>
              <a:buFont typeface="Arial"/>
              <a:buNone/>
            </a:pPr>
            <a:r>
              <a:rPr lang="en-IN" sz="3000" b="1" dirty="0">
                <a:solidFill>
                  <a:schemeClr val="lt1"/>
                </a:solidFill>
                <a:latin typeface="Calibri"/>
                <a:ea typeface="Calibri"/>
                <a:cs typeface="Calibri"/>
                <a:sym typeface="Calibri"/>
              </a:rPr>
              <a:t>Mapping</a:t>
            </a:r>
            <a:endParaRPr dirty="0"/>
          </a:p>
        </p:txBody>
      </p:sp>
      <p:pic>
        <p:nvPicPr>
          <p:cNvPr id="2" name="Picture 12">
            <a:extLst>
              <a:ext uri="{FF2B5EF4-FFF2-40B4-BE49-F238E27FC236}">
                <a16:creationId xmlns:a16="http://schemas.microsoft.com/office/drawing/2014/main" id="{B42D5E84-3B31-A96E-066A-8BCF10D89371}"/>
              </a:ext>
            </a:extLst>
          </p:cNvPr>
          <p:cNvPicPr>
            <a:picLocks noChangeAspect="1" noChangeArrowheads="1"/>
          </p:cNvPicPr>
          <p:nvPr/>
        </p:nvPicPr>
        <p:blipFill>
          <a:blip r:embed="rId5"/>
          <a:srcRect/>
          <a:stretch>
            <a:fillRect/>
          </a:stretch>
        </p:blipFill>
        <p:spPr bwMode="auto">
          <a:xfrm>
            <a:off x="381000" y="0"/>
            <a:ext cx="1524000" cy="1395413"/>
          </a:xfrm>
          <a:prstGeom prst="rect">
            <a:avLst/>
          </a:prstGeom>
          <a:noFill/>
          <a:ln w="9525">
            <a:noFill/>
            <a:miter lim="800000"/>
            <a:headEnd/>
            <a:tailEnd/>
          </a:ln>
        </p:spPr>
      </p:pic>
    </p:spTree>
    <p:extLst>
      <p:ext uri="{BB962C8B-B14F-4D97-AF65-F5344CB8AC3E}">
        <p14:creationId xmlns:p14="http://schemas.microsoft.com/office/powerpoint/2010/main" val="418856666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pic>
        <p:nvPicPr>
          <p:cNvPr id="176" name="Google Shape;176;p10" descr="C:\Users\parul\Desktop\Digital Learning Content.png"/>
          <p:cNvPicPr preferRelativeResize="0"/>
          <p:nvPr/>
        </p:nvPicPr>
        <p:blipFill rotWithShape="1">
          <a:blip r:embed="rId3">
            <a:alphaModFix/>
          </a:blip>
          <a:srcRect/>
          <a:stretch/>
        </p:blipFill>
        <p:spPr>
          <a:xfrm>
            <a:off x="0" y="0"/>
            <a:ext cx="9144000" cy="6900863"/>
          </a:xfrm>
          <a:prstGeom prst="rect">
            <a:avLst/>
          </a:prstGeom>
          <a:noFill/>
          <a:ln>
            <a:noFill/>
          </a:ln>
        </p:spPr>
      </p:pic>
      <p:pic>
        <p:nvPicPr>
          <p:cNvPr id="177" name="Google Shape;177;p10" descr="C:\Users\parul\Desktop\Untitled-1.png"/>
          <p:cNvPicPr preferRelativeResize="0"/>
          <p:nvPr/>
        </p:nvPicPr>
        <p:blipFill rotWithShape="1">
          <a:blip r:embed="rId4">
            <a:alphaModFix/>
          </a:blip>
          <a:srcRect/>
          <a:stretch/>
        </p:blipFill>
        <p:spPr>
          <a:xfrm>
            <a:off x="1857375" y="3071813"/>
            <a:ext cx="5430838" cy="2803525"/>
          </a:xfrm>
          <a:prstGeom prst="rect">
            <a:avLst/>
          </a:prstGeom>
          <a:noFill/>
          <a:ln>
            <a:noFill/>
          </a:ln>
        </p:spPr>
      </p:pic>
      <p:sp>
        <p:nvSpPr>
          <p:cNvPr id="178" name="Google Shape;178;p10"/>
          <p:cNvSpPr txBox="1"/>
          <p:nvPr/>
        </p:nvSpPr>
        <p:spPr>
          <a:xfrm>
            <a:off x="190500" y="2286000"/>
            <a:ext cx="8629650" cy="2554505"/>
          </a:xfrm>
          <a:prstGeom prst="rect">
            <a:avLst/>
          </a:prstGeom>
          <a:noFill/>
          <a:ln>
            <a:noFill/>
          </a:ln>
        </p:spPr>
        <p:txBody>
          <a:bodyPr spcFirstLastPara="1" wrap="square" lIns="91425" tIns="45700" rIns="91425" bIns="45700" anchor="t" anchorCtr="0">
            <a:spAutoFit/>
          </a:bodyPr>
          <a:lstStyle/>
          <a:p>
            <a:pPr algn="l" fontAlgn="base">
              <a:buFont typeface="Arial" panose="020B0604020202020204" pitchFamily="34" charset="0"/>
              <a:buChar char="•"/>
            </a:pPr>
            <a:r>
              <a:rPr lang="en-US" sz="2000" dirty="0"/>
              <a:t>This involves mapping a Java class to a database table. Each persistent class in Hibernate should have a corresponding mapping file or annotations that define how its properties are mapped to columns in the database table.</a:t>
            </a:r>
          </a:p>
          <a:p>
            <a:pPr fontAlgn="base">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You should save the mapping document in a file with the format </a:t>
            </a:r>
            <a:r>
              <a:rPr lang="en-US" sz="2000" b="1" dirty="0">
                <a:latin typeface="Times New Roman" panose="02020603050405020304" pitchFamily="18" charset="0"/>
                <a:cs typeface="Times New Roman" panose="02020603050405020304" pitchFamily="18" charset="0"/>
              </a:rPr>
              <a:t>&lt;</a:t>
            </a:r>
            <a:r>
              <a:rPr lang="en-US" sz="2000" b="1" dirty="0" err="1">
                <a:latin typeface="Times New Roman" panose="02020603050405020304" pitchFamily="18" charset="0"/>
                <a:cs typeface="Times New Roman" panose="02020603050405020304" pitchFamily="18" charset="0"/>
              </a:rPr>
              <a:t>classname</a:t>
            </a:r>
            <a:r>
              <a:rPr lang="en-US" sz="2000" b="1" dirty="0">
                <a:latin typeface="Times New Roman" panose="02020603050405020304" pitchFamily="18" charset="0"/>
                <a:cs typeface="Times New Roman" panose="02020603050405020304" pitchFamily="18" charset="0"/>
              </a:rPr>
              <a:t>&gt;.hbm.xml</a:t>
            </a:r>
            <a:r>
              <a:rPr lang="en-US" sz="2000" b="1" dirty="0"/>
              <a:t>.</a:t>
            </a:r>
          </a:p>
          <a:p>
            <a:pPr fontAlgn="base">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We saved our mapping document in the file </a:t>
            </a:r>
            <a:r>
              <a:rPr lang="en-US" sz="2000" b="1" dirty="0">
                <a:latin typeface="Times New Roman" panose="02020603050405020304" pitchFamily="18" charset="0"/>
                <a:cs typeface="Times New Roman" panose="02020603050405020304" pitchFamily="18" charset="0"/>
              </a:rPr>
              <a:t>Employee.hbm.xml.</a:t>
            </a:r>
          </a:p>
          <a:p>
            <a:pPr algn="l" fontAlgn="base">
              <a:buFont typeface="Arial" panose="020B0604020202020204" pitchFamily="34" charset="0"/>
              <a:buChar char="•"/>
            </a:pPr>
            <a:endParaRPr lang="en-US" sz="2000" b="0" i="0" dirty="0">
              <a:solidFill>
                <a:schemeClr val="tx1">
                  <a:lumMod val="95000"/>
                  <a:lumOff val="5000"/>
                </a:schemeClr>
              </a:solidFill>
              <a:effectLst/>
              <a:latin typeface="Nunito" pitchFamily="2" charset="0"/>
            </a:endParaRPr>
          </a:p>
        </p:txBody>
      </p:sp>
      <p:sp>
        <p:nvSpPr>
          <p:cNvPr id="179" name="Google Shape;179;p10"/>
          <p:cNvSpPr/>
          <p:nvPr/>
        </p:nvSpPr>
        <p:spPr>
          <a:xfrm>
            <a:off x="0" y="1643063"/>
            <a:ext cx="9144000" cy="642937"/>
          </a:xfrm>
          <a:prstGeom prst="rect">
            <a:avLst/>
          </a:prstGeom>
          <a:solidFill>
            <a:srgbClr val="1F497D"/>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180" name="Google Shape;180;p10"/>
          <p:cNvSpPr/>
          <p:nvPr/>
        </p:nvSpPr>
        <p:spPr>
          <a:xfrm>
            <a:off x="190500" y="1687513"/>
            <a:ext cx="8763000" cy="55403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lt1"/>
              </a:buClr>
              <a:buSzPts val="3000"/>
              <a:buFont typeface="Arial"/>
              <a:buNone/>
            </a:pPr>
            <a:r>
              <a:rPr lang="en-IN" sz="3000" b="1" dirty="0">
                <a:solidFill>
                  <a:schemeClr val="lt1"/>
                </a:solidFill>
                <a:latin typeface="Calibri"/>
                <a:ea typeface="Calibri"/>
                <a:cs typeface="Calibri"/>
                <a:sym typeface="Calibri"/>
              </a:rPr>
              <a:t>Class Mapping</a:t>
            </a:r>
            <a:endParaRPr dirty="0"/>
          </a:p>
        </p:txBody>
      </p:sp>
      <p:pic>
        <p:nvPicPr>
          <p:cNvPr id="2" name="Picture 12">
            <a:extLst>
              <a:ext uri="{FF2B5EF4-FFF2-40B4-BE49-F238E27FC236}">
                <a16:creationId xmlns:a16="http://schemas.microsoft.com/office/drawing/2014/main" id="{B42D5E84-3B31-A96E-066A-8BCF10D89371}"/>
              </a:ext>
            </a:extLst>
          </p:cNvPr>
          <p:cNvPicPr>
            <a:picLocks noChangeAspect="1" noChangeArrowheads="1"/>
          </p:cNvPicPr>
          <p:nvPr/>
        </p:nvPicPr>
        <p:blipFill>
          <a:blip r:embed="rId5"/>
          <a:srcRect/>
          <a:stretch>
            <a:fillRect/>
          </a:stretch>
        </p:blipFill>
        <p:spPr bwMode="auto">
          <a:xfrm>
            <a:off x="381000" y="0"/>
            <a:ext cx="1524000" cy="1395413"/>
          </a:xfrm>
          <a:prstGeom prst="rect">
            <a:avLst/>
          </a:prstGeom>
          <a:noFill/>
          <a:ln w="9525">
            <a:noFill/>
            <a:miter lim="800000"/>
            <a:headEnd/>
            <a:tailEnd/>
          </a:ln>
        </p:spPr>
      </p:pic>
    </p:spTree>
    <p:extLst>
      <p:ext uri="{BB962C8B-B14F-4D97-AF65-F5344CB8AC3E}">
        <p14:creationId xmlns:p14="http://schemas.microsoft.com/office/powerpoint/2010/main" val="62583995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pic>
        <p:nvPicPr>
          <p:cNvPr id="176" name="Google Shape;176;p10" descr="C:\Users\parul\Desktop\Digital Learning Content.png"/>
          <p:cNvPicPr preferRelativeResize="0"/>
          <p:nvPr/>
        </p:nvPicPr>
        <p:blipFill rotWithShape="1">
          <a:blip r:embed="rId3">
            <a:alphaModFix/>
          </a:blip>
          <a:srcRect/>
          <a:stretch/>
        </p:blipFill>
        <p:spPr>
          <a:xfrm>
            <a:off x="0" y="0"/>
            <a:ext cx="9144000" cy="6900863"/>
          </a:xfrm>
          <a:prstGeom prst="rect">
            <a:avLst/>
          </a:prstGeom>
          <a:noFill/>
          <a:ln>
            <a:noFill/>
          </a:ln>
        </p:spPr>
      </p:pic>
      <p:pic>
        <p:nvPicPr>
          <p:cNvPr id="177" name="Google Shape;177;p10" descr="C:\Users\parul\Desktop\Untitled-1.png"/>
          <p:cNvPicPr preferRelativeResize="0"/>
          <p:nvPr/>
        </p:nvPicPr>
        <p:blipFill rotWithShape="1">
          <a:blip r:embed="rId4">
            <a:alphaModFix/>
          </a:blip>
          <a:srcRect/>
          <a:stretch/>
        </p:blipFill>
        <p:spPr>
          <a:xfrm>
            <a:off x="1857375" y="3071813"/>
            <a:ext cx="5430838" cy="2803525"/>
          </a:xfrm>
          <a:prstGeom prst="rect">
            <a:avLst/>
          </a:prstGeom>
          <a:noFill/>
          <a:ln>
            <a:noFill/>
          </a:ln>
        </p:spPr>
      </p:pic>
      <p:sp>
        <p:nvSpPr>
          <p:cNvPr id="178" name="Google Shape;178;p10"/>
          <p:cNvSpPr txBox="1"/>
          <p:nvPr/>
        </p:nvSpPr>
        <p:spPr>
          <a:xfrm>
            <a:off x="190500" y="2286000"/>
            <a:ext cx="8629650" cy="3785611"/>
          </a:xfrm>
          <a:prstGeom prst="rect">
            <a:avLst/>
          </a:prstGeom>
          <a:noFill/>
          <a:ln>
            <a:noFill/>
          </a:ln>
        </p:spPr>
        <p:txBody>
          <a:bodyPr spcFirstLastPara="1" wrap="square" lIns="91425" tIns="45700" rIns="91425" bIns="45700" anchor="t" anchorCtr="0">
            <a:spAutoFit/>
          </a:bodyPr>
          <a:lstStyle/>
          <a:p>
            <a:r>
              <a:rPr lang="en-US" sz="2000" dirty="0">
                <a:latin typeface="Times New Roman" panose="02020603050405020304" pitchFamily="18" charset="0"/>
                <a:cs typeface="Times New Roman" panose="02020603050405020304" pitchFamily="18" charset="0"/>
              </a:rPr>
              <a:t>1.The mapping document is an XML document having </a:t>
            </a:r>
            <a:r>
              <a:rPr lang="en-US" sz="2000" b="1" dirty="0">
                <a:latin typeface="Times New Roman" panose="02020603050405020304" pitchFamily="18" charset="0"/>
                <a:cs typeface="Times New Roman" panose="02020603050405020304" pitchFamily="18" charset="0"/>
              </a:rPr>
              <a:t>&lt;hibernate-mapping&gt;</a:t>
            </a:r>
            <a:r>
              <a:rPr lang="en-US" sz="2000" dirty="0">
                <a:latin typeface="Times New Roman" panose="02020603050405020304" pitchFamily="18" charset="0"/>
                <a:cs typeface="Times New Roman" panose="02020603050405020304" pitchFamily="18" charset="0"/>
              </a:rPr>
              <a:t> as the root element, which contains all the </a:t>
            </a:r>
            <a:r>
              <a:rPr lang="en-US" sz="2000" b="1" dirty="0">
                <a:latin typeface="Times New Roman" panose="02020603050405020304" pitchFamily="18" charset="0"/>
                <a:cs typeface="Times New Roman" panose="02020603050405020304" pitchFamily="18" charset="0"/>
              </a:rPr>
              <a:t>&lt;class&gt;</a:t>
            </a:r>
            <a:r>
              <a:rPr lang="en-US" sz="2000" dirty="0">
                <a:latin typeface="Times New Roman" panose="02020603050405020304" pitchFamily="18" charset="0"/>
                <a:cs typeface="Times New Roman" panose="02020603050405020304" pitchFamily="18" charset="0"/>
              </a:rPr>
              <a:t> elements.</a:t>
            </a:r>
          </a:p>
          <a:p>
            <a:pPr marL="0" indent="0">
              <a:buNone/>
            </a:pPr>
            <a:r>
              <a:rPr lang="en-US" sz="2000" dirty="0">
                <a:latin typeface="Times New Roman" panose="02020603050405020304" pitchFamily="18" charset="0"/>
                <a:cs typeface="Times New Roman" panose="02020603050405020304" pitchFamily="18" charset="0"/>
              </a:rPr>
              <a:t>2.The </a:t>
            </a:r>
            <a:r>
              <a:rPr lang="en-US" sz="2000" b="1" dirty="0">
                <a:latin typeface="Times New Roman" panose="02020603050405020304" pitchFamily="18" charset="0"/>
                <a:cs typeface="Times New Roman" panose="02020603050405020304" pitchFamily="18" charset="0"/>
              </a:rPr>
              <a:t>&lt;class&gt;</a:t>
            </a:r>
            <a:r>
              <a:rPr lang="en-US" sz="2000" dirty="0">
                <a:latin typeface="Times New Roman" panose="02020603050405020304" pitchFamily="18" charset="0"/>
                <a:cs typeface="Times New Roman" panose="02020603050405020304" pitchFamily="18" charset="0"/>
              </a:rPr>
              <a:t> elements are used to define specific mappings from a Java classes to the database tables. </a:t>
            </a:r>
          </a:p>
          <a:p>
            <a:pPr marL="0" indent="0">
              <a:buNone/>
            </a:pPr>
            <a:r>
              <a:rPr lang="en-US" sz="2000" dirty="0">
                <a:latin typeface="Times New Roman" panose="02020603050405020304" pitchFamily="18" charset="0"/>
                <a:cs typeface="Times New Roman" panose="02020603050405020304" pitchFamily="18" charset="0"/>
              </a:rPr>
              <a:t>3.The </a:t>
            </a:r>
            <a:r>
              <a:rPr lang="en-US" sz="2000" b="1" dirty="0">
                <a:latin typeface="Times New Roman" panose="02020603050405020304" pitchFamily="18" charset="0"/>
                <a:cs typeface="Times New Roman" panose="02020603050405020304" pitchFamily="18" charset="0"/>
              </a:rPr>
              <a:t>&lt;meta&gt;</a:t>
            </a:r>
            <a:r>
              <a:rPr lang="en-US" sz="2000" dirty="0">
                <a:latin typeface="Times New Roman" panose="02020603050405020304" pitchFamily="18" charset="0"/>
                <a:cs typeface="Times New Roman" panose="02020603050405020304" pitchFamily="18" charset="0"/>
              </a:rPr>
              <a:t> element is optional element and can be used to create the class description.</a:t>
            </a:r>
          </a:p>
          <a:p>
            <a:pPr marL="0" indent="0">
              <a:buNone/>
            </a:pPr>
            <a:r>
              <a:rPr lang="en-US" sz="2000" dirty="0">
                <a:latin typeface="Times New Roman" panose="02020603050405020304" pitchFamily="18" charset="0"/>
                <a:cs typeface="Times New Roman" panose="02020603050405020304" pitchFamily="18" charset="0"/>
              </a:rPr>
              <a:t>4.</a:t>
            </a:r>
            <a:r>
              <a:rPr lang="en-US" sz="2000" dirty="0"/>
              <a:t>The </a:t>
            </a:r>
            <a:r>
              <a:rPr lang="en-US" sz="2000" b="1" dirty="0"/>
              <a:t>&lt;id&gt;</a:t>
            </a:r>
            <a:r>
              <a:rPr lang="en-US" sz="2000" dirty="0"/>
              <a:t> element maps the unique ID attribute in class to the primary key of the database table.</a:t>
            </a:r>
          </a:p>
          <a:p>
            <a:pPr marL="0" indent="0">
              <a:buNone/>
            </a:pPr>
            <a:r>
              <a:rPr lang="en-US" sz="2000" dirty="0">
                <a:latin typeface="Times New Roman" panose="02020603050405020304" pitchFamily="18" charset="0"/>
                <a:cs typeface="Times New Roman" panose="02020603050405020304" pitchFamily="18" charset="0"/>
              </a:rPr>
              <a:t>5.</a:t>
            </a:r>
            <a:r>
              <a:rPr lang="en-US" sz="2000" dirty="0"/>
              <a:t>The </a:t>
            </a:r>
            <a:r>
              <a:rPr lang="en-US" sz="2000" b="1" dirty="0"/>
              <a:t>&lt;generator&gt;</a:t>
            </a:r>
            <a:r>
              <a:rPr lang="en-US" sz="2000" dirty="0"/>
              <a:t> element within the id element is used to generate the primary key values automatically. The </a:t>
            </a:r>
            <a:r>
              <a:rPr lang="en-US" sz="2000" b="1" dirty="0"/>
              <a:t>class</a:t>
            </a:r>
            <a:r>
              <a:rPr lang="en-US" sz="2000" dirty="0"/>
              <a:t> attribute of the generator element is set to </a:t>
            </a:r>
            <a:r>
              <a:rPr lang="en-US" sz="2000" b="1" dirty="0"/>
              <a:t>native</a:t>
            </a:r>
            <a:r>
              <a:rPr lang="en-US" sz="2000" b="1" dirty="0">
                <a:latin typeface="Times New Roman" panose="02020603050405020304" pitchFamily="18" charset="0"/>
                <a:cs typeface="Times New Roman" panose="02020603050405020304" pitchFamily="18" charset="0"/>
              </a:rPr>
              <a:t>.</a:t>
            </a:r>
          </a:p>
          <a:p>
            <a:pPr marL="0" indent="0">
              <a:buNone/>
            </a:pPr>
            <a:endParaRPr lang="en-US" sz="2000" dirty="0">
              <a:latin typeface="Times New Roman" panose="02020603050405020304" pitchFamily="18" charset="0"/>
              <a:cs typeface="Times New Roman" panose="02020603050405020304" pitchFamily="18" charset="0"/>
            </a:endParaRPr>
          </a:p>
        </p:txBody>
      </p:sp>
      <p:sp>
        <p:nvSpPr>
          <p:cNvPr id="179" name="Google Shape;179;p10"/>
          <p:cNvSpPr/>
          <p:nvPr/>
        </p:nvSpPr>
        <p:spPr>
          <a:xfrm>
            <a:off x="0" y="1643063"/>
            <a:ext cx="9144000" cy="642937"/>
          </a:xfrm>
          <a:prstGeom prst="rect">
            <a:avLst/>
          </a:prstGeom>
          <a:solidFill>
            <a:srgbClr val="1F497D"/>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180" name="Google Shape;180;p10"/>
          <p:cNvSpPr/>
          <p:nvPr/>
        </p:nvSpPr>
        <p:spPr>
          <a:xfrm>
            <a:off x="190500" y="1687513"/>
            <a:ext cx="8763000" cy="55403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lt1"/>
              </a:buClr>
              <a:buSzPts val="3000"/>
              <a:buFont typeface="Arial"/>
              <a:buNone/>
            </a:pPr>
            <a:r>
              <a:rPr lang="en-IN" sz="3000" b="1" dirty="0">
                <a:solidFill>
                  <a:schemeClr val="lt1"/>
                </a:solidFill>
                <a:latin typeface="Calibri"/>
                <a:ea typeface="Calibri"/>
                <a:cs typeface="Calibri"/>
                <a:sym typeface="Calibri"/>
              </a:rPr>
              <a:t>Mapping Elements</a:t>
            </a:r>
            <a:endParaRPr dirty="0"/>
          </a:p>
        </p:txBody>
      </p:sp>
      <p:pic>
        <p:nvPicPr>
          <p:cNvPr id="2" name="Picture 12">
            <a:extLst>
              <a:ext uri="{FF2B5EF4-FFF2-40B4-BE49-F238E27FC236}">
                <a16:creationId xmlns:a16="http://schemas.microsoft.com/office/drawing/2014/main" id="{B42D5E84-3B31-A96E-066A-8BCF10D89371}"/>
              </a:ext>
            </a:extLst>
          </p:cNvPr>
          <p:cNvPicPr>
            <a:picLocks noChangeAspect="1" noChangeArrowheads="1"/>
          </p:cNvPicPr>
          <p:nvPr/>
        </p:nvPicPr>
        <p:blipFill>
          <a:blip r:embed="rId5"/>
          <a:srcRect/>
          <a:stretch>
            <a:fillRect/>
          </a:stretch>
        </p:blipFill>
        <p:spPr bwMode="auto">
          <a:xfrm>
            <a:off x="381000" y="0"/>
            <a:ext cx="1524000" cy="1395413"/>
          </a:xfrm>
          <a:prstGeom prst="rect">
            <a:avLst/>
          </a:prstGeom>
          <a:noFill/>
          <a:ln w="9525">
            <a:noFill/>
            <a:miter lim="800000"/>
            <a:headEnd/>
            <a:tailEnd/>
          </a:ln>
        </p:spPr>
      </p:pic>
    </p:spTree>
    <p:extLst>
      <p:ext uri="{BB962C8B-B14F-4D97-AF65-F5344CB8AC3E}">
        <p14:creationId xmlns:p14="http://schemas.microsoft.com/office/powerpoint/2010/main" val="164990448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pic>
        <p:nvPicPr>
          <p:cNvPr id="176" name="Google Shape;176;p10" descr="C:\Users\parul\Desktop\Digital Learning Content.png"/>
          <p:cNvPicPr preferRelativeResize="0"/>
          <p:nvPr/>
        </p:nvPicPr>
        <p:blipFill rotWithShape="1">
          <a:blip r:embed="rId3">
            <a:alphaModFix/>
          </a:blip>
          <a:srcRect/>
          <a:stretch/>
        </p:blipFill>
        <p:spPr>
          <a:xfrm>
            <a:off x="0" y="0"/>
            <a:ext cx="9144000" cy="6900863"/>
          </a:xfrm>
          <a:prstGeom prst="rect">
            <a:avLst/>
          </a:prstGeom>
          <a:noFill/>
          <a:ln>
            <a:noFill/>
          </a:ln>
        </p:spPr>
      </p:pic>
      <p:pic>
        <p:nvPicPr>
          <p:cNvPr id="177" name="Google Shape;177;p10" descr="C:\Users\parul\Desktop\Untitled-1.png"/>
          <p:cNvPicPr preferRelativeResize="0"/>
          <p:nvPr/>
        </p:nvPicPr>
        <p:blipFill rotWithShape="1">
          <a:blip r:embed="rId4">
            <a:alphaModFix/>
          </a:blip>
          <a:srcRect/>
          <a:stretch/>
        </p:blipFill>
        <p:spPr>
          <a:xfrm>
            <a:off x="1857375" y="3071813"/>
            <a:ext cx="5430838" cy="2803525"/>
          </a:xfrm>
          <a:prstGeom prst="rect">
            <a:avLst/>
          </a:prstGeom>
          <a:noFill/>
          <a:ln>
            <a:noFill/>
          </a:ln>
        </p:spPr>
      </p:pic>
      <p:sp>
        <p:nvSpPr>
          <p:cNvPr id="178" name="Google Shape;178;p10"/>
          <p:cNvSpPr txBox="1"/>
          <p:nvPr/>
        </p:nvSpPr>
        <p:spPr>
          <a:xfrm>
            <a:off x="190500" y="2286000"/>
            <a:ext cx="8629650" cy="1631175"/>
          </a:xfrm>
          <a:prstGeom prst="rect">
            <a:avLst/>
          </a:prstGeom>
          <a:noFill/>
          <a:ln>
            <a:noFill/>
          </a:ln>
        </p:spPr>
        <p:txBody>
          <a:bodyPr spcFirstLastPara="1" wrap="square" lIns="91425" tIns="45700" rIns="91425" bIns="45700" anchor="t" anchorCtr="0">
            <a:spAutoFit/>
          </a:bodyPr>
          <a:lstStyle/>
          <a:p>
            <a:r>
              <a:rPr lang="en-US" sz="2000" dirty="0">
                <a:latin typeface="Times New Roman" panose="02020603050405020304" pitchFamily="18" charset="0"/>
                <a:cs typeface="Times New Roman" panose="02020603050405020304" pitchFamily="18" charset="0"/>
              </a:rPr>
              <a:t>6. The </a:t>
            </a:r>
            <a:r>
              <a:rPr lang="en-US" sz="2000" b="1" dirty="0">
                <a:latin typeface="Times New Roman" panose="02020603050405020304" pitchFamily="18" charset="0"/>
                <a:cs typeface="Times New Roman" panose="02020603050405020304" pitchFamily="18" charset="0"/>
              </a:rPr>
              <a:t>&lt;property&gt;</a:t>
            </a:r>
            <a:r>
              <a:rPr lang="en-US" sz="2000" dirty="0">
                <a:latin typeface="Times New Roman" panose="02020603050405020304" pitchFamily="18" charset="0"/>
                <a:cs typeface="Times New Roman" panose="02020603050405020304" pitchFamily="18" charset="0"/>
              </a:rPr>
              <a:t> element is used to map a Java class property to a column in the database table. </a:t>
            </a:r>
            <a:r>
              <a:rPr lang="en-US" sz="2000" dirty="0"/>
              <a:t>The </a:t>
            </a:r>
            <a:r>
              <a:rPr lang="en-US" sz="2000" b="1" dirty="0"/>
              <a:t>name</a:t>
            </a:r>
            <a:r>
              <a:rPr lang="en-US" sz="2000" dirty="0"/>
              <a:t> attribute of the element refers to the property in the class and the </a:t>
            </a:r>
            <a:r>
              <a:rPr lang="en-US" sz="2000" b="1" dirty="0"/>
              <a:t>column</a:t>
            </a:r>
            <a:r>
              <a:rPr lang="en-US" sz="2000" dirty="0"/>
              <a:t> attribute refers to the column in the database table. The </a:t>
            </a:r>
            <a:r>
              <a:rPr lang="en-US" sz="2000" b="1" dirty="0"/>
              <a:t>type</a:t>
            </a:r>
            <a:r>
              <a:rPr lang="en-US" sz="2000" dirty="0"/>
              <a:t> attribute holds the hibernate mapping type, this mapping types will convert from Java to SQL data type.</a:t>
            </a:r>
            <a:endParaRPr lang="en-US" sz="2000" dirty="0">
              <a:latin typeface="Times New Roman" panose="02020603050405020304" pitchFamily="18" charset="0"/>
              <a:cs typeface="Times New Roman" panose="02020603050405020304" pitchFamily="18" charset="0"/>
            </a:endParaRPr>
          </a:p>
        </p:txBody>
      </p:sp>
      <p:sp>
        <p:nvSpPr>
          <p:cNvPr id="179" name="Google Shape;179;p10"/>
          <p:cNvSpPr/>
          <p:nvPr/>
        </p:nvSpPr>
        <p:spPr>
          <a:xfrm>
            <a:off x="0" y="1643063"/>
            <a:ext cx="9144000" cy="642937"/>
          </a:xfrm>
          <a:prstGeom prst="rect">
            <a:avLst/>
          </a:prstGeom>
          <a:solidFill>
            <a:srgbClr val="1F497D"/>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180" name="Google Shape;180;p10"/>
          <p:cNvSpPr/>
          <p:nvPr/>
        </p:nvSpPr>
        <p:spPr>
          <a:xfrm>
            <a:off x="190500" y="1687513"/>
            <a:ext cx="8763000" cy="55403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lt1"/>
              </a:buClr>
              <a:buSzPts val="3000"/>
              <a:buFont typeface="Arial"/>
              <a:buNone/>
            </a:pPr>
            <a:r>
              <a:rPr lang="en-IN" sz="3000" b="1" dirty="0">
                <a:solidFill>
                  <a:schemeClr val="lt1"/>
                </a:solidFill>
                <a:latin typeface="Calibri"/>
                <a:ea typeface="Calibri"/>
                <a:cs typeface="Calibri"/>
                <a:sym typeface="Calibri"/>
              </a:rPr>
              <a:t>Mapping Elements</a:t>
            </a:r>
            <a:endParaRPr dirty="0"/>
          </a:p>
        </p:txBody>
      </p:sp>
      <p:pic>
        <p:nvPicPr>
          <p:cNvPr id="2" name="Picture 12">
            <a:extLst>
              <a:ext uri="{FF2B5EF4-FFF2-40B4-BE49-F238E27FC236}">
                <a16:creationId xmlns:a16="http://schemas.microsoft.com/office/drawing/2014/main" id="{B42D5E84-3B31-A96E-066A-8BCF10D89371}"/>
              </a:ext>
            </a:extLst>
          </p:cNvPr>
          <p:cNvPicPr>
            <a:picLocks noChangeAspect="1" noChangeArrowheads="1"/>
          </p:cNvPicPr>
          <p:nvPr/>
        </p:nvPicPr>
        <p:blipFill>
          <a:blip r:embed="rId5"/>
          <a:srcRect/>
          <a:stretch>
            <a:fillRect/>
          </a:stretch>
        </p:blipFill>
        <p:spPr bwMode="auto">
          <a:xfrm>
            <a:off x="381000" y="0"/>
            <a:ext cx="1524000" cy="1395413"/>
          </a:xfrm>
          <a:prstGeom prst="rect">
            <a:avLst/>
          </a:prstGeom>
          <a:noFill/>
          <a:ln w="9525">
            <a:noFill/>
            <a:miter lim="800000"/>
            <a:headEnd/>
            <a:tailEnd/>
          </a:ln>
        </p:spPr>
      </p:pic>
    </p:spTree>
    <p:extLst>
      <p:ext uri="{BB962C8B-B14F-4D97-AF65-F5344CB8AC3E}">
        <p14:creationId xmlns:p14="http://schemas.microsoft.com/office/powerpoint/2010/main" val="132866857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pic>
        <p:nvPicPr>
          <p:cNvPr id="176" name="Google Shape;176;p10" descr="C:\Users\parul\Desktop\Digital Learning Content.png"/>
          <p:cNvPicPr preferRelativeResize="0"/>
          <p:nvPr/>
        </p:nvPicPr>
        <p:blipFill rotWithShape="1">
          <a:blip r:embed="rId3">
            <a:alphaModFix/>
          </a:blip>
          <a:srcRect/>
          <a:stretch/>
        </p:blipFill>
        <p:spPr>
          <a:xfrm>
            <a:off x="0" y="16329"/>
            <a:ext cx="9144000" cy="6900863"/>
          </a:xfrm>
          <a:prstGeom prst="rect">
            <a:avLst/>
          </a:prstGeom>
          <a:noFill/>
          <a:ln>
            <a:noFill/>
          </a:ln>
        </p:spPr>
      </p:pic>
      <p:pic>
        <p:nvPicPr>
          <p:cNvPr id="177" name="Google Shape;177;p10" descr="C:\Users\parul\Desktop\Untitled-1.png"/>
          <p:cNvPicPr preferRelativeResize="0"/>
          <p:nvPr/>
        </p:nvPicPr>
        <p:blipFill rotWithShape="1">
          <a:blip r:embed="rId4">
            <a:alphaModFix/>
          </a:blip>
          <a:srcRect/>
          <a:stretch/>
        </p:blipFill>
        <p:spPr>
          <a:xfrm>
            <a:off x="1857375" y="3071813"/>
            <a:ext cx="5430838" cy="2803525"/>
          </a:xfrm>
          <a:prstGeom prst="rect">
            <a:avLst/>
          </a:prstGeom>
          <a:noFill/>
          <a:ln>
            <a:noFill/>
          </a:ln>
        </p:spPr>
      </p:pic>
      <p:sp>
        <p:nvSpPr>
          <p:cNvPr id="178" name="Google Shape;178;p10"/>
          <p:cNvSpPr txBox="1"/>
          <p:nvPr/>
        </p:nvSpPr>
        <p:spPr>
          <a:xfrm>
            <a:off x="190500" y="2286000"/>
            <a:ext cx="8629650" cy="1323399"/>
          </a:xfrm>
          <a:prstGeom prst="rect">
            <a:avLst/>
          </a:prstGeom>
          <a:noFill/>
          <a:ln>
            <a:noFill/>
          </a:ln>
        </p:spPr>
        <p:txBody>
          <a:bodyPr spcFirstLastPara="1" wrap="square" lIns="91425" tIns="45700" rIns="91425" bIns="45700" anchor="t" anchorCtr="0">
            <a:spAutoFit/>
          </a:bodyPr>
          <a:lstStyle/>
          <a:p>
            <a:r>
              <a:rPr lang="en-US" sz="2000" dirty="0"/>
              <a:t>This involves defining relationships between different persistent classes. Hibernate supports various types of associations such as one-to-one, one-to-many, many-to-one, and many-to-many relationships. These associations are specified using mapping files or annotations.</a:t>
            </a:r>
            <a:endParaRPr lang="en-US" sz="2000" dirty="0">
              <a:latin typeface="Times New Roman" panose="02020603050405020304" pitchFamily="18" charset="0"/>
              <a:cs typeface="Times New Roman" panose="02020603050405020304" pitchFamily="18" charset="0"/>
            </a:endParaRPr>
          </a:p>
        </p:txBody>
      </p:sp>
      <p:sp>
        <p:nvSpPr>
          <p:cNvPr id="179" name="Google Shape;179;p10"/>
          <p:cNvSpPr/>
          <p:nvPr/>
        </p:nvSpPr>
        <p:spPr>
          <a:xfrm>
            <a:off x="0" y="1643063"/>
            <a:ext cx="9144000" cy="642937"/>
          </a:xfrm>
          <a:prstGeom prst="rect">
            <a:avLst/>
          </a:prstGeom>
          <a:solidFill>
            <a:srgbClr val="1F497D"/>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180" name="Google Shape;180;p10"/>
          <p:cNvSpPr/>
          <p:nvPr/>
        </p:nvSpPr>
        <p:spPr>
          <a:xfrm>
            <a:off x="190500" y="1687513"/>
            <a:ext cx="8763000" cy="55403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lt1"/>
              </a:buClr>
              <a:buSzPts val="3000"/>
              <a:buFont typeface="Arial"/>
              <a:buNone/>
            </a:pPr>
            <a:r>
              <a:rPr lang="en-IN" sz="3000" b="1" dirty="0">
                <a:solidFill>
                  <a:schemeClr val="lt1"/>
                </a:solidFill>
                <a:latin typeface="Calibri"/>
                <a:ea typeface="Calibri"/>
                <a:cs typeface="Calibri"/>
                <a:sym typeface="Calibri"/>
              </a:rPr>
              <a:t>Association Mapping</a:t>
            </a:r>
            <a:endParaRPr dirty="0"/>
          </a:p>
        </p:txBody>
      </p:sp>
      <p:pic>
        <p:nvPicPr>
          <p:cNvPr id="2" name="Picture 12">
            <a:extLst>
              <a:ext uri="{FF2B5EF4-FFF2-40B4-BE49-F238E27FC236}">
                <a16:creationId xmlns:a16="http://schemas.microsoft.com/office/drawing/2014/main" id="{B42D5E84-3B31-A96E-066A-8BCF10D89371}"/>
              </a:ext>
            </a:extLst>
          </p:cNvPr>
          <p:cNvPicPr>
            <a:picLocks noChangeAspect="1" noChangeArrowheads="1"/>
          </p:cNvPicPr>
          <p:nvPr/>
        </p:nvPicPr>
        <p:blipFill>
          <a:blip r:embed="rId5"/>
          <a:srcRect/>
          <a:stretch>
            <a:fillRect/>
          </a:stretch>
        </p:blipFill>
        <p:spPr bwMode="auto">
          <a:xfrm>
            <a:off x="381000" y="0"/>
            <a:ext cx="1524000" cy="1395413"/>
          </a:xfrm>
          <a:prstGeom prst="rect">
            <a:avLst/>
          </a:prstGeom>
          <a:noFill/>
          <a:ln w="9525">
            <a:noFill/>
            <a:miter lim="800000"/>
            <a:headEnd/>
            <a:tailEnd/>
          </a:ln>
        </p:spPr>
      </p:pic>
    </p:spTree>
    <p:extLst>
      <p:ext uri="{BB962C8B-B14F-4D97-AF65-F5344CB8AC3E}">
        <p14:creationId xmlns:p14="http://schemas.microsoft.com/office/powerpoint/2010/main" val="299776481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pic>
        <p:nvPicPr>
          <p:cNvPr id="176" name="Google Shape;176;p10" descr="C:\Users\parul\Desktop\Digital Learning Content.png"/>
          <p:cNvPicPr preferRelativeResize="0"/>
          <p:nvPr/>
        </p:nvPicPr>
        <p:blipFill rotWithShape="1">
          <a:blip r:embed="rId3">
            <a:alphaModFix/>
          </a:blip>
          <a:srcRect/>
          <a:stretch/>
        </p:blipFill>
        <p:spPr>
          <a:xfrm>
            <a:off x="0" y="0"/>
            <a:ext cx="9144000" cy="6900863"/>
          </a:xfrm>
          <a:prstGeom prst="rect">
            <a:avLst/>
          </a:prstGeom>
          <a:noFill/>
          <a:ln>
            <a:noFill/>
          </a:ln>
        </p:spPr>
      </p:pic>
      <p:pic>
        <p:nvPicPr>
          <p:cNvPr id="177" name="Google Shape;177;p10" descr="C:\Users\parul\Desktop\Untitled-1.png"/>
          <p:cNvPicPr preferRelativeResize="0"/>
          <p:nvPr/>
        </p:nvPicPr>
        <p:blipFill rotWithShape="1">
          <a:blip r:embed="rId4">
            <a:alphaModFix/>
          </a:blip>
          <a:srcRect/>
          <a:stretch/>
        </p:blipFill>
        <p:spPr>
          <a:xfrm>
            <a:off x="1857375" y="3071813"/>
            <a:ext cx="5430838" cy="2803525"/>
          </a:xfrm>
          <a:prstGeom prst="rect">
            <a:avLst/>
          </a:prstGeom>
          <a:noFill/>
          <a:ln>
            <a:noFill/>
          </a:ln>
        </p:spPr>
      </p:pic>
      <p:sp>
        <p:nvSpPr>
          <p:cNvPr id="178" name="Google Shape;178;p10"/>
          <p:cNvSpPr txBox="1"/>
          <p:nvPr/>
        </p:nvSpPr>
        <p:spPr>
          <a:xfrm>
            <a:off x="190500" y="2286000"/>
            <a:ext cx="8629650" cy="2246729"/>
          </a:xfrm>
          <a:prstGeom prst="rect">
            <a:avLst/>
          </a:prstGeom>
          <a:noFill/>
          <a:ln>
            <a:noFill/>
          </a:ln>
        </p:spPr>
        <p:txBody>
          <a:bodyPr spcFirstLastPara="1" wrap="square" lIns="91425" tIns="45700" rIns="91425" bIns="45700" anchor="t" anchorCtr="0">
            <a:spAutoFit/>
          </a:bodyPr>
          <a:lstStyle/>
          <a:p>
            <a:r>
              <a:rPr lang="en-US" sz="2000" dirty="0">
                <a:latin typeface="Times New Roman" panose="02020603050405020304" pitchFamily="18" charset="0"/>
                <a:cs typeface="Times New Roman" panose="02020603050405020304" pitchFamily="18" charset="0"/>
              </a:rPr>
              <a:t>First of all we would need to setup One to One mapping in database tables.</a:t>
            </a: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We will create two tables for our example – Transaction and Customer.</a:t>
            </a:r>
          </a:p>
          <a:p>
            <a:r>
              <a:rPr lang="en-US" sz="2000" dirty="0">
                <a:latin typeface="Times New Roman" panose="02020603050405020304" pitchFamily="18" charset="0"/>
                <a:cs typeface="Times New Roman" panose="02020603050405020304" pitchFamily="18" charset="0"/>
              </a:rPr>
              <a:t>Both of these tables will have one to one mapping. </a:t>
            </a:r>
          </a:p>
          <a:p>
            <a:r>
              <a:rPr lang="en-US" sz="2000" dirty="0">
                <a:latin typeface="Times New Roman" panose="02020603050405020304" pitchFamily="18" charset="0"/>
                <a:cs typeface="Times New Roman" panose="02020603050405020304" pitchFamily="18" charset="0"/>
              </a:rPr>
              <a:t>Transaction will be the primary table and we will be using </a:t>
            </a:r>
            <a:r>
              <a:rPr lang="en-US" sz="2000" b="1" dirty="0">
                <a:latin typeface="Times New Roman" panose="02020603050405020304" pitchFamily="18" charset="0"/>
                <a:cs typeface="Times New Roman" panose="02020603050405020304" pitchFamily="18" charset="0"/>
              </a:rPr>
              <a:t>Foreign Key</a:t>
            </a:r>
            <a:r>
              <a:rPr lang="en-US" sz="2000" dirty="0">
                <a:latin typeface="Times New Roman" panose="02020603050405020304" pitchFamily="18" charset="0"/>
                <a:cs typeface="Times New Roman" panose="02020603050405020304" pitchFamily="18" charset="0"/>
              </a:rPr>
              <a:t> in Customer table for one-to-one mapping.</a:t>
            </a:r>
          </a:p>
        </p:txBody>
      </p:sp>
      <p:sp>
        <p:nvSpPr>
          <p:cNvPr id="179" name="Google Shape;179;p10"/>
          <p:cNvSpPr/>
          <p:nvPr/>
        </p:nvSpPr>
        <p:spPr>
          <a:xfrm>
            <a:off x="0" y="1643063"/>
            <a:ext cx="9144000" cy="642937"/>
          </a:xfrm>
          <a:prstGeom prst="rect">
            <a:avLst/>
          </a:prstGeom>
          <a:solidFill>
            <a:srgbClr val="1F497D"/>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180" name="Google Shape;180;p10"/>
          <p:cNvSpPr/>
          <p:nvPr/>
        </p:nvSpPr>
        <p:spPr>
          <a:xfrm>
            <a:off x="190500" y="1687513"/>
            <a:ext cx="8763000" cy="55403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lt1"/>
              </a:buClr>
              <a:buSzPts val="3000"/>
              <a:buFont typeface="Arial"/>
              <a:buNone/>
            </a:pPr>
            <a:r>
              <a:rPr lang="en-IN" sz="3000" b="1" dirty="0">
                <a:solidFill>
                  <a:schemeClr val="lt1"/>
                </a:solidFill>
                <a:latin typeface="Calibri"/>
                <a:ea typeface="Calibri"/>
                <a:cs typeface="Calibri"/>
                <a:sym typeface="Calibri"/>
              </a:rPr>
              <a:t>One-to-One Mapping</a:t>
            </a:r>
            <a:endParaRPr dirty="0"/>
          </a:p>
        </p:txBody>
      </p:sp>
      <p:pic>
        <p:nvPicPr>
          <p:cNvPr id="2" name="Picture 12">
            <a:extLst>
              <a:ext uri="{FF2B5EF4-FFF2-40B4-BE49-F238E27FC236}">
                <a16:creationId xmlns:a16="http://schemas.microsoft.com/office/drawing/2014/main" id="{B42D5E84-3B31-A96E-066A-8BCF10D89371}"/>
              </a:ext>
            </a:extLst>
          </p:cNvPr>
          <p:cNvPicPr>
            <a:picLocks noChangeAspect="1" noChangeArrowheads="1"/>
          </p:cNvPicPr>
          <p:nvPr/>
        </p:nvPicPr>
        <p:blipFill>
          <a:blip r:embed="rId5"/>
          <a:srcRect/>
          <a:stretch>
            <a:fillRect/>
          </a:stretch>
        </p:blipFill>
        <p:spPr bwMode="auto">
          <a:xfrm>
            <a:off x="381000" y="0"/>
            <a:ext cx="1524000" cy="1395413"/>
          </a:xfrm>
          <a:prstGeom prst="rect">
            <a:avLst/>
          </a:prstGeom>
          <a:noFill/>
          <a:ln w="9525">
            <a:noFill/>
            <a:miter lim="800000"/>
            <a:headEnd/>
            <a:tailEnd/>
          </a:ln>
        </p:spPr>
      </p:pic>
      <p:sp>
        <p:nvSpPr>
          <p:cNvPr id="4" name="Rounded Rectangle 3">
            <a:extLst>
              <a:ext uri="{FF2B5EF4-FFF2-40B4-BE49-F238E27FC236}">
                <a16:creationId xmlns:a16="http://schemas.microsoft.com/office/drawing/2014/main" id="{F58F64BD-C15C-3C86-418A-5AB7AB0A5780}"/>
              </a:ext>
            </a:extLst>
          </p:cNvPr>
          <p:cNvSpPr/>
          <p:nvPr/>
        </p:nvSpPr>
        <p:spPr>
          <a:xfrm>
            <a:off x="1661570" y="2643056"/>
            <a:ext cx="2170766" cy="58367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Transaction</a:t>
            </a:r>
          </a:p>
        </p:txBody>
      </p:sp>
      <p:cxnSp>
        <p:nvCxnSpPr>
          <p:cNvPr id="5" name="Straight Connector 4">
            <a:extLst>
              <a:ext uri="{FF2B5EF4-FFF2-40B4-BE49-F238E27FC236}">
                <a16:creationId xmlns:a16="http://schemas.microsoft.com/office/drawing/2014/main" id="{BE060229-DAAF-E0A3-DA68-BF8F25E4B1B4}"/>
              </a:ext>
            </a:extLst>
          </p:cNvPr>
          <p:cNvCxnSpPr/>
          <p:nvPr/>
        </p:nvCxnSpPr>
        <p:spPr>
          <a:xfrm flipV="1">
            <a:off x="3580390" y="2934894"/>
            <a:ext cx="1436982" cy="1"/>
          </a:xfrm>
          <a:prstGeom prst="line">
            <a:avLst/>
          </a:prstGeom>
        </p:spPr>
        <p:style>
          <a:lnRef idx="1">
            <a:schemeClr val="accent1"/>
          </a:lnRef>
          <a:fillRef idx="0">
            <a:schemeClr val="accent1"/>
          </a:fillRef>
          <a:effectRef idx="0">
            <a:schemeClr val="accent1"/>
          </a:effectRef>
          <a:fontRef idx="minor">
            <a:schemeClr val="tx1"/>
          </a:fontRef>
        </p:style>
      </p:cxnSp>
      <p:sp>
        <p:nvSpPr>
          <p:cNvPr id="6" name="Rounded Rectangle 4">
            <a:extLst>
              <a:ext uri="{FF2B5EF4-FFF2-40B4-BE49-F238E27FC236}">
                <a16:creationId xmlns:a16="http://schemas.microsoft.com/office/drawing/2014/main" id="{BD082779-957E-3FF3-E1FB-B012CB516EC1}"/>
              </a:ext>
            </a:extLst>
          </p:cNvPr>
          <p:cNvSpPr/>
          <p:nvPr/>
        </p:nvSpPr>
        <p:spPr>
          <a:xfrm>
            <a:off x="4858881" y="2665467"/>
            <a:ext cx="1848920" cy="58367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Customer</a:t>
            </a:r>
          </a:p>
        </p:txBody>
      </p:sp>
    </p:spTree>
    <p:extLst>
      <p:ext uri="{BB962C8B-B14F-4D97-AF65-F5344CB8AC3E}">
        <p14:creationId xmlns:p14="http://schemas.microsoft.com/office/powerpoint/2010/main" val="244111439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pic>
        <p:nvPicPr>
          <p:cNvPr id="176" name="Google Shape;176;p10" descr="C:\Users\parul\Desktop\Digital Learning Content.png"/>
          <p:cNvPicPr preferRelativeResize="0"/>
          <p:nvPr/>
        </p:nvPicPr>
        <p:blipFill rotWithShape="1">
          <a:blip r:embed="rId3">
            <a:alphaModFix/>
          </a:blip>
          <a:srcRect/>
          <a:stretch/>
        </p:blipFill>
        <p:spPr>
          <a:xfrm>
            <a:off x="0" y="0"/>
            <a:ext cx="9144000" cy="6900863"/>
          </a:xfrm>
          <a:prstGeom prst="rect">
            <a:avLst/>
          </a:prstGeom>
          <a:noFill/>
          <a:ln>
            <a:noFill/>
          </a:ln>
        </p:spPr>
      </p:pic>
      <p:pic>
        <p:nvPicPr>
          <p:cNvPr id="177" name="Google Shape;177;p10" descr="C:\Users\parul\Desktop\Untitled-1.png"/>
          <p:cNvPicPr preferRelativeResize="0"/>
          <p:nvPr/>
        </p:nvPicPr>
        <p:blipFill rotWithShape="1">
          <a:blip r:embed="rId4">
            <a:alphaModFix/>
          </a:blip>
          <a:srcRect/>
          <a:stretch/>
        </p:blipFill>
        <p:spPr>
          <a:xfrm>
            <a:off x="1857375" y="3071813"/>
            <a:ext cx="5430838" cy="2803525"/>
          </a:xfrm>
          <a:prstGeom prst="rect">
            <a:avLst/>
          </a:prstGeom>
          <a:noFill/>
          <a:ln>
            <a:noFill/>
          </a:ln>
        </p:spPr>
      </p:pic>
      <p:sp>
        <p:nvSpPr>
          <p:cNvPr id="178" name="Google Shape;178;p10"/>
          <p:cNvSpPr txBox="1"/>
          <p:nvPr/>
        </p:nvSpPr>
        <p:spPr>
          <a:xfrm>
            <a:off x="190500" y="2286000"/>
            <a:ext cx="8629650" cy="1323399"/>
          </a:xfrm>
          <a:prstGeom prst="rect">
            <a:avLst/>
          </a:prstGeom>
          <a:noFill/>
          <a:ln>
            <a:noFill/>
          </a:ln>
        </p:spPr>
        <p:txBody>
          <a:bodyPr spcFirstLastPara="1" wrap="square" lIns="91425" tIns="45700" rIns="91425" bIns="45700" anchor="t" anchorCtr="0">
            <a:spAutoFit/>
          </a:bodyPr>
          <a:lstStyle/>
          <a:p>
            <a:r>
              <a:rPr lang="en-US" sz="2000" dirty="0">
                <a:latin typeface="Times New Roman" panose="02020603050405020304" pitchFamily="18" charset="0"/>
                <a:cs typeface="Times New Roman" panose="02020603050405020304" pitchFamily="18" charset="0"/>
              </a:rPr>
              <a:t>A </a:t>
            </a:r>
            <a:r>
              <a:rPr lang="en-US" sz="2000" b="1" dirty="0">
                <a:latin typeface="Times New Roman" panose="02020603050405020304" pitchFamily="18" charset="0"/>
                <a:cs typeface="Times New Roman" panose="02020603050405020304" pitchFamily="18" charset="0"/>
              </a:rPr>
              <a:t>one-to-one</a:t>
            </a:r>
            <a:r>
              <a:rPr lang="en-US" sz="2000" dirty="0">
                <a:latin typeface="Times New Roman" panose="02020603050405020304" pitchFamily="18" charset="0"/>
                <a:cs typeface="Times New Roman" panose="02020603050405020304" pitchFamily="18" charset="0"/>
              </a:rPr>
              <a:t> association is similar to </a:t>
            </a:r>
            <a:r>
              <a:rPr lang="en-US" sz="2000" b="1" dirty="0">
                <a:latin typeface="Times New Roman" panose="02020603050405020304" pitchFamily="18" charset="0"/>
                <a:cs typeface="Times New Roman" panose="02020603050405020304" pitchFamily="18" charset="0"/>
              </a:rPr>
              <a:t>many-to-one</a:t>
            </a:r>
            <a:r>
              <a:rPr lang="en-US" sz="2000" dirty="0">
                <a:latin typeface="Times New Roman" panose="02020603050405020304" pitchFamily="18" charset="0"/>
                <a:cs typeface="Times New Roman" panose="02020603050405020304" pitchFamily="18" charset="0"/>
              </a:rPr>
              <a:t> association with a difference that the column will be set as unique. For example, an address object can be associated with a single employee object.</a:t>
            </a:r>
          </a:p>
          <a:p>
            <a:endParaRPr lang="en-US" sz="2000" dirty="0">
              <a:latin typeface="Times New Roman" panose="02020603050405020304" pitchFamily="18" charset="0"/>
              <a:cs typeface="Times New Roman" panose="02020603050405020304" pitchFamily="18" charset="0"/>
            </a:endParaRPr>
          </a:p>
        </p:txBody>
      </p:sp>
      <p:sp>
        <p:nvSpPr>
          <p:cNvPr id="179" name="Google Shape;179;p10"/>
          <p:cNvSpPr/>
          <p:nvPr/>
        </p:nvSpPr>
        <p:spPr>
          <a:xfrm>
            <a:off x="0" y="1643063"/>
            <a:ext cx="9144000" cy="642937"/>
          </a:xfrm>
          <a:prstGeom prst="rect">
            <a:avLst/>
          </a:prstGeom>
          <a:solidFill>
            <a:srgbClr val="1F497D"/>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180" name="Google Shape;180;p10"/>
          <p:cNvSpPr/>
          <p:nvPr/>
        </p:nvSpPr>
        <p:spPr>
          <a:xfrm>
            <a:off x="190500" y="1687513"/>
            <a:ext cx="8763000" cy="55403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lt1"/>
              </a:buClr>
              <a:buSzPts val="3000"/>
              <a:buFont typeface="Arial"/>
              <a:buNone/>
            </a:pPr>
            <a:r>
              <a:rPr lang="en-IN" sz="3000" b="1" dirty="0">
                <a:solidFill>
                  <a:schemeClr val="lt1"/>
                </a:solidFill>
                <a:latin typeface="Calibri"/>
                <a:ea typeface="Calibri"/>
                <a:cs typeface="Calibri"/>
                <a:sym typeface="Calibri"/>
              </a:rPr>
              <a:t>One-to-Many Mapping</a:t>
            </a:r>
            <a:endParaRPr dirty="0"/>
          </a:p>
        </p:txBody>
      </p:sp>
      <p:pic>
        <p:nvPicPr>
          <p:cNvPr id="2" name="Picture 12">
            <a:extLst>
              <a:ext uri="{FF2B5EF4-FFF2-40B4-BE49-F238E27FC236}">
                <a16:creationId xmlns:a16="http://schemas.microsoft.com/office/drawing/2014/main" id="{B42D5E84-3B31-A96E-066A-8BCF10D89371}"/>
              </a:ext>
            </a:extLst>
          </p:cNvPr>
          <p:cNvPicPr>
            <a:picLocks noChangeAspect="1" noChangeArrowheads="1"/>
          </p:cNvPicPr>
          <p:nvPr/>
        </p:nvPicPr>
        <p:blipFill>
          <a:blip r:embed="rId5"/>
          <a:srcRect/>
          <a:stretch>
            <a:fillRect/>
          </a:stretch>
        </p:blipFill>
        <p:spPr bwMode="auto">
          <a:xfrm>
            <a:off x="381000" y="0"/>
            <a:ext cx="1524000" cy="1395413"/>
          </a:xfrm>
          <a:prstGeom prst="rect">
            <a:avLst/>
          </a:prstGeom>
          <a:noFill/>
          <a:ln w="9525">
            <a:noFill/>
            <a:miter lim="800000"/>
            <a:headEnd/>
            <a:tailEnd/>
          </a:ln>
        </p:spPr>
      </p:pic>
      <p:pic>
        <p:nvPicPr>
          <p:cNvPr id="3" name="Content Placeholder 3">
            <a:extLst>
              <a:ext uri="{FF2B5EF4-FFF2-40B4-BE49-F238E27FC236}">
                <a16:creationId xmlns:a16="http://schemas.microsoft.com/office/drawing/2014/main" id="{095A2027-ACE6-7DC0-3F77-47CBB06182F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445342" y="3264310"/>
            <a:ext cx="5841283" cy="1740309"/>
          </a:xfrm>
          <a:prstGeom prst="rect">
            <a:avLst/>
          </a:prstGeom>
          <a:noFill/>
          <a:ln>
            <a:noFill/>
          </a:ln>
        </p:spPr>
      </p:pic>
    </p:spTree>
    <p:extLst>
      <p:ext uri="{BB962C8B-B14F-4D97-AF65-F5344CB8AC3E}">
        <p14:creationId xmlns:p14="http://schemas.microsoft.com/office/powerpoint/2010/main" val="11990638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pic>
        <p:nvPicPr>
          <p:cNvPr id="176" name="Google Shape;176;p10" descr="C:\Users\parul\Desktop\Digital Learning Content.png"/>
          <p:cNvPicPr preferRelativeResize="0"/>
          <p:nvPr/>
        </p:nvPicPr>
        <p:blipFill rotWithShape="1">
          <a:blip r:embed="rId3">
            <a:alphaModFix/>
          </a:blip>
          <a:srcRect/>
          <a:stretch/>
        </p:blipFill>
        <p:spPr>
          <a:xfrm>
            <a:off x="0" y="0"/>
            <a:ext cx="9144000" cy="6900863"/>
          </a:xfrm>
          <a:prstGeom prst="rect">
            <a:avLst/>
          </a:prstGeom>
          <a:noFill/>
          <a:ln>
            <a:noFill/>
          </a:ln>
        </p:spPr>
      </p:pic>
      <p:pic>
        <p:nvPicPr>
          <p:cNvPr id="177" name="Google Shape;177;p10" descr="C:\Users\parul\Desktop\Untitled-1.png"/>
          <p:cNvPicPr preferRelativeResize="0"/>
          <p:nvPr/>
        </p:nvPicPr>
        <p:blipFill rotWithShape="1">
          <a:blip r:embed="rId4">
            <a:alphaModFix/>
          </a:blip>
          <a:srcRect/>
          <a:stretch/>
        </p:blipFill>
        <p:spPr>
          <a:xfrm>
            <a:off x="1857375" y="3071813"/>
            <a:ext cx="5430838" cy="2803525"/>
          </a:xfrm>
          <a:prstGeom prst="rect">
            <a:avLst/>
          </a:prstGeom>
          <a:noFill/>
          <a:ln>
            <a:noFill/>
          </a:ln>
        </p:spPr>
      </p:pic>
      <p:sp>
        <p:nvSpPr>
          <p:cNvPr id="178" name="Google Shape;178;p10"/>
          <p:cNvSpPr txBox="1"/>
          <p:nvPr/>
        </p:nvSpPr>
        <p:spPr>
          <a:xfrm>
            <a:off x="190500" y="2286000"/>
            <a:ext cx="8629650" cy="1938952"/>
          </a:xfrm>
          <a:prstGeom prst="rect">
            <a:avLst/>
          </a:prstGeom>
          <a:noFill/>
          <a:ln>
            <a:noFill/>
          </a:ln>
        </p:spPr>
        <p:txBody>
          <a:bodyPr spcFirstLastPara="1" wrap="square" lIns="91425" tIns="45700" rIns="91425" bIns="45700" anchor="t" anchorCtr="0">
            <a:spAutoFit/>
          </a:bodyPr>
          <a:lstStyle/>
          <a:p>
            <a:r>
              <a:rPr lang="en-US" sz="2000" dirty="0">
                <a:latin typeface="Times New Roman" panose="02020603050405020304" pitchFamily="18" charset="0"/>
                <a:cs typeface="Times New Roman" panose="02020603050405020304" pitchFamily="18" charset="0"/>
              </a:rPr>
              <a:t>For this example, we will implement a </a:t>
            </a:r>
            <a:r>
              <a:rPr lang="en-US" sz="2000" i="1" dirty="0">
                <a:latin typeface="Times New Roman" panose="02020603050405020304" pitchFamily="18" charset="0"/>
                <a:cs typeface="Times New Roman" panose="02020603050405020304" pitchFamily="18" charset="0"/>
              </a:rPr>
              <a:t>Cart</a:t>
            </a:r>
            <a:r>
              <a:rPr lang="en-US" sz="2000" dirty="0">
                <a:latin typeface="Times New Roman" panose="02020603050405020304" pitchFamily="18" charset="0"/>
                <a:cs typeface="Times New Roman" panose="02020603050405020304" pitchFamily="18" charset="0"/>
              </a:rPr>
              <a:t> system, where we have a table for </a:t>
            </a:r>
            <a:r>
              <a:rPr lang="en-US" sz="2000" i="1" dirty="0">
                <a:latin typeface="Times New Roman" panose="02020603050405020304" pitchFamily="18" charset="0"/>
                <a:cs typeface="Times New Roman" panose="02020603050405020304" pitchFamily="18" charset="0"/>
              </a:rPr>
              <a:t>Cart</a:t>
            </a:r>
            <a:r>
              <a:rPr lang="en-US" sz="2000" dirty="0">
                <a:latin typeface="Times New Roman" panose="02020603050405020304" pitchFamily="18" charset="0"/>
                <a:cs typeface="Times New Roman" panose="02020603050405020304" pitchFamily="18" charset="0"/>
              </a:rPr>
              <a:t> and another table for </a:t>
            </a:r>
            <a:r>
              <a:rPr lang="en-US" sz="2000" i="1" dirty="0">
                <a:latin typeface="Times New Roman" panose="02020603050405020304" pitchFamily="18" charset="0"/>
                <a:cs typeface="Times New Roman" panose="02020603050405020304" pitchFamily="18" charset="0"/>
              </a:rPr>
              <a:t>Items</a:t>
            </a:r>
            <a:r>
              <a:rPr lang="en-US" sz="2000" dirty="0">
                <a:latin typeface="Times New Roman" panose="02020603050405020304" pitchFamily="18" charset="0"/>
                <a:cs typeface="Times New Roman" panose="02020603050405020304" pitchFamily="18" charset="0"/>
              </a:rPr>
              <a:t>. </a:t>
            </a:r>
          </a:p>
          <a:p>
            <a:r>
              <a:rPr lang="en-US" sz="2000" dirty="0">
                <a:latin typeface="Times New Roman" panose="02020603050405020304" pitchFamily="18" charset="0"/>
                <a:cs typeface="Times New Roman" panose="02020603050405020304" pitchFamily="18" charset="0"/>
              </a:rPr>
              <a:t>A C</a:t>
            </a:r>
            <a:r>
              <a:rPr lang="en-US" sz="2000" i="1" dirty="0">
                <a:latin typeface="Times New Roman" panose="02020603050405020304" pitchFamily="18" charset="0"/>
                <a:cs typeface="Times New Roman" panose="02020603050405020304" pitchFamily="18" charset="0"/>
              </a:rPr>
              <a:t>art</a:t>
            </a:r>
            <a:r>
              <a:rPr lang="en-US" sz="2000" dirty="0">
                <a:latin typeface="Times New Roman" panose="02020603050405020304" pitchFamily="18" charset="0"/>
                <a:cs typeface="Times New Roman" panose="02020603050405020304" pitchFamily="18" charset="0"/>
              </a:rPr>
              <a:t> can have multiple items, so here we have a </a:t>
            </a:r>
            <a:r>
              <a:rPr lang="en-US" sz="2000" i="1" dirty="0">
                <a:latin typeface="Times New Roman" panose="02020603050405020304" pitchFamily="18" charset="0"/>
                <a:cs typeface="Times New Roman" panose="02020603050405020304" pitchFamily="18" charset="0"/>
              </a:rPr>
              <a:t>one-to-many</a:t>
            </a:r>
            <a:r>
              <a:rPr lang="en-US" sz="2000" dirty="0">
                <a:latin typeface="Times New Roman" panose="02020603050405020304" pitchFamily="18" charset="0"/>
                <a:cs typeface="Times New Roman" panose="02020603050405020304" pitchFamily="18" charset="0"/>
              </a:rPr>
              <a:t> mapping with </a:t>
            </a:r>
            <a:r>
              <a:rPr lang="en-US" sz="2000" i="1" dirty="0" err="1">
                <a:latin typeface="Times New Roman" panose="02020603050405020304" pitchFamily="18" charset="0"/>
                <a:cs typeface="Times New Roman" panose="02020603050405020304" pitchFamily="18" charset="0"/>
              </a:rPr>
              <a:t>cart_id</a:t>
            </a:r>
            <a:r>
              <a:rPr lang="en-US" sz="2000" dirty="0">
                <a:latin typeface="Times New Roman" panose="02020603050405020304" pitchFamily="18" charset="0"/>
                <a:cs typeface="Times New Roman" panose="02020603050405020304" pitchFamily="18" charset="0"/>
              </a:rPr>
              <a:t> as a primary key in the </a:t>
            </a:r>
            <a:r>
              <a:rPr lang="en-US" sz="2000" i="1" dirty="0">
                <a:latin typeface="Times New Roman" panose="02020603050405020304" pitchFamily="18" charset="0"/>
                <a:cs typeface="Times New Roman" panose="02020603050405020304" pitchFamily="18" charset="0"/>
              </a:rPr>
              <a:t>Cart</a:t>
            </a:r>
            <a:r>
              <a:rPr lang="en-US" sz="2000" dirty="0">
                <a:latin typeface="Times New Roman" panose="02020603050405020304" pitchFamily="18" charset="0"/>
                <a:cs typeface="Times New Roman" panose="02020603050405020304" pitchFamily="18" charset="0"/>
              </a:rPr>
              <a:t> table and this association is constrained by the foreign key in the </a:t>
            </a:r>
            <a:r>
              <a:rPr lang="en-US" sz="2000" i="1" dirty="0">
                <a:latin typeface="Times New Roman" panose="02020603050405020304" pitchFamily="18" charset="0"/>
                <a:cs typeface="Times New Roman" panose="02020603050405020304" pitchFamily="18" charset="0"/>
              </a:rPr>
              <a:t>Items</a:t>
            </a:r>
            <a:r>
              <a:rPr lang="en-US" sz="2000" dirty="0">
                <a:latin typeface="Times New Roman" panose="02020603050405020304" pitchFamily="18" charset="0"/>
                <a:cs typeface="Times New Roman" panose="02020603050405020304" pitchFamily="18" charset="0"/>
              </a:rPr>
              <a:t> table.</a:t>
            </a:r>
          </a:p>
          <a:p>
            <a:endParaRPr lang="en-US" sz="2000" dirty="0">
              <a:latin typeface="Times New Roman" panose="02020603050405020304" pitchFamily="18" charset="0"/>
              <a:cs typeface="Times New Roman" panose="02020603050405020304" pitchFamily="18" charset="0"/>
            </a:endParaRPr>
          </a:p>
        </p:txBody>
      </p:sp>
      <p:sp>
        <p:nvSpPr>
          <p:cNvPr id="179" name="Google Shape;179;p10"/>
          <p:cNvSpPr/>
          <p:nvPr/>
        </p:nvSpPr>
        <p:spPr>
          <a:xfrm>
            <a:off x="0" y="1643063"/>
            <a:ext cx="9144000" cy="642937"/>
          </a:xfrm>
          <a:prstGeom prst="rect">
            <a:avLst/>
          </a:prstGeom>
          <a:solidFill>
            <a:srgbClr val="1F497D"/>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180" name="Google Shape;180;p10"/>
          <p:cNvSpPr/>
          <p:nvPr/>
        </p:nvSpPr>
        <p:spPr>
          <a:xfrm>
            <a:off x="190500" y="1687513"/>
            <a:ext cx="8763000" cy="55403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lt1"/>
              </a:buClr>
              <a:buSzPts val="3000"/>
              <a:buFont typeface="Arial"/>
              <a:buNone/>
            </a:pPr>
            <a:r>
              <a:rPr lang="en-IN" sz="3000" b="1" dirty="0">
                <a:solidFill>
                  <a:schemeClr val="lt1"/>
                </a:solidFill>
                <a:latin typeface="Calibri"/>
                <a:ea typeface="Calibri"/>
                <a:cs typeface="Calibri"/>
                <a:sym typeface="Calibri"/>
              </a:rPr>
              <a:t>One-to-Many Mapping</a:t>
            </a:r>
            <a:endParaRPr dirty="0"/>
          </a:p>
        </p:txBody>
      </p:sp>
      <p:pic>
        <p:nvPicPr>
          <p:cNvPr id="2" name="Picture 12">
            <a:extLst>
              <a:ext uri="{FF2B5EF4-FFF2-40B4-BE49-F238E27FC236}">
                <a16:creationId xmlns:a16="http://schemas.microsoft.com/office/drawing/2014/main" id="{B42D5E84-3B31-A96E-066A-8BCF10D89371}"/>
              </a:ext>
            </a:extLst>
          </p:cNvPr>
          <p:cNvPicPr>
            <a:picLocks noChangeAspect="1" noChangeArrowheads="1"/>
          </p:cNvPicPr>
          <p:nvPr/>
        </p:nvPicPr>
        <p:blipFill>
          <a:blip r:embed="rId5"/>
          <a:srcRect/>
          <a:stretch>
            <a:fillRect/>
          </a:stretch>
        </p:blipFill>
        <p:spPr bwMode="auto">
          <a:xfrm>
            <a:off x="381000" y="0"/>
            <a:ext cx="1524000" cy="1395413"/>
          </a:xfrm>
          <a:prstGeom prst="rect">
            <a:avLst/>
          </a:prstGeom>
          <a:noFill/>
          <a:ln w="9525">
            <a:noFill/>
            <a:miter lim="800000"/>
            <a:headEnd/>
            <a:tailEnd/>
          </a:ln>
        </p:spPr>
      </p:pic>
    </p:spTree>
    <p:extLst>
      <p:ext uri="{BB962C8B-B14F-4D97-AF65-F5344CB8AC3E}">
        <p14:creationId xmlns:p14="http://schemas.microsoft.com/office/powerpoint/2010/main" val="260130819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pic>
        <p:nvPicPr>
          <p:cNvPr id="176" name="Google Shape;176;p10" descr="C:\Users\parul\Desktop\Digital Learning Content.png"/>
          <p:cNvPicPr preferRelativeResize="0"/>
          <p:nvPr/>
        </p:nvPicPr>
        <p:blipFill rotWithShape="1">
          <a:blip r:embed="rId3">
            <a:alphaModFix/>
          </a:blip>
          <a:srcRect/>
          <a:stretch/>
        </p:blipFill>
        <p:spPr>
          <a:xfrm>
            <a:off x="0" y="0"/>
            <a:ext cx="9144000" cy="6900863"/>
          </a:xfrm>
          <a:prstGeom prst="rect">
            <a:avLst/>
          </a:prstGeom>
          <a:noFill/>
          <a:ln>
            <a:noFill/>
          </a:ln>
        </p:spPr>
      </p:pic>
      <p:pic>
        <p:nvPicPr>
          <p:cNvPr id="177" name="Google Shape;177;p10" descr="C:\Users\parul\Desktop\Untitled-1.png"/>
          <p:cNvPicPr preferRelativeResize="0"/>
          <p:nvPr/>
        </p:nvPicPr>
        <p:blipFill rotWithShape="1">
          <a:blip r:embed="rId4">
            <a:alphaModFix/>
          </a:blip>
          <a:srcRect/>
          <a:stretch/>
        </p:blipFill>
        <p:spPr>
          <a:xfrm>
            <a:off x="1857375" y="3071813"/>
            <a:ext cx="5430838" cy="2803525"/>
          </a:xfrm>
          <a:prstGeom prst="rect">
            <a:avLst/>
          </a:prstGeom>
          <a:noFill/>
          <a:ln>
            <a:noFill/>
          </a:ln>
        </p:spPr>
      </p:pic>
      <p:sp>
        <p:nvSpPr>
          <p:cNvPr id="178" name="Google Shape;178;p10"/>
          <p:cNvSpPr txBox="1"/>
          <p:nvPr/>
        </p:nvSpPr>
        <p:spPr>
          <a:xfrm>
            <a:off x="190500" y="2286000"/>
            <a:ext cx="8629650" cy="4093388"/>
          </a:xfrm>
          <a:prstGeom prst="rect">
            <a:avLst/>
          </a:prstGeom>
          <a:noFill/>
          <a:ln>
            <a:noFill/>
          </a:ln>
        </p:spPr>
        <p:txBody>
          <a:bodyPr spcFirstLastPara="1" wrap="square" lIns="91425" tIns="45700" rIns="91425" bIns="45700" anchor="t" anchorCtr="0">
            <a:spAutoFit/>
          </a:bodyPr>
          <a:lstStyle/>
          <a:p>
            <a:r>
              <a:rPr lang="en-US" sz="2000" dirty="0">
                <a:latin typeface="Times New Roman" panose="02020603050405020304" pitchFamily="18" charset="0"/>
                <a:cs typeface="Times New Roman" panose="02020603050405020304" pitchFamily="18" charset="0"/>
              </a:rPr>
              <a:t>A </a:t>
            </a:r>
            <a:r>
              <a:rPr lang="en-US" sz="2000" b="1" dirty="0">
                <a:latin typeface="Times New Roman" panose="02020603050405020304" pitchFamily="18" charset="0"/>
                <a:cs typeface="Times New Roman" panose="02020603050405020304" pitchFamily="18" charset="0"/>
              </a:rPr>
              <a:t>many-to-one</a:t>
            </a:r>
            <a:r>
              <a:rPr lang="en-US" sz="2000" dirty="0">
                <a:latin typeface="Times New Roman" panose="02020603050405020304" pitchFamily="18" charset="0"/>
                <a:cs typeface="Times New Roman" panose="02020603050405020304" pitchFamily="18" charset="0"/>
              </a:rPr>
              <a:t> association is the most common kind of association where an Object can be associated with multiple objects. For example, the same address object can be associated with multiple employee objects.</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The </a:t>
            </a:r>
            <a:r>
              <a:rPr lang="en-US" sz="2000" b="1" dirty="0">
                <a:latin typeface="Times New Roman" panose="02020603050405020304" pitchFamily="18" charset="0"/>
                <a:cs typeface="Times New Roman" panose="02020603050405020304" pitchFamily="18" charset="0"/>
              </a:rPr>
              <a:t>&lt;many-to-one&gt;</a:t>
            </a:r>
            <a:r>
              <a:rPr lang="en-US" sz="2000" dirty="0">
                <a:latin typeface="Times New Roman" panose="02020603050405020304" pitchFamily="18" charset="0"/>
                <a:cs typeface="Times New Roman" panose="02020603050405020304" pitchFamily="18" charset="0"/>
              </a:rPr>
              <a:t>element is used to set the relationship between EMPLOYEE and ADDRESS entities. </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The </a:t>
            </a:r>
            <a:r>
              <a:rPr lang="en-US" sz="2000" b="1" dirty="0">
                <a:latin typeface="Times New Roman" panose="02020603050405020304" pitchFamily="18" charset="0"/>
                <a:cs typeface="Times New Roman" panose="02020603050405020304" pitchFamily="18" charset="0"/>
              </a:rPr>
              <a:t>name</a:t>
            </a:r>
            <a:r>
              <a:rPr lang="en-US" sz="2000" dirty="0">
                <a:latin typeface="Times New Roman" panose="02020603050405020304" pitchFamily="18" charset="0"/>
                <a:cs typeface="Times New Roman" panose="02020603050405020304" pitchFamily="18" charset="0"/>
              </a:rPr>
              <a:t> attribute is set to the defined variable in the parent class, in our case it is </a:t>
            </a:r>
            <a:r>
              <a:rPr lang="en-US" sz="2000" i="1" dirty="0">
                <a:latin typeface="Times New Roman" panose="02020603050405020304" pitchFamily="18" charset="0"/>
                <a:cs typeface="Times New Roman" panose="02020603050405020304" pitchFamily="18" charset="0"/>
              </a:rPr>
              <a:t>address</a:t>
            </a:r>
            <a:r>
              <a:rPr lang="en-US" sz="2000" dirty="0">
                <a:latin typeface="Times New Roman" panose="02020603050405020304" pitchFamily="18" charset="0"/>
                <a:cs typeface="Times New Roman" panose="02020603050405020304" pitchFamily="18" charset="0"/>
              </a:rPr>
              <a:t>. </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The </a:t>
            </a:r>
            <a:r>
              <a:rPr lang="en-US" sz="2000" b="1" dirty="0">
                <a:latin typeface="Times New Roman" panose="02020603050405020304" pitchFamily="18" charset="0"/>
                <a:cs typeface="Times New Roman" panose="02020603050405020304" pitchFamily="18" charset="0"/>
              </a:rPr>
              <a:t>column</a:t>
            </a:r>
            <a:r>
              <a:rPr lang="en-US" sz="2000" dirty="0">
                <a:latin typeface="Times New Roman" panose="02020603050405020304" pitchFamily="18" charset="0"/>
                <a:cs typeface="Times New Roman" panose="02020603050405020304" pitchFamily="18" charset="0"/>
              </a:rPr>
              <a:t> attribute is used to set the column name in the parent table EMPLOYEE.</a:t>
            </a:r>
          </a:p>
          <a:p>
            <a:endParaRPr lang="en-US" sz="2000" dirty="0">
              <a:latin typeface="Times New Roman" panose="02020603050405020304" pitchFamily="18" charset="0"/>
              <a:cs typeface="Times New Roman" panose="02020603050405020304" pitchFamily="18" charset="0"/>
            </a:endParaRPr>
          </a:p>
        </p:txBody>
      </p:sp>
      <p:sp>
        <p:nvSpPr>
          <p:cNvPr id="179" name="Google Shape;179;p10"/>
          <p:cNvSpPr/>
          <p:nvPr/>
        </p:nvSpPr>
        <p:spPr>
          <a:xfrm>
            <a:off x="0" y="1643063"/>
            <a:ext cx="9144000" cy="642937"/>
          </a:xfrm>
          <a:prstGeom prst="rect">
            <a:avLst/>
          </a:prstGeom>
          <a:solidFill>
            <a:srgbClr val="1F497D"/>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180" name="Google Shape;180;p10"/>
          <p:cNvSpPr/>
          <p:nvPr/>
        </p:nvSpPr>
        <p:spPr>
          <a:xfrm>
            <a:off x="190500" y="1687513"/>
            <a:ext cx="8763000" cy="55403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lt1"/>
              </a:buClr>
              <a:buSzPts val="3000"/>
              <a:buFont typeface="Arial"/>
              <a:buNone/>
            </a:pPr>
            <a:r>
              <a:rPr lang="en-IN" sz="3000" b="1" dirty="0">
                <a:solidFill>
                  <a:schemeClr val="lt1"/>
                </a:solidFill>
                <a:latin typeface="Calibri"/>
                <a:ea typeface="Calibri"/>
                <a:cs typeface="Calibri"/>
                <a:sym typeface="Calibri"/>
              </a:rPr>
              <a:t>Many-to-one Mapping</a:t>
            </a:r>
            <a:endParaRPr dirty="0"/>
          </a:p>
        </p:txBody>
      </p:sp>
      <p:pic>
        <p:nvPicPr>
          <p:cNvPr id="2" name="Picture 12">
            <a:extLst>
              <a:ext uri="{FF2B5EF4-FFF2-40B4-BE49-F238E27FC236}">
                <a16:creationId xmlns:a16="http://schemas.microsoft.com/office/drawing/2014/main" id="{B42D5E84-3B31-A96E-066A-8BCF10D89371}"/>
              </a:ext>
            </a:extLst>
          </p:cNvPr>
          <p:cNvPicPr>
            <a:picLocks noChangeAspect="1" noChangeArrowheads="1"/>
          </p:cNvPicPr>
          <p:nvPr/>
        </p:nvPicPr>
        <p:blipFill>
          <a:blip r:embed="rId5"/>
          <a:srcRect/>
          <a:stretch>
            <a:fillRect/>
          </a:stretch>
        </p:blipFill>
        <p:spPr bwMode="auto">
          <a:xfrm>
            <a:off x="381000" y="0"/>
            <a:ext cx="1524000" cy="1395413"/>
          </a:xfrm>
          <a:prstGeom prst="rect">
            <a:avLst/>
          </a:prstGeom>
          <a:noFill/>
          <a:ln w="9525">
            <a:noFill/>
            <a:miter lim="800000"/>
            <a:headEnd/>
            <a:tailEnd/>
          </a:ln>
        </p:spPr>
      </p:pic>
    </p:spTree>
    <p:extLst>
      <p:ext uri="{BB962C8B-B14F-4D97-AF65-F5344CB8AC3E}">
        <p14:creationId xmlns:p14="http://schemas.microsoft.com/office/powerpoint/2010/main" val="180021176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pic>
        <p:nvPicPr>
          <p:cNvPr id="176" name="Google Shape;176;p10" descr="C:\Users\parul\Desktop\Digital Learning Content.png"/>
          <p:cNvPicPr preferRelativeResize="0"/>
          <p:nvPr/>
        </p:nvPicPr>
        <p:blipFill rotWithShape="1">
          <a:blip r:embed="rId3">
            <a:alphaModFix/>
          </a:blip>
          <a:srcRect/>
          <a:stretch/>
        </p:blipFill>
        <p:spPr>
          <a:xfrm>
            <a:off x="0" y="0"/>
            <a:ext cx="9144000" cy="6900863"/>
          </a:xfrm>
          <a:prstGeom prst="rect">
            <a:avLst/>
          </a:prstGeom>
          <a:noFill/>
          <a:ln>
            <a:noFill/>
          </a:ln>
        </p:spPr>
      </p:pic>
      <p:pic>
        <p:nvPicPr>
          <p:cNvPr id="177" name="Google Shape;177;p10" descr="C:\Users\parul\Desktop\Untitled-1.png"/>
          <p:cNvPicPr preferRelativeResize="0"/>
          <p:nvPr/>
        </p:nvPicPr>
        <p:blipFill rotWithShape="1">
          <a:blip r:embed="rId4">
            <a:alphaModFix/>
          </a:blip>
          <a:srcRect/>
          <a:stretch/>
        </p:blipFill>
        <p:spPr>
          <a:xfrm>
            <a:off x="1857375" y="3071813"/>
            <a:ext cx="5430838" cy="2803525"/>
          </a:xfrm>
          <a:prstGeom prst="rect">
            <a:avLst/>
          </a:prstGeom>
          <a:noFill/>
          <a:ln>
            <a:noFill/>
          </a:ln>
        </p:spPr>
      </p:pic>
      <p:sp>
        <p:nvSpPr>
          <p:cNvPr id="178" name="Google Shape;178;p10"/>
          <p:cNvSpPr txBox="1"/>
          <p:nvPr/>
        </p:nvSpPr>
        <p:spPr>
          <a:xfrm>
            <a:off x="190500" y="2286000"/>
            <a:ext cx="8629650" cy="2554505"/>
          </a:xfrm>
          <a:prstGeom prst="rect">
            <a:avLst/>
          </a:prstGeom>
          <a:noFill/>
          <a:ln>
            <a:noFill/>
          </a:ln>
        </p:spPr>
        <p:txBody>
          <a:bodyPr spcFirstLastPara="1" wrap="square" lIns="91425" tIns="45700" rIns="91425" bIns="45700" anchor="t" anchorCtr="0">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Many-to-Many</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mapping is usually implemented in database using a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Join Table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example we can have Cart and Item table and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Cart_Items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table for many-to-many mapping.</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Every cart can have multiple items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and every item can be part of multiple carts, so we have a many to many mapping here.</a:t>
            </a:r>
          </a:p>
        </p:txBody>
      </p:sp>
      <p:sp>
        <p:nvSpPr>
          <p:cNvPr id="179" name="Google Shape;179;p10"/>
          <p:cNvSpPr/>
          <p:nvPr/>
        </p:nvSpPr>
        <p:spPr>
          <a:xfrm>
            <a:off x="0" y="1643063"/>
            <a:ext cx="9144000" cy="642937"/>
          </a:xfrm>
          <a:prstGeom prst="rect">
            <a:avLst/>
          </a:prstGeom>
          <a:solidFill>
            <a:srgbClr val="1F497D"/>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180" name="Google Shape;180;p10"/>
          <p:cNvSpPr/>
          <p:nvPr/>
        </p:nvSpPr>
        <p:spPr>
          <a:xfrm>
            <a:off x="190500" y="1687513"/>
            <a:ext cx="8763000" cy="55403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lt1"/>
              </a:buClr>
              <a:buSzPts val="3000"/>
              <a:buFont typeface="Arial"/>
              <a:buNone/>
            </a:pPr>
            <a:r>
              <a:rPr lang="en-IN" sz="3000" b="1" dirty="0">
                <a:solidFill>
                  <a:schemeClr val="lt1"/>
                </a:solidFill>
                <a:latin typeface="Calibri"/>
                <a:ea typeface="Calibri"/>
                <a:cs typeface="Calibri"/>
                <a:sym typeface="Calibri"/>
              </a:rPr>
              <a:t>Many-to-Many Mapping</a:t>
            </a:r>
            <a:endParaRPr dirty="0"/>
          </a:p>
        </p:txBody>
      </p:sp>
      <p:pic>
        <p:nvPicPr>
          <p:cNvPr id="2" name="Picture 12">
            <a:extLst>
              <a:ext uri="{FF2B5EF4-FFF2-40B4-BE49-F238E27FC236}">
                <a16:creationId xmlns:a16="http://schemas.microsoft.com/office/drawing/2014/main" id="{B42D5E84-3B31-A96E-066A-8BCF10D89371}"/>
              </a:ext>
            </a:extLst>
          </p:cNvPr>
          <p:cNvPicPr>
            <a:picLocks noChangeAspect="1" noChangeArrowheads="1"/>
          </p:cNvPicPr>
          <p:nvPr/>
        </p:nvPicPr>
        <p:blipFill>
          <a:blip r:embed="rId5"/>
          <a:srcRect/>
          <a:stretch>
            <a:fillRect/>
          </a:stretch>
        </p:blipFill>
        <p:spPr bwMode="auto">
          <a:xfrm>
            <a:off x="381000" y="0"/>
            <a:ext cx="1524000" cy="1395413"/>
          </a:xfrm>
          <a:prstGeom prst="rect">
            <a:avLst/>
          </a:prstGeom>
          <a:noFill/>
          <a:ln w="9525">
            <a:noFill/>
            <a:miter lim="800000"/>
            <a:headEnd/>
            <a:tailEnd/>
          </a:ln>
        </p:spPr>
      </p:pic>
    </p:spTree>
    <p:extLst>
      <p:ext uri="{BB962C8B-B14F-4D97-AF65-F5344CB8AC3E}">
        <p14:creationId xmlns:p14="http://schemas.microsoft.com/office/powerpoint/2010/main" val="323704116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pic>
        <p:nvPicPr>
          <p:cNvPr id="176" name="Google Shape;176;p10" descr="C:\Users\parul\Desktop\Digital Learning Content.png"/>
          <p:cNvPicPr preferRelativeResize="0"/>
          <p:nvPr/>
        </p:nvPicPr>
        <p:blipFill rotWithShape="1">
          <a:blip r:embed="rId3">
            <a:alphaModFix/>
          </a:blip>
          <a:srcRect/>
          <a:stretch/>
        </p:blipFill>
        <p:spPr>
          <a:xfrm>
            <a:off x="0" y="0"/>
            <a:ext cx="9144000" cy="6900863"/>
          </a:xfrm>
          <a:prstGeom prst="rect">
            <a:avLst/>
          </a:prstGeom>
          <a:noFill/>
          <a:ln>
            <a:noFill/>
          </a:ln>
        </p:spPr>
      </p:pic>
      <p:pic>
        <p:nvPicPr>
          <p:cNvPr id="177" name="Google Shape;177;p10" descr="C:\Users\parul\Desktop\Untitled-1.png"/>
          <p:cNvPicPr preferRelativeResize="0"/>
          <p:nvPr/>
        </p:nvPicPr>
        <p:blipFill rotWithShape="1">
          <a:blip r:embed="rId4">
            <a:alphaModFix/>
          </a:blip>
          <a:srcRect/>
          <a:stretch/>
        </p:blipFill>
        <p:spPr>
          <a:xfrm>
            <a:off x="1857375" y="3071813"/>
            <a:ext cx="5430838" cy="2803525"/>
          </a:xfrm>
          <a:prstGeom prst="rect">
            <a:avLst/>
          </a:prstGeom>
          <a:noFill/>
          <a:ln>
            <a:noFill/>
          </a:ln>
        </p:spPr>
      </p:pic>
      <p:sp>
        <p:nvSpPr>
          <p:cNvPr id="178" name="Google Shape;178;p10"/>
          <p:cNvSpPr txBox="1"/>
          <p:nvPr/>
        </p:nvSpPr>
        <p:spPr>
          <a:xfrm>
            <a:off x="190500" y="2286000"/>
            <a:ext cx="8629650" cy="2246729"/>
          </a:xfrm>
          <a:prstGeom prst="rect">
            <a:avLst/>
          </a:prstGeom>
          <a:noFill/>
          <a:ln>
            <a:noFill/>
          </a:ln>
        </p:spPr>
        <p:txBody>
          <a:bodyPr spcFirstLastPara="1" wrap="square" lIns="91425" tIns="45700" rIns="91425" bIns="45700" anchor="t" anchorCtr="0">
            <a:spAutoFit/>
          </a:bodyPr>
          <a:lstStyle/>
          <a:p>
            <a:pPr algn="l"/>
            <a:r>
              <a:rPr lang="en-US" sz="2000" b="0" i="0" dirty="0">
                <a:solidFill>
                  <a:srgbClr val="000000"/>
                </a:solidFill>
                <a:effectLst/>
                <a:highlight>
                  <a:srgbClr val="FFFFFF"/>
                </a:highlight>
                <a:latin typeface="Times New Roman" panose="02020603050405020304" pitchFamily="18" charset="0"/>
                <a:cs typeface="Times New Roman" panose="02020603050405020304" pitchFamily="18" charset="0"/>
              </a:rPr>
              <a:t>In this scenario, any given </a:t>
            </a:r>
            <a:r>
              <a:rPr lang="en-US" sz="2000" b="0" i="1" dirty="0">
                <a:solidFill>
                  <a:srgbClr val="000000"/>
                </a:solidFill>
                <a:effectLst/>
                <a:highlight>
                  <a:srgbClr val="FFFFFF"/>
                </a:highlight>
                <a:latin typeface="Times New Roman" panose="02020603050405020304" pitchFamily="18" charset="0"/>
                <a:cs typeface="Times New Roman" panose="02020603050405020304" pitchFamily="18" charset="0"/>
              </a:rPr>
              <a:t>employee </a:t>
            </a:r>
            <a:r>
              <a:rPr lang="en-US" sz="2000" b="0" i="0" dirty="0">
                <a:solidFill>
                  <a:srgbClr val="000000"/>
                </a:solidFill>
                <a:effectLst/>
                <a:highlight>
                  <a:srgbClr val="FFFFFF"/>
                </a:highlight>
                <a:latin typeface="Times New Roman" panose="02020603050405020304" pitchFamily="18" charset="0"/>
                <a:cs typeface="Times New Roman" panose="02020603050405020304" pitchFamily="18" charset="0"/>
              </a:rPr>
              <a:t>can be assigned to multiple projects and a </a:t>
            </a:r>
            <a:r>
              <a:rPr lang="en-US" sz="2000" b="0" i="1" dirty="0">
                <a:solidFill>
                  <a:srgbClr val="000000"/>
                </a:solidFill>
                <a:effectLst/>
                <a:highlight>
                  <a:srgbClr val="FFFFFF"/>
                </a:highlight>
                <a:latin typeface="Times New Roman" panose="02020603050405020304" pitchFamily="18" charset="0"/>
                <a:cs typeface="Times New Roman" panose="02020603050405020304" pitchFamily="18" charset="0"/>
              </a:rPr>
              <a:t>project </a:t>
            </a:r>
            <a:r>
              <a:rPr lang="en-US" sz="2000" b="0" i="0" dirty="0">
                <a:solidFill>
                  <a:srgbClr val="000000"/>
                </a:solidFill>
                <a:effectLst/>
                <a:highlight>
                  <a:srgbClr val="FFFFFF"/>
                </a:highlight>
                <a:latin typeface="Times New Roman" panose="02020603050405020304" pitchFamily="18" charset="0"/>
                <a:cs typeface="Times New Roman" panose="02020603050405020304" pitchFamily="18" charset="0"/>
              </a:rPr>
              <a:t>may have multiple employees working for it, leading to a many-to-many association between the two.</a:t>
            </a:r>
          </a:p>
          <a:p>
            <a:pPr algn="l"/>
            <a:r>
              <a:rPr lang="en-US" sz="2000" b="0" i="0" dirty="0">
                <a:solidFill>
                  <a:srgbClr val="000000"/>
                </a:solidFill>
                <a:effectLst/>
                <a:highlight>
                  <a:srgbClr val="FFFFFF"/>
                </a:highlight>
                <a:latin typeface="Times New Roman" panose="02020603050405020304" pitchFamily="18" charset="0"/>
                <a:cs typeface="Times New Roman" panose="02020603050405020304" pitchFamily="18" charset="0"/>
              </a:rPr>
              <a:t>We have an </a:t>
            </a:r>
            <a:r>
              <a:rPr lang="en-US" sz="2000" b="0" i="1" dirty="0">
                <a:solidFill>
                  <a:srgbClr val="000000"/>
                </a:solidFill>
                <a:effectLst/>
                <a:highlight>
                  <a:srgbClr val="FFFFFF"/>
                </a:highlight>
                <a:latin typeface="Times New Roman" panose="02020603050405020304" pitchFamily="18" charset="0"/>
                <a:cs typeface="Times New Roman" panose="02020603050405020304" pitchFamily="18" charset="0"/>
              </a:rPr>
              <a:t>employee </a:t>
            </a:r>
            <a:r>
              <a:rPr lang="en-US" sz="2000" b="0" i="0" dirty="0">
                <a:solidFill>
                  <a:srgbClr val="000000"/>
                </a:solidFill>
                <a:effectLst/>
                <a:highlight>
                  <a:srgbClr val="FFFFFF"/>
                </a:highlight>
                <a:latin typeface="Times New Roman" panose="02020603050405020304" pitchFamily="18" charset="0"/>
                <a:cs typeface="Times New Roman" panose="02020603050405020304" pitchFamily="18" charset="0"/>
              </a:rPr>
              <a:t>table with </a:t>
            </a:r>
            <a:r>
              <a:rPr lang="en-US" sz="2000" b="0" i="1" dirty="0" err="1">
                <a:solidFill>
                  <a:srgbClr val="000000"/>
                </a:solidFill>
                <a:effectLst/>
                <a:highlight>
                  <a:srgbClr val="FFFFFF"/>
                </a:highlight>
                <a:latin typeface="Times New Roman" panose="02020603050405020304" pitchFamily="18" charset="0"/>
                <a:cs typeface="Times New Roman" panose="02020603050405020304" pitchFamily="18" charset="0"/>
              </a:rPr>
              <a:t>employee_id</a:t>
            </a:r>
            <a:r>
              <a:rPr lang="en-US" sz="2000" b="0" i="0" dirty="0">
                <a:solidFill>
                  <a:srgbClr val="000000"/>
                </a:solidFill>
                <a:effectLst/>
                <a:highlight>
                  <a:srgbClr val="FFFFFF"/>
                </a:highlight>
                <a:latin typeface="Times New Roman" panose="02020603050405020304" pitchFamily="18" charset="0"/>
                <a:cs typeface="Times New Roman" panose="02020603050405020304" pitchFamily="18" charset="0"/>
              </a:rPr>
              <a:t> as its primary key and a </a:t>
            </a:r>
            <a:r>
              <a:rPr lang="en-US" sz="2000" b="0" i="1" dirty="0">
                <a:solidFill>
                  <a:srgbClr val="000000"/>
                </a:solidFill>
                <a:effectLst/>
                <a:highlight>
                  <a:srgbClr val="FFFFFF"/>
                </a:highlight>
                <a:latin typeface="Times New Roman" panose="02020603050405020304" pitchFamily="18" charset="0"/>
                <a:cs typeface="Times New Roman" panose="02020603050405020304" pitchFamily="18" charset="0"/>
              </a:rPr>
              <a:t>project</a:t>
            </a:r>
            <a:r>
              <a:rPr lang="en-US" sz="2000" b="0" i="0" dirty="0">
                <a:solidFill>
                  <a:srgbClr val="000000"/>
                </a:solidFill>
                <a:effectLst/>
                <a:highlight>
                  <a:srgbClr val="FFFFFF"/>
                </a:highlight>
                <a:latin typeface="Times New Roman" panose="02020603050405020304" pitchFamily="18" charset="0"/>
                <a:cs typeface="Times New Roman" panose="02020603050405020304" pitchFamily="18" charset="0"/>
              </a:rPr>
              <a:t> table with </a:t>
            </a:r>
            <a:r>
              <a:rPr lang="en-US" sz="2000" b="0" i="1" dirty="0" err="1">
                <a:solidFill>
                  <a:srgbClr val="000000"/>
                </a:solidFill>
                <a:effectLst/>
                <a:highlight>
                  <a:srgbClr val="FFFFFF"/>
                </a:highlight>
                <a:latin typeface="Times New Roman" panose="02020603050405020304" pitchFamily="18" charset="0"/>
                <a:cs typeface="Times New Roman" panose="02020603050405020304" pitchFamily="18" charset="0"/>
              </a:rPr>
              <a:t>project_id</a:t>
            </a:r>
            <a:r>
              <a:rPr lang="en-US" sz="2000" b="0" i="1" dirty="0">
                <a:solidFill>
                  <a:srgbClr val="000000"/>
                </a:solidFill>
                <a:effectLst/>
                <a:highlight>
                  <a:srgbClr val="FFFFFF"/>
                </a:highlight>
                <a:latin typeface="Times New Roman" panose="02020603050405020304" pitchFamily="18" charset="0"/>
                <a:cs typeface="Times New Roman" panose="02020603050405020304" pitchFamily="18" charset="0"/>
              </a:rPr>
              <a:t> </a:t>
            </a:r>
            <a:r>
              <a:rPr lang="en-US" sz="2000" b="0" i="0" dirty="0">
                <a:solidFill>
                  <a:srgbClr val="000000"/>
                </a:solidFill>
                <a:effectLst/>
                <a:highlight>
                  <a:srgbClr val="FFFFFF"/>
                </a:highlight>
                <a:latin typeface="Times New Roman" panose="02020603050405020304" pitchFamily="18" charset="0"/>
                <a:cs typeface="Times New Roman" panose="02020603050405020304" pitchFamily="18" charset="0"/>
              </a:rPr>
              <a:t>as its primary key. A join table </a:t>
            </a:r>
            <a:r>
              <a:rPr lang="en-US" sz="2000" b="0" i="1" dirty="0" err="1">
                <a:solidFill>
                  <a:srgbClr val="000000"/>
                </a:solidFill>
                <a:effectLst/>
                <a:highlight>
                  <a:srgbClr val="FFFFFF"/>
                </a:highlight>
                <a:latin typeface="Times New Roman" panose="02020603050405020304" pitchFamily="18" charset="0"/>
                <a:cs typeface="Times New Roman" panose="02020603050405020304" pitchFamily="18" charset="0"/>
              </a:rPr>
              <a:t>employee_project</a:t>
            </a:r>
            <a:r>
              <a:rPr lang="en-US" sz="2000" b="0" i="1" dirty="0">
                <a:solidFill>
                  <a:srgbClr val="000000"/>
                </a:solidFill>
                <a:effectLst/>
                <a:highlight>
                  <a:srgbClr val="FFFFFF"/>
                </a:highlight>
                <a:latin typeface="Times New Roman" panose="02020603050405020304" pitchFamily="18" charset="0"/>
                <a:cs typeface="Times New Roman" panose="02020603050405020304" pitchFamily="18" charset="0"/>
              </a:rPr>
              <a:t> </a:t>
            </a:r>
            <a:r>
              <a:rPr lang="en-US" sz="2000" b="0" i="0" dirty="0">
                <a:solidFill>
                  <a:srgbClr val="000000"/>
                </a:solidFill>
                <a:effectLst/>
                <a:highlight>
                  <a:srgbClr val="FFFFFF"/>
                </a:highlight>
                <a:latin typeface="Times New Roman" panose="02020603050405020304" pitchFamily="18" charset="0"/>
                <a:cs typeface="Times New Roman" panose="02020603050405020304" pitchFamily="18" charset="0"/>
              </a:rPr>
              <a:t>is required here to connect both sides.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179" name="Google Shape;179;p10"/>
          <p:cNvSpPr/>
          <p:nvPr/>
        </p:nvSpPr>
        <p:spPr>
          <a:xfrm>
            <a:off x="0" y="1643063"/>
            <a:ext cx="9144000" cy="642937"/>
          </a:xfrm>
          <a:prstGeom prst="rect">
            <a:avLst/>
          </a:prstGeom>
          <a:solidFill>
            <a:srgbClr val="1F497D"/>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180" name="Google Shape;180;p10"/>
          <p:cNvSpPr/>
          <p:nvPr/>
        </p:nvSpPr>
        <p:spPr>
          <a:xfrm>
            <a:off x="190500" y="1687513"/>
            <a:ext cx="8763000" cy="55403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lt1"/>
              </a:buClr>
              <a:buSzPts val="3000"/>
              <a:buFont typeface="Arial"/>
              <a:buNone/>
            </a:pPr>
            <a:r>
              <a:rPr lang="en-IN" sz="3000" b="1" dirty="0">
                <a:solidFill>
                  <a:schemeClr val="lt1"/>
                </a:solidFill>
                <a:latin typeface="Calibri"/>
                <a:ea typeface="Calibri"/>
                <a:cs typeface="Calibri"/>
                <a:sym typeface="Calibri"/>
              </a:rPr>
              <a:t>Many-to-Many Mapping</a:t>
            </a:r>
            <a:endParaRPr dirty="0"/>
          </a:p>
        </p:txBody>
      </p:sp>
      <p:pic>
        <p:nvPicPr>
          <p:cNvPr id="2" name="Picture 12">
            <a:extLst>
              <a:ext uri="{FF2B5EF4-FFF2-40B4-BE49-F238E27FC236}">
                <a16:creationId xmlns:a16="http://schemas.microsoft.com/office/drawing/2014/main" id="{B42D5E84-3B31-A96E-066A-8BCF10D89371}"/>
              </a:ext>
            </a:extLst>
          </p:cNvPr>
          <p:cNvPicPr>
            <a:picLocks noChangeAspect="1" noChangeArrowheads="1"/>
          </p:cNvPicPr>
          <p:nvPr/>
        </p:nvPicPr>
        <p:blipFill>
          <a:blip r:embed="rId5"/>
          <a:srcRect/>
          <a:stretch>
            <a:fillRect/>
          </a:stretch>
        </p:blipFill>
        <p:spPr bwMode="auto">
          <a:xfrm>
            <a:off x="381000" y="0"/>
            <a:ext cx="1524000" cy="1395413"/>
          </a:xfrm>
          <a:prstGeom prst="rect">
            <a:avLst/>
          </a:prstGeom>
          <a:noFill/>
          <a:ln w="9525">
            <a:noFill/>
            <a:miter lim="800000"/>
            <a:headEnd/>
            <a:tailEnd/>
          </a:ln>
        </p:spPr>
      </p:pic>
      <p:pic>
        <p:nvPicPr>
          <p:cNvPr id="4" name="Picture 3">
            <a:extLst>
              <a:ext uri="{FF2B5EF4-FFF2-40B4-BE49-F238E27FC236}">
                <a16:creationId xmlns:a16="http://schemas.microsoft.com/office/drawing/2014/main" id="{ABF801FB-007D-4F61-DD2F-27EA2EFBC942}"/>
              </a:ext>
            </a:extLst>
          </p:cNvPr>
          <p:cNvPicPr>
            <a:picLocks noChangeAspect="1"/>
          </p:cNvPicPr>
          <p:nvPr/>
        </p:nvPicPr>
        <p:blipFill>
          <a:blip r:embed="rId6"/>
          <a:stretch>
            <a:fillRect/>
          </a:stretch>
        </p:blipFill>
        <p:spPr>
          <a:xfrm>
            <a:off x="0" y="4572001"/>
            <a:ext cx="9144000" cy="2094270"/>
          </a:xfrm>
          <a:prstGeom prst="rect">
            <a:avLst/>
          </a:prstGeom>
        </p:spPr>
      </p:pic>
    </p:spTree>
    <p:extLst>
      <p:ext uri="{BB962C8B-B14F-4D97-AF65-F5344CB8AC3E}">
        <p14:creationId xmlns:p14="http://schemas.microsoft.com/office/powerpoint/2010/main" val="93181612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pic>
        <p:nvPicPr>
          <p:cNvPr id="176" name="Google Shape;176;p10" descr="C:\Users\parul\Desktop\Digital Learning Content.png"/>
          <p:cNvPicPr preferRelativeResize="0"/>
          <p:nvPr/>
        </p:nvPicPr>
        <p:blipFill rotWithShape="1">
          <a:blip r:embed="rId3">
            <a:alphaModFix/>
          </a:blip>
          <a:srcRect/>
          <a:stretch/>
        </p:blipFill>
        <p:spPr>
          <a:xfrm>
            <a:off x="0" y="0"/>
            <a:ext cx="9144000" cy="6900863"/>
          </a:xfrm>
          <a:prstGeom prst="rect">
            <a:avLst/>
          </a:prstGeom>
          <a:noFill/>
          <a:ln>
            <a:noFill/>
          </a:ln>
        </p:spPr>
      </p:pic>
      <p:pic>
        <p:nvPicPr>
          <p:cNvPr id="177" name="Google Shape;177;p10" descr="C:\Users\parul\Desktop\Untitled-1.png"/>
          <p:cNvPicPr preferRelativeResize="0"/>
          <p:nvPr/>
        </p:nvPicPr>
        <p:blipFill rotWithShape="1">
          <a:blip r:embed="rId4">
            <a:alphaModFix/>
          </a:blip>
          <a:srcRect/>
          <a:stretch/>
        </p:blipFill>
        <p:spPr>
          <a:xfrm>
            <a:off x="1857375" y="3071813"/>
            <a:ext cx="5430838" cy="2803525"/>
          </a:xfrm>
          <a:prstGeom prst="rect">
            <a:avLst/>
          </a:prstGeom>
          <a:noFill/>
          <a:ln>
            <a:noFill/>
          </a:ln>
        </p:spPr>
      </p:pic>
      <p:sp>
        <p:nvSpPr>
          <p:cNvPr id="178" name="Google Shape;178;p10"/>
          <p:cNvSpPr txBox="1"/>
          <p:nvPr/>
        </p:nvSpPr>
        <p:spPr>
          <a:xfrm>
            <a:off x="190500" y="2286000"/>
            <a:ext cx="8629650" cy="1323399"/>
          </a:xfrm>
          <a:prstGeom prst="rect">
            <a:avLst/>
          </a:prstGeom>
          <a:noFill/>
          <a:ln>
            <a:noFill/>
          </a:ln>
        </p:spPr>
        <p:txBody>
          <a:bodyPr spcFirstLastPara="1" wrap="square" lIns="91425" tIns="45700" rIns="91425" bIns="45700" anchor="t" anchorCtr="0">
            <a:spAutoFit/>
          </a:bodyPr>
          <a:lstStyle/>
          <a:p>
            <a:r>
              <a:rPr lang="en-US" sz="2000" b="0" i="0" dirty="0">
                <a:solidFill>
                  <a:srgbClr val="000000"/>
                </a:solidFill>
                <a:effectLst/>
                <a:highlight>
                  <a:srgbClr val="FFFFFF"/>
                </a:highlight>
                <a:latin typeface="Times New Roman" panose="02020603050405020304" pitchFamily="18" charset="0"/>
                <a:cs typeface="Times New Roman" panose="02020603050405020304" pitchFamily="18" charset="0"/>
              </a:rPr>
              <a:t>Hibernate Annotations is the powerful way to provide the metadata for the Object and Relational Table mapping. All the metadata is clubbed into the POJO java file along with the code, this helps the user to understand the table structure and POJO simultaneously during the development.</a:t>
            </a:r>
            <a:endParaRPr lang="en-US" sz="2000" dirty="0">
              <a:latin typeface="Times New Roman" panose="02020603050405020304" pitchFamily="18" charset="0"/>
              <a:cs typeface="Times New Roman" panose="02020603050405020304" pitchFamily="18" charset="0"/>
            </a:endParaRPr>
          </a:p>
        </p:txBody>
      </p:sp>
      <p:sp>
        <p:nvSpPr>
          <p:cNvPr id="179" name="Google Shape;179;p10"/>
          <p:cNvSpPr/>
          <p:nvPr/>
        </p:nvSpPr>
        <p:spPr>
          <a:xfrm>
            <a:off x="0" y="1643063"/>
            <a:ext cx="9144000" cy="642937"/>
          </a:xfrm>
          <a:prstGeom prst="rect">
            <a:avLst/>
          </a:prstGeom>
          <a:solidFill>
            <a:srgbClr val="1F497D"/>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180" name="Google Shape;180;p10"/>
          <p:cNvSpPr/>
          <p:nvPr/>
        </p:nvSpPr>
        <p:spPr>
          <a:xfrm>
            <a:off x="190500" y="1687513"/>
            <a:ext cx="8763000" cy="55403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lt1"/>
              </a:buClr>
              <a:buSzPts val="3000"/>
              <a:buFont typeface="Arial"/>
              <a:buNone/>
            </a:pPr>
            <a:r>
              <a:rPr lang="en-IN" sz="3000" b="1" dirty="0">
                <a:solidFill>
                  <a:schemeClr val="lt1"/>
                </a:solidFill>
                <a:latin typeface="Calibri"/>
                <a:ea typeface="Calibri"/>
                <a:cs typeface="Calibri"/>
                <a:sym typeface="Calibri"/>
              </a:rPr>
              <a:t>Hibernate Annotations</a:t>
            </a:r>
            <a:endParaRPr dirty="0"/>
          </a:p>
        </p:txBody>
      </p:sp>
      <p:pic>
        <p:nvPicPr>
          <p:cNvPr id="2" name="Picture 12">
            <a:extLst>
              <a:ext uri="{FF2B5EF4-FFF2-40B4-BE49-F238E27FC236}">
                <a16:creationId xmlns:a16="http://schemas.microsoft.com/office/drawing/2014/main" id="{B42D5E84-3B31-A96E-066A-8BCF10D89371}"/>
              </a:ext>
            </a:extLst>
          </p:cNvPr>
          <p:cNvPicPr>
            <a:picLocks noChangeAspect="1" noChangeArrowheads="1"/>
          </p:cNvPicPr>
          <p:nvPr/>
        </p:nvPicPr>
        <p:blipFill>
          <a:blip r:embed="rId5"/>
          <a:srcRect/>
          <a:stretch>
            <a:fillRect/>
          </a:stretch>
        </p:blipFill>
        <p:spPr bwMode="auto">
          <a:xfrm>
            <a:off x="381000" y="0"/>
            <a:ext cx="1524000" cy="1395413"/>
          </a:xfrm>
          <a:prstGeom prst="rect">
            <a:avLst/>
          </a:prstGeom>
          <a:noFill/>
          <a:ln w="9525">
            <a:noFill/>
            <a:miter lim="800000"/>
            <a:headEnd/>
            <a:tailEnd/>
          </a:ln>
        </p:spPr>
      </p:pic>
    </p:spTree>
    <p:extLst>
      <p:ext uri="{BB962C8B-B14F-4D97-AF65-F5344CB8AC3E}">
        <p14:creationId xmlns:p14="http://schemas.microsoft.com/office/powerpoint/2010/main" val="5787890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pic>
        <p:nvPicPr>
          <p:cNvPr id="176" name="Google Shape;176;p10" descr="C:\Users\parul\Desktop\Digital Learning Content.png"/>
          <p:cNvPicPr preferRelativeResize="0"/>
          <p:nvPr/>
        </p:nvPicPr>
        <p:blipFill rotWithShape="1">
          <a:blip r:embed="rId3">
            <a:alphaModFix/>
          </a:blip>
          <a:srcRect/>
          <a:stretch/>
        </p:blipFill>
        <p:spPr>
          <a:xfrm>
            <a:off x="0" y="0"/>
            <a:ext cx="9144000" cy="6900863"/>
          </a:xfrm>
          <a:prstGeom prst="rect">
            <a:avLst/>
          </a:prstGeom>
          <a:noFill/>
          <a:ln>
            <a:noFill/>
          </a:ln>
        </p:spPr>
      </p:pic>
      <p:pic>
        <p:nvPicPr>
          <p:cNvPr id="177" name="Google Shape;177;p10" descr="C:\Users\parul\Desktop\Untitled-1.png"/>
          <p:cNvPicPr preferRelativeResize="0"/>
          <p:nvPr/>
        </p:nvPicPr>
        <p:blipFill rotWithShape="1">
          <a:blip r:embed="rId4">
            <a:alphaModFix/>
          </a:blip>
          <a:srcRect/>
          <a:stretch/>
        </p:blipFill>
        <p:spPr>
          <a:xfrm>
            <a:off x="1857375" y="3071813"/>
            <a:ext cx="5430838" cy="2803525"/>
          </a:xfrm>
          <a:prstGeom prst="rect">
            <a:avLst/>
          </a:prstGeom>
          <a:noFill/>
          <a:ln>
            <a:noFill/>
          </a:ln>
        </p:spPr>
      </p:pic>
      <p:sp>
        <p:nvSpPr>
          <p:cNvPr id="178" name="Google Shape;178;p10"/>
          <p:cNvSpPr txBox="1"/>
          <p:nvPr/>
        </p:nvSpPr>
        <p:spPr>
          <a:xfrm>
            <a:off x="190500" y="2286000"/>
            <a:ext cx="8629650" cy="2554505"/>
          </a:xfrm>
          <a:prstGeom prst="rect">
            <a:avLst/>
          </a:prstGeom>
          <a:noFill/>
          <a:ln>
            <a:noFill/>
          </a:ln>
        </p:spPr>
        <p:txBody>
          <a:bodyPr spcFirstLastPara="1" wrap="square" lIns="91425" tIns="45700" rIns="91425" bIns="45700" anchor="t" anchorCtr="0">
            <a:spAutoFit/>
          </a:bodyPr>
          <a:lstStyle/>
          <a:p>
            <a:pPr algn="l"/>
            <a:r>
              <a:rPr lang="en-US" sz="2000" b="0" i="0" dirty="0">
                <a:solidFill>
                  <a:srgbClr val="000000"/>
                </a:solidFill>
                <a:effectLst/>
                <a:latin typeface="Times New Roman" panose="02020603050405020304" pitchFamily="18" charset="0"/>
                <a:cs typeface="Times New Roman" panose="02020603050405020304" pitchFamily="18" charset="0"/>
              </a:rPr>
              <a:t>First of all you would have to make sure that you are using JDK 5.0 otherwise you need to upgrade your JDK to JDK 5.0 to take advantage of the native support for annotations.</a:t>
            </a:r>
          </a:p>
          <a:p>
            <a:pPr algn="l"/>
            <a:r>
              <a:rPr lang="en-US" sz="2000" b="0" i="0" dirty="0">
                <a:solidFill>
                  <a:srgbClr val="000000"/>
                </a:solidFill>
                <a:effectLst/>
                <a:latin typeface="Times New Roman" panose="02020603050405020304" pitchFamily="18" charset="0"/>
                <a:cs typeface="Times New Roman" panose="02020603050405020304" pitchFamily="18" charset="0"/>
              </a:rPr>
              <a:t>Second, you will need to install the Hibernate 3.x annotations distribution package, available from the </a:t>
            </a:r>
            <a:r>
              <a:rPr lang="en-US" sz="2000" b="0" i="0" dirty="0" err="1">
                <a:solidFill>
                  <a:srgbClr val="000000"/>
                </a:solidFill>
                <a:effectLst/>
                <a:latin typeface="Times New Roman" panose="02020603050405020304" pitchFamily="18" charset="0"/>
                <a:cs typeface="Times New Roman" panose="02020603050405020304" pitchFamily="18" charset="0"/>
              </a:rPr>
              <a:t>sourceforge</a:t>
            </a:r>
            <a:r>
              <a:rPr lang="en-US" sz="2000" b="0" i="0" dirty="0">
                <a:solidFill>
                  <a:srgbClr val="000000"/>
                </a:solidFill>
                <a:effectLst/>
                <a:latin typeface="Times New Roman" panose="02020603050405020304" pitchFamily="18" charset="0"/>
                <a:cs typeface="Times New Roman" panose="02020603050405020304" pitchFamily="18" charset="0"/>
              </a:rPr>
              <a:t>: (</a:t>
            </a:r>
            <a:r>
              <a:rPr lang="en-US" sz="2000" b="0" i="0" u="none" strike="noStrike" dirty="0">
                <a:solidFill>
                  <a:srgbClr val="008000"/>
                </a:solidFill>
                <a:effectLst/>
                <a:latin typeface="Times New Roman" panose="02020603050405020304" pitchFamily="18" charset="0"/>
                <a:cs typeface="Times New Roman" panose="02020603050405020304" pitchFamily="18" charset="0"/>
                <a:hlinkClick r:id="rId5"/>
              </a:rPr>
              <a:t>Download Hibernate Annotation</a:t>
            </a:r>
            <a:r>
              <a:rPr lang="en-US" sz="2000" b="0" i="0" dirty="0">
                <a:solidFill>
                  <a:srgbClr val="000000"/>
                </a:solidFill>
                <a:effectLst/>
                <a:latin typeface="Times New Roman" panose="02020603050405020304" pitchFamily="18" charset="0"/>
                <a:cs typeface="Times New Roman" panose="02020603050405020304" pitchFamily="18" charset="0"/>
              </a:rPr>
              <a:t>) and copy </a:t>
            </a:r>
            <a:r>
              <a:rPr lang="en-US" sz="2000" b="1" i="0" dirty="0">
                <a:solidFill>
                  <a:srgbClr val="000000"/>
                </a:solidFill>
                <a:effectLst/>
                <a:latin typeface="Times New Roman" panose="02020603050405020304" pitchFamily="18" charset="0"/>
                <a:cs typeface="Times New Roman" panose="02020603050405020304" pitchFamily="18" charset="0"/>
              </a:rPr>
              <a:t>hibernate-annotations.jar, lib/hibernate-comons-annotations.jar</a:t>
            </a:r>
            <a:r>
              <a:rPr lang="en-US" sz="2000" b="0" i="0" dirty="0">
                <a:solidFill>
                  <a:srgbClr val="000000"/>
                </a:solidFill>
                <a:effectLst/>
                <a:latin typeface="Times New Roman" panose="02020603050405020304" pitchFamily="18" charset="0"/>
                <a:cs typeface="Times New Roman" panose="02020603050405020304" pitchFamily="18" charset="0"/>
              </a:rPr>
              <a:t> and </a:t>
            </a:r>
            <a:r>
              <a:rPr lang="en-US" sz="2000" b="1" i="0" dirty="0">
                <a:solidFill>
                  <a:srgbClr val="000000"/>
                </a:solidFill>
                <a:effectLst/>
                <a:latin typeface="Times New Roman" panose="02020603050405020304" pitchFamily="18" charset="0"/>
                <a:cs typeface="Times New Roman" panose="02020603050405020304" pitchFamily="18" charset="0"/>
              </a:rPr>
              <a:t>lib/ejb3-persistence.jar</a:t>
            </a:r>
            <a:r>
              <a:rPr lang="en-US" sz="2000" b="0" i="0" dirty="0">
                <a:solidFill>
                  <a:srgbClr val="000000"/>
                </a:solidFill>
                <a:effectLst/>
                <a:latin typeface="Times New Roman" panose="02020603050405020304" pitchFamily="18" charset="0"/>
                <a:cs typeface="Times New Roman" panose="02020603050405020304" pitchFamily="18" charset="0"/>
              </a:rPr>
              <a:t> from the Hibernate Annotations distribution to your CLASSPATH.</a:t>
            </a:r>
          </a:p>
        </p:txBody>
      </p:sp>
      <p:sp>
        <p:nvSpPr>
          <p:cNvPr id="179" name="Google Shape;179;p10"/>
          <p:cNvSpPr/>
          <p:nvPr/>
        </p:nvSpPr>
        <p:spPr>
          <a:xfrm>
            <a:off x="0" y="1643063"/>
            <a:ext cx="9144000" cy="642937"/>
          </a:xfrm>
          <a:prstGeom prst="rect">
            <a:avLst/>
          </a:prstGeom>
          <a:solidFill>
            <a:srgbClr val="1F497D"/>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180" name="Google Shape;180;p10"/>
          <p:cNvSpPr/>
          <p:nvPr/>
        </p:nvSpPr>
        <p:spPr>
          <a:xfrm>
            <a:off x="190500" y="1687513"/>
            <a:ext cx="8763000" cy="55403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lt1"/>
              </a:buClr>
              <a:buSzPts val="3000"/>
              <a:buFont typeface="Arial"/>
              <a:buNone/>
            </a:pPr>
            <a:r>
              <a:rPr lang="en-IN" sz="3000" b="1" dirty="0">
                <a:solidFill>
                  <a:schemeClr val="lt1"/>
                </a:solidFill>
                <a:latin typeface="Calibri"/>
                <a:ea typeface="Calibri"/>
                <a:cs typeface="Calibri"/>
                <a:sym typeface="Calibri"/>
              </a:rPr>
              <a:t>Environment setup for Hibernate Annotations</a:t>
            </a:r>
            <a:endParaRPr dirty="0"/>
          </a:p>
        </p:txBody>
      </p:sp>
      <p:pic>
        <p:nvPicPr>
          <p:cNvPr id="2" name="Picture 12">
            <a:extLst>
              <a:ext uri="{FF2B5EF4-FFF2-40B4-BE49-F238E27FC236}">
                <a16:creationId xmlns:a16="http://schemas.microsoft.com/office/drawing/2014/main" id="{B42D5E84-3B31-A96E-066A-8BCF10D89371}"/>
              </a:ext>
            </a:extLst>
          </p:cNvPr>
          <p:cNvPicPr>
            <a:picLocks noChangeAspect="1" noChangeArrowheads="1"/>
          </p:cNvPicPr>
          <p:nvPr/>
        </p:nvPicPr>
        <p:blipFill>
          <a:blip r:embed="rId6"/>
          <a:srcRect/>
          <a:stretch>
            <a:fillRect/>
          </a:stretch>
        </p:blipFill>
        <p:spPr bwMode="auto">
          <a:xfrm>
            <a:off x="381000" y="0"/>
            <a:ext cx="1524000" cy="1395413"/>
          </a:xfrm>
          <a:prstGeom prst="rect">
            <a:avLst/>
          </a:prstGeom>
          <a:noFill/>
          <a:ln w="9525">
            <a:noFill/>
            <a:miter lim="800000"/>
            <a:headEnd/>
            <a:tailEnd/>
          </a:ln>
        </p:spPr>
      </p:pic>
    </p:spTree>
    <p:extLst>
      <p:ext uri="{BB962C8B-B14F-4D97-AF65-F5344CB8AC3E}">
        <p14:creationId xmlns:p14="http://schemas.microsoft.com/office/powerpoint/2010/main" val="424559184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pic>
        <p:nvPicPr>
          <p:cNvPr id="176" name="Google Shape;176;p10" descr="C:\Users\parul\Desktop\Digital Learning Content.png"/>
          <p:cNvPicPr preferRelativeResize="0"/>
          <p:nvPr/>
        </p:nvPicPr>
        <p:blipFill rotWithShape="1">
          <a:blip r:embed="rId3">
            <a:alphaModFix/>
          </a:blip>
          <a:srcRect/>
          <a:stretch/>
        </p:blipFill>
        <p:spPr>
          <a:xfrm>
            <a:off x="0" y="0"/>
            <a:ext cx="9144000" cy="6900863"/>
          </a:xfrm>
          <a:prstGeom prst="rect">
            <a:avLst/>
          </a:prstGeom>
          <a:noFill/>
          <a:ln>
            <a:noFill/>
          </a:ln>
        </p:spPr>
      </p:pic>
      <p:pic>
        <p:nvPicPr>
          <p:cNvPr id="177" name="Google Shape;177;p10" descr="C:\Users\parul\Desktop\Untitled-1.png"/>
          <p:cNvPicPr preferRelativeResize="0"/>
          <p:nvPr/>
        </p:nvPicPr>
        <p:blipFill rotWithShape="1">
          <a:blip r:embed="rId4">
            <a:alphaModFix/>
          </a:blip>
          <a:srcRect/>
          <a:stretch/>
        </p:blipFill>
        <p:spPr>
          <a:xfrm>
            <a:off x="1857375" y="3071813"/>
            <a:ext cx="5430838" cy="2803525"/>
          </a:xfrm>
          <a:prstGeom prst="rect">
            <a:avLst/>
          </a:prstGeom>
          <a:noFill/>
          <a:ln>
            <a:noFill/>
          </a:ln>
        </p:spPr>
      </p:pic>
      <p:sp>
        <p:nvSpPr>
          <p:cNvPr id="178" name="Google Shape;178;p10"/>
          <p:cNvSpPr txBox="1"/>
          <p:nvPr/>
        </p:nvSpPr>
        <p:spPr>
          <a:xfrm>
            <a:off x="190500" y="2286000"/>
            <a:ext cx="8629650" cy="1631175"/>
          </a:xfrm>
          <a:prstGeom prst="rect">
            <a:avLst/>
          </a:prstGeom>
          <a:noFill/>
          <a:ln>
            <a:noFill/>
          </a:ln>
        </p:spPr>
        <p:txBody>
          <a:bodyPr spcFirstLastPara="1" wrap="square" lIns="91425" tIns="45700" rIns="91425" bIns="45700" anchor="t" anchorCtr="0">
            <a:spAutoFit/>
          </a:bodyPr>
          <a:lstStyle/>
          <a:p>
            <a:pPr algn="l"/>
            <a:r>
              <a:rPr lang="en-US" sz="2000" b="0" i="0" dirty="0">
                <a:solidFill>
                  <a:srgbClr val="000000"/>
                </a:solidFill>
                <a:effectLst/>
                <a:highlight>
                  <a:srgbClr val="FFFFFF"/>
                </a:highlight>
                <a:latin typeface="Times New Roman" panose="02020603050405020304" pitchFamily="18" charset="0"/>
                <a:cs typeface="Times New Roman" panose="02020603050405020304" pitchFamily="18" charset="0"/>
              </a:rPr>
              <a:t>The EJB 3 standard annotations are contained in the </a:t>
            </a:r>
            <a:r>
              <a:rPr lang="en-US" sz="2000" b="1" i="0" dirty="0" err="1">
                <a:solidFill>
                  <a:srgbClr val="000000"/>
                </a:solidFill>
                <a:effectLst/>
                <a:highlight>
                  <a:srgbClr val="FFFFFF"/>
                </a:highlight>
                <a:latin typeface="Times New Roman" panose="02020603050405020304" pitchFamily="18" charset="0"/>
                <a:cs typeface="Times New Roman" panose="02020603050405020304" pitchFamily="18" charset="0"/>
              </a:rPr>
              <a:t>javax.persistence</a:t>
            </a:r>
            <a:r>
              <a:rPr lang="en-US" sz="2000" b="0" i="0" dirty="0">
                <a:solidFill>
                  <a:srgbClr val="000000"/>
                </a:solidFill>
                <a:effectLst/>
                <a:highlight>
                  <a:srgbClr val="FFFFFF"/>
                </a:highlight>
                <a:latin typeface="Times New Roman" panose="02020603050405020304" pitchFamily="18" charset="0"/>
                <a:cs typeface="Times New Roman" panose="02020603050405020304" pitchFamily="18" charset="0"/>
              </a:rPr>
              <a:t> package, so we import this package as the first step. Second, we used the </a:t>
            </a:r>
            <a:r>
              <a:rPr lang="en-US" sz="2000" b="1" i="0" dirty="0">
                <a:solidFill>
                  <a:srgbClr val="000000"/>
                </a:solidFill>
                <a:effectLst/>
                <a:highlight>
                  <a:srgbClr val="FFFFFF"/>
                </a:highlight>
                <a:latin typeface="Times New Roman" panose="02020603050405020304" pitchFamily="18" charset="0"/>
                <a:cs typeface="Times New Roman" panose="02020603050405020304" pitchFamily="18" charset="0"/>
              </a:rPr>
              <a:t>@Entity</a:t>
            </a:r>
            <a:r>
              <a:rPr lang="en-US" sz="2000" b="0" i="0" dirty="0">
                <a:solidFill>
                  <a:srgbClr val="000000"/>
                </a:solidFill>
                <a:effectLst/>
                <a:highlight>
                  <a:srgbClr val="FFFFFF"/>
                </a:highlight>
                <a:latin typeface="Times New Roman" panose="02020603050405020304" pitchFamily="18" charset="0"/>
                <a:cs typeface="Times New Roman" panose="02020603050405020304" pitchFamily="18" charset="0"/>
              </a:rPr>
              <a:t> annotation to the Employee class, which marks this class as an entity bean, so it must have a no-argument constructor that is visible with at least protected scope.</a:t>
            </a:r>
            <a:endParaRPr lang="en-US" sz="2000" b="0" i="0" dirty="0">
              <a:solidFill>
                <a:srgbClr val="000000"/>
              </a:solidFill>
              <a:effectLst/>
              <a:latin typeface="Times New Roman" panose="02020603050405020304" pitchFamily="18" charset="0"/>
              <a:cs typeface="Times New Roman" panose="02020603050405020304" pitchFamily="18" charset="0"/>
            </a:endParaRPr>
          </a:p>
        </p:txBody>
      </p:sp>
      <p:sp>
        <p:nvSpPr>
          <p:cNvPr id="179" name="Google Shape;179;p10"/>
          <p:cNvSpPr/>
          <p:nvPr/>
        </p:nvSpPr>
        <p:spPr>
          <a:xfrm>
            <a:off x="0" y="1643063"/>
            <a:ext cx="9144000" cy="642937"/>
          </a:xfrm>
          <a:prstGeom prst="rect">
            <a:avLst/>
          </a:prstGeom>
          <a:solidFill>
            <a:srgbClr val="1F497D"/>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180" name="Google Shape;180;p10"/>
          <p:cNvSpPr/>
          <p:nvPr/>
        </p:nvSpPr>
        <p:spPr>
          <a:xfrm>
            <a:off x="190500" y="1687513"/>
            <a:ext cx="8763000" cy="55403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lt1"/>
              </a:buClr>
              <a:buSzPts val="3000"/>
              <a:buFont typeface="Arial"/>
              <a:buNone/>
            </a:pPr>
            <a:r>
              <a:rPr lang="en-IN" sz="3000" b="1" dirty="0">
                <a:solidFill>
                  <a:schemeClr val="lt1"/>
                </a:solidFill>
                <a:latin typeface="Calibri"/>
                <a:ea typeface="Calibri"/>
                <a:cs typeface="Calibri"/>
                <a:sym typeface="Calibri"/>
              </a:rPr>
              <a:t>@Entity Annotation</a:t>
            </a:r>
            <a:endParaRPr dirty="0"/>
          </a:p>
        </p:txBody>
      </p:sp>
      <p:pic>
        <p:nvPicPr>
          <p:cNvPr id="2" name="Picture 12">
            <a:extLst>
              <a:ext uri="{FF2B5EF4-FFF2-40B4-BE49-F238E27FC236}">
                <a16:creationId xmlns:a16="http://schemas.microsoft.com/office/drawing/2014/main" id="{B42D5E84-3B31-A96E-066A-8BCF10D89371}"/>
              </a:ext>
            </a:extLst>
          </p:cNvPr>
          <p:cNvPicPr>
            <a:picLocks noChangeAspect="1" noChangeArrowheads="1"/>
          </p:cNvPicPr>
          <p:nvPr/>
        </p:nvPicPr>
        <p:blipFill>
          <a:blip r:embed="rId5"/>
          <a:srcRect/>
          <a:stretch>
            <a:fillRect/>
          </a:stretch>
        </p:blipFill>
        <p:spPr bwMode="auto">
          <a:xfrm>
            <a:off x="381000" y="0"/>
            <a:ext cx="1524000" cy="1395413"/>
          </a:xfrm>
          <a:prstGeom prst="rect">
            <a:avLst/>
          </a:prstGeom>
          <a:noFill/>
          <a:ln w="9525">
            <a:noFill/>
            <a:miter lim="800000"/>
            <a:headEnd/>
            <a:tailEnd/>
          </a:ln>
        </p:spPr>
      </p:pic>
    </p:spTree>
    <p:extLst>
      <p:ext uri="{BB962C8B-B14F-4D97-AF65-F5344CB8AC3E}">
        <p14:creationId xmlns:p14="http://schemas.microsoft.com/office/powerpoint/2010/main" val="87298841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pic>
        <p:nvPicPr>
          <p:cNvPr id="176" name="Google Shape;176;p10" descr="C:\Users\parul\Desktop\Digital Learning Content.png"/>
          <p:cNvPicPr preferRelativeResize="0"/>
          <p:nvPr/>
        </p:nvPicPr>
        <p:blipFill rotWithShape="1">
          <a:blip r:embed="rId3">
            <a:alphaModFix/>
          </a:blip>
          <a:srcRect/>
          <a:stretch/>
        </p:blipFill>
        <p:spPr>
          <a:xfrm>
            <a:off x="0" y="0"/>
            <a:ext cx="9144000" cy="6900863"/>
          </a:xfrm>
          <a:prstGeom prst="rect">
            <a:avLst/>
          </a:prstGeom>
          <a:noFill/>
          <a:ln>
            <a:noFill/>
          </a:ln>
        </p:spPr>
      </p:pic>
      <p:pic>
        <p:nvPicPr>
          <p:cNvPr id="177" name="Google Shape;177;p10" descr="C:\Users\parul\Desktop\Untitled-1.png"/>
          <p:cNvPicPr preferRelativeResize="0"/>
          <p:nvPr/>
        </p:nvPicPr>
        <p:blipFill rotWithShape="1">
          <a:blip r:embed="rId4">
            <a:alphaModFix/>
          </a:blip>
          <a:srcRect/>
          <a:stretch/>
        </p:blipFill>
        <p:spPr>
          <a:xfrm>
            <a:off x="1857375" y="3071813"/>
            <a:ext cx="5430838" cy="2803525"/>
          </a:xfrm>
          <a:prstGeom prst="rect">
            <a:avLst/>
          </a:prstGeom>
          <a:noFill/>
          <a:ln>
            <a:noFill/>
          </a:ln>
        </p:spPr>
      </p:pic>
      <p:sp>
        <p:nvSpPr>
          <p:cNvPr id="178" name="Google Shape;178;p10"/>
          <p:cNvSpPr txBox="1"/>
          <p:nvPr/>
        </p:nvSpPr>
        <p:spPr>
          <a:xfrm>
            <a:off x="190500" y="2286000"/>
            <a:ext cx="8629650" cy="1938952"/>
          </a:xfrm>
          <a:prstGeom prst="rect">
            <a:avLst/>
          </a:prstGeom>
          <a:noFill/>
          <a:ln>
            <a:noFill/>
          </a:ln>
        </p:spPr>
        <p:txBody>
          <a:bodyPr spcFirstLastPara="1" wrap="square" lIns="91425" tIns="45700" rIns="91425" bIns="45700" anchor="t" anchorCtr="0">
            <a:spAutoFit/>
          </a:bodyPr>
          <a:lstStyle/>
          <a:p>
            <a:pPr algn="l"/>
            <a:r>
              <a:rPr lang="en-US" sz="2000" b="0" i="0" dirty="0">
                <a:solidFill>
                  <a:srgbClr val="000000"/>
                </a:solidFill>
                <a:effectLst/>
                <a:latin typeface="Times New Roman" panose="02020603050405020304" pitchFamily="18" charset="0"/>
                <a:cs typeface="Times New Roman" panose="02020603050405020304" pitchFamily="18" charset="0"/>
              </a:rPr>
              <a:t>The @Table annotation allows you to specify the details of the table that will be used to persist the entity in the database.</a:t>
            </a:r>
          </a:p>
          <a:p>
            <a:pPr algn="l"/>
            <a:r>
              <a:rPr lang="en-US" sz="2000" b="0" i="0" dirty="0">
                <a:solidFill>
                  <a:srgbClr val="000000"/>
                </a:solidFill>
                <a:effectLst/>
                <a:latin typeface="Times New Roman" panose="02020603050405020304" pitchFamily="18" charset="0"/>
                <a:cs typeface="Times New Roman" panose="02020603050405020304" pitchFamily="18" charset="0"/>
              </a:rPr>
              <a:t>The @Table annotation provides four attributes, allowing you to override the name of the table, its catalogue, and its schema, and enforce unique constraints on columns in the table. For now, we are using just table name, which is EMPLOYEE.</a:t>
            </a:r>
          </a:p>
        </p:txBody>
      </p:sp>
      <p:sp>
        <p:nvSpPr>
          <p:cNvPr id="179" name="Google Shape;179;p10"/>
          <p:cNvSpPr/>
          <p:nvPr/>
        </p:nvSpPr>
        <p:spPr>
          <a:xfrm>
            <a:off x="0" y="1643063"/>
            <a:ext cx="9144000" cy="642937"/>
          </a:xfrm>
          <a:prstGeom prst="rect">
            <a:avLst/>
          </a:prstGeom>
          <a:solidFill>
            <a:srgbClr val="1F497D"/>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180" name="Google Shape;180;p10"/>
          <p:cNvSpPr/>
          <p:nvPr/>
        </p:nvSpPr>
        <p:spPr>
          <a:xfrm>
            <a:off x="190500" y="1687513"/>
            <a:ext cx="8763000" cy="55403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lt1"/>
              </a:buClr>
              <a:buSzPts val="3000"/>
              <a:buFont typeface="Arial"/>
              <a:buNone/>
            </a:pPr>
            <a:r>
              <a:rPr lang="en-IN" sz="3000" b="1" dirty="0">
                <a:solidFill>
                  <a:schemeClr val="lt1"/>
                </a:solidFill>
                <a:latin typeface="Calibri"/>
                <a:ea typeface="Calibri"/>
                <a:cs typeface="Calibri"/>
                <a:sym typeface="Calibri"/>
              </a:rPr>
              <a:t>@Table Annotation</a:t>
            </a:r>
            <a:endParaRPr dirty="0"/>
          </a:p>
        </p:txBody>
      </p:sp>
      <p:pic>
        <p:nvPicPr>
          <p:cNvPr id="2" name="Picture 12">
            <a:extLst>
              <a:ext uri="{FF2B5EF4-FFF2-40B4-BE49-F238E27FC236}">
                <a16:creationId xmlns:a16="http://schemas.microsoft.com/office/drawing/2014/main" id="{B42D5E84-3B31-A96E-066A-8BCF10D89371}"/>
              </a:ext>
            </a:extLst>
          </p:cNvPr>
          <p:cNvPicPr>
            <a:picLocks noChangeAspect="1" noChangeArrowheads="1"/>
          </p:cNvPicPr>
          <p:nvPr/>
        </p:nvPicPr>
        <p:blipFill>
          <a:blip r:embed="rId5"/>
          <a:srcRect/>
          <a:stretch>
            <a:fillRect/>
          </a:stretch>
        </p:blipFill>
        <p:spPr bwMode="auto">
          <a:xfrm>
            <a:off x="381000" y="0"/>
            <a:ext cx="1524000" cy="1395413"/>
          </a:xfrm>
          <a:prstGeom prst="rect">
            <a:avLst/>
          </a:prstGeom>
          <a:noFill/>
          <a:ln w="9525">
            <a:noFill/>
            <a:miter lim="800000"/>
            <a:headEnd/>
            <a:tailEnd/>
          </a:ln>
        </p:spPr>
      </p:pic>
    </p:spTree>
    <p:extLst>
      <p:ext uri="{BB962C8B-B14F-4D97-AF65-F5344CB8AC3E}">
        <p14:creationId xmlns:p14="http://schemas.microsoft.com/office/powerpoint/2010/main" val="281791656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pic>
        <p:nvPicPr>
          <p:cNvPr id="176" name="Google Shape;176;p10" descr="C:\Users\parul\Desktop\Digital Learning Content.png"/>
          <p:cNvPicPr preferRelativeResize="0"/>
          <p:nvPr/>
        </p:nvPicPr>
        <p:blipFill rotWithShape="1">
          <a:blip r:embed="rId3">
            <a:alphaModFix/>
          </a:blip>
          <a:srcRect/>
          <a:stretch/>
        </p:blipFill>
        <p:spPr>
          <a:xfrm>
            <a:off x="0" y="0"/>
            <a:ext cx="9144000" cy="6900863"/>
          </a:xfrm>
          <a:prstGeom prst="rect">
            <a:avLst/>
          </a:prstGeom>
          <a:noFill/>
          <a:ln>
            <a:noFill/>
          </a:ln>
        </p:spPr>
      </p:pic>
      <p:pic>
        <p:nvPicPr>
          <p:cNvPr id="177" name="Google Shape;177;p10" descr="C:\Users\parul\Desktop\Untitled-1.png"/>
          <p:cNvPicPr preferRelativeResize="0"/>
          <p:nvPr/>
        </p:nvPicPr>
        <p:blipFill rotWithShape="1">
          <a:blip r:embed="rId4">
            <a:alphaModFix/>
          </a:blip>
          <a:srcRect/>
          <a:stretch/>
        </p:blipFill>
        <p:spPr>
          <a:xfrm>
            <a:off x="1857375" y="3071813"/>
            <a:ext cx="5430838" cy="2803525"/>
          </a:xfrm>
          <a:prstGeom prst="rect">
            <a:avLst/>
          </a:prstGeom>
          <a:noFill/>
          <a:ln>
            <a:noFill/>
          </a:ln>
        </p:spPr>
      </p:pic>
      <p:sp>
        <p:nvSpPr>
          <p:cNvPr id="178" name="Google Shape;178;p10"/>
          <p:cNvSpPr txBox="1"/>
          <p:nvPr/>
        </p:nvSpPr>
        <p:spPr>
          <a:xfrm>
            <a:off x="190500" y="2286000"/>
            <a:ext cx="8629650" cy="2862282"/>
          </a:xfrm>
          <a:prstGeom prst="rect">
            <a:avLst/>
          </a:prstGeom>
          <a:noFill/>
          <a:ln>
            <a:noFill/>
          </a:ln>
        </p:spPr>
        <p:txBody>
          <a:bodyPr spcFirstLastPara="1" wrap="square" lIns="91425" tIns="45700" rIns="91425" bIns="45700" anchor="t" anchorCtr="0">
            <a:spAutoFit/>
          </a:bodyPr>
          <a:lstStyle/>
          <a:p>
            <a:pPr algn="l"/>
            <a:r>
              <a:rPr lang="en-US" sz="2000" b="0" i="0" dirty="0">
                <a:solidFill>
                  <a:srgbClr val="000000"/>
                </a:solidFill>
                <a:effectLst/>
                <a:latin typeface="Times New Roman" panose="02020603050405020304" pitchFamily="18" charset="0"/>
                <a:cs typeface="Times New Roman" panose="02020603050405020304" pitchFamily="18" charset="0"/>
              </a:rPr>
              <a:t>Each entity bean will have a primary key, which you annotate on the class with the </a:t>
            </a:r>
            <a:r>
              <a:rPr lang="en-US" sz="2000" b="1" i="0" dirty="0">
                <a:solidFill>
                  <a:srgbClr val="000000"/>
                </a:solidFill>
                <a:effectLst/>
                <a:latin typeface="Times New Roman" panose="02020603050405020304" pitchFamily="18" charset="0"/>
                <a:cs typeface="Times New Roman" panose="02020603050405020304" pitchFamily="18" charset="0"/>
              </a:rPr>
              <a:t>@Id</a:t>
            </a:r>
            <a:r>
              <a:rPr lang="en-US" sz="2000" b="0" i="0" dirty="0">
                <a:solidFill>
                  <a:srgbClr val="000000"/>
                </a:solidFill>
                <a:effectLst/>
                <a:latin typeface="Times New Roman" panose="02020603050405020304" pitchFamily="18" charset="0"/>
                <a:cs typeface="Times New Roman" panose="02020603050405020304" pitchFamily="18" charset="0"/>
              </a:rPr>
              <a:t> annotation. The primary key can be a single field or a combination of multiple fields depending on your table structure.</a:t>
            </a:r>
          </a:p>
          <a:p>
            <a:pPr algn="l"/>
            <a:r>
              <a:rPr lang="en-US" sz="2000" b="0" i="0" dirty="0">
                <a:solidFill>
                  <a:srgbClr val="000000"/>
                </a:solidFill>
                <a:effectLst/>
                <a:latin typeface="Times New Roman" panose="02020603050405020304" pitchFamily="18" charset="0"/>
                <a:cs typeface="Times New Roman" panose="02020603050405020304" pitchFamily="18" charset="0"/>
              </a:rPr>
              <a:t>By default, the @Id annotation will automatically determine the most appropriate primary key generation strategy to be used but you can override this by applying the </a:t>
            </a:r>
            <a:r>
              <a:rPr lang="en-US" sz="2000" b="1" i="0" dirty="0">
                <a:solidFill>
                  <a:srgbClr val="000000"/>
                </a:solidFill>
                <a:effectLst/>
                <a:latin typeface="Times New Roman" panose="02020603050405020304" pitchFamily="18" charset="0"/>
                <a:cs typeface="Times New Roman" panose="02020603050405020304" pitchFamily="18" charset="0"/>
              </a:rPr>
              <a:t>@GeneratedValue</a:t>
            </a:r>
            <a:r>
              <a:rPr lang="en-US" sz="2000" b="0" i="0" dirty="0">
                <a:solidFill>
                  <a:srgbClr val="000000"/>
                </a:solidFill>
                <a:effectLst/>
                <a:latin typeface="Times New Roman" panose="02020603050405020304" pitchFamily="18" charset="0"/>
                <a:cs typeface="Times New Roman" panose="02020603050405020304" pitchFamily="18" charset="0"/>
              </a:rPr>
              <a:t> annotation, which takes two parameters </a:t>
            </a:r>
            <a:r>
              <a:rPr lang="en-US" sz="2000" b="1" i="0" dirty="0">
                <a:solidFill>
                  <a:srgbClr val="000000"/>
                </a:solidFill>
                <a:effectLst/>
                <a:latin typeface="Times New Roman" panose="02020603050405020304" pitchFamily="18" charset="0"/>
                <a:cs typeface="Times New Roman" panose="02020603050405020304" pitchFamily="18" charset="0"/>
              </a:rPr>
              <a:t>strategy</a:t>
            </a:r>
            <a:r>
              <a:rPr lang="en-US" sz="2000" b="0" i="0" dirty="0">
                <a:solidFill>
                  <a:srgbClr val="000000"/>
                </a:solidFill>
                <a:effectLst/>
                <a:latin typeface="Times New Roman" panose="02020603050405020304" pitchFamily="18" charset="0"/>
                <a:cs typeface="Times New Roman" panose="02020603050405020304" pitchFamily="18" charset="0"/>
              </a:rPr>
              <a:t> and </a:t>
            </a:r>
            <a:r>
              <a:rPr lang="en-US" sz="2000" b="1" i="0" dirty="0">
                <a:solidFill>
                  <a:srgbClr val="000000"/>
                </a:solidFill>
                <a:effectLst/>
                <a:latin typeface="Times New Roman" panose="02020603050405020304" pitchFamily="18" charset="0"/>
                <a:cs typeface="Times New Roman" panose="02020603050405020304" pitchFamily="18" charset="0"/>
              </a:rPr>
              <a:t>generator</a:t>
            </a:r>
            <a:r>
              <a:rPr lang="en-US" sz="2000" b="0" i="0" dirty="0">
                <a:solidFill>
                  <a:srgbClr val="000000"/>
                </a:solidFill>
                <a:effectLst/>
                <a:latin typeface="Times New Roman" panose="02020603050405020304" pitchFamily="18" charset="0"/>
                <a:cs typeface="Times New Roman" panose="02020603050405020304" pitchFamily="18" charset="0"/>
              </a:rPr>
              <a:t> that I'm not going to discuss here, so let us use only the default key generation strategy. Letting Hibernate determine which generator type to use makes your code portable between different databases.</a:t>
            </a:r>
          </a:p>
        </p:txBody>
      </p:sp>
      <p:sp>
        <p:nvSpPr>
          <p:cNvPr id="179" name="Google Shape;179;p10"/>
          <p:cNvSpPr/>
          <p:nvPr/>
        </p:nvSpPr>
        <p:spPr>
          <a:xfrm>
            <a:off x="0" y="1643063"/>
            <a:ext cx="9144000" cy="642937"/>
          </a:xfrm>
          <a:prstGeom prst="rect">
            <a:avLst/>
          </a:prstGeom>
          <a:solidFill>
            <a:srgbClr val="1F497D"/>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180" name="Google Shape;180;p10"/>
          <p:cNvSpPr/>
          <p:nvPr/>
        </p:nvSpPr>
        <p:spPr>
          <a:xfrm>
            <a:off x="190500" y="1687513"/>
            <a:ext cx="8763000" cy="55403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lt1"/>
              </a:buClr>
              <a:buSzPts val="3000"/>
              <a:buFont typeface="Arial"/>
              <a:buNone/>
            </a:pPr>
            <a:r>
              <a:rPr lang="en-IN" sz="3000" b="1" dirty="0">
                <a:solidFill>
                  <a:schemeClr val="lt1"/>
                </a:solidFill>
                <a:latin typeface="Calibri"/>
                <a:ea typeface="Calibri"/>
                <a:cs typeface="Calibri"/>
                <a:sym typeface="Calibri"/>
              </a:rPr>
              <a:t>@Id and @GeneratedValue Annotation</a:t>
            </a:r>
            <a:endParaRPr dirty="0"/>
          </a:p>
        </p:txBody>
      </p:sp>
      <p:pic>
        <p:nvPicPr>
          <p:cNvPr id="2" name="Picture 12">
            <a:extLst>
              <a:ext uri="{FF2B5EF4-FFF2-40B4-BE49-F238E27FC236}">
                <a16:creationId xmlns:a16="http://schemas.microsoft.com/office/drawing/2014/main" id="{B42D5E84-3B31-A96E-066A-8BCF10D89371}"/>
              </a:ext>
            </a:extLst>
          </p:cNvPr>
          <p:cNvPicPr>
            <a:picLocks noChangeAspect="1" noChangeArrowheads="1"/>
          </p:cNvPicPr>
          <p:nvPr/>
        </p:nvPicPr>
        <p:blipFill>
          <a:blip r:embed="rId5"/>
          <a:srcRect/>
          <a:stretch>
            <a:fillRect/>
          </a:stretch>
        </p:blipFill>
        <p:spPr bwMode="auto">
          <a:xfrm>
            <a:off x="381000" y="0"/>
            <a:ext cx="1524000" cy="1395413"/>
          </a:xfrm>
          <a:prstGeom prst="rect">
            <a:avLst/>
          </a:prstGeom>
          <a:noFill/>
          <a:ln w="9525">
            <a:noFill/>
            <a:miter lim="800000"/>
            <a:headEnd/>
            <a:tailEnd/>
          </a:ln>
        </p:spPr>
      </p:pic>
    </p:spTree>
    <p:extLst>
      <p:ext uri="{BB962C8B-B14F-4D97-AF65-F5344CB8AC3E}">
        <p14:creationId xmlns:p14="http://schemas.microsoft.com/office/powerpoint/2010/main" val="177414247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pic>
        <p:nvPicPr>
          <p:cNvPr id="176" name="Google Shape;176;p10" descr="C:\Users\parul\Desktop\Digital Learning Content.png"/>
          <p:cNvPicPr preferRelativeResize="0"/>
          <p:nvPr/>
        </p:nvPicPr>
        <p:blipFill rotWithShape="1">
          <a:blip r:embed="rId3">
            <a:alphaModFix/>
          </a:blip>
          <a:srcRect/>
          <a:stretch/>
        </p:blipFill>
        <p:spPr>
          <a:xfrm>
            <a:off x="0" y="0"/>
            <a:ext cx="9144000" cy="6900863"/>
          </a:xfrm>
          <a:prstGeom prst="rect">
            <a:avLst/>
          </a:prstGeom>
          <a:noFill/>
          <a:ln>
            <a:noFill/>
          </a:ln>
        </p:spPr>
      </p:pic>
      <p:pic>
        <p:nvPicPr>
          <p:cNvPr id="177" name="Google Shape;177;p10" descr="C:\Users\parul\Desktop\Untitled-1.png"/>
          <p:cNvPicPr preferRelativeResize="0"/>
          <p:nvPr/>
        </p:nvPicPr>
        <p:blipFill rotWithShape="1">
          <a:blip r:embed="rId4">
            <a:alphaModFix/>
          </a:blip>
          <a:srcRect/>
          <a:stretch/>
        </p:blipFill>
        <p:spPr>
          <a:xfrm>
            <a:off x="1857375" y="3071813"/>
            <a:ext cx="5430838" cy="2803525"/>
          </a:xfrm>
          <a:prstGeom prst="rect">
            <a:avLst/>
          </a:prstGeom>
          <a:noFill/>
          <a:ln>
            <a:noFill/>
          </a:ln>
        </p:spPr>
      </p:pic>
      <p:sp>
        <p:nvSpPr>
          <p:cNvPr id="178" name="Google Shape;178;p10"/>
          <p:cNvSpPr txBox="1"/>
          <p:nvPr/>
        </p:nvSpPr>
        <p:spPr>
          <a:xfrm>
            <a:off x="190500" y="2286000"/>
            <a:ext cx="8629650" cy="3477835"/>
          </a:xfrm>
          <a:prstGeom prst="rect">
            <a:avLst/>
          </a:prstGeom>
          <a:noFill/>
          <a:ln>
            <a:noFill/>
          </a:ln>
        </p:spPr>
        <p:txBody>
          <a:bodyPr spcFirstLastPara="1" wrap="square" lIns="91425" tIns="45700" rIns="91425" bIns="45700" anchor="t" anchorCtr="0">
            <a:spAutoFit/>
          </a:bodyPr>
          <a:lstStyle/>
          <a:p>
            <a:pPr algn="l"/>
            <a:r>
              <a:rPr lang="en-US" sz="2000" b="0" i="0" dirty="0">
                <a:solidFill>
                  <a:srgbClr val="000000"/>
                </a:solidFill>
                <a:effectLst/>
                <a:highlight>
                  <a:srgbClr val="FFFFFF"/>
                </a:highlight>
                <a:latin typeface="Times New Roman" panose="02020603050405020304" pitchFamily="18" charset="0"/>
                <a:cs typeface="Times New Roman" panose="02020603050405020304" pitchFamily="18" charset="0"/>
              </a:rPr>
              <a:t>The @Column annotation is used to specify the details of the column to which a field or property will be mapped. You can use column annotation with the following most commonly used attributes −</a:t>
            </a:r>
          </a:p>
          <a:p>
            <a:pPr algn="just">
              <a:buFont typeface="Arial" panose="020B0604020202020204" pitchFamily="34" charset="0"/>
              <a:buChar char="•"/>
            </a:pPr>
            <a:r>
              <a:rPr lang="en-US" sz="2000" b="1" i="0" dirty="0">
                <a:solidFill>
                  <a:srgbClr val="000000"/>
                </a:solidFill>
                <a:effectLst/>
                <a:latin typeface="Times New Roman" panose="02020603050405020304" pitchFamily="18" charset="0"/>
                <a:cs typeface="Times New Roman" panose="02020603050405020304" pitchFamily="18" charset="0"/>
              </a:rPr>
              <a:t>name</a:t>
            </a:r>
            <a:r>
              <a:rPr lang="en-US" sz="2000" b="0" i="0" dirty="0">
                <a:solidFill>
                  <a:srgbClr val="000000"/>
                </a:solidFill>
                <a:effectLst/>
                <a:latin typeface="Times New Roman" panose="02020603050405020304" pitchFamily="18" charset="0"/>
                <a:cs typeface="Times New Roman" panose="02020603050405020304" pitchFamily="18" charset="0"/>
              </a:rPr>
              <a:t> attribute permits the name of the column to be explicitly specified.</a:t>
            </a:r>
          </a:p>
          <a:p>
            <a:pPr algn="just">
              <a:buFont typeface="Arial" panose="020B0604020202020204" pitchFamily="34" charset="0"/>
              <a:buChar char="•"/>
            </a:pPr>
            <a:r>
              <a:rPr lang="en-US" sz="2000" b="1" i="0" dirty="0">
                <a:solidFill>
                  <a:srgbClr val="000000"/>
                </a:solidFill>
                <a:effectLst/>
                <a:latin typeface="Times New Roman" panose="02020603050405020304" pitchFamily="18" charset="0"/>
                <a:cs typeface="Times New Roman" panose="02020603050405020304" pitchFamily="18" charset="0"/>
              </a:rPr>
              <a:t>length</a:t>
            </a:r>
            <a:r>
              <a:rPr lang="en-US" sz="2000" b="0" i="0" dirty="0">
                <a:solidFill>
                  <a:srgbClr val="000000"/>
                </a:solidFill>
                <a:effectLst/>
                <a:latin typeface="Times New Roman" panose="02020603050405020304" pitchFamily="18" charset="0"/>
                <a:cs typeface="Times New Roman" panose="02020603050405020304" pitchFamily="18" charset="0"/>
              </a:rPr>
              <a:t> attribute permits the size of the column used to map a value particularly for a String value.</a:t>
            </a:r>
          </a:p>
          <a:p>
            <a:pPr algn="just">
              <a:buFont typeface="Arial" panose="020B0604020202020204" pitchFamily="34" charset="0"/>
              <a:buChar char="•"/>
            </a:pPr>
            <a:r>
              <a:rPr lang="en-US" sz="2000" b="1" i="0" dirty="0">
                <a:solidFill>
                  <a:srgbClr val="000000"/>
                </a:solidFill>
                <a:effectLst/>
                <a:latin typeface="Times New Roman" panose="02020603050405020304" pitchFamily="18" charset="0"/>
                <a:cs typeface="Times New Roman" panose="02020603050405020304" pitchFamily="18" charset="0"/>
              </a:rPr>
              <a:t>nullable</a:t>
            </a:r>
            <a:r>
              <a:rPr lang="en-US" sz="2000" b="0" i="0" dirty="0">
                <a:solidFill>
                  <a:srgbClr val="000000"/>
                </a:solidFill>
                <a:effectLst/>
                <a:latin typeface="Times New Roman" panose="02020603050405020304" pitchFamily="18" charset="0"/>
                <a:cs typeface="Times New Roman" panose="02020603050405020304" pitchFamily="18" charset="0"/>
              </a:rPr>
              <a:t> attribute permits the column to be marked NOT NULL when the schema is generated.</a:t>
            </a:r>
          </a:p>
          <a:p>
            <a:pPr algn="just">
              <a:buFont typeface="Arial" panose="020B0604020202020204" pitchFamily="34" charset="0"/>
              <a:buChar char="•"/>
            </a:pPr>
            <a:r>
              <a:rPr lang="en-US" sz="2000" b="1" i="0" dirty="0">
                <a:solidFill>
                  <a:srgbClr val="000000"/>
                </a:solidFill>
                <a:effectLst/>
                <a:latin typeface="Times New Roman" panose="02020603050405020304" pitchFamily="18" charset="0"/>
                <a:cs typeface="Times New Roman" panose="02020603050405020304" pitchFamily="18" charset="0"/>
              </a:rPr>
              <a:t>unique</a:t>
            </a:r>
            <a:r>
              <a:rPr lang="en-US" sz="2000" b="0" i="0" dirty="0">
                <a:solidFill>
                  <a:srgbClr val="000000"/>
                </a:solidFill>
                <a:effectLst/>
                <a:latin typeface="Times New Roman" panose="02020603050405020304" pitchFamily="18" charset="0"/>
                <a:cs typeface="Times New Roman" panose="02020603050405020304" pitchFamily="18" charset="0"/>
              </a:rPr>
              <a:t> attribute permits the column to be marked as containing only unique values.</a:t>
            </a:r>
          </a:p>
          <a:p>
            <a:pPr algn="l"/>
            <a:endParaRPr lang="en-US" sz="2000" b="0" i="0" dirty="0">
              <a:solidFill>
                <a:srgbClr val="000000"/>
              </a:solidFill>
              <a:effectLst/>
              <a:latin typeface="Times New Roman" panose="02020603050405020304" pitchFamily="18" charset="0"/>
              <a:cs typeface="Times New Roman" panose="02020603050405020304" pitchFamily="18" charset="0"/>
            </a:endParaRPr>
          </a:p>
        </p:txBody>
      </p:sp>
      <p:sp>
        <p:nvSpPr>
          <p:cNvPr id="179" name="Google Shape;179;p10"/>
          <p:cNvSpPr/>
          <p:nvPr/>
        </p:nvSpPr>
        <p:spPr>
          <a:xfrm>
            <a:off x="0" y="1643063"/>
            <a:ext cx="9144000" cy="642937"/>
          </a:xfrm>
          <a:prstGeom prst="rect">
            <a:avLst/>
          </a:prstGeom>
          <a:solidFill>
            <a:srgbClr val="1F497D"/>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180" name="Google Shape;180;p10"/>
          <p:cNvSpPr/>
          <p:nvPr/>
        </p:nvSpPr>
        <p:spPr>
          <a:xfrm>
            <a:off x="190500" y="1687513"/>
            <a:ext cx="8763000" cy="55403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lt1"/>
              </a:buClr>
              <a:buSzPts val="3000"/>
              <a:buFont typeface="Arial"/>
              <a:buNone/>
            </a:pPr>
            <a:r>
              <a:rPr lang="en-IN" sz="3000" b="1" dirty="0">
                <a:solidFill>
                  <a:schemeClr val="lt1"/>
                </a:solidFill>
                <a:latin typeface="Calibri"/>
                <a:ea typeface="Calibri"/>
                <a:cs typeface="Calibri"/>
                <a:sym typeface="Calibri"/>
              </a:rPr>
              <a:t>@Column Annotation</a:t>
            </a:r>
            <a:endParaRPr dirty="0"/>
          </a:p>
        </p:txBody>
      </p:sp>
      <p:pic>
        <p:nvPicPr>
          <p:cNvPr id="2" name="Picture 12">
            <a:extLst>
              <a:ext uri="{FF2B5EF4-FFF2-40B4-BE49-F238E27FC236}">
                <a16:creationId xmlns:a16="http://schemas.microsoft.com/office/drawing/2014/main" id="{B42D5E84-3B31-A96E-066A-8BCF10D89371}"/>
              </a:ext>
            </a:extLst>
          </p:cNvPr>
          <p:cNvPicPr>
            <a:picLocks noChangeAspect="1" noChangeArrowheads="1"/>
          </p:cNvPicPr>
          <p:nvPr/>
        </p:nvPicPr>
        <p:blipFill>
          <a:blip r:embed="rId5"/>
          <a:srcRect/>
          <a:stretch>
            <a:fillRect/>
          </a:stretch>
        </p:blipFill>
        <p:spPr bwMode="auto">
          <a:xfrm>
            <a:off x="381000" y="0"/>
            <a:ext cx="1524000" cy="1395413"/>
          </a:xfrm>
          <a:prstGeom prst="rect">
            <a:avLst/>
          </a:prstGeom>
          <a:noFill/>
          <a:ln w="9525">
            <a:noFill/>
            <a:miter lim="800000"/>
            <a:headEnd/>
            <a:tailEnd/>
          </a:ln>
        </p:spPr>
      </p:pic>
    </p:spTree>
    <p:extLst>
      <p:ext uri="{BB962C8B-B14F-4D97-AF65-F5344CB8AC3E}">
        <p14:creationId xmlns:p14="http://schemas.microsoft.com/office/powerpoint/2010/main" val="139675013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pic>
        <p:nvPicPr>
          <p:cNvPr id="176" name="Google Shape;176;p10" descr="C:\Users\parul\Desktop\Digital Learning Content.png"/>
          <p:cNvPicPr preferRelativeResize="0"/>
          <p:nvPr/>
        </p:nvPicPr>
        <p:blipFill rotWithShape="1">
          <a:blip r:embed="rId3">
            <a:alphaModFix/>
          </a:blip>
          <a:srcRect/>
          <a:stretch/>
        </p:blipFill>
        <p:spPr>
          <a:xfrm>
            <a:off x="0" y="0"/>
            <a:ext cx="9144000" cy="6900863"/>
          </a:xfrm>
          <a:prstGeom prst="rect">
            <a:avLst/>
          </a:prstGeom>
          <a:noFill/>
          <a:ln>
            <a:noFill/>
          </a:ln>
        </p:spPr>
      </p:pic>
      <p:pic>
        <p:nvPicPr>
          <p:cNvPr id="177" name="Google Shape;177;p10" descr="C:\Users\parul\Desktop\Untitled-1.png"/>
          <p:cNvPicPr preferRelativeResize="0"/>
          <p:nvPr/>
        </p:nvPicPr>
        <p:blipFill rotWithShape="1">
          <a:blip r:embed="rId4">
            <a:alphaModFix/>
          </a:blip>
          <a:srcRect/>
          <a:stretch/>
        </p:blipFill>
        <p:spPr>
          <a:xfrm>
            <a:off x="1857375" y="3071813"/>
            <a:ext cx="5430838" cy="2803525"/>
          </a:xfrm>
          <a:prstGeom prst="rect">
            <a:avLst/>
          </a:prstGeom>
          <a:noFill/>
          <a:ln>
            <a:noFill/>
          </a:ln>
        </p:spPr>
      </p:pic>
      <p:sp>
        <p:nvSpPr>
          <p:cNvPr id="178" name="Google Shape;178;p10"/>
          <p:cNvSpPr txBox="1"/>
          <p:nvPr/>
        </p:nvSpPr>
        <p:spPr>
          <a:xfrm>
            <a:off x="190500" y="2286000"/>
            <a:ext cx="8629650" cy="2554505"/>
          </a:xfrm>
          <a:prstGeom prst="rect">
            <a:avLst/>
          </a:prstGeom>
          <a:noFill/>
          <a:ln>
            <a:noFill/>
          </a:ln>
        </p:spPr>
        <p:txBody>
          <a:bodyPr spcFirstLastPara="1" wrap="square" lIns="91425" tIns="45700" rIns="91425" bIns="45700" anchor="t" anchorCtr="0">
            <a:spAutoFit/>
          </a:bodyPr>
          <a:lstStyle/>
          <a:p>
            <a:r>
              <a:rPr lang="en-US" sz="2000" dirty="0"/>
              <a:t>Hibernate Query Language (HQL) is same as SQL (Structured Query Language) but it doesn't depends on the table of the database. </a:t>
            </a:r>
          </a:p>
          <a:p>
            <a:endParaRPr lang="en-US" sz="2000" dirty="0"/>
          </a:p>
          <a:p>
            <a:r>
              <a:rPr lang="en-US" sz="2000" dirty="0"/>
              <a:t>Instead of table name, we use class name in HQL. So it is database independent query language.</a:t>
            </a:r>
          </a:p>
          <a:p>
            <a:endParaRPr lang="en-US" sz="2000" dirty="0"/>
          </a:p>
          <a:p>
            <a:r>
              <a:rPr lang="en-US" sz="2000" dirty="0">
                <a:latin typeface="Times New Roman" panose="02020603050405020304" pitchFamily="18" charset="0"/>
                <a:cs typeface="Times New Roman" panose="02020603050405020304" pitchFamily="18" charset="0"/>
              </a:rPr>
              <a:t>Keywords like SELECT, FROM, and WHERE, etc., are not case sensitive, but properties like table and column names are case sensitive in HQL.</a:t>
            </a:r>
          </a:p>
        </p:txBody>
      </p:sp>
      <p:sp>
        <p:nvSpPr>
          <p:cNvPr id="179" name="Google Shape;179;p10"/>
          <p:cNvSpPr/>
          <p:nvPr/>
        </p:nvSpPr>
        <p:spPr>
          <a:xfrm>
            <a:off x="0" y="1643063"/>
            <a:ext cx="9144000" cy="642937"/>
          </a:xfrm>
          <a:prstGeom prst="rect">
            <a:avLst/>
          </a:prstGeom>
          <a:solidFill>
            <a:srgbClr val="1F497D"/>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180" name="Google Shape;180;p10"/>
          <p:cNvSpPr/>
          <p:nvPr/>
        </p:nvSpPr>
        <p:spPr>
          <a:xfrm>
            <a:off x="190500" y="1687513"/>
            <a:ext cx="8763000" cy="55403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lt1"/>
              </a:buClr>
              <a:buSzPts val="3000"/>
              <a:buFont typeface="Arial"/>
              <a:buNone/>
            </a:pPr>
            <a:r>
              <a:rPr lang="en-IN" sz="3000" b="1" dirty="0">
                <a:solidFill>
                  <a:schemeClr val="lt1"/>
                </a:solidFill>
                <a:latin typeface="Calibri"/>
                <a:ea typeface="Calibri"/>
                <a:cs typeface="Calibri"/>
                <a:sym typeface="Calibri"/>
              </a:rPr>
              <a:t>Hibernate Query Language(HQL)</a:t>
            </a:r>
            <a:endParaRPr dirty="0"/>
          </a:p>
        </p:txBody>
      </p:sp>
      <p:pic>
        <p:nvPicPr>
          <p:cNvPr id="2" name="Picture 12">
            <a:extLst>
              <a:ext uri="{FF2B5EF4-FFF2-40B4-BE49-F238E27FC236}">
                <a16:creationId xmlns:a16="http://schemas.microsoft.com/office/drawing/2014/main" id="{B42D5E84-3B31-A96E-066A-8BCF10D89371}"/>
              </a:ext>
            </a:extLst>
          </p:cNvPr>
          <p:cNvPicPr>
            <a:picLocks noChangeAspect="1" noChangeArrowheads="1"/>
          </p:cNvPicPr>
          <p:nvPr/>
        </p:nvPicPr>
        <p:blipFill>
          <a:blip r:embed="rId5"/>
          <a:srcRect/>
          <a:stretch>
            <a:fillRect/>
          </a:stretch>
        </p:blipFill>
        <p:spPr bwMode="auto">
          <a:xfrm>
            <a:off x="381000" y="0"/>
            <a:ext cx="1524000" cy="1395413"/>
          </a:xfrm>
          <a:prstGeom prst="rect">
            <a:avLst/>
          </a:prstGeom>
          <a:noFill/>
          <a:ln w="9525">
            <a:noFill/>
            <a:miter lim="800000"/>
            <a:headEnd/>
            <a:tailEnd/>
          </a:ln>
        </p:spPr>
      </p:pic>
    </p:spTree>
    <p:extLst>
      <p:ext uri="{BB962C8B-B14F-4D97-AF65-F5344CB8AC3E}">
        <p14:creationId xmlns:p14="http://schemas.microsoft.com/office/powerpoint/2010/main" val="193249185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pic>
        <p:nvPicPr>
          <p:cNvPr id="176" name="Google Shape;176;p10" descr="C:\Users\parul\Desktop\Digital Learning Content.png"/>
          <p:cNvPicPr preferRelativeResize="0"/>
          <p:nvPr/>
        </p:nvPicPr>
        <p:blipFill rotWithShape="1">
          <a:blip r:embed="rId3">
            <a:alphaModFix/>
          </a:blip>
          <a:srcRect/>
          <a:stretch/>
        </p:blipFill>
        <p:spPr>
          <a:xfrm>
            <a:off x="0" y="0"/>
            <a:ext cx="9144000" cy="6900863"/>
          </a:xfrm>
          <a:prstGeom prst="rect">
            <a:avLst/>
          </a:prstGeom>
          <a:noFill/>
          <a:ln>
            <a:noFill/>
          </a:ln>
        </p:spPr>
      </p:pic>
      <p:pic>
        <p:nvPicPr>
          <p:cNvPr id="177" name="Google Shape;177;p10" descr="C:\Users\parul\Desktop\Untitled-1.png"/>
          <p:cNvPicPr preferRelativeResize="0"/>
          <p:nvPr/>
        </p:nvPicPr>
        <p:blipFill rotWithShape="1">
          <a:blip r:embed="rId4">
            <a:alphaModFix/>
          </a:blip>
          <a:srcRect/>
          <a:stretch/>
        </p:blipFill>
        <p:spPr>
          <a:xfrm>
            <a:off x="1857375" y="3071813"/>
            <a:ext cx="5430838" cy="2803525"/>
          </a:xfrm>
          <a:prstGeom prst="rect">
            <a:avLst/>
          </a:prstGeom>
          <a:noFill/>
          <a:ln>
            <a:noFill/>
          </a:ln>
        </p:spPr>
      </p:pic>
      <p:sp>
        <p:nvSpPr>
          <p:cNvPr id="178" name="Google Shape;178;p10"/>
          <p:cNvSpPr txBox="1"/>
          <p:nvPr/>
        </p:nvSpPr>
        <p:spPr>
          <a:xfrm>
            <a:off x="190500" y="2286000"/>
            <a:ext cx="8629650" cy="1815841"/>
          </a:xfrm>
          <a:prstGeom prst="rect">
            <a:avLst/>
          </a:prstGeom>
          <a:noFill/>
          <a:ln>
            <a:noFill/>
          </a:ln>
        </p:spPr>
        <p:txBody>
          <a:bodyPr spcFirstLastPara="1" wrap="square" lIns="91425" tIns="45700" rIns="91425" bIns="45700" anchor="t" anchorCtr="0">
            <a:spAutoFit/>
          </a:bodyPr>
          <a:lstStyle/>
          <a:p>
            <a:pPr marL="0" indent="0">
              <a:buNone/>
            </a:pPr>
            <a:r>
              <a:rPr lang="en-US" sz="2000" dirty="0">
                <a:latin typeface="Times New Roman" panose="02020603050405020304" pitchFamily="18" charset="0"/>
                <a:cs typeface="Times New Roman" panose="02020603050405020304" pitchFamily="18" charset="0"/>
              </a:rPr>
              <a:t>There are many advantages of HQL. They are as follows: </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database independent</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supports polymorphic queries</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easy to learn for Java Programmer</a:t>
            </a:r>
          </a:p>
          <a:p>
            <a:endParaRPr lang="en-US" sz="3200" dirty="0"/>
          </a:p>
        </p:txBody>
      </p:sp>
      <p:sp>
        <p:nvSpPr>
          <p:cNvPr id="179" name="Google Shape;179;p10"/>
          <p:cNvSpPr/>
          <p:nvPr/>
        </p:nvSpPr>
        <p:spPr>
          <a:xfrm>
            <a:off x="0" y="1643063"/>
            <a:ext cx="9144000" cy="642937"/>
          </a:xfrm>
          <a:prstGeom prst="rect">
            <a:avLst/>
          </a:prstGeom>
          <a:solidFill>
            <a:srgbClr val="1F497D"/>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180" name="Google Shape;180;p10"/>
          <p:cNvSpPr/>
          <p:nvPr/>
        </p:nvSpPr>
        <p:spPr>
          <a:xfrm>
            <a:off x="190500" y="1687513"/>
            <a:ext cx="8763000" cy="55403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lt1"/>
              </a:buClr>
              <a:buSzPts val="3000"/>
              <a:buFont typeface="Arial"/>
              <a:buNone/>
            </a:pPr>
            <a:r>
              <a:rPr lang="en-IN" sz="3000" b="1" dirty="0">
                <a:solidFill>
                  <a:schemeClr val="lt1"/>
                </a:solidFill>
                <a:latin typeface="Calibri"/>
                <a:ea typeface="Calibri"/>
                <a:cs typeface="Calibri"/>
                <a:sym typeface="Calibri"/>
              </a:rPr>
              <a:t>Advantage of HQL</a:t>
            </a:r>
            <a:endParaRPr dirty="0"/>
          </a:p>
        </p:txBody>
      </p:sp>
      <p:pic>
        <p:nvPicPr>
          <p:cNvPr id="2" name="Picture 12">
            <a:extLst>
              <a:ext uri="{FF2B5EF4-FFF2-40B4-BE49-F238E27FC236}">
                <a16:creationId xmlns:a16="http://schemas.microsoft.com/office/drawing/2014/main" id="{B42D5E84-3B31-A96E-066A-8BCF10D89371}"/>
              </a:ext>
            </a:extLst>
          </p:cNvPr>
          <p:cNvPicPr>
            <a:picLocks noChangeAspect="1" noChangeArrowheads="1"/>
          </p:cNvPicPr>
          <p:nvPr/>
        </p:nvPicPr>
        <p:blipFill>
          <a:blip r:embed="rId5"/>
          <a:srcRect/>
          <a:stretch>
            <a:fillRect/>
          </a:stretch>
        </p:blipFill>
        <p:spPr bwMode="auto">
          <a:xfrm>
            <a:off x="381000" y="0"/>
            <a:ext cx="1524000" cy="1395413"/>
          </a:xfrm>
          <a:prstGeom prst="rect">
            <a:avLst/>
          </a:prstGeom>
          <a:noFill/>
          <a:ln w="9525">
            <a:noFill/>
            <a:miter lim="800000"/>
            <a:headEnd/>
            <a:tailEnd/>
          </a:ln>
        </p:spPr>
      </p:pic>
    </p:spTree>
    <p:extLst>
      <p:ext uri="{BB962C8B-B14F-4D97-AF65-F5344CB8AC3E}">
        <p14:creationId xmlns:p14="http://schemas.microsoft.com/office/powerpoint/2010/main" val="77398508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pic>
        <p:nvPicPr>
          <p:cNvPr id="176" name="Google Shape;176;p10" descr="C:\Users\parul\Desktop\Digital Learning Content.png"/>
          <p:cNvPicPr preferRelativeResize="0"/>
          <p:nvPr/>
        </p:nvPicPr>
        <p:blipFill rotWithShape="1">
          <a:blip r:embed="rId3">
            <a:alphaModFix/>
          </a:blip>
          <a:srcRect/>
          <a:stretch/>
        </p:blipFill>
        <p:spPr>
          <a:xfrm>
            <a:off x="0" y="0"/>
            <a:ext cx="9144000" cy="6900863"/>
          </a:xfrm>
          <a:prstGeom prst="rect">
            <a:avLst/>
          </a:prstGeom>
          <a:noFill/>
          <a:ln>
            <a:noFill/>
          </a:ln>
        </p:spPr>
      </p:pic>
      <p:pic>
        <p:nvPicPr>
          <p:cNvPr id="177" name="Google Shape;177;p10" descr="C:\Users\parul\Desktop\Untitled-1.png"/>
          <p:cNvPicPr preferRelativeResize="0"/>
          <p:nvPr/>
        </p:nvPicPr>
        <p:blipFill rotWithShape="1">
          <a:blip r:embed="rId4">
            <a:alphaModFix/>
          </a:blip>
          <a:srcRect/>
          <a:stretch/>
        </p:blipFill>
        <p:spPr>
          <a:xfrm>
            <a:off x="1857375" y="3071813"/>
            <a:ext cx="5430838" cy="2803525"/>
          </a:xfrm>
          <a:prstGeom prst="rect">
            <a:avLst/>
          </a:prstGeom>
          <a:noFill/>
          <a:ln>
            <a:noFill/>
          </a:ln>
        </p:spPr>
      </p:pic>
      <p:sp>
        <p:nvSpPr>
          <p:cNvPr id="178" name="Google Shape;178;p10"/>
          <p:cNvSpPr txBox="1"/>
          <p:nvPr/>
        </p:nvSpPr>
        <p:spPr>
          <a:xfrm>
            <a:off x="190500" y="2286000"/>
            <a:ext cx="8629650" cy="5016718"/>
          </a:xfrm>
          <a:prstGeom prst="rect">
            <a:avLst/>
          </a:prstGeom>
          <a:noFill/>
          <a:ln>
            <a:noFill/>
          </a:ln>
        </p:spPr>
        <p:txBody>
          <a:bodyPr spcFirstLastPara="1" wrap="square" lIns="91425" tIns="45700" rIns="91425" bIns="45700" anchor="t" anchorCtr="0">
            <a:spAutoFit/>
          </a:bodyPr>
          <a:lstStyle/>
          <a:p>
            <a:r>
              <a:rPr lang="en-US" sz="2000" b="1" dirty="0">
                <a:latin typeface="Times New Roman" panose="02020603050405020304" pitchFamily="18" charset="0"/>
                <a:cs typeface="Times New Roman" panose="02020603050405020304" pitchFamily="18" charset="0"/>
              </a:rPr>
              <a:t>Example of HQL to get all the records</a:t>
            </a:r>
          </a:p>
          <a:p>
            <a:r>
              <a:rPr lang="en-US" sz="2000" dirty="0">
                <a:latin typeface="Times New Roman" panose="02020603050405020304" pitchFamily="18" charset="0"/>
                <a:cs typeface="Times New Roman" panose="02020603050405020304" pitchFamily="18" charset="0"/>
              </a:rPr>
              <a:t>Query query=</a:t>
            </a:r>
            <a:r>
              <a:rPr lang="en-US" sz="2000" dirty="0" err="1">
                <a:latin typeface="Times New Roman" panose="02020603050405020304" pitchFamily="18" charset="0"/>
                <a:cs typeface="Times New Roman" panose="02020603050405020304" pitchFamily="18" charset="0"/>
              </a:rPr>
              <a:t>session.createQuery</a:t>
            </a:r>
            <a:r>
              <a:rPr lang="en-US" sz="2000" dirty="0">
                <a:latin typeface="Times New Roman" panose="02020603050405020304" pitchFamily="18" charset="0"/>
                <a:cs typeface="Times New Roman" panose="02020603050405020304" pitchFamily="18" charset="0"/>
              </a:rPr>
              <a:t>("from Emp"); //here persistent class name is Emp  </a:t>
            </a:r>
          </a:p>
          <a:p>
            <a:r>
              <a:rPr lang="en-US" sz="2000" dirty="0">
                <a:latin typeface="Times New Roman" panose="02020603050405020304" pitchFamily="18" charset="0"/>
                <a:cs typeface="Times New Roman" panose="02020603050405020304" pitchFamily="18" charset="0"/>
              </a:rPr>
              <a:t>List list=</a:t>
            </a:r>
            <a:r>
              <a:rPr lang="en-US" sz="2000" dirty="0" err="1">
                <a:latin typeface="Times New Roman" panose="02020603050405020304" pitchFamily="18" charset="0"/>
                <a:cs typeface="Times New Roman" panose="02020603050405020304" pitchFamily="18" charset="0"/>
              </a:rPr>
              <a:t>query.list</a:t>
            </a:r>
            <a:r>
              <a:rPr lang="en-US" sz="2000" dirty="0">
                <a:latin typeface="Times New Roman" panose="02020603050405020304" pitchFamily="18" charset="0"/>
                <a:cs typeface="Times New Roman" panose="02020603050405020304" pitchFamily="18" charset="0"/>
              </a:rPr>
              <a:t>();  </a:t>
            </a:r>
          </a:p>
          <a:p>
            <a:r>
              <a:rPr lang="en-US" sz="2000" b="1" dirty="0">
                <a:latin typeface="Times New Roman" panose="02020603050405020304" pitchFamily="18" charset="0"/>
                <a:cs typeface="Times New Roman" panose="02020603050405020304" pitchFamily="18" charset="0"/>
              </a:rPr>
              <a:t>Example of HQL to get records with pagination</a:t>
            </a:r>
          </a:p>
          <a:p>
            <a:r>
              <a:rPr lang="en-US" sz="2000" dirty="0">
                <a:latin typeface="Times New Roman" panose="02020603050405020304" pitchFamily="18" charset="0"/>
                <a:cs typeface="Times New Roman" panose="02020603050405020304" pitchFamily="18" charset="0"/>
              </a:rPr>
              <a:t>Query query=</a:t>
            </a:r>
            <a:r>
              <a:rPr lang="en-US" sz="2000" dirty="0" err="1">
                <a:latin typeface="Times New Roman" panose="02020603050405020304" pitchFamily="18" charset="0"/>
                <a:cs typeface="Times New Roman" panose="02020603050405020304" pitchFamily="18" charset="0"/>
              </a:rPr>
              <a:t>session.createQuery</a:t>
            </a:r>
            <a:r>
              <a:rPr lang="en-US" sz="2000" dirty="0">
                <a:latin typeface="Times New Roman" panose="02020603050405020304" pitchFamily="18" charset="0"/>
                <a:cs typeface="Times New Roman" panose="02020603050405020304" pitchFamily="18" charset="0"/>
              </a:rPr>
              <a:t>("from Emp");  </a:t>
            </a:r>
          </a:p>
          <a:p>
            <a:r>
              <a:rPr lang="en-US" sz="2000" dirty="0" err="1">
                <a:latin typeface="Times New Roman" panose="02020603050405020304" pitchFamily="18" charset="0"/>
                <a:cs typeface="Times New Roman" panose="02020603050405020304" pitchFamily="18" charset="0"/>
              </a:rPr>
              <a:t>query.setFirstResult</a:t>
            </a:r>
            <a:r>
              <a:rPr lang="en-US" sz="2000" dirty="0">
                <a:latin typeface="Times New Roman" panose="02020603050405020304" pitchFamily="18" charset="0"/>
                <a:cs typeface="Times New Roman" panose="02020603050405020304" pitchFamily="18" charset="0"/>
              </a:rPr>
              <a:t>(5);  </a:t>
            </a:r>
          </a:p>
          <a:p>
            <a:r>
              <a:rPr lang="en-US" sz="2000" dirty="0" err="1">
                <a:latin typeface="Times New Roman" panose="02020603050405020304" pitchFamily="18" charset="0"/>
                <a:cs typeface="Times New Roman" panose="02020603050405020304" pitchFamily="18" charset="0"/>
              </a:rPr>
              <a:t>query.setMaxResult</a:t>
            </a:r>
            <a:r>
              <a:rPr lang="en-US" sz="2000" dirty="0">
                <a:latin typeface="Times New Roman" panose="02020603050405020304" pitchFamily="18" charset="0"/>
                <a:cs typeface="Times New Roman" panose="02020603050405020304" pitchFamily="18" charset="0"/>
              </a:rPr>
              <a:t>(10);  </a:t>
            </a:r>
          </a:p>
          <a:p>
            <a:r>
              <a:rPr lang="en-US" sz="2000" dirty="0">
                <a:latin typeface="Times New Roman" panose="02020603050405020304" pitchFamily="18" charset="0"/>
                <a:cs typeface="Times New Roman" panose="02020603050405020304" pitchFamily="18" charset="0"/>
              </a:rPr>
              <a:t>List list=</a:t>
            </a:r>
            <a:r>
              <a:rPr lang="en-US" sz="2000" dirty="0" err="1">
                <a:latin typeface="Times New Roman" panose="02020603050405020304" pitchFamily="18" charset="0"/>
                <a:cs typeface="Times New Roman" panose="02020603050405020304" pitchFamily="18" charset="0"/>
              </a:rPr>
              <a:t>query.list</a:t>
            </a:r>
            <a:r>
              <a:rPr lang="en-US" sz="2000" dirty="0">
                <a:latin typeface="Times New Roman" panose="02020603050405020304" pitchFamily="18" charset="0"/>
                <a:cs typeface="Times New Roman" panose="02020603050405020304" pitchFamily="18" charset="0"/>
              </a:rPr>
              <a:t>(); </a:t>
            </a:r>
          </a:p>
          <a:p>
            <a:r>
              <a:rPr lang="en-US" sz="2000" dirty="0">
                <a:latin typeface="Times New Roman" panose="02020603050405020304" pitchFamily="18" charset="0"/>
                <a:cs typeface="Times New Roman" panose="02020603050405020304" pitchFamily="18" charset="0"/>
              </a:rPr>
              <a:t>//will return the records from 5 to 10th number  </a:t>
            </a:r>
          </a:p>
          <a:p>
            <a:r>
              <a:rPr lang="en-US" sz="2000" b="1" dirty="0"/>
              <a:t>Example of HQL delete query</a:t>
            </a:r>
          </a:p>
          <a:p>
            <a:r>
              <a:rPr lang="en-US" sz="2000" dirty="0"/>
              <a:t>Query query=</a:t>
            </a:r>
            <a:r>
              <a:rPr lang="en-US" sz="2000" dirty="0" err="1"/>
              <a:t>session.createQuery</a:t>
            </a:r>
            <a:r>
              <a:rPr lang="en-US" sz="2000" dirty="0"/>
              <a:t>("delete from Emp where id=100");  </a:t>
            </a:r>
          </a:p>
          <a:p>
            <a:r>
              <a:rPr lang="en-US" sz="2000" dirty="0"/>
              <a:t>//specifying class name (Emp) not </a:t>
            </a:r>
            <a:r>
              <a:rPr lang="en-US" sz="2000" dirty="0" err="1"/>
              <a:t>tablename</a:t>
            </a:r>
            <a:r>
              <a:rPr lang="en-US" sz="2000" dirty="0"/>
              <a:t>  </a:t>
            </a:r>
          </a:p>
          <a:p>
            <a:r>
              <a:rPr lang="en-US" sz="2000" dirty="0" err="1"/>
              <a:t>query.executeUpdate</a:t>
            </a:r>
            <a:r>
              <a:rPr lang="en-US" sz="2000" dirty="0"/>
              <a:t>();  </a:t>
            </a:r>
          </a:p>
          <a:p>
            <a:endParaRPr lang="en-US" sz="2000" dirty="0"/>
          </a:p>
          <a:p>
            <a:endParaRPr lang="en-US" sz="2000" dirty="0"/>
          </a:p>
        </p:txBody>
      </p:sp>
      <p:sp>
        <p:nvSpPr>
          <p:cNvPr id="179" name="Google Shape;179;p10"/>
          <p:cNvSpPr/>
          <p:nvPr/>
        </p:nvSpPr>
        <p:spPr>
          <a:xfrm>
            <a:off x="0" y="1643063"/>
            <a:ext cx="9144000" cy="642937"/>
          </a:xfrm>
          <a:prstGeom prst="rect">
            <a:avLst/>
          </a:prstGeom>
          <a:solidFill>
            <a:srgbClr val="1F497D"/>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180" name="Google Shape;180;p10"/>
          <p:cNvSpPr/>
          <p:nvPr/>
        </p:nvSpPr>
        <p:spPr>
          <a:xfrm>
            <a:off x="190500" y="1687513"/>
            <a:ext cx="8763000" cy="55403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lt1"/>
              </a:buClr>
              <a:buSzPts val="3000"/>
              <a:buFont typeface="Arial"/>
              <a:buNone/>
            </a:pPr>
            <a:r>
              <a:rPr lang="en-IN" sz="3000" b="1" dirty="0">
                <a:solidFill>
                  <a:schemeClr val="lt1"/>
                </a:solidFill>
                <a:latin typeface="Calibri"/>
                <a:ea typeface="Calibri"/>
                <a:cs typeface="Calibri"/>
                <a:sym typeface="Calibri"/>
              </a:rPr>
              <a:t>Hibernate Query Language(HQL)</a:t>
            </a:r>
            <a:endParaRPr dirty="0"/>
          </a:p>
        </p:txBody>
      </p:sp>
      <p:pic>
        <p:nvPicPr>
          <p:cNvPr id="2" name="Picture 12">
            <a:extLst>
              <a:ext uri="{FF2B5EF4-FFF2-40B4-BE49-F238E27FC236}">
                <a16:creationId xmlns:a16="http://schemas.microsoft.com/office/drawing/2014/main" id="{B42D5E84-3B31-A96E-066A-8BCF10D89371}"/>
              </a:ext>
            </a:extLst>
          </p:cNvPr>
          <p:cNvPicPr>
            <a:picLocks noChangeAspect="1" noChangeArrowheads="1"/>
          </p:cNvPicPr>
          <p:nvPr/>
        </p:nvPicPr>
        <p:blipFill>
          <a:blip r:embed="rId5"/>
          <a:srcRect/>
          <a:stretch>
            <a:fillRect/>
          </a:stretch>
        </p:blipFill>
        <p:spPr bwMode="auto">
          <a:xfrm>
            <a:off x="381000" y="0"/>
            <a:ext cx="1524000" cy="1395413"/>
          </a:xfrm>
          <a:prstGeom prst="rect">
            <a:avLst/>
          </a:prstGeom>
          <a:noFill/>
          <a:ln w="9525">
            <a:noFill/>
            <a:miter lim="800000"/>
            <a:headEnd/>
            <a:tailEnd/>
          </a:ln>
        </p:spPr>
      </p:pic>
    </p:spTree>
    <p:extLst>
      <p:ext uri="{BB962C8B-B14F-4D97-AF65-F5344CB8AC3E}">
        <p14:creationId xmlns:p14="http://schemas.microsoft.com/office/powerpoint/2010/main" val="102565438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pic>
        <p:nvPicPr>
          <p:cNvPr id="176" name="Google Shape;176;p10" descr="C:\Users\parul\Desktop\Digital Learning Content.png"/>
          <p:cNvPicPr preferRelativeResize="0"/>
          <p:nvPr/>
        </p:nvPicPr>
        <p:blipFill rotWithShape="1">
          <a:blip r:embed="rId3">
            <a:alphaModFix/>
          </a:blip>
          <a:srcRect/>
          <a:stretch/>
        </p:blipFill>
        <p:spPr>
          <a:xfrm>
            <a:off x="0" y="0"/>
            <a:ext cx="9144000" cy="6900863"/>
          </a:xfrm>
          <a:prstGeom prst="rect">
            <a:avLst/>
          </a:prstGeom>
          <a:noFill/>
          <a:ln>
            <a:noFill/>
          </a:ln>
        </p:spPr>
      </p:pic>
      <p:pic>
        <p:nvPicPr>
          <p:cNvPr id="177" name="Google Shape;177;p10" descr="C:\Users\parul\Desktop\Untitled-1.png"/>
          <p:cNvPicPr preferRelativeResize="0"/>
          <p:nvPr/>
        </p:nvPicPr>
        <p:blipFill rotWithShape="1">
          <a:blip r:embed="rId4">
            <a:alphaModFix/>
          </a:blip>
          <a:srcRect/>
          <a:stretch/>
        </p:blipFill>
        <p:spPr>
          <a:xfrm>
            <a:off x="1857375" y="3071813"/>
            <a:ext cx="5430838" cy="2803525"/>
          </a:xfrm>
          <a:prstGeom prst="rect">
            <a:avLst/>
          </a:prstGeom>
          <a:noFill/>
          <a:ln>
            <a:noFill/>
          </a:ln>
        </p:spPr>
      </p:pic>
      <p:sp>
        <p:nvSpPr>
          <p:cNvPr id="178" name="Google Shape;178;p10"/>
          <p:cNvSpPr txBox="1"/>
          <p:nvPr/>
        </p:nvSpPr>
        <p:spPr>
          <a:xfrm>
            <a:off x="190500" y="2286000"/>
            <a:ext cx="8629650" cy="2554505"/>
          </a:xfrm>
          <a:prstGeom prst="rect">
            <a:avLst/>
          </a:prstGeom>
          <a:noFill/>
          <a:ln>
            <a:noFill/>
          </a:ln>
        </p:spPr>
        <p:txBody>
          <a:bodyPr spcFirstLastPara="1" wrap="square" lIns="91425" tIns="45700" rIns="91425" bIns="45700" anchor="t" anchorCtr="0">
            <a:spAutoFit/>
          </a:bodyPr>
          <a:lstStyle/>
          <a:p>
            <a:r>
              <a:rPr lang="en-US" sz="2000" b="0" i="0" dirty="0">
                <a:solidFill>
                  <a:srgbClr val="1C1D1E"/>
                </a:solidFill>
                <a:effectLst/>
                <a:highlight>
                  <a:srgbClr val="FFFFFF"/>
                </a:highlight>
                <a:latin typeface="Times New Roman" panose="02020603050405020304" pitchFamily="18" charset="0"/>
                <a:cs typeface="Times New Roman" panose="02020603050405020304" pitchFamily="18" charset="0"/>
              </a:rPr>
              <a:t>Hibernate Criteria Query Language (HCQL) is mainly used for further </a:t>
            </a:r>
            <a:r>
              <a:rPr lang="en-US" sz="2000" b="0" i="0" dirty="0" err="1">
                <a:solidFill>
                  <a:srgbClr val="1C1D1E"/>
                </a:solidFill>
                <a:effectLst/>
                <a:highlight>
                  <a:srgbClr val="FFFFFF"/>
                </a:highlight>
                <a:latin typeface="Times New Roman" panose="02020603050405020304" pitchFamily="18" charset="0"/>
                <a:cs typeface="Times New Roman" panose="02020603050405020304" pitchFamily="18" charset="0"/>
              </a:rPr>
              <a:t>filetering</a:t>
            </a:r>
            <a:r>
              <a:rPr lang="en-US" sz="2000" b="0" i="0" dirty="0">
                <a:solidFill>
                  <a:srgbClr val="1C1D1E"/>
                </a:solidFill>
                <a:effectLst/>
                <a:highlight>
                  <a:srgbClr val="FFFFFF"/>
                </a:highlight>
                <a:latin typeface="Times New Roman" panose="02020603050405020304" pitchFamily="18" charset="0"/>
                <a:cs typeface="Times New Roman" panose="02020603050405020304" pitchFamily="18" charset="0"/>
              </a:rPr>
              <a:t> records on the basis of logical conditions. HCQL works on the filtration rules and logical conditions. The Criteria interface, Restriction class, and Order class are available in </a:t>
            </a:r>
            <a:r>
              <a:rPr lang="en-US" sz="2000" b="1" i="0" dirty="0" err="1">
                <a:solidFill>
                  <a:srgbClr val="1C1D1E"/>
                </a:solidFill>
                <a:effectLst/>
                <a:highlight>
                  <a:srgbClr val="FFFFFF"/>
                </a:highlight>
                <a:latin typeface="Times New Roman" panose="02020603050405020304" pitchFamily="18" charset="0"/>
                <a:cs typeface="Times New Roman" panose="02020603050405020304" pitchFamily="18" charset="0"/>
              </a:rPr>
              <a:t>org.hibernate</a:t>
            </a:r>
            <a:r>
              <a:rPr lang="en-US" sz="2000" b="1" i="0" dirty="0">
                <a:solidFill>
                  <a:srgbClr val="1C1D1E"/>
                </a:solidFill>
                <a:effectLst/>
                <a:highlight>
                  <a:srgbClr val="FFFFFF"/>
                </a:highlight>
                <a:latin typeface="Times New Roman" panose="02020603050405020304" pitchFamily="18" charset="0"/>
                <a:cs typeface="Times New Roman" panose="02020603050405020304" pitchFamily="18" charset="0"/>
              </a:rPr>
              <a:t> </a:t>
            </a:r>
            <a:r>
              <a:rPr lang="en-US" sz="2000" b="0" i="0" dirty="0">
                <a:solidFill>
                  <a:srgbClr val="1C1D1E"/>
                </a:solidFill>
                <a:effectLst/>
                <a:highlight>
                  <a:srgbClr val="FFFFFF"/>
                </a:highlight>
                <a:latin typeface="Times New Roman" panose="02020603050405020304" pitchFamily="18" charset="0"/>
                <a:cs typeface="Times New Roman" panose="02020603050405020304" pitchFamily="18" charset="0"/>
              </a:rPr>
              <a:t>package. These interfaces and classes provide the properties and methods to perform operations of HCQL.</a:t>
            </a:r>
          </a:p>
          <a:p>
            <a:endParaRPr lang="en-US" sz="2000" dirty="0">
              <a:solidFill>
                <a:srgbClr val="1C1D1E"/>
              </a:solidFill>
              <a:highlight>
                <a:srgbClr val="FFFFFF"/>
              </a:highlight>
              <a:latin typeface="Times New Roman" panose="02020603050405020304" pitchFamily="18" charset="0"/>
              <a:cs typeface="Times New Roman" panose="02020603050405020304" pitchFamily="18" charset="0"/>
            </a:endParaRPr>
          </a:p>
          <a:p>
            <a:r>
              <a:rPr lang="en-US" sz="2000" b="0" i="1" dirty="0">
                <a:solidFill>
                  <a:srgbClr val="1C1D1E"/>
                </a:solidFill>
                <a:effectLst/>
                <a:highlight>
                  <a:srgbClr val="FFFFFF"/>
                </a:highlight>
                <a:latin typeface="Times New Roman" panose="02020603050405020304" pitchFamily="18" charset="0"/>
                <a:cs typeface="Times New Roman" panose="02020603050405020304" pitchFamily="18" charset="0"/>
              </a:rPr>
              <a:t>In HCQL, we can only execute the </a:t>
            </a:r>
            <a:r>
              <a:rPr lang="en-US" sz="2000" b="1" i="1" dirty="0">
                <a:solidFill>
                  <a:srgbClr val="1C1D1E"/>
                </a:solidFill>
                <a:effectLst/>
                <a:highlight>
                  <a:srgbClr val="FFFFFF"/>
                </a:highlight>
                <a:latin typeface="Times New Roman" panose="02020603050405020304" pitchFamily="18" charset="0"/>
                <a:cs typeface="Times New Roman" panose="02020603050405020304" pitchFamily="18" charset="0"/>
              </a:rPr>
              <a:t>select</a:t>
            </a:r>
            <a:r>
              <a:rPr lang="en-US" sz="2000" b="0" i="1" dirty="0">
                <a:solidFill>
                  <a:srgbClr val="1C1D1E"/>
                </a:solidFill>
                <a:effectLst/>
                <a:highlight>
                  <a:srgbClr val="FFFFFF"/>
                </a:highlight>
                <a:latin typeface="Times New Roman" panose="02020603050405020304" pitchFamily="18" charset="0"/>
                <a:cs typeface="Times New Roman" panose="02020603050405020304" pitchFamily="18" charset="0"/>
              </a:rPr>
              <a:t> query. It doesn’t allow to use other queries like an update, insert, and delete.</a:t>
            </a:r>
            <a:endParaRPr lang="en-US" sz="2000" dirty="0">
              <a:latin typeface="Times New Roman" panose="02020603050405020304" pitchFamily="18" charset="0"/>
              <a:cs typeface="Times New Roman" panose="02020603050405020304" pitchFamily="18" charset="0"/>
            </a:endParaRPr>
          </a:p>
        </p:txBody>
      </p:sp>
      <p:sp>
        <p:nvSpPr>
          <p:cNvPr id="179" name="Google Shape;179;p10"/>
          <p:cNvSpPr/>
          <p:nvPr/>
        </p:nvSpPr>
        <p:spPr>
          <a:xfrm>
            <a:off x="0" y="1643063"/>
            <a:ext cx="9144000" cy="642937"/>
          </a:xfrm>
          <a:prstGeom prst="rect">
            <a:avLst/>
          </a:prstGeom>
          <a:solidFill>
            <a:srgbClr val="1F497D"/>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180" name="Google Shape;180;p10"/>
          <p:cNvSpPr/>
          <p:nvPr/>
        </p:nvSpPr>
        <p:spPr>
          <a:xfrm>
            <a:off x="190500" y="1687513"/>
            <a:ext cx="8763000" cy="55403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lt1"/>
              </a:buClr>
              <a:buSzPts val="3000"/>
              <a:buFont typeface="Arial"/>
              <a:buNone/>
            </a:pPr>
            <a:r>
              <a:rPr lang="en-IN" sz="3000" b="1" dirty="0">
                <a:solidFill>
                  <a:schemeClr val="lt1"/>
                </a:solidFill>
                <a:latin typeface="Calibri"/>
                <a:ea typeface="Calibri"/>
                <a:cs typeface="Calibri"/>
                <a:sym typeface="Calibri"/>
              </a:rPr>
              <a:t>Hibernate Criteria Query Language(HCQL)</a:t>
            </a:r>
            <a:endParaRPr dirty="0"/>
          </a:p>
        </p:txBody>
      </p:sp>
      <p:pic>
        <p:nvPicPr>
          <p:cNvPr id="2" name="Picture 12">
            <a:extLst>
              <a:ext uri="{FF2B5EF4-FFF2-40B4-BE49-F238E27FC236}">
                <a16:creationId xmlns:a16="http://schemas.microsoft.com/office/drawing/2014/main" id="{B42D5E84-3B31-A96E-066A-8BCF10D89371}"/>
              </a:ext>
            </a:extLst>
          </p:cNvPr>
          <p:cNvPicPr>
            <a:picLocks noChangeAspect="1" noChangeArrowheads="1"/>
          </p:cNvPicPr>
          <p:nvPr/>
        </p:nvPicPr>
        <p:blipFill>
          <a:blip r:embed="rId5"/>
          <a:srcRect/>
          <a:stretch>
            <a:fillRect/>
          </a:stretch>
        </p:blipFill>
        <p:spPr bwMode="auto">
          <a:xfrm>
            <a:off x="381000" y="0"/>
            <a:ext cx="1524000" cy="1395413"/>
          </a:xfrm>
          <a:prstGeom prst="rect">
            <a:avLst/>
          </a:prstGeom>
          <a:noFill/>
          <a:ln w="9525">
            <a:noFill/>
            <a:miter lim="800000"/>
            <a:headEnd/>
            <a:tailEnd/>
          </a:ln>
        </p:spPr>
      </p:pic>
    </p:spTree>
    <p:extLst>
      <p:ext uri="{BB962C8B-B14F-4D97-AF65-F5344CB8AC3E}">
        <p14:creationId xmlns:p14="http://schemas.microsoft.com/office/powerpoint/2010/main" val="231070092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pic>
        <p:nvPicPr>
          <p:cNvPr id="176" name="Google Shape;176;p10" descr="C:\Users\parul\Desktop\Digital Learning Content.png"/>
          <p:cNvPicPr preferRelativeResize="0"/>
          <p:nvPr/>
        </p:nvPicPr>
        <p:blipFill rotWithShape="1">
          <a:blip r:embed="rId3">
            <a:alphaModFix/>
          </a:blip>
          <a:srcRect/>
          <a:stretch/>
        </p:blipFill>
        <p:spPr>
          <a:xfrm>
            <a:off x="0" y="0"/>
            <a:ext cx="9144000" cy="6900863"/>
          </a:xfrm>
          <a:prstGeom prst="rect">
            <a:avLst/>
          </a:prstGeom>
          <a:noFill/>
          <a:ln>
            <a:noFill/>
          </a:ln>
        </p:spPr>
      </p:pic>
      <p:pic>
        <p:nvPicPr>
          <p:cNvPr id="177" name="Google Shape;177;p10" descr="C:\Users\parul\Desktop\Untitled-1.png"/>
          <p:cNvPicPr preferRelativeResize="0"/>
          <p:nvPr/>
        </p:nvPicPr>
        <p:blipFill rotWithShape="1">
          <a:blip r:embed="rId4">
            <a:alphaModFix/>
          </a:blip>
          <a:srcRect/>
          <a:stretch/>
        </p:blipFill>
        <p:spPr>
          <a:xfrm>
            <a:off x="1857375" y="3071813"/>
            <a:ext cx="5430838" cy="2803525"/>
          </a:xfrm>
          <a:prstGeom prst="rect">
            <a:avLst/>
          </a:prstGeom>
          <a:noFill/>
          <a:ln>
            <a:noFill/>
          </a:ln>
        </p:spPr>
      </p:pic>
      <p:sp>
        <p:nvSpPr>
          <p:cNvPr id="178" name="Google Shape;178;p10"/>
          <p:cNvSpPr txBox="1"/>
          <p:nvPr/>
        </p:nvSpPr>
        <p:spPr>
          <a:xfrm>
            <a:off x="190500" y="2286000"/>
            <a:ext cx="8629650" cy="2862282"/>
          </a:xfrm>
          <a:prstGeom prst="rect">
            <a:avLst/>
          </a:prstGeom>
          <a:noFill/>
          <a:ln>
            <a:noFill/>
          </a:ln>
        </p:spPr>
        <p:txBody>
          <a:bodyPr spcFirstLastPara="1" wrap="square" lIns="91425" tIns="45700" rIns="91425" bIns="45700" anchor="t" anchorCtr="0">
            <a:spAutoFit/>
          </a:bodyPr>
          <a:lstStyle/>
          <a:p>
            <a:pPr algn="l" fontAlgn="base">
              <a:buFont typeface="Arial" panose="020B0604020202020204" pitchFamily="34" charset="0"/>
              <a:buChar char="•"/>
            </a:pPr>
            <a:r>
              <a:rPr lang="en-US" sz="2000" b="1" i="0" dirty="0">
                <a:solidFill>
                  <a:srgbClr val="1C1D1E"/>
                </a:solidFill>
                <a:effectLst/>
                <a:highlight>
                  <a:srgbClr val="FFFFFF"/>
                </a:highlight>
                <a:latin typeface="Times New Roman" panose="02020603050405020304" pitchFamily="18" charset="0"/>
                <a:cs typeface="Times New Roman" panose="02020603050405020304" pitchFamily="18" charset="0"/>
              </a:rPr>
              <a:t>Dynamic Queries- </a:t>
            </a:r>
            <a:r>
              <a:rPr lang="en-US" sz="2000" b="0" i="0" dirty="0">
                <a:solidFill>
                  <a:srgbClr val="1C1D1E"/>
                </a:solidFill>
                <a:effectLst/>
                <a:highlight>
                  <a:srgbClr val="FFFFFF"/>
                </a:highlight>
                <a:latin typeface="Times New Roman" panose="02020603050405020304" pitchFamily="18" charset="0"/>
                <a:cs typeface="Times New Roman" panose="02020603050405020304" pitchFamily="18" charset="0"/>
              </a:rPr>
              <a:t>HCQL queries are good for executing dynamic queries, whereas HQL does not support dynamic queries.</a:t>
            </a:r>
          </a:p>
          <a:p>
            <a:pPr algn="l" fontAlgn="base">
              <a:buFont typeface="Arial" panose="020B0604020202020204" pitchFamily="34" charset="0"/>
              <a:buChar char="•"/>
            </a:pPr>
            <a:r>
              <a:rPr lang="en-US" sz="2000" b="1" i="0" dirty="0">
                <a:solidFill>
                  <a:srgbClr val="1C1D1E"/>
                </a:solidFill>
                <a:effectLst/>
                <a:highlight>
                  <a:srgbClr val="FFFFFF"/>
                </a:highlight>
                <a:latin typeface="Times New Roman" panose="02020603050405020304" pitchFamily="18" charset="0"/>
                <a:cs typeface="Times New Roman" panose="02020603050405020304" pitchFamily="18" charset="0"/>
              </a:rPr>
              <a:t>Pagination –</a:t>
            </a:r>
            <a:r>
              <a:rPr lang="en-US" sz="2000" b="0" i="0" dirty="0">
                <a:solidFill>
                  <a:srgbClr val="1C1D1E"/>
                </a:solidFill>
                <a:effectLst/>
                <a:highlight>
                  <a:srgbClr val="FFFFFF"/>
                </a:highlight>
                <a:latin typeface="Times New Roman" panose="02020603050405020304" pitchFamily="18" charset="0"/>
                <a:cs typeface="Times New Roman" panose="02020603050405020304" pitchFamily="18" charset="0"/>
              </a:rPr>
              <a:t> HCQL supports the concept of pagination. Pagination is a technique which divides result set in pages. </a:t>
            </a:r>
          </a:p>
          <a:p>
            <a:pPr algn="l" fontAlgn="base">
              <a:buFont typeface="Arial" panose="020B0604020202020204" pitchFamily="34" charset="0"/>
              <a:buChar char="•"/>
            </a:pPr>
            <a:r>
              <a:rPr lang="en-US" sz="2000" b="1" i="0" dirty="0">
                <a:solidFill>
                  <a:srgbClr val="1C1D1E"/>
                </a:solidFill>
                <a:effectLst/>
                <a:highlight>
                  <a:srgbClr val="FFFFFF"/>
                </a:highlight>
                <a:latin typeface="Times New Roman" panose="02020603050405020304" pitchFamily="18" charset="0"/>
                <a:cs typeface="Times New Roman" panose="02020603050405020304" pitchFamily="18" charset="0"/>
              </a:rPr>
              <a:t>Database Independent- </a:t>
            </a:r>
            <a:r>
              <a:rPr lang="en-US" sz="2000" b="0" i="0" dirty="0">
                <a:solidFill>
                  <a:srgbClr val="1C1D1E"/>
                </a:solidFill>
                <a:effectLst/>
                <a:highlight>
                  <a:srgbClr val="FFFFFF"/>
                </a:highlight>
                <a:latin typeface="Times New Roman" panose="02020603050405020304" pitchFamily="18" charset="0"/>
                <a:cs typeface="Times New Roman" panose="02020603050405020304" pitchFamily="18" charset="0"/>
              </a:rPr>
              <a:t>HCQL is also a database-independent query language. Queries written in HCQL can be run in any database.</a:t>
            </a:r>
          </a:p>
          <a:p>
            <a:pPr algn="l" fontAlgn="base">
              <a:buFont typeface="Arial" panose="020B0604020202020204" pitchFamily="34" charset="0"/>
              <a:buChar char="•"/>
            </a:pPr>
            <a:r>
              <a:rPr lang="en-US" sz="2000" b="1" i="0" dirty="0">
                <a:solidFill>
                  <a:srgbClr val="1C1D1E"/>
                </a:solidFill>
                <a:effectLst/>
                <a:highlight>
                  <a:srgbClr val="FFFFFF"/>
                </a:highlight>
                <a:latin typeface="Times New Roman" panose="02020603050405020304" pitchFamily="18" charset="0"/>
                <a:cs typeface="Times New Roman" panose="02020603050405020304" pitchFamily="18" charset="0"/>
              </a:rPr>
              <a:t>Projection Class – </a:t>
            </a:r>
            <a:r>
              <a:rPr lang="en-US" sz="2000" b="0" i="0" dirty="0">
                <a:solidFill>
                  <a:srgbClr val="1C1D1E"/>
                </a:solidFill>
                <a:effectLst/>
                <a:highlight>
                  <a:srgbClr val="FFFFFF"/>
                </a:highlight>
                <a:latin typeface="Times New Roman" panose="02020603050405020304" pitchFamily="18" charset="0"/>
                <a:cs typeface="Times New Roman" panose="02020603050405020304" pitchFamily="18" charset="0"/>
              </a:rPr>
              <a:t>The projection class is available in </a:t>
            </a:r>
            <a:r>
              <a:rPr lang="en-US" sz="2000" b="1" i="0" dirty="0" err="1">
                <a:solidFill>
                  <a:srgbClr val="1C1D1E"/>
                </a:solidFill>
                <a:effectLst/>
                <a:highlight>
                  <a:srgbClr val="FFFFFF"/>
                </a:highlight>
                <a:latin typeface="Times New Roman" panose="02020603050405020304" pitchFamily="18" charset="0"/>
                <a:cs typeface="Times New Roman" panose="02020603050405020304" pitchFamily="18" charset="0"/>
              </a:rPr>
              <a:t>org.hibernate.criterion.Projection</a:t>
            </a:r>
            <a:r>
              <a:rPr lang="en-US" sz="2000" b="0" i="0" dirty="0">
                <a:solidFill>
                  <a:srgbClr val="1C1D1E"/>
                </a:solidFill>
                <a:effectLst/>
                <a:highlight>
                  <a:srgbClr val="FFFFFF"/>
                </a:highlight>
                <a:latin typeface="Times New Roman" panose="02020603050405020304" pitchFamily="18" charset="0"/>
                <a:cs typeface="Times New Roman" panose="02020603050405020304" pitchFamily="18" charset="0"/>
              </a:rPr>
              <a:t> package which can be used to get minimum, maximum, sum, count, and average of the property values</a:t>
            </a:r>
          </a:p>
        </p:txBody>
      </p:sp>
      <p:sp>
        <p:nvSpPr>
          <p:cNvPr id="179" name="Google Shape;179;p10"/>
          <p:cNvSpPr/>
          <p:nvPr/>
        </p:nvSpPr>
        <p:spPr>
          <a:xfrm>
            <a:off x="0" y="1643063"/>
            <a:ext cx="9144000" cy="642937"/>
          </a:xfrm>
          <a:prstGeom prst="rect">
            <a:avLst/>
          </a:prstGeom>
          <a:solidFill>
            <a:srgbClr val="1F497D"/>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180" name="Google Shape;180;p10"/>
          <p:cNvSpPr/>
          <p:nvPr/>
        </p:nvSpPr>
        <p:spPr>
          <a:xfrm>
            <a:off x="190500" y="1687513"/>
            <a:ext cx="8763000" cy="55403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lt1"/>
              </a:buClr>
              <a:buSzPts val="3000"/>
              <a:buFont typeface="Arial"/>
              <a:buNone/>
            </a:pPr>
            <a:r>
              <a:rPr lang="en-IN" sz="3000" b="1" dirty="0">
                <a:solidFill>
                  <a:schemeClr val="lt1"/>
                </a:solidFill>
                <a:latin typeface="Calibri"/>
                <a:ea typeface="Calibri"/>
                <a:cs typeface="Calibri"/>
                <a:sym typeface="Calibri"/>
              </a:rPr>
              <a:t>Advantage of HCQL</a:t>
            </a:r>
            <a:endParaRPr dirty="0"/>
          </a:p>
        </p:txBody>
      </p:sp>
      <p:pic>
        <p:nvPicPr>
          <p:cNvPr id="2" name="Picture 12">
            <a:extLst>
              <a:ext uri="{FF2B5EF4-FFF2-40B4-BE49-F238E27FC236}">
                <a16:creationId xmlns:a16="http://schemas.microsoft.com/office/drawing/2014/main" id="{B42D5E84-3B31-A96E-066A-8BCF10D89371}"/>
              </a:ext>
            </a:extLst>
          </p:cNvPr>
          <p:cNvPicPr>
            <a:picLocks noChangeAspect="1" noChangeArrowheads="1"/>
          </p:cNvPicPr>
          <p:nvPr/>
        </p:nvPicPr>
        <p:blipFill>
          <a:blip r:embed="rId5"/>
          <a:srcRect/>
          <a:stretch>
            <a:fillRect/>
          </a:stretch>
        </p:blipFill>
        <p:spPr bwMode="auto">
          <a:xfrm>
            <a:off x="381000" y="0"/>
            <a:ext cx="1524000" cy="1395413"/>
          </a:xfrm>
          <a:prstGeom prst="rect">
            <a:avLst/>
          </a:prstGeom>
          <a:noFill/>
          <a:ln w="9525">
            <a:noFill/>
            <a:miter lim="800000"/>
            <a:headEnd/>
            <a:tailEnd/>
          </a:ln>
        </p:spPr>
      </p:pic>
    </p:spTree>
    <p:extLst>
      <p:ext uri="{BB962C8B-B14F-4D97-AF65-F5344CB8AC3E}">
        <p14:creationId xmlns:p14="http://schemas.microsoft.com/office/powerpoint/2010/main" val="65033803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pic>
        <p:nvPicPr>
          <p:cNvPr id="176" name="Google Shape;176;p10" descr="C:\Users\parul\Desktop\Digital Learning Content.png"/>
          <p:cNvPicPr preferRelativeResize="0"/>
          <p:nvPr/>
        </p:nvPicPr>
        <p:blipFill rotWithShape="1">
          <a:blip r:embed="rId3">
            <a:alphaModFix/>
          </a:blip>
          <a:srcRect/>
          <a:stretch/>
        </p:blipFill>
        <p:spPr>
          <a:xfrm>
            <a:off x="0" y="0"/>
            <a:ext cx="9144000" cy="6900863"/>
          </a:xfrm>
          <a:prstGeom prst="rect">
            <a:avLst/>
          </a:prstGeom>
          <a:noFill/>
          <a:ln>
            <a:noFill/>
          </a:ln>
        </p:spPr>
      </p:pic>
      <p:pic>
        <p:nvPicPr>
          <p:cNvPr id="177" name="Google Shape;177;p10" descr="C:\Users\parul\Desktop\Untitled-1.png"/>
          <p:cNvPicPr preferRelativeResize="0"/>
          <p:nvPr/>
        </p:nvPicPr>
        <p:blipFill rotWithShape="1">
          <a:blip r:embed="rId4">
            <a:alphaModFix/>
          </a:blip>
          <a:srcRect/>
          <a:stretch/>
        </p:blipFill>
        <p:spPr>
          <a:xfrm>
            <a:off x="1857375" y="3071813"/>
            <a:ext cx="5430838" cy="2803525"/>
          </a:xfrm>
          <a:prstGeom prst="rect">
            <a:avLst/>
          </a:prstGeom>
          <a:noFill/>
          <a:ln>
            <a:noFill/>
          </a:ln>
        </p:spPr>
      </p:pic>
      <p:sp>
        <p:nvSpPr>
          <p:cNvPr id="178" name="Google Shape;178;p10"/>
          <p:cNvSpPr txBox="1"/>
          <p:nvPr/>
        </p:nvSpPr>
        <p:spPr>
          <a:xfrm>
            <a:off x="190500" y="2286000"/>
            <a:ext cx="8629650" cy="1938952"/>
          </a:xfrm>
          <a:prstGeom prst="rect">
            <a:avLst/>
          </a:prstGeom>
          <a:noFill/>
          <a:ln>
            <a:noFill/>
          </a:ln>
        </p:spPr>
        <p:txBody>
          <a:bodyPr spcFirstLastPara="1" wrap="square" lIns="91425" tIns="45700" rIns="91425" bIns="45700" anchor="t" anchorCtr="0">
            <a:spAutoFit/>
          </a:bodyPr>
          <a:lstStyle/>
          <a:p>
            <a:pPr algn="l" fontAlgn="base"/>
            <a:r>
              <a:rPr lang="en-US" sz="2000" b="0" i="0" dirty="0">
                <a:solidFill>
                  <a:srgbClr val="1C1D1E"/>
                </a:solidFill>
                <a:effectLst/>
                <a:highlight>
                  <a:srgbClr val="FFFFFF"/>
                </a:highlight>
                <a:latin typeface="Times New Roman" panose="02020603050405020304" pitchFamily="18" charset="0"/>
                <a:cs typeface="Times New Roman" panose="02020603050405020304" pitchFamily="18" charset="0"/>
              </a:rPr>
              <a:t>The Criteria interface is part of</a:t>
            </a:r>
            <a:r>
              <a:rPr lang="en-US" sz="2000" b="1" i="0" dirty="0">
                <a:solidFill>
                  <a:srgbClr val="1C1D1E"/>
                </a:solidFill>
                <a:effectLst/>
                <a:highlight>
                  <a:srgbClr val="FFFFFF"/>
                </a:highlight>
                <a:latin typeface="Times New Roman" panose="02020603050405020304" pitchFamily="18" charset="0"/>
                <a:cs typeface="Times New Roman" panose="02020603050405020304" pitchFamily="18" charset="0"/>
              </a:rPr>
              <a:t> </a:t>
            </a:r>
            <a:r>
              <a:rPr lang="en-US" sz="2000" b="1" i="0" dirty="0" err="1">
                <a:solidFill>
                  <a:srgbClr val="1C1D1E"/>
                </a:solidFill>
                <a:effectLst/>
                <a:highlight>
                  <a:srgbClr val="FFFFFF"/>
                </a:highlight>
                <a:latin typeface="Times New Roman" panose="02020603050405020304" pitchFamily="18" charset="0"/>
                <a:cs typeface="Times New Roman" panose="02020603050405020304" pitchFamily="18" charset="0"/>
              </a:rPr>
              <a:t>org.hibernate</a:t>
            </a:r>
            <a:r>
              <a:rPr lang="en-US" sz="2000" b="0" i="0" dirty="0">
                <a:solidFill>
                  <a:srgbClr val="1C1D1E"/>
                </a:solidFill>
                <a:effectLst/>
                <a:highlight>
                  <a:srgbClr val="FFFFFF"/>
                </a:highlight>
                <a:latin typeface="Times New Roman" panose="02020603050405020304" pitchFamily="18" charset="0"/>
                <a:cs typeface="Times New Roman" panose="02020603050405020304" pitchFamily="18" charset="0"/>
              </a:rPr>
              <a:t> package. It is used to retrieve entities by creating criterion objects. Based on given conditions, it is used to search objects or data.</a:t>
            </a:r>
          </a:p>
          <a:p>
            <a:pPr algn="l" fontAlgn="base"/>
            <a:endParaRPr lang="en-US" sz="2000" b="0" i="0" dirty="0">
              <a:solidFill>
                <a:srgbClr val="1C1D1E"/>
              </a:solidFill>
              <a:effectLst/>
              <a:highlight>
                <a:srgbClr val="FFFFFF"/>
              </a:highlight>
              <a:latin typeface="Times New Roman" panose="02020603050405020304" pitchFamily="18" charset="0"/>
              <a:cs typeface="Times New Roman" panose="02020603050405020304" pitchFamily="18" charset="0"/>
            </a:endParaRPr>
          </a:p>
          <a:p>
            <a:pPr algn="l" fontAlgn="base"/>
            <a:r>
              <a:rPr lang="en-US" sz="2000" b="0" i="0" dirty="0">
                <a:solidFill>
                  <a:srgbClr val="1C1D1E"/>
                </a:solidFill>
                <a:effectLst/>
                <a:highlight>
                  <a:srgbClr val="FFFFFF"/>
                </a:highlight>
                <a:latin typeface="Times New Roman" panose="02020603050405020304" pitchFamily="18" charset="0"/>
                <a:cs typeface="Times New Roman" panose="02020603050405020304" pitchFamily="18" charset="0"/>
              </a:rPr>
              <a:t>There are many methods available in the Criteria interface to specify the criteria. Following are some methods of the Criteria interface:</a:t>
            </a:r>
          </a:p>
        </p:txBody>
      </p:sp>
      <p:sp>
        <p:nvSpPr>
          <p:cNvPr id="179" name="Google Shape;179;p10"/>
          <p:cNvSpPr/>
          <p:nvPr/>
        </p:nvSpPr>
        <p:spPr>
          <a:xfrm>
            <a:off x="0" y="1643063"/>
            <a:ext cx="9144000" cy="642937"/>
          </a:xfrm>
          <a:prstGeom prst="rect">
            <a:avLst/>
          </a:prstGeom>
          <a:solidFill>
            <a:srgbClr val="1F497D"/>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180" name="Google Shape;180;p10"/>
          <p:cNvSpPr/>
          <p:nvPr/>
        </p:nvSpPr>
        <p:spPr>
          <a:xfrm>
            <a:off x="190500" y="1687513"/>
            <a:ext cx="8763000" cy="55403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lt1"/>
              </a:buClr>
              <a:buSzPts val="3000"/>
              <a:buFont typeface="Arial"/>
              <a:buNone/>
            </a:pPr>
            <a:r>
              <a:rPr lang="en-IN" sz="3000" b="1" dirty="0">
                <a:solidFill>
                  <a:schemeClr val="lt1"/>
                </a:solidFill>
                <a:latin typeface="Calibri"/>
                <a:ea typeface="Calibri"/>
                <a:cs typeface="Calibri"/>
                <a:sym typeface="Calibri"/>
              </a:rPr>
              <a:t>Criteria Interface</a:t>
            </a:r>
            <a:endParaRPr dirty="0"/>
          </a:p>
        </p:txBody>
      </p:sp>
      <p:pic>
        <p:nvPicPr>
          <p:cNvPr id="2" name="Picture 12">
            <a:extLst>
              <a:ext uri="{FF2B5EF4-FFF2-40B4-BE49-F238E27FC236}">
                <a16:creationId xmlns:a16="http://schemas.microsoft.com/office/drawing/2014/main" id="{B42D5E84-3B31-A96E-066A-8BCF10D89371}"/>
              </a:ext>
            </a:extLst>
          </p:cNvPr>
          <p:cNvPicPr>
            <a:picLocks noChangeAspect="1" noChangeArrowheads="1"/>
          </p:cNvPicPr>
          <p:nvPr/>
        </p:nvPicPr>
        <p:blipFill>
          <a:blip r:embed="rId5"/>
          <a:srcRect/>
          <a:stretch>
            <a:fillRect/>
          </a:stretch>
        </p:blipFill>
        <p:spPr bwMode="auto">
          <a:xfrm>
            <a:off x="381000" y="0"/>
            <a:ext cx="1524000" cy="1395413"/>
          </a:xfrm>
          <a:prstGeom prst="rect">
            <a:avLst/>
          </a:prstGeom>
          <a:noFill/>
          <a:ln w="9525">
            <a:noFill/>
            <a:miter lim="800000"/>
            <a:headEnd/>
            <a:tailEnd/>
          </a:ln>
        </p:spPr>
      </p:pic>
    </p:spTree>
    <p:extLst>
      <p:ext uri="{BB962C8B-B14F-4D97-AF65-F5344CB8AC3E}">
        <p14:creationId xmlns:p14="http://schemas.microsoft.com/office/powerpoint/2010/main" val="179478027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pic>
        <p:nvPicPr>
          <p:cNvPr id="176" name="Google Shape;176;p10" descr="C:\Users\parul\Desktop\Digital Learning Content.png"/>
          <p:cNvPicPr preferRelativeResize="0"/>
          <p:nvPr/>
        </p:nvPicPr>
        <p:blipFill rotWithShape="1">
          <a:blip r:embed="rId3">
            <a:alphaModFix/>
          </a:blip>
          <a:srcRect/>
          <a:stretch/>
        </p:blipFill>
        <p:spPr>
          <a:xfrm>
            <a:off x="0" y="0"/>
            <a:ext cx="9144000" cy="6900863"/>
          </a:xfrm>
          <a:prstGeom prst="rect">
            <a:avLst/>
          </a:prstGeom>
          <a:noFill/>
          <a:ln>
            <a:noFill/>
          </a:ln>
        </p:spPr>
      </p:pic>
      <p:pic>
        <p:nvPicPr>
          <p:cNvPr id="177" name="Google Shape;177;p10" descr="C:\Users\parul\Desktop\Untitled-1.png"/>
          <p:cNvPicPr preferRelativeResize="0"/>
          <p:nvPr/>
        </p:nvPicPr>
        <p:blipFill rotWithShape="1">
          <a:blip r:embed="rId4">
            <a:alphaModFix/>
          </a:blip>
          <a:srcRect/>
          <a:stretch/>
        </p:blipFill>
        <p:spPr>
          <a:xfrm>
            <a:off x="1857375" y="3071813"/>
            <a:ext cx="5430838" cy="2803525"/>
          </a:xfrm>
          <a:prstGeom prst="rect">
            <a:avLst/>
          </a:prstGeom>
          <a:noFill/>
          <a:ln>
            <a:noFill/>
          </a:ln>
        </p:spPr>
      </p:pic>
      <p:sp>
        <p:nvSpPr>
          <p:cNvPr id="179" name="Google Shape;179;p10"/>
          <p:cNvSpPr/>
          <p:nvPr/>
        </p:nvSpPr>
        <p:spPr>
          <a:xfrm>
            <a:off x="0" y="1643063"/>
            <a:ext cx="9144000" cy="642937"/>
          </a:xfrm>
          <a:prstGeom prst="rect">
            <a:avLst/>
          </a:prstGeom>
          <a:solidFill>
            <a:srgbClr val="1F497D"/>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180" name="Google Shape;180;p10"/>
          <p:cNvSpPr/>
          <p:nvPr/>
        </p:nvSpPr>
        <p:spPr>
          <a:xfrm>
            <a:off x="190500" y="1687513"/>
            <a:ext cx="8763000" cy="55403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lt1"/>
              </a:buClr>
              <a:buSzPts val="3000"/>
              <a:buFont typeface="Arial"/>
              <a:buNone/>
            </a:pPr>
            <a:r>
              <a:rPr lang="en-IN" sz="3000" b="1" dirty="0">
                <a:solidFill>
                  <a:schemeClr val="lt1"/>
                </a:solidFill>
                <a:latin typeface="Calibri"/>
                <a:ea typeface="Calibri"/>
                <a:cs typeface="Calibri"/>
                <a:sym typeface="Calibri"/>
              </a:rPr>
              <a:t>Criteria Interface</a:t>
            </a:r>
            <a:endParaRPr dirty="0"/>
          </a:p>
        </p:txBody>
      </p:sp>
      <p:pic>
        <p:nvPicPr>
          <p:cNvPr id="2" name="Picture 12">
            <a:extLst>
              <a:ext uri="{FF2B5EF4-FFF2-40B4-BE49-F238E27FC236}">
                <a16:creationId xmlns:a16="http://schemas.microsoft.com/office/drawing/2014/main" id="{B42D5E84-3B31-A96E-066A-8BCF10D89371}"/>
              </a:ext>
            </a:extLst>
          </p:cNvPr>
          <p:cNvPicPr>
            <a:picLocks noChangeAspect="1" noChangeArrowheads="1"/>
          </p:cNvPicPr>
          <p:nvPr/>
        </p:nvPicPr>
        <p:blipFill>
          <a:blip r:embed="rId5"/>
          <a:srcRect/>
          <a:stretch>
            <a:fillRect/>
          </a:stretch>
        </p:blipFill>
        <p:spPr bwMode="auto">
          <a:xfrm>
            <a:off x="381000" y="0"/>
            <a:ext cx="1524000" cy="1395413"/>
          </a:xfrm>
          <a:prstGeom prst="rect">
            <a:avLst/>
          </a:prstGeom>
          <a:noFill/>
          <a:ln w="9525">
            <a:noFill/>
            <a:miter lim="800000"/>
            <a:headEnd/>
            <a:tailEnd/>
          </a:ln>
        </p:spPr>
      </p:pic>
      <p:graphicFrame>
        <p:nvGraphicFramePr>
          <p:cNvPr id="4" name="Table 3">
            <a:extLst>
              <a:ext uri="{FF2B5EF4-FFF2-40B4-BE49-F238E27FC236}">
                <a16:creationId xmlns:a16="http://schemas.microsoft.com/office/drawing/2014/main" id="{A719393E-A2CA-0118-E634-92C2B61F0F42}"/>
              </a:ext>
            </a:extLst>
          </p:cNvPr>
          <p:cNvGraphicFramePr>
            <a:graphicFrameLocks noGrp="1"/>
          </p:cNvGraphicFramePr>
          <p:nvPr>
            <p:extLst>
              <p:ext uri="{D42A27DB-BD31-4B8C-83A1-F6EECF244321}">
                <p14:modId xmlns:p14="http://schemas.microsoft.com/office/powerpoint/2010/main" val="1001534375"/>
              </p:ext>
            </p:extLst>
          </p:nvPr>
        </p:nvGraphicFramePr>
        <p:xfrm>
          <a:off x="457200" y="2323941"/>
          <a:ext cx="8229600" cy="4572000"/>
        </p:xfrm>
        <a:graphic>
          <a:graphicData uri="http://schemas.openxmlformats.org/drawingml/2006/table">
            <a:tbl>
              <a:tblPr/>
              <a:tblGrid>
                <a:gridCol w="4114800">
                  <a:extLst>
                    <a:ext uri="{9D8B030D-6E8A-4147-A177-3AD203B41FA5}">
                      <a16:colId xmlns:a16="http://schemas.microsoft.com/office/drawing/2014/main" val="1100293088"/>
                    </a:ext>
                  </a:extLst>
                </a:gridCol>
                <a:gridCol w="4114800">
                  <a:extLst>
                    <a:ext uri="{9D8B030D-6E8A-4147-A177-3AD203B41FA5}">
                      <a16:colId xmlns:a16="http://schemas.microsoft.com/office/drawing/2014/main" val="1147197374"/>
                    </a:ext>
                  </a:extLst>
                </a:gridCol>
              </a:tblGrid>
              <a:tr h="332680">
                <a:tc>
                  <a:txBody>
                    <a:bodyPr/>
                    <a:lstStyle/>
                    <a:p>
                      <a:pPr algn="l" fontAlgn="base" latinLnBrk="0"/>
                      <a:r>
                        <a:rPr lang="en-IN" sz="1800" b="1">
                          <a:effectLst/>
                          <a:latin typeface="Roboto-Bold"/>
                        </a:rPr>
                        <a:t>Method</a:t>
                      </a:r>
                      <a:endParaRPr lang="en-IN" sz="1800">
                        <a:effectLst/>
                      </a:endParaRPr>
                    </a:p>
                  </a:txBody>
                  <a:tcPr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solidFill>
                      <a:srgbClr val="FFFFFF"/>
                    </a:solidFill>
                  </a:tcPr>
                </a:tc>
                <a:tc>
                  <a:txBody>
                    <a:bodyPr/>
                    <a:lstStyle/>
                    <a:p>
                      <a:pPr algn="l" fontAlgn="base" latinLnBrk="0"/>
                      <a:r>
                        <a:rPr lang="en-IN" sz="1800" b="1">
                          <a:effectLst/>
                          <a:latin typeface="Roboto-Bold"/>
                        </a:rPr>
                        <a:t>Description</a:t>
                      </a:r>
                      <a:endParaRPr lang="en-IN" sz="1800">
                        <a:effectLst/>
                      </a:endParaRPr>
                    </a:p>
                  </a:txBody>
                  <a:tcPr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solidFill>
                      <a:srgbClr val="FFFFFF"/>
                    </a:solidFill>
                  </a:tcPr>
                </a:tc>
                <a:extLst>
                  <a:ext uri="{0D108BD9-81ED-4DB2-BD59-A6C34878D82A}">
                    <a16:rowId xmlns:a16="http://schemas.microsoft.com/office/drawing/2014/main" val="612383364"/>
                  </a:ext>
                </a:extLst>
              </a:tr>
              <a:tr h="582190">
                <a:tc>
                  <a:txBody>
                    <a:bodyPr/>
                    <a:lstStyle/>
                    <a:p>
                      <a:pPr algn="l" fontAlgn="base" latinLnBrk="0"/>
                      <a:r>
                        <a:rPr lang="it-IT" sz="1800" b="1" dirty="0">
                          <a:effectLst/>
                          <a:latin typeface="Roboto-Bold"/>
                        </a:rPr>
                        <a:t>public Criteria add(Criteria c)</a:t>
                      </a:r>
                      <a:endParaRPr lang="it-IT" sz="1800" dirty="0">
                        <a:effectLst/>
                      </a:endParaRPr>
                    </a:p>
                  </a:txBody>
                  <a:tcPr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solidFill>
                      <a:srgbClr val="FFFFFF"/>
                    </a:solidFill>
                  </a:tcPr>
                </a:tc>
                <a:tc>
                  <a:txBody>
                    <a:bodyPr/>
                    <a:lstStyle/>
                    <a:p>
                      <a:pPr algn="l" fontAlgn="base" latinLnBrk="0"/>
                      <a:r>
                        <a:rPr lang="en-US" sz="1800">
                          <a:effectLst/>
                        </a:rPr>
                        <a:t>It is used to add restrictions on the result.</a:t>
                      </a:r>
                    </a:p>
                  </a:txBody>
                  <a:tcPr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solidFill>
                      <a:srgbClr val="FFFFFF"/>
                    </a:solidFill>
                  </a:tcPr>
                </a:tc>
                <a:extLst>
                  <a:ext uri="{0D108BD9-81ED-4DB2-BD59-A6C34878D82A}">
                    <a16:rowId xmlns:a16="http://schemas.microsoft.com/office/drawing/2014/main" val="2114799988"/>
                  </a:ext>
                </a:extLst>
              </a:tr>
              <a:tr h="582190">
                <a:tc>
                  <a:txBody>
                    <a:bodyPr/>
                    <a:lstStyle/>
                    <a:p>
                      <a:pPr algn="l" fontAlgn="base" latinLnBrk="0"/>
                      <a:r>
                        <a:rPr lang="en-IN" sz="1800" b="1" dirty="0">
                          <a:effectLst/>
                          <a:latin typeface="Roboto-Bold"/>
                        </a:rPr>
                        <a:t>public Criteria </a:t>
                      </a:r>
                      <a:r>
                        <a:rPr lang="en-IN" sz="1800" b="1" dirty="0" err="1">
                          <a:effectLst/>
                          <a:latin typeface="Roboto-Bold"/>
                        </a:rPr>
                        <a:t>addOrder</a:t>
                      </a:r>
                      <a:r>
                        <a:rPr lang="en-IN" sz="1800" b="1" dirty="0">
                          <a:effectLst/>
                          <a:latin typeface="Roboto-Bold"/>
                        </a:rPr>
                        <a:t>(Order o)</a:t>
                      </a:r>
                      <a:endParaRPr lang="en-IN" sz="1800" dirty="0">
                        <a:effectLst/>
                      </a:endParaRPr>
                    </a:p>
                  </a:txBody>
                  <a:tcPr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solidFill>
                      <a:srgbClr val="FFFFFF"/>
                    </a:solidFill>
                  </a:tcPr>
                </a:tc>
                <a:tc>
                  <a:txBody>
                    <a:bodyPr/>
                    <a:lstStyle/>
                    <a:p>
                      <a:pPr algn="l" fontAlgn="base" latinLnBrk="0"/>
                      <a:r>
                        <a:rPr lang="en-US" sz="1800">
                          <a:effectLst/>
                        </a:rPr>
                        <a:t>It is used to define the order of the result. Ascending or descending.</a:t>
                      </a:r>
                    </a:p>
                  </a:txBody>
                  <a:tcPr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solidFill>
                      <a:srgbClr val="FFFFFF"/>
                    </a:solidFill>
                  </a:tcPr>
                </a:tc>
                <a:extLst>
                  <a:ext uri="{0D108BD9-81ED-4DB2-BD59-A6C34878D82A}">
                    <a16:rowId xmlns:a16="http://schemas.microsoft.com/office/drawing/2014/main" val="733785203"/>
                  </a:ext>
                </a:extLst>
              </a:tr>
              <a:tr h="582190">
                <a:tc>
                  <a:txBody>
                    <a:bodyPr/>
                    <a:lstStyle/>
                    <a:p>
                      <a:pPr algn="l" fontAlgn="base" latinLnBrk="0"/>
                      <a:r>
                        <a:rPr lang="en-US" sz="1800" b="1">
                          <a:effectLst/>
                          <a:latin typeface="Roboto-Bold"/>
                        </a:rPr>
                        <a:t>public Criteria setFirstResult(int firstResult)</a:t>
                      </a:r>
                      <a:endParaRPr lang="en-US" sz="1800">
                        <a:effectLst/>
                      </a:endParaRPr>
                    </a:p>
                  </a:txBody>
                  <a:tcPr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solidFill>
                      <a:srgbClr val="FFFFFF"/>
                    </a:solidFill>
                  </a:tcPr>
                </a:tc>
                <a:tc>
                  <a:txBody>
                    <a:bodyPr/>
                    <a:lstStyle/>
                    <a:p>
                      <a:pPr algn="l" fontAlgn="base" latinLnBrk="0"/>
                      <a:r>
                        <a:rPr lang="en-US" sz="1800">
                          <a:effectLst/>
                        </a:rPr>
                        <a:t>It is used to set the first record in the result</a:t>
                      </a:r>
                    </a:p>
                  </a:txBody>
                  <a:tcPr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solidFill>
                      <a:srgbClr val="FFFFFF"/>
                    </a:solidFill>
                  </a:tcPr>
                </a:tc>
                <a:extLst>
                  <a:ext uri="{0D108BD9-81ED-4DB2-BD59-A6C34878D82A}">
                    <a16:rowId xmlns:a16="http://schemas.microsoft.com/office/drawing/2014/main" val="3081978367"/>
                  </a:ext>
                </a:extLst>
              </a:tr>
              <a:tr h="582190">
                <a:tc>
                  <a:txBody>
                    <a:bodyPr/>
                    <a:lstStyle/>
                    <a:p>
                      <a:pPr algn="l" fontAlgn="base" latinLnBrk="0"/>
                      <a:r>
                        <a:rPr lang="en-US" sz="1800" b="1">
                          <a:effectLst/>
                          <a:latin typeface="Roboto-Bold"/>
                        </a:rPr>
                        <a:t>public Criteria setMaxResult(int totalResult)</a:t>
                      </a:r>
                      <a:endParaRPr lang="en-US" sz="1800">
                        <a:effectLst/>
                      </a:endParaRPr>
                    </a:p>
                  </a:txBody>
                  <a:tcPr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solidFill>
                      <a:srgbClr val="FFFFFF"/>
                    </a:solidFill>
                  </a:tcPr>
                </a:tc>
                <a:tc>
                  <a:txBody>
                    <a:bodyPr/>
                    <a:lstStyle/>
                    <a:p>
                      <a:pPr algn="l" fontAlgn="base" latinLnBrk="0"/>
                      <a:r>
                        <a:rPr lang="en-US" sz="1800">
                          <a:effectLst/>
                        </a:rPr>
                        <a:t>It is used to restrict maximum number of records</a:t>
                      </a:r>
                    </a:p>
                  </a:txBody>
                  <a:tcPr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solidFill>
                      <a:srgbClr val="FFFFFF"/>
                    </a:solidFill>
                  </a:tcPr>
                </a:tc>
                <a:extLst>
                  <a:ext uri="{0D108BD9-81ED-4DB2-BD59-A6C34878D82A}">
                    <a16:rowId xmlns:a16="http://schemas.microsoft.com/office/drawing/2014/main" val="735557711"/>
                  </a:ext>
                </a:extLst>
              </a:tr>
              <a:tr h="332680">
                <a:tc>
                  <a:txBody>
                    <a:bodyPr/>
                    <a:lstStyle/>
                    <a:p>
                      <a:pPr algn="l" fontAlgn="base" latinLnBrk="0"/>
                      <a:r>
                        <a:rPr lang="en-IN" sz="1800" b="1">
                          <a:effectLst/>
                          <a:latin typeface="Roboto-Bold"/>
                        </a:rPr>
                        <a:t>public List list()</a:t>
                      </a:r>
                      <a:endParaRPr lang="en-IN" sz="1800">
                        <a:effectLst/>
                      </a:endParaRPr>
                    </a:p>
                  </a:txBody>
                  <a:tcPr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solidFill>
                      <a:srgbClr val="FFFFFF"/>
                    </a:solidFill>
                  </a:tcPr>
                </a:tc>
                <a:tc>
                  <a:txBody>
                    <a:bodyPr/>
                    <a:lstStyle/>
                    <a:p>
                      <a:pPr algn="l" fontAlgn="base" latinLnBrk="0"/>
                      <a:r>
                        <a:rPr lang="en-US" sz="1800">
                          <a:effectLst/>
                        </a:rPr>
                        <a:t>Returns the list of fetched records</a:t>
                      </a:r>
                    </a:p>
                  </a:txBody>
                  <a:tcPr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solidFill>
                      <a:srgbClr val="FFFFFF"/>
                    </a:solidFill>
                  </a:tcPr>
                </a:tc>
                <a:extLst>
                  <a:ext uri="{0D108BD9-81ED-4DB2-BD59-A6C34878D82A}">
                    <a16:rowId xmlns:a16="http://schemas.microsoft.com/office/drawing/2014/main" val="1647158258"/>
                  </a:ext>
                </a:extLst>
              </a:tr>
              <a:tr h="582190">
                <a:tc>
                  <a:txBody>
                    <a:bodyPr/>
                    <a:lstStyle/>
                    <a:p>
                      <a:pPr algn="l" fontAlgn="base" latinLnBrk="0"/>
                      <a:r>
                        <a:rPr lang="en-IN" sz="1800" b="1">
                          <a:effectLst/>
                          <a:latin typeface="Roboto-Bold"/>
                        </a:rPr>
                        <a:t>public Criteria setProjection(Projection projection)</a:t>
                      </a:r>
                      <a:endParaRPr lang="en-IN" sz="1800">
                        <a:effectLst/>
                      </a:endParaRPr>
                    </a:p>
                  </a:txBody>
                  <a:tcPr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solidFill>
                      <a:srgbClr val="FFFFFF"/>
                    </a:solidFill>
                  </a:tcPr>
                </a:tc>
                <a:tc>
                  <a:txBody>
                    <a:bodyPr/>
                    <a:lstStyle/>
                    <a:p>
                      <a:pPr algn="l" fontAlgn="base" latinLnBrk="0"/>
                      <a:r>
                        <a:rPr lang="en-US" sz="1800">
                          <a:effectLst/>
                        </a:rPr>
                        <a:t>Applies projection on the retrieved objects</a:t>
                      </a:r>
                    </a:p>
                  </a:txBody>
                  <a:tcPr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solidFill>
                      <a:srgbClr val="FFFFFF"/>
                    </a:solidFill>
                  </a:tcPr>
                </a:tc>
                <a:extLst>
                  <a:ext uri="{0D108BD9-81ED-4DB2-BD59-A6C34878D82A}">
                    <a16:rowId xmlns:a16="http://schemas.microsoft.com/office/drawing/2014/main" val="4268201151"/>
                  </a:ext>
                </a:extLst>
              </a:tr>
              <a:tr h="582190">
                <a:tc>
                  <a:txBody>
                    <a:bodyPr/>
                    <a:lstStyle/>
                    <a:p>
                      <a:pPr algn="l" fontAlgn="base" latinLnBrk="0"/>
                      <a:r>
                        <a:rPr lang="en-US" sz="1800" b="1">
                          <a:effectLst/>
                          <a:latin typeface="Roboto-Bold"/>
                        </a:rPr>
                        <a:t>public Criteria createAlias(String associationPath, String alias)</a:t>
                      </a:r>
                      <a:endParaRPr lang="en-US" sz="1800">
                        <a:effectLst/>
                      </a:endParaRPr>
                    </a:p>
                  </a:txBody>
                  <a:tcPr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solidFill>
                      <a:srgbClr val="FFFFFF"/>
                    </a:solidFill>
                  </a:tcPr>
                </a:tc>
                <a:tc>
                  <a:txBody>
                    <a:bodyPr/>
                    <a:lstStyle/>
                    <a:p>
                      <a:pPr algn="l" fontAlgn="base" latinLnBrk="0"/>
                      <a:r>
                        <a:rPr lang="en-US" sz="1800" dirty="0">
                          <a:effectLst/>
                        </a:rPr>
                        <a:t>Used to create alias on joined association</a:t>
                      </a:r>
                    </a:p>
                  </a:txBody>
                  <a:tcPr anchor="ctr">
                    <a:lnL w="7620" cap="flat" cmpd="sng" algn="ctr">
                      <a:solidFill>
                        <a:schemeClr val="bg1"/>
                      </a:solidFill>
                      <a:prstDash val="solid"/>
                      <a:round/>
                      <a:headEnd type="none" w="med" len="med"/>
                      <a:tailEnd type="none" w="med" len="med"/>
                    </a:lnL>
                    <a:lnR w="7620" cap="flat" cmpd="sng" algn="ctr">
                      <a:solidFill>
                        <a:schemeClr val="bg1"/>
                      </a:solidFill>
                      <a:prstDash val="solid"/>
                      <a:round/>
                      <a:headEnd type="none" w="med" len="med"/>
                      <a:tailEnd type="none" w="med" len="med"/>
                    </a:lnR>
                    <a:lnT w="7620" cap="flat" cmpd="sng" algn="ctr">
                      <a:solidFill>
                        <a:schemeClr val="bg1"/>
                      </a:solidFill>
                      <a:prstDash val="solid"/>
                      <a:round/>
                      <a:headEnd type="none" w="med" len="med"/>
                      <a:tailEnd type="none" w="med" len="med"/>
                    </a:lnT>
                    <a:lnB w="7620" cap="flat" cmpd="sng" algn="ctr">
                      <a:solidFill>
                        <a:schemeClr val="bg1"/>
                      </a:solidFill>
                      <a:prstDash val="solid"/>
                      <a:round/>
                      <a:headEnd type="none" w="med" len="med"/>
                      <a:tailEnd type="none" w="med" len="med"/>
                    </a:lnB>
                    <a:solidFill>
                      <a:srgbClr val="FFFFFF"/>
                    </a:solidFill>
                  </a:tcPr>
                </a:tc>
                <a:extLst>
                  <a:ext uri="{0D108BD9-81ED-4DB2-BD59-A6C34878D82A}">
                    <a16:rowId xmlns:a16="http://schemas.microsoft.com/office/drawing/2014/main" val="829178456"/>
                  </a:ext>
                </a:extLst>
              </a:tr>
            </a:tbl>
          </a:graphicData>
        </a:graphic>
      </p:graphicFrame>
    </p:spTree>
    <p:extLst>
      <p:ext uri="{BB962C8B-B14F-4D97-AF65-F5344CB8AC3E}">
        <p14:creationId xmlns:p14="http://schemas.microsoft.com/office/powerpoint/2010/main" val="319282220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pic>
        <p:nvPicPr>
          <p:cNvPr id="176" name="Google Shape;176;p10" descr="C:\Users\parul\Desktop\Digital Learning Content.png"/>
          <p:cNvPicPr preferRelativeResize="0"/>
          <p:nvPr/>
        </p:nvPicPr>
        <p:blipFill rotWithShape="1">
          <a:blip r:embed="rId3">
            <a:alphaModFix/>
          </a:blip>
          <a:srcRect/>
          <a:stretch/>
        </p:blipFill>
        <p:spPr>
          <a:xfrm>
            <a:off x="0" y="0"/>
            <a:ext cx="9144000" cy="6900863"/>
          </a:xfrm>
          <a:prstGeom prst="rect">
            <a:avLst/>
          </a:prstGeom>
          <a:noFill/>
          <a:ln>
            <a:noFill/>
          </a:ln>
        </p:spPr>
      </p:pic>
      <p:pic>
        <p:nvPicPr>
          <p:cNvPr id="177" name="Google Shape;177;p10" descr="C:\Users\parul\Desktop\Untitled-1.png"/>
          <p:cNvPicPr preferRelativeResize="0"/>
          <p:nvPr/>
        </p:nvPicPr>
        <p:blipFill rotWithShape="1">
          <a:blip r:embed="rId4">
            <a:alphaModFix/>
          </a:blip>
          <a:srcRect/>
          <a:stretch/>
        </p:blipFill>
        <p:spPr>
          <a:xfrm>
            <a:off x="1857375" y="3071813"/>
            <a:ext cx="5430838" cy="2803525"/>
          </a:xfrm>
          <a:prstGeom prst="rect">
            <a:avLst/>
          </a:prstGeom>
          <a:noFill/>
          <a:ln>
            <a:noFill/>
          </a:ln>
        </p:spPr>
      </p:pic>
      <p:sp>
        <p:nvSpPr>
          <p:cNvPr id="178" name="Google Shape;178;p10"/>
          <p:cNvSpPr txBox="1"/>
          <p:nvPr/>
        </p:nvSpPr>
        <p:spPr>
          <a:xfrm>
            <a:off x="190500" y="2286000"/>
            <a:ext cx="8629650" cy="4708941"/>
          </a:xfrm>
          <a:prstGeom prst="rect">
            <a:avLst/>
          </a:prstGeom>
          <a:noFill/>
          <a:ln>
            <a:noFill/>
          </a:ln>
        </p:spPr>
        <p:txBody>
          <a:bodyPr spcFirstLastPara="1" wrap="square" lIns="91425" tIns="45700" rIns="91425" bIns="45700" anchor="t" anchorCtr="0">
            <a:spAutoFit/>
          </a:bodyPr>
          <a:lstStyle/>
          <a:p>
            <a:pPr algn="l" fontAlgn="base"/>
            <a:r>
              <a:rPr lang="en-US" sz="2000" b="0" i="0" dirty="0">
                <a:solidFill>
                  <a:srgbClr val="1C1D1E"/>
                </a:solidFill>
                <a:effectLst/>
                <a:highlight>
                  <a:srgbClr val="FFFFFF"/>
                </a:highlight>
                <a:latin typeface="Times New Roman" panose="02020603050405020304" pitchFamily="18" charset="0"/>
                <a:cs typeface="Times New Roman" panose="02020603050405020304" pitchFamily="18" charset="0"/>
              </a:rPr>
              <a:t>To sort the records of the query, we use Order class. Using this class, we can sort the records in ascending or descending order.</a:t>
            </a:r>
          </a:p>
          <a:p>
            <a:pPr algn="l" fontAlgn="base"/>
            <a:r>
              <a:rPr lang="en-US" sz="2000" b="0" i="0" dirty="0">
                <a:solidFill>
                  <a:srgbClr val="1C1D1E"/>
                </a:solidFill>
                <a:effectLst/>
                <a:highlight>
                  <a:srgbClr val="FFFFFF"/>
                </a:highlight>
                <a:latin typeface="Times New Roman" panose="02020603050405020304" pitchFamily="18" charset="0"/>
                <a:cs typeface="Times New Roman" panose="02020603050405020304" pitchFamily="18" charset="0"/>
              </a:rPr>
              <a:t>Following are the methods of Order class:</a:t>
            </a:r>
          </a:p>
          <a:p>
            <a:pPr algn="l" fontAlgn="base">
              <a:buFont typeface="Arial" panose="020B0604020202020204" pitchFamily="34" charset="0"/>
              <a:buChar char="•"/>
            </a:pPr>
            <a:r>
              <a:rPr lang="en-US" sz="2000" b="1" i="0" dirty="0">
                <a:solidFill>
                  <a:srgbClr val="1C1D1E"/>
                </a:solidFill>
                <a:effectLst/>
                <a:highlight>
                  <a:srgbClr val="FFFFFF"/>
                </a:highlight>
                <a:latin typeface="Times New Roman" panose="02020603050405020304" pitchFamily="18" charset="0"/>
                <a:cs typeface="Times New Roman" panose="02020603050405020304" pitchFamily="18" charset="0"/>
              </a:rPr>
              <a:t>public static Order </a:t>
            </a:r>
            <a:r>
              <a:rPr lang="en-US" sz="2000" b="1" i="0" dirty="0" err="1">
                <a:solidFill>
                  <a:srgbClr val="1C1D1E"/>
                </a:solidFill>
                <a:effectLst/>
                <a:highlight>
                  <a:srgbClr val="FFFFFF"/>
                </a:highlight>
                <a:latin typeface="Times New Roman" panose="02020603050405020304" pitchFamily="18" charset="0"/>
                <a:cs typeface="Times New Roman" panose="02020603050405020304" pitchFamily="18" charset="0"/>
              </a:rPr>
              <a:t>asc</a:t>
            </a:r>
            <a:r>
              <a:rPr lang="en-US" sz="2000" b="1" i="0" dirty="0">
                <a:solidFill>
                  <a:srgbClr val="1C1D1E"/>
                </a:solidFill>
                <a:effectLst/>
                <a:highlight>
                  <a:srgbClr val="FFFFFF"/>
                </a:highlight>
                <a:latin typeface="Times New Roman" panose="02020603050405020304" pitchFamily="18" charset="0"/>
                <a:cs typeface="Times New Roman" panose="02020603050405020304" pitchFamily="18" charset="0"/>
              </a:rPr>
              <a:t>(String </a:t>
            </a:r>
            <a:r>
              <a:rPr lang="en-US" sz="2000" b="1" i="0" dirty="0" err="1">
                <a:solidFill>
                  <a:srgbClr val="1C1D1E"/>
                </a:solidFill>
                <a:effectLst/>
                <a:highlight>
                  <a:srgbClr val="FFFFFF"/>
                </a:highlight>
                <a:latin typeface="Times New Roman" panose="02020603050405020304" pitchFamily="18" charset="0"/>
                <a:cs typeface="Times New Roman" panose="02020603050405020304" pitchFamily="18" charset="0"/>
              </a:rPr>
              <a:t>propertyName</a:t>
            </a:r>
            <a:r>
              <a:rPr lang="en-US" sz="2000" b="1" i="0" dirty="0">
                <a:solidFill>
                  <a:srgbClr val="1C1D1E"/>
                </a:solidFill>
                <a:effectLst/>
                <a:highlight>
                  <a:srgbClr val="FFFFFF"/>
                </a:highlight>
                <a:latin typeface="Times New Roman" panose="02020603050405020304" pitchFamily="18" charset="0"/>
                <a:cs typeface="Times New Roman" panose="02020603050405020304" pitchFamily="18" charset="0"/>
              </a:rPr>
              <a:t>)</a:t>
            </a:r>
          </a:p>
          <a:p>
            <a:pPr algn="l" fontAlgn="base">
              <a:buFont typeface="Arial" panose="020B0604020202020204" pitchFamily="34" charset="0"/>
              <a:buChar char="•"/>
            </a:pPr>
            <a:endParaRPr lang="en-US" sz="2000" b="0" i="0" dirty="0">
              <a:solidFill>
                <a:srgbClr val="1C1D1E"/>
              </a:solidFill>
              <a:effectLst/>
              <a:highlight>
                <a:srgbClr val="FFFFFF"/>
              </a:highlight>
              <a:latin typeface="Times New Roman" panose="02020603050405020304" pitchFamily="18" charset="0"/>
              <a:cs typeface="Times New Roman" panose="02020603050405020304" pitchFamily="18" charset="0"/>
            </a:endParaRPr>
          </a:p>
          <a:p>
            <a:pPr algn="l" fontAlgn="base"/>
            <a:r>
              <a:rPr lang="en-IN" sz="2000" b="1" i="0" dirty="0">
                <a:solidFill>
                  <a:srgbClr val="1C1D1E"/>
                </a:solidFill>
                <a:effectLst/>
                <a:highlight>
                  <a:srgbClr val="FFFFFF"/>
                </a:highlight>
                <a:latin typeface="Times New Roman" panose="02020603050405020304" pitchFamily="18" charset="0"/>
                <a:cs typeface="Times New Roman" panose="02020603050405020304" pitchFamily="18" charset="0"/>
              </a:rPr>
              <a:t>Example of </a:t>
            </a:r>
            <a:r>
              <a:rPr lang="en-IN" sz="2000" b="1" i="0" dirty="0" err="1">
                <a:solidFill>
                  <a:srgbClr val="1C1D1E"/>
                </a:solidFill>
                <a:effectLst/>
                <a:highlight>
                  <a:srgbClr val="FFFFFF"/>
                </a:highlight>
                <a:latin typeface="Times New Roman" panose="02020603050405020304" pitchFamily="18" charset="0"/>
                <a:cs typeface="Times New Roman" panose="02020603050405020304" pitchFamily="18" charset="0"/>
              </a:rPr>
              <a:t>Order.asc</a:t>
            </a:r>
            <a:endParaRPr lang="en-IN" sz="2000" b="1" i="0" dirty="0">
              <a:solidFill>
                <a:srgbClr val="1C1D1E"/>
              </a:solidFill>
              <a:effectLst/>
              <a:highlight>
                <a:srgbClr val="FFFFFF"/>
              </a:highlight>
              <a:latin typeface="Times New Roman" panose="02020603050405020304" pitchFamily="18" charset="0"/>
              <a:cs typeface="Times New Roman" panose="02020603050405020304" pitchFamily="18" charset="0"/>
            </a:endParaRPr>
          </a:p>
          <a:p>
            <a:pPr algn="l" fontAlgn="base"/>
            <a:r>
              <a:rPr lang="en-US" sz="2000" dirty="0" err="1">
                <a:solidFill>
                  <a:srgbClr val="1C1D1E"/>
                </a:solidFill>
                <a:highlight>
                  <a:srgbClr val="FFFFFF"/>
                </a:highlight>
                <a:latin typeface="Times New Roman" panose="02020603050405020304" pitchFamily="18" charset="0"/>
                <a:cs typeface="Times New Roman" panose="02020603050405020304" pitchFamily="18" charset="0"/>
              </a:rPr>
              <a:t>Crietria</a:t>
            </a:r>
            <a:r>
              <a:rPr lang="en-US" sz="2000" dirty="0">
                <a:solidFill>
                  <a:srgbClr val="1C1D1E"/>
                </a:solidFill>
                <a:highlight>
                  <a:srgbClr val="FFFFFF"/>
                </a:highlight>
                <a:latin typeface="Times New Roman" panose="02020603050405020304" pitchFamily="18" charset="0"/>
                <a:cs typeface="Times New Roman" panose="02020603050405020304" pitchFamily="18" charset="0"/>
              </a:rPr>
              <a:t> criteria = </a:t>
            </a:r>
            <a:r>
              <a:rPr lang="en-US" sz="2000" dirty="0" err="1">
                <a:solidFill>
                  <a:srgbClr val="1C1D1E"/>
                </a:solidFill>
                <a:highlight>
                  <a:srgbClr val="FFFFFF"/>
                </a:highlight>
                <a:latin typeface="Times New Roman" panose="02020603050405020304" pitchFamily="18" charset="0"/>
                <a:cs typeface="Times New Roman" panose="02020603050405020304" pitchFamily="18" charset="0"/>
              </a:rPr>
              <a:t>session.createCriteria</a:t>
            </a:r>
            <a:r>
              <a:rPr lang="en-US" sz="2000" dirty="0">
                <a:solidFill>
                  <a:srgbClr val="1C1D1E"/>
                </a:solidFill>
                <a:highlight>
                  <a:srgbClr val="FFFFFF"/>
                </a:highlight>
                <a:latin typeface="Times New Roman" panose="02020603050405020304" pitchFamily="18" charset="0"/>
                <a:cs typeface="Times New Roman" panose="02020603050405020304" pitchFamily="18" charset="0"/>
              </a:rPr>
              <a:t>(</a:t>
            </a:r>
            <a:r>
              <a:rPr lang="en-US" sz="2000" dirty="0" err="1">
                <a:solidFill>
                  <a:srgbClr val="1C1D1E"/>
                </a:solidFill>
                <a:highlight>
                  <a:srgbClr val="FFFFFF"/>
                </a:highlight>
                <a:latin typeface="Times New Roman" panose="02020603050405020304" pitchFamily="18" charset="0"/>
                <a:cs typeface="Times New Roman" panose="02020603050405020304" pitchFamily="18" charset="0"/>
              </a:rPr>
              <a:t>Employee.class</a:t>
            </a:r>
            <a:r>
              <a:rPr lang="en-US" sz="2000" dirty="0">
                <a:solidFill>
                  <a:srgbClr val="1C1D1E"/>
                </a:solidFill>
                <a:highlight>
                  <a:srgbClr val="FFFFFF"/>
                </a:highlight>
                <a:latin typeface="Times New Roman" panose="02020603050405020304" pitchFamily="18" charset="0"/>
                <a:cs typeface="Times New Roman" panose="02020603050405020304" pitchFamily="18" charset="0"/>
              </a:rPr>
              <a:t>);</a:t>
            </a:r>
          </a:p>
          <a:p>
            <a:pPr algn="l" fontAlgn="base"/>
            <a:r>
              <a:rPr lang="en-US" sz="2000" dirty="0" err="1">
                <a:solidFill>
                  <a:srgbClr val="1C1D1E"/>
                </a:solidFill>
                <a:highlight>
                  <a:srgbClr val="FFFFFF"/>
                </a:highlight>
                <a:latin typeface="Times New Roman" panose="02020603050405020304" pitchFamily="18" charset="0"/>
                <a:cs typeface="Times New Roman" panose="02020603050405020304" pitchFamily="18" charset="0"/>
              </a:rPr>
              <a:t>Criteria.addOrder</a:t>
            </a:r>
            <a:r>
              <a:rPr lang="en-US" sz="2000" dirty="0">
                <a:solidFill>
                  <a:srgbClr val="1C1D1E"/>
                </a:solidFill>
                <a:highlight>
                  <a:srgbClr val="FFFFFF"/>
                </a:highlight>
                <a:latin typeface="Times New Roman" panose="02020603050405020304" pitchFamily="18" charset="0"/>
                <a:cs typeface="Times New Roman" panose="02020603050405020304" pitchFamily="18" charset="0"/>
              </a:rPr>
              <a:t>(</a:t>
            </a:r>
            <a:r>
              <a:rPr lang="en-US" sz="2000" dirty="0" err="1">
                <a:solidFill>
                  <a:srgbClr val="1C1D1E"/>
                </a:solidFill>
                <a:highlight>
                  <a:srgbClr val="FFFFFF"/>
                </a:highlight>
                <a:latin typeface="Times New Roman" panose="02020603050405020304" pitchFamily="18" charset="0"/>
                <a:cs typeface="Times New Roman" panose="02020603050405020304" pitchFamily="18" charset="0"/>
              </a:rPr>
              <a:t>Order.asc</a:t>
            </a:r>
            <a:r>
              <a:rPr lang="en-US" sz="2000" dirty="0">
                <a:solidFill>
                  <a:srgbClr val="1C1D1E"/>
                </a:solidFill>
                <a:highlight>
                  <a:srgbClr val="FFFFFF"/>
                </a:highlight>
                <a:latin typeface="Times New Roman" panose="02020603050405020304" pitchFamily="18" charset="0"/>
                <a:cs typeface="Times New Roman" panose="02020603050405020304" pitchFamily="18" charset="0"/>
              </a:rPr>
              <a:t>(“name”));</a:t>
            </a:r>
          </a:p>
          <a:p>
            <a:pPr algn="l" fontAlgn="base"/>
            <a:r>
              <a:rPr lang="en-US" sz="2000" dirty="0">
                <a:solidFill>
                  <a:srgbClr val="1C1D1E"/>
                </a:solidFill>
                <a:highlight>
                  <a:srgbClr val="FFFFFF"/>
                </a:highlight>
                <a:latin typeface="Times New Roman" panose="02020603050405020304" pitchFamily="18" charset="0"/>
                <a:cs typeface="Times New Roman" panose="02020603050405020304" pitchFamily="18" charset="0"/>
              </a:rPr>
              <a:t>List list=</a:t>
            </a:r>
            <a:r>
              <a:rPr lang="en-US" sz="2000" dirty="0" err="1">
                <a:solidFill>
                  <a:srgbClr val="1C1D1E"/>
                </a:solidFill>
                <a:highlight>
                  <a:srgbClr val="FFFFFF"/>
                </a:highlight>
                <a:latin typeface="Times New Roman" panose="02020603050405020304" pitchFamily="18" charset="0"/>
                <a:cs typeface="Times New Roman" panose="02020603050405020304" pitchFamily="18" charset="0"/>
              </a:rPr>
              <a:t>criteria.list</a:t>
            </a:r>
            <a:r>
              <a:rPr lang="en-US" sz="2000" dirty="0">
                <a:solidFill>
                  <a:srgbClr val="1C1D1E"/>
                </a:solidFill>
                <a:highlight>
                  <a:srgbClr val="FFFFFF"/>
                </a:highlight>
                <a:latin typeface="Times New Roman" panose="02020603050405020304" pitchFamily="18" charset="0"/>
                <a:cs typeface="Times New Roman" panose="02020603050405020304" pitchFamily="18" charset="0"/>
              </a:rPr>
              <a:t>();</a:t>
            </a:r>
          </a:p>
          <a:p>
            <a:pPr fontAlgn="base"/>
            <a:r>
              <a:rPr lang="en-US" sz="2000" b="1" i="0" dirty="0">
                <a:solidFill>
                  <a:srgbClr val="1C1D1E"/>
                </a:solidFill>
                <a:effectLst/>
                <a:highlight>
                  <a:srgbClr val="FFFFFF"/>
                </a:highlight>
                <a:latin typeface="Times New Roman" panose="02020603050405020304" pitchFamily="18" charset="0"/>
                <a:cs typeface="Times New Roman" panose="02020603050405020304" pitchFamily="18" charset="0"/>
              </a:rPr>
              <a:t>public static Order desc(String </a:t>
            </a:r>
            <a:r>
              <a:rPr lang="en-US" sz="2000" b="1" i="0" dirty="0" err="1">
                <a:solidFill>
                  <a:srgbClr val="1C1D1E"/>
                </a:solidFill>
                <a:effectLst/>
                <a:highlight>
                  <a:srgbClr val="FFFFFF"/>
                </a:highlight>
                <a:latin typeface="Times New Roman" panose="02020603050405020304" pitchFamily="18" charset="0"/>
                <a:cs typeface="Times New Roman" panose="02020603050405020304" pitchFamily="18" charset="0"/>
              </a:rPr>
              <a:t>propertyName</a:t>
            </a:r>
            <a:r>
              <a:rPr lang="en-US" sz="2000" b="1" i="0" dirty="0">
                <a:solidFill>
                  <a:srgbClr val="1C1D1E"/>
                </a:solidFill>
                <a:effectLst/>
                <a:highlight>
                  <a:srgbClr val="FFFFFF"/>
                </a:highlight>
                <a:latin typeface="Times New Roman" panose="02020603050405020304" pitchFamily="18" charset="0"/>
                <a:cs typeface="Times New Roman" panose="02020603050405020304" pitchFamily="18" charset="0"/>
              </a:rPr>
              <a:t>)</a:t>
            </a:r>
          </a:p>
          <a:p>
            <a:pPr fontAlgn="base"/>
            <a:endParaRPr lang="en-US" sz="2000" b="1" i="0" dirty="0">
              <a:solidFill>
                <a:srgbClr val="1C1D1E"/>
              </a:solidFill>
              <a:effectLst/>
              <a:highlight>
                <a:srgbClr val="FFFFFF"/>
              </a:highlight>
              <a:latin typeface="Times New Roman" panose="02020603050405020304" pitchFamily="18" charset="0"/>
              <a:cs typeface="Times New Roman" panose="02020603050405020304" pitchFamily="18" charset="0"/>
            </a:endParaRPr>
          </a:p>
          <a:p>
            <a:pPr fontAlgn="base"/>
            <a:r>
              <a:rPr lang="en-IN" sz="2000" b="1" i="0" dirty="0">
                <a:solidFill>
                  <a:srgbClr val="1C1D1E"/>
                </a:solidFill>
                <a:effectLst/>
                <a:highlight>
                  <a:srgbClr val="FFFFFF"/>
                </a:highlight>
                <a:latin typeface="Times New Roman" panose="02020603050405020304" pitchFamily="18" charset="0"/>
                <a:cs typeface="Times New Roman" panose="02020603050405020304" pitchFamily="18" charset="0"/>
              </a:rPr>
              <a:t>Example of </a:t>
            </a:r>
            <a:r>
              <a:rPr lang="en-IN" sz="2000" b="1" i="0" dirty="0" err="1">
                <a:solidFill>
                  <a:srgbClr val="1C1D1E"/>
                </a:solidFill>
                <a:effectLst/>
                <a:highlight>
                  <a:srgbClr val="FFFFFF"/>
                </a:highlight>
                <a:latin typeface="Times New Roman" panose="02020603050405020304" pitchFamily="18" charset="0"/>
                <a:cs typeface="Times New Roman" panose="02020603050405020304" pitchFamily="18" charset="0"/>
              </a:rPr>
              <a:t>Order.desc</a:t>
            </a:r>
            <a:endParaRPr lang="en-US" sz="2000" b="0" i="0" dirty="0">
              <a:solidFill>
                <a:srgbClr val="1C1D1E"/>
              </a:solidFill>
              <a:effectLst/>
              <a:highlight>
                <a:srgbClr val="FFFFFF"/>
              </a:highlight>
              <a:latin typeface="Times New Roman" panose="02020603050405020304" pitchFamily="18" charset="0"/>
              <a:cs typeface="Times New Roman" panose="02020603050405020304" pitchFamily="18" charset="0"/>
            </a:endParaRPr>
          </a:p>
          <a:p>
            <a:pPr algn="l" fontAlgn="base"/>
            <a:r>
              <a:rPr lang="en-US" sz="2000" dirty="0" err="1">
                <a:solidFill>
                  <a:srgbClr val="1C1D1E"/>
                </a:solidFill>
                <a:highlight>
                  <a:srgbClr val="FFFFFF"/>
                </a:highlight>
                <a:latin typeface="Times New Roman" panose="02020603050405020304" pitchFamily="18" charset="0"/>
                <a:cs typeface="Times New Roman" panose="02020603050405020304" pitchFamily="18" charset="0"/>
              </a:rPr>
              <a:t>Crietria</a:t>
            </a:r>
            <a:r>
              <a:rPr lang="en-US" sz="2000" dirty="0">
                <a:solidFill>
                  <a:srgbClr val="1C1D1E"/>
                </a:solidFill>
                <a:highlight>
                  <a:srgbClr val="FFFFFF"/>
                </a:highlight>
                <a:latin typeface="Times New Roman" panose="02020603050405020304" pitchFamily="18" charset="0"/>
                <a:cs typeface="Times New Roman" panose="02020603050405020304" pitchFamily="18" charset="0"/>
              </a:rPr>
              <a:t> criteria = </a:t>
            </a:r>
            <a:r>
              <a:rPr lang="en-US" sz="2000" dirty="0" err="1">
                <a:solidFill>
                  <a:srgbClr val="1C1D1E"/>
                </a:solidFill>
                <a:highlight>
                  <a:srgbClr val="FFFFFF"/>
                </a:highlight>
                <a:latin typeface="Times New Roman" panose="02020603050405020304" pitchFamily="18" charset="0"/>
                <a:cs typeface="Times New Roman" panose="02020603050405020304" pitchFamily="18" charset="0"/>
              </a:rPr>
              <a:t>session.createCriteria</a:t>
            </a:r>
            <a:r>
              <a:rPr lang="en-US" sz="2000" dirty="0">
                <a:solidFill>
                  <a:srgbClr val="1C1D1E"/>
                </a:solidFill>
                <a:highlight>
                  <a:srgbClr val="FFFFFF"/>
                </a:highlight>
                <a:latin typeface="Times New Roman" panose="02020603050405020304" pitchFamily="18" charset="0"/>
                <a:cs typeface="Times New Roman" panose="02020603050405020304" pitchFamily="18" charset="0"/>
              </a:rPr>
              <a:t>(</a:t>
            </a:r>
            <a:r>
              <a:rPr lang="en-US" sz="2000" dirty="0" err="1">
                <a:solidFill>
                  <a:srgbClr val="1C1D1E"/>
                </a:solidFill>
                <a:highlight>
                  <a:srgbClr val="FFFFFF"/>
                </a:highlight>
                <a:latin typeface="Times New Roman" panose="02020603050405020304" pitchFamily="18" charset="0"/>
                <a:cs typeface="Times New Roman" panose="02020603050405020304" pitchFamily="18" charset="0"/>
              </a:rPr>
              <a:t>Employee.class</a:t>
            </a:r>
            <a:r>
              <a:rPr lang="en-US" sz="2000" dirty="0">
                <a:solidFill>
                  <a:srgbClr val="1C1D1E"/>
                </a:solidFill>
                <a:highlight>
                  <a:srgbClr val="FFFFFF"/>
                </a:highlight>
                <a:latin typeface="Times New Roman" panose="02020603050405020304" pitchFamily="18" charset="0"/>
                <a:cs typeface="Times New Roman" panose="02020603050405020304" pitchFamily="18" charset="0"/>
              </a:rPr>
              <a:t>);</a:t>
            </a:r>
          </a:p>
          <a:p>
            <a:pPr algn="l" fontAlgn="base"/>
            <a:r>
              <a:rPr lang="en-US" sz="2000" dirty="0" err="1">
                <a:solidFill>
                  <a:srgbClr val="1C1D1E"/>
                </a:solidFill>
                <a:highlight>
                  <a:srgbClr val="FFFFFF"/>
                </a:highlight>
                <a:latin typeface="Times New Roman" panose="02020603050405020304" pitchFamily="18" charset="0"/>
                <a:cs typeface="Times New Roman" panose="02020603050405020304" pitchFamily="18" charset="0"/>
              </a:rPr>
              <a:t>Criteria.assOrder</a:t>
            </a:r>
            <a:r>
              <a:rPr lang="en-US" sz="2000" dirty="0">
                <a:solidFill>
                  <a:srgbClr val="1C1D1E"/>
                </a:solidFill>
                <a:highlight>
                  <a:srgbClr val="FFFFFF"/>
                </a:highlight>
                <a:latin typeface="Times New Roman" panose="02020603050405020304" pitchFamily="18" charset="0"/>
                <a:cs typeface="Times New Roman" panose="02020603050405020304" pitchFamily="18" charset="0"/>
              </a:rPr>
              <a:t>(</a:t>
            </a:r>
            <a:r>
              <a:rPr lang="en-US" sz="2000" dirty="0" err="1">
                <a:solidFill>
                  <a:srgbClr val="1C1D1E"/>
                </a:solidFill>
                <a:highlight>
                  <a:srgbClr val="FFFFFF"/>
                </a:highlight>
                <a:latin typeface="Times New Roman" panose="02020603050405020304" pitchFamily="18" charset="0"/>
                <a:cs typeface="Times New Roman" panose="02020603050405020304" pitchFamily="18" charset="0"/>
              </a:rPr>
              <a:t>Order.desc</a:t>
            </a:r>
            <a:r>
              <a:rPr lang="en-US" sz="2000" dirty="0">
                <a:solidFill>
                  <a:srgbClr val="1C1D1E"/>
                </a:solidFill>
                <a:highlight>
                  <a:srgbClr val="FFFFFF"/>
                </a:highlight>
                <a:latin typeface="Times New Roman" panose="02020603050405020304" pitchFamily="18" charset="0"/>
                <a:cs typeface="Times New Roman" panose="02020603050405020304" pitchFamily="18" charset="0"/>
              </a:rPr>
              <a:t>(“name”));  List </a:t>
            </a:r>
            <a:r>
              <a:rPr lang="en-US" sz="2000" dirty="0" err="1">
                <a:solidFill>
                  <a:srgbClr val="1C1D1E"/>
                </a:solidFill>
                <a:highlight>
                  <a:srgbClr val="FFFFFF"/>
                </a:highlight>
                <a:latin typeface="Times New Roman" panose="02020603050405020304" pitchFamily="18" charset="0"/>
                <a:cs typeface="Times New Roman" panose="02020603050405020304" pitchFamily="18" charset="0"/>
              </a:rPr>
              <a:t>list</a:t>
            </a:r>
            <a:r>
              <a:rPr lang="en-US" sz="2000" dirty="0">
                <a:solidFill>
                  <a:srgbClr val="1C1D1E"/>
                </a:solidFill>
                <a:highlight>
                  <a:srgbClr val="FFFFFF"/>
                </a:highlight>
                <a:latin typeface="Times New Roman" panose="02020603050405020304" pitchFamily="18" charset="0"/>
                <a:cs typeface="Times New Roman" panose="02020603050405020304" pitchFamily="18" charset="0"/>
              </a:rPr>
              <a:t> = </a:t>
            </a:r>
            <a:r>
              <a:rPr lang="en-US" sz="2000" dirty="0" err="1">
                <a:solidFill>
                  <a:srgbClr val="1C1D1E"/>
                </a:solidFill>
                <a:highlight>
                  <a:srgbClr val="FFFFFF"/>
                </a:highlight>
                <a:latin typeface="Times New Roman" panose="02020603050405020304" pitchFamily="18" charset="0"/>
                <a:cs typeface="Times New Roman" panose="02020603050405020304" pitchFamily="18" charset="0"/>
              </a:rPr>
              <a:t>criteria.list</a:t>
            </a:r>
            <a:r>
              <a:rPr lang="en-US" sz="2000" dirty="0">
                <a:solidFill>
                  <a:srgbClr val="1C1D1E"/>
                </a:solidFill>
                <a:highlight>
                  <a:srgbClr val="FFFFFF"/>
                </a:highlight>
                <a:latin typeface="Times New Roman" panose="02020603050405020304" pitchFamily="18" charset="0"/>
                <a:cs typeface="Times New Roman" panose="02020603050405020304" pitchFamily="18" charset="0"/>
              </a:rPr>
              <a:t>();</a:t>
            </a:r>
          </a:p>
          <a:p>
            <a:pPr algn="l" fontAlgn="base"/>
            <a:endParaRPr lang="en-US" sz="2000" b="0" i="0" dirty="0">
              <a:solidFill>
                <a:srgbClr val="1C1D1E"/>
              </a:solidFill>
              <a:effectLst/>
              <a:highlight>
                <a:srgbClr val="FFFFFF"/>
              </a:highlight>
              <a:latin typeface="Times New Roman" panose="02020603050405020304" pitchFamily="18" charset="0"/>
              <a:cs typeface="Times New Roman" panose="02020603050405020304" pitchFamily="18" charset="0"/>
            </a:endParaRPr>
          </a:p>
        </p:txBody>
      </p:sp>
      <p:sp>
        <p:nvSpPr>
          <p:cNvPr id="179" name="Google Shape;179;p10"/>
          <p:cNvSpPr/>
          <p:nvPr/>
        </p:nvSpPr>
        <p:spPr>
          <a:xfrm>
            <a:off x="0" y="1643063"/>
            <a:ext cx="9144000" cy="642937"/>
          </a:xfrm>
          <a:prstGeom prst="rect">
            <a:avLst/>
          </a:prstGeom>
          <a:solidFill>
            <a:srgbClr val="1F497D"/>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180" name="Google Shape;180;p10"/>
          <p:cNvSpPr/>
          <p:nvPr/>
        </p:nvSpPr>
        <p:spPr>
          <a:xfrm>
            <a:off x="190500" y="1687513"/>
            <a:ext cx="8763000" cy="55403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lt1"/>
              </a:buClr>
              <a:buSzPts val="3000"/>
              <a:buFont typeface="Arial"/>
              <a:buNone/>
            </a:pPr>
            <a:r>
              <a:rPr lang="en-IN" sz="3000" b="1" dirty="0">
                <a:solidFill>
                  <a:schemeClr val="lt1"/>
                </a:solidFill>
                <a:latin typeface="Calibri"/>
                <a:ea typeface="Calibri"/>
                <a:cs typeface="Calibri"/>
                <a:sym typeface="Calibri"/>
              </a:rPr>
              <a:t>Order Class</a:t>
            </a:r>
            <a:endParaRPr lang="en-IN" dirty="0"/>
          </a:p>
        </p:txBody>
      </p:sp>
      <p:pic>
        <p:nvPicPr>
          <p:cNvPr id="2" name="Picture 12">
            <a:extLst>
              <a:ext uri="{FF2B5EF4-FFF2-40B4-BE49-F238E27FC236}">
                <a16:creationId xmlns:a16="http://schemas.microsoft.com/office/drawing/2014/main" id="{B42D5E84-3B31-A96E-066A-8BCF10D89371}"/>
              </a:ext>
            </a:extLst>
          </p:cNvPr>
          <p:cNvPicPr>
            <a:picLocks noChangeAspect="1" noChangeArrowheads="1"/>
          </p:cNvPicPr>
          <p:nvPr/>
        </p:nvPicPr>
        <p:blipFill>
          <a:blip r:embed="rId5"/>
          <a:srcRect/>
          <a:stretch>
            <a:fillRect/>
          </a:stretch>
        </p:blipFill>
        <p:spPr bwMode="auto">
          <a:xfrm>
            <a:off x="381000" y="0"/>
            <a:ext cx="1524000" cy="1395413"/>
          </a:xfrm>
          <a:prstGeom prst="rect">
            <a:avLst/>
          </a:prstGeom>
          <a:noFill/>
          <a:ln w="9525">
            <a:noFill/>
            <a:miter lim="800000"/>
            <a:headEnd/>
            <a:tailEnd/>
          </a:ln>
        </p:spPr>
      </p:pic>
    </p:spTree>
    <p:extLst>
      <p:ext uri="{BB962C8B-B14F-4D97-AF65-F5344CB8AC3E}">
        <p14:creationId xmlns:p14="http://schemas.microsoft.com/office/powerpoint/2010/main" val="188790613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pic>
        <p:nvPicPr>
          <p:cNvPr id="176" name="Google Shape;176;p10" descr="C:\Users\parul\Desktop\Digital Learning Content.png"/>
          <p:cNvPicPr preferRelativeResize="0"/>
          <p:nvPr/>
        </p:nvPicPr>
        <p:blipFill rotWithShape="1">
          <a:blip r:embed="rId3">
            <a:alphaModFix/>
          </a:blip>
          <a:srcRect/>
          <a:stretch/>
        </p:blipFill>
        <p:spPr>
          <a:xfrm>
            <a:off x="0" y="0"/>
            <a:ext cx="9144000" cy="6900863"/>
          </a:xfrm>
          <a:prstGeom prst="rect">
            <a:avLst/>
          </a:prstGeom>
          <a:noFill/>
          <a:ln>
            <a:noFill/>
          </a:ln>
        </p:spPr>
      </p:pic>
      <p:pic>
        <p:nvPicPr>
          <p:cNvPr id="177" name="Google Shape;177;p10" descr="C:\Users\parul\Desktop\Untitled-1.png"/>
          <p:cNvPicPr preferRelativeResize="0"/>
          <p:nvPr/>
        </p:nvPicPr>
        <p:blipFill rotWithShape="1">
          <a:blip r:embed="rId4">
            <a:alphaModFix/>
          </a:blip>
          <a:srcRect/>
          <a:stretch/>
        </p:blipFill>
        <p:spPr>
          <a:xfrm>
            <a:off x="1857375" y="3071813"/>
            <a:ext cx="5430838" cy="2803525"/>
          </a:xfrm>
          <a:prstGeom prst="rect">
            <a:avLst/>
          </a:prstGeom>
          <a:noFill/>
          <a:ln>
            <a:noFill/>
          </a:ln>
        </p:spPr>
      </p:pic>
      <p:sp>
        <p:nvSpPr>
          <p:cNvPr id="178" name="Google Shape;178;p10"/>
          <p:cNvSpPr txBox="1"/>
          <p:nvPr/>
        </p:nvSpPr>
        <p:spPr>
          <a:xfrm>
            <a:off x="190500" y="2286000"/>
            <a:ext cx="8629650" cy="3908722"/>
          </a:xfrm>
          <a:prstGeom prst="rect">
            <a:avLst/>
          </a:prstGeom>
          <a:noFill/>
          <a:ln>
            <a:noFill/>
          </a:ln>
        </p:spPr>
        <p:txBody>
          <a:bodyPr spcFirstLastPara="1" wrap="square" lIns="91425" tIns="45700" rIns="91425" bIns="45700" anchor="t" anchorCtr="0">
            <a:spAutoFit/>
          </a:bodyPr>
          <a:lstStyle/>
          <a:p>
            <a:pPr algn="l" fontAlgn="base"/>
            <a:r>
              <a:rPr lang="en-US" sz="2000" b="0" i="0" dirty="0">
                <a:solidFill>
                  <a:srgbClr val="1C1D1E"/>
                </a:solidFill>
                <a:effectLst/>
                <a:highlight>
                  <a:srgbClr val="FFFFFF"/>
                </a:highlight>
                <a:latin typeface="Times New Roman" panose="02020603050405020304" pitchFamily="18" charset="0"/>
                <a:cs typeface="Times New Roman" panose="02020603050405020304" pitchFamily="18" charset="0"/>
              </a:rPr>
              <a:t>Restrictions class provides several methods which can be used to add restrictions to the criteria object. Following are the methods of </a:t>
            </a:r>
            <a:r>
              <a:rPr lang="en-US" sz="2000" b="1" i="0" dirty="0" err="1">
                <a:solidFill>
                  <a:srgbClr val="1C1D1E"/>
                </a:solidFill>
                <a:effectLst/>
                <a:highlight>
                  <a:srgbClr val="FFFFFF"/>
                </a:highlight>
                <a:latin typeface="Times New Roman" panose="02020603050405020304" pitchFamily="18" charset="0"/>
                <a:cs typeface="Times New Roman" panose="02020603050405020304" pitchFamily="18" charset="0"/>
              </a:rPr>
              <a:t>org.hibernate.criterion.Restrictions</a:t>
            </a:r>
            <a:r>
              <a:rPr lang="en-US" sz="2000" b="0" i="0" dirty="0">
                <a:solidFill>
                  <a:srgbClr val="1C1D1E"/>
                </a:solidFill>
                <a:effectLst/>
                <a:highlight>
                  <a:srgbClr val="FFFFFF"/>
                </a:highlight>
                <a:latin typeface="Times New Roman" panose="02020603050405020304" pitchFamily="18" charset="0"/>
                <a:cs typeface="Times New Roman" panose="02020603050405020304" pitchFamily="18" charset="0"/>
              </a:rPr>
              <a:t> package.</a:t>
            </a:r>
          </a:p>
          <a:p>
            <a:pPr algn="l" fontAlgn="base"/>
            <a:endParaRPr lang="en-US" sz="2000" b="0" i="0" dirty="0">
              <a:solidFill>
                <a:srgbClr val="1C1D1E"/>
              </a:solidFill>
              <a:effectLst/>
              <a:highlight>
                <a:srgbClr val="FFFFFF"/>
              </a:highlight>
              <a:latin typeface="Times New Roman" panose="02020603050405020304" pitchFamily="18" charset="0"/>
              <a:cs typeface="Times New Roman" panose="02020603050405020304" pitchFamily="18" charset="0"/>
            </a:endParaRPr>
          </a:p>
          <a:p>
            <a:pPr algn="l" fontAlgn="base"/>
            <a:r>
              <a:rPr lang="en-US" sz="2000" b="1" i="0" dirty="0">
                <a:solidFill>
                  <a:srgbClr val="1C1D1E"/>
                </a:solidFill>
                <a:effectLst/>
                <a:highlight>
                  <a:srgbClr val="FFFFFF"/>
                </a:highlight>
                <a:latin typeface="Times New Roman" panose="02020603050405020304" pitchFamily="18" charset="0"/>
                <a:cs typeface="Times New Roman" panose="02020603050405020304" pitchFamily="18" charset="0"/>
              </a:rPr>
              <a:t>public static </a:t>
            </a:r>
            <a:r>
              <a:rPr lang="en-US" sz="2000" b="1" i="0" dirty="0" err="1">
                <a:solidFill>
                  <a:srgbClr val="1C1D1E"/>
                </a:solidFill>
                <a:effectLst/>
                <a:highlight>
                  <a:srgbClr val="FFFFFF"/>
                </a:highlight>
                <a:latin typeface="Times New Roman" panose="02020603050405020304" pitchFamily="18" charset="0"/>
                <a:cs typeface="Times New Roman" panose="02020603050405020304" pitchFamily="18" charset="0"/>
              </a:rPr>
              <a:t>SimpleExpression</a:t>
            </a:r>
            <a:r>
              <a:rPr lang="en-US" sz="2000" b="1" i="0" dirty="0">
                <a:solidFill>
                  <a:srgbClr val="1C1D1E"/>
                </a:solidFill>
                <a:effectLst/>
                <a:highlight>
                  <a:srgbClr val="FFFFFF"/>
                </a:highlight>
                <a:latin typeface="Times New Roman" panose="02020603050405020304" pitchFamily="18" charset="0"/>
                <a:cs typeface="Times New Roman" panose="02020603050405020304" pitchFamily="18" charset="0"/>
              </a:rPr>
              <a:t> eq(String </a:t>
            </a:r>
            <a:r>
              <a:rPr lang="en-US" sz="2000" b="1" i="0" dirty="0" err="1">
                <a:solidFill>
                  <a:srgbClr val="1C1D1E"/>
                </a:solidFill>
                <a:effectLst/>
                <a:highlight>
                  <a:srgbClr val="FFFFFF"/>
                </a:highlight>
                <a:latin typeface="Times New Roman" panose="02020603050405020304" pitchFamily="18" charset="0"/>
                <a:cs typeface="Times New Roman" panose="02020603050405020304" pitchFamily="18" charset="0"/>
              </a:rPr>
              <a:t>propertyName</a:t>
            </a:r>
            <a:r>
              <a:rPr lang="en-US" sz="2000" b="1" i="0" dirty="0">
                <a:solidFill>
                  <a:srgbClr val="1C1D1E"/>
                </a:solidFill>
                <a:effectLst/>
                <a:highlight>
                  <a:srgbClr val="FFFFFF"/>
                </a:highlight>
                <a:latin typeface="Times New Roman" panose="02020603050405020304" pitchFamily="18" charset="0"/>
                <a:cs typeface="Times New Roman" panose="02020603050405020304" pitchFamily="18" charset="0"/>
              </a:rPr>
              <a:t>, Object value)</a:t>
            </a:r>
            <a:endParaRPr lang="en-US" sz="2000" b="0" i="0" dirty="0">
              <a:solidFill>
                <a:srgbClr val="1C1D1E"/>
              </a:solidFill>
              <a:effectLst/>
              <a:highlight>
                <a:srgbClr val="FFFFFF"/>
              </a:highlight>
              <a:latin typeface="Times New Roman" panose="02020603050405020304" pitchFamily="18" charset="0"/>
              <a:cs typeface="Times New Roman" panose="02020603050405020304" pitchFamily="18" charset="0"/>
            </a:endParaRPr>
          </a:p>
          <a:p>
            <a:pPr algn="l" fontAlgn="base"/>
            <a:r>
              <a:rPr lang="en-US" sz="2000" b="0" i="0" dirty="0">
                <a:solidFill>
                  <a:srgbClr val="1C1D1E"/>
                </a:solidFill>
                <a:effectLst/>
                <a:highlight>
                  <a:srgbClr val="FFFFFF"/>
                </a:highlight>
                <a:latin typeface="Times New Roman" panose="02020603050405020304" pitchFamily="18" charset="0"/>
                <a:cs typeface="Times New Roman" panose="02020603050405020304" pitchFamily="18" charset="0"/>
              </a:rPr>
              <a:t>Here ‘eq’ stands for </a:t>
            </a:r>
            <a:r>
              <a:rPr lang="en-US" sz="2000" b="1" i="0" dirty="0">
                <a:solidFill>
                  <a:srgbClr val="1C1D1E"/>
                </a:solidFill>
                <a:effectLst/>
                <a:highlight>
                  <a:srgbClr val="FFFFFF"/>
                </a:highlight>
                <a:latin typeface="Times New Roman" panose="02020603050405020304" pitchFamily="18" charset="0"/>
                <a:cs typeface="Times New Roman" panose="02020603050405020304" pitchFamily="18" charset="0"/>
              </a:rPr>
              <a:t>equal</a:t>
            </a:r>
            <a:r>
              <a:rPr lang="en-US" sz="2000" b="0" i="0" dirty="0">
                <a:solidFill>
                  <a:srgbClr val="1C1D1E"/>
                </a:solidFill>
                <a:effectLst/>
                <a:highlight>
                  <a:srgbClr val="FFFFFF"/>
                </a:highlight>
                <a:latin typeface="Times New Roman" panose="02020603050405020304" pitchFamily="18" charset="0"/>
                <a:cs typeface="Times New Roman" panose="02020603050405020304" pitchFamily="18" charset="0"/>
              </a:rPr>
              <a:t>. It is used to apply an ‘equal to’ constraint on the given property.</a:t>
            </a:r>
          </a:p>
          <a:p>
            <a:pPr algn="l" fontAlgn="base"/>
            <a:endParaRPr lang="en-US" sz="2000" b="0" i="0" dirty="0">
              <a:solidFill>
                <a:srgbClr val="1C1D1E"/>
              </a:solidFill>
              <a:effectLst/>
              <a:highlight>
                <a:srgbClr val="FFFFFF"/>
              </a:highlight>
              <a:latin typeface="Times New Roman" panose="02020603050405020304" pitchFamily="18" charset="0"/>
              <a:cs typeface="Times New Roman" panose="02020603050405020304" pitchFamily="18" charset="0"/>
            </a:endParaRPr>
          </a:p>
          <a:p>
            <a:pPr algn="l" fontAlgn="base"/>
            <a:r>
              <a:rPr lang="en-IN" sz="2800" b="1" i="0" dirty="0">
                <a:solidFill>
                  <a:srgbClr val="1C1D1E"/>
                </a:solidFill>
                <a:effectLst/>
                <a:highlight>
                  <a:srgbClr val="FFFFFF"/>
                </a:highlight>
                <a:latin typeface="Roboto-Bold"/>
              </a:rPr>
              <a:t> </a:t>
            </a:r>
            <a:r>
              <a:rPr lang="en-IN" sz="2000" b="1" i="0" dirty="0">
                <a:solidFill>
                  <a:srgbClr val="1C1D1E"/>
                </a:solidFill>
                <a:effectLst/>
                <a:highlight>
                  <a:srgbClr val="FFFFFF"/>
                </a:highlight>
                <a:latin typeface="Times New Roman" panose="02020603050405020304" pitchFamily="18" charset="0"/>
                <a:cs typeface="Times New Roman" panose="02020603050405020304" pitchFamily="18" charset="0"/>
              </a:rPr>
              <a:t>Example of </a:t>
            </a:r>
            <a:r>
              <a:rPr lang="en-IN" sz="2000" b="1" i="0" dirty="0" err="1">
                <a:solidFill>
                  <a:srgbClr val="1C1D1E"/>
                </a:solidFill>
                <a:effectLst/>
                <a:highlight>
                  <a:srgbClr val="FFFFFF"/>
                </a:highlight>
                <a:latin typeface="Times New Roman" panose="02020603050405020304" pitchFamily="18" charset="0"/>
                <a:cs typeface="Times New Roman" panose="02020603050405020304" pitchFamily="18" charset="0"/>
              </a:rPr>
              <a:t>Restrictions.eq</a:t>
            </a:r>
            <a:endParaRPr lang="en-IN" sz="2000" b="1" i="0" dirty="0">
              <a:solidFill>
                <a:srgbClr val="1C1D1E"/>
              </a:solidFill>
              <a:effectLst/>
              <a:highlight>
                <a:srgbClr val="FFFFFF"/>
              </a:highlight>
              <a:latin typeface="Times New Roman" panose="02020603050405020304" pitchFamily="18" charset="0"/>
              <a:cs typeface="Times New Roman" panose="02020603050405020304" pitchFamily="18" charset="0"/>
            </a:endParaRPr>
          </a:p>
          <a:p>
            <a:pPr algn="l" fontAlgn="base"/>
            <a:r>
              <a:rPr lang="en-IN" sz="2000" i="0" dirty="0">
                <a:solidFill>
                  <a:srgbClr val="1C1D1E"/>
                </a:solidFill>
                <a:effectLst/>
                <a:highlight>
                  <a:srgbClr val="FFFFFF"/>
                </a:highlight>
                <a:latin typeface="Times New Roman" panose="02020603050405020304" pitchFamily="18" charset="0"/>
                <a:cs typeface="Times New Roman" panose="02020603050405020304" pitchFamily="18" charset="0"/>
              </a:rPr>
              <a:t>Criteria </a:t>
            </a:r>
            <a:r>
              <a:rPr lang="en-IN" sz="2000" i="0" dirty="0" err="1">
                <a:solidFill>
                  <a:srgbClr val="1C1D1E"/>
                </a:solidFill>
                <a:effectLst/>
                <a:highlight>
                  <a:srgbClr val="FFFFFF"/>
                </a:highlight>
                <a:latin typeface="Times New Roman" panose="02020603050405020304" pitchFamily="18" charset="0"/>
                <a:cs typeface="Times New Roman" panose="02020603050405020304" pitchFamily="18" charset="0"/>
              </a:rPr>
              <a:t>criteria</a:t>
            </a:r>
            <a:r>
              <a:rPr lang="en-IN" sz="2000" i="0" dirty="0">
                <a:solidFill>
                  <a:srgbClr val="1C1D1E"/>
                </a:solidFill>
                <a:effectLst/>
                <a:highlight>
                  <a:srgbClr val="FFFFFF"/>
                </a:highlight>
                <a:latin typeface="Times New Roman" panose="02020603050405020304" pitchFamily="18" charset="0"/>
                <a:cs typeface="Times New Roman" panose="02020603050405020304" pitchFamily="18" charset="0"/>
              </a:rPr>
              <a:t> = </a:t>
            </a:r>
            <a:r>
              <a:rPr lang="en-IN" sz="2000" i="0" dirty="0" err="1">
                <a:solidFill>
                  <a:srgbClr val="1C1D1E"/>
                </a:solidFill>
                <a:effectLst/>
                <a:highlight>
                  <a:srgbClr val="FFFFFF"/>
                </a:highlight>
                <a:latin typeface="Times New Roman" panose="02020603050405020304" pitchFamily="18" charset="0"/>
                <a:cs typeface="Times New Roman" panose="02020603050405020304" pitchFamily="18" charset="0"/>
              </a:rPr>
              <a:t>session.createCriteria</a:t>
            </a:r>
            <a:r>
              <a:rPr lang="en-IN" sz="2000" i="0" dirty="0">
                <a:solidFill>
                  <a:srgbClr val="1C1D1E"/>
                </a:solidFill>
                <a:effectLst/>
                <a:highlight>
                  <a:srgbClr val="FFFFFF"/>
                </a:highlight>
                <a:latin typeface="Times New Roman" panose="02020603050405020304" pitchFamily="18" charset="0"/>
                <a:cs typeface="Times New Roman" panose="02020603050405020304" pitchFamily="18" charset="0"/>
              </a:rPr>
              <a:t>(</a:t>
            </a:r>
            <a:r>
              <a:rPr lang="en-IN" sz="2000" i="0" dirty="0" err="1">
                <a:solidFill>
                  <a:srgbClr val="1C1D1E"/>
                </a:solidFill>
                <a:effectLst/>
                <a:highlight>
                  <a:srgbClr val="FFFFFF"/>
                </a:highlight>
                <a:latin typeface="Times New Roman" panose="02020603050405020304" pitchFamily="18" charset="0"/>
                <a:cs typeface="Times New Roman" panose="02020603050405020304" pitchFamily="18" charset="0"/>
              </a:rPr>
              <a:t>Employee.class</a:t>
            </a:r>
            <a:r>
              <a:rPr lang="en-IN" sz="2000" i="0" dirty="0">
                <a:solidFill>
                  <a:srgbClr val="1C1D1E"/>
                </a:solidFill>
                <a:effectLst/>
                <a:highlight>
                  <a:srgbClr val="FFFFFF"/>
                </a:highlight>
                <a:latin typeface="Times New Roman" panose="02020603050405020304" pitchFamily="18" charset="0"/>
                <a:cs typeface="Times New Roman" panose="02020603050405020304" pitchFamily="18" charset="0"/>
              </a:rPr>
              <a:t>);</a:t>
            </a:r>
          </a:p>
          <a:p>
            <a:pPr algn="l" fontAlgn="base"/>
            <a:r>
              <a:rPr lang="en-US" sz="2000" dirty="0" err="1">
                <a:solidFill>
                  <a:srgbClr val="1C1D1E"/>
                </a:solidFill>
                <a:highlight>
                  <a:srgbClr val="FFFFFF"/>
                </a:highlight>
                <a:latin typeface="Times New Roman" panose="02020603050405020304" pitchFamily="18" charset="0"/>
                <a:cs typeface="Times New Roman" panose="02020603050405020304" pitchFamily="18" charset="0"/>
              </a:rPr>
              <a:t>Criteria.add</a:t>
            </a:r>
            <a:r>
              <a:rPr lang="en-US" sz="2000" dirty="0">
                <a:solidFill>
                  <a:srgbClr val="1C1D1E"/>
                </a:solidFill>
                <a:highlight>
                  <a:srgbClr val="FFFFFF"/>
                </a:highlight>
                <a:latin typeface="Times New Roman" panose="02020603050405020304" pitchFamily="18" charset="0"/>
                <a:cs typeface="Times New Roman" panose="02020603050405020304" pitchFamily="18" charset="0"/>
              </a:rPr>
              <a:t>(</a:t>
            </a:r>
            <a:r>
              <a:rPr lang="en-US" sz="2000" dirty="0" err="1">
                <a:solidFill>
                  <a:srgbClr val="1C1D1E"/>
                </a:solidFill>
                <a:highlight>
                  <a:srgbClr val="FFFFFF"/>
                </a:highlight>
                <a:latin typeface="Times New Roman" panose="02020603050405020304" pitchFamily="18" charset="0"/>
                <a:cs typeface="Times New Roman" panose="02020603050405020304" pitchFamily="18" charset="0"/>
              </a:rPr>
              <a:t>Restrictions.eq</a:t>
            </a:r>
            <a:r>
              <a:rPr lang="en-US" sz="2000" dirty="0">
                <a:solidFill>
                  <a:srgbClr val="1C1D1E"/>
                </a:solidFill>
                <a:highlight>
                  <a:srgbClr val="FFFFFF"/>
                </a:highlight>
                <a:latin typeface="Times New Roman" panose="02020603050405020304" pitchFamily="18" charset="0"/>
                <a:cs typeface="Times New Roman" panose="02020603050405020304" pitchFamily="18" charset="0"/>
              </a:rPr>
              <a:t>(“empId”,10));</a:t>
            </a:r>
          </a:p>
          <a:p>
            <a:pPr algn="l" fontAlgn="base"/>
            <a:r>
              <a:rPr lang="en-US" sz="2000" dirty="0">
                <a:solidFill>
                  <a:srgbClr val="1C1D1E"/>
                </a:solidFill>
                <a:highlight>
                  <a:srgbClr val="FFFFFF"/>
                </a:highlight>
                <a:latin typeface="Times New Roman" panose="02020603050405020304" pitchFamily="18" charset="0"/>
                <a:cs typeface="Times New Roman" panose="02020603050405020304" pitchFamily="18" charset="0"/>
              </a:rPr>
              <a:t>List </a:t>
            </a:r>
            <a:r>
              <a:rPr lang="en-US" sz="2000" dirty="0" err="1">
                <a:solidFill>
                  <a:srgbClr val="1C1D1E"/>
                </a:solidFill>
                <a:highlight>
                  <a:srgbClr val="FFFFFF"/>
                </a:highlight>
                <a:latin typeface="Times New Roman" panose="02020603050405020304" pitchFamily="18" charset="0"/>
                <a:cs typeface="Times New Roman" panose="02020603050405020304" pitchFamily="18" charset="0"/>
              </a:rPr>
              <a:t>list</a:t>
            </a:r>
            <a:r>
              <a:rPr lang="en-US" sz="2000" dirty="0">
                <a:solidFill>
                  <a:srgbClr val="1C1D1E"/>
                </a:solidFill>
                <a:highlight>
                  <a:srgbClr val="FFFFFF"/>
                </a:highlight>
                <a:latin typeface="Times New Roman" panose="02020603050405020304" pitchFamily="18" charset="0"/>
                <a:cs typeface="Times New Roman" panose="02020603050405020304" pitchFamily="18" charset="0"/>
              </a:rPr>
              <a:t> = </a:t>
            </a:r>
            <a:r>
              <a:rPr lang="en-US" sz="2000" dirty="0" err="1">
                <a:solidFill>
                  <a:srgbClr val="1C1D1E"/>
                </a:solidFill>
                <a:highlight>
                  <a:srgbClr val="FFFFFF"/>
                </a:highlight>
                <a:latin typeface="Times New Roman" panose="02020603050405020304" pitchFamily="18" charset="0"/>
                <a:cs typeface="Times New Roman" panose="02020603050405020304" pitchFamily="18" charset="0"/>
              </a:rPr>
              <a:t>criteria.list</a:t>
            </a:r>
            <a:r>
              <a:rPr lang="en-US" sz="2000" dirty="0">
                <a:solidFill>
                  <a:srgbClr val="1C1D1E"/>
                </a:solidFill>
                <a:highlight>
                  <a:srgbClr val="FFFFFF"/>
                </a:highlight>
                <a:latin typeface="Times New Roman" panose="02020603050405020304" pitchFamily="18" charset="0"/>
                <a:cs typeface="Times New Roman" panose="02020603050405020304" pitchFamily="18" charset="0"/>
              </a:rPr>
              <a:t>();</a:t>
            </a:r>
            <a:endParaRPr lang="en-IN" sz="2000" dirty="0">
              <a:solidFill>
                <a:srgbClr val="1C1D1E"/>
              </a:solidFill>
              <a:highlight>
                <a:srgbClr val="FFFFFF"/>
              </a:highlight>
              <a:latin typeface="Times New Roman" panose="02020603050405020304" pitchFamily="18" charset="0"/>
              <a:cs typeface="Times New Roman" panose="02020603050405020304" pitchFamily="18" charset="0"/>
            </a:endParaRPr>
          </a:p>
        </p:txBody>
      </p:sp>
      <p:sp>
        <p:nvSpPr>
          <p:cNvPr id="179" name="Google Shape;179;p10"/>
          <p:cNvSpPr/>
          <p:nvPr/>
        </p:nvSpPr>
        <p:spPr>
          <a:xfrm>
            <a:off x="0" y="1643063"/>
            <a:ext cx="9144000" cy="642937"/>
          </a:xfrm>
          <a:prstGeom prst="rect">
            <a:avLst/>
          </a:prstGeom>
          <a:solidFill>
            <a:srgbClr val="1F497D"/>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180" name="Google Shape;180;p10"/>
          <p:cNvSpPr/>
          <p:nvPr/>
        </p:nvSpPr>
        <p:spPr>
          <a:xfrm>
            <a:off x="190500" y="1687513"/>
            <a:ext cx="8763000" cy="55403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lt1"/>
              </a:buClr>
              <a:buSzPts val="3000"/>
              <a:buFont typeface="Arial"/>
              <a:buNone/>
            </a:pPr>
            <a:r>
              <a:rPr lang="en-IN" sz="3000" b="1" dirty="0">
                <a:solidFill>
                  <a:schemeClr val="lt1"/>
                </a:solidFill>
                <a:latin typeface="Calibri"/>
                <a:ea typeface="Calibri"/>
                <a:cs typeface="Calibri"/>
                <a:sym typeface="Calibri"/>
              </a:rPr>
              <a:t>Restrictions Class</a:t>
            </a:r>
            <a:endParaRPr lang="en-IN" dirty="0"/>
          </a:p>
        </p:txBody>
      </p:sp>
      <p:pic>
        <p:nvPicPr>
          <p:cNvPr id="2" name="Picture 12">
            <a:extLst>
              <a:ext uri="{FF2B5EF4-FFF2-40B4-BE49-F238E27FC236}">
                <a16:creationId xmlns:a16="http://schemas.microsoft.com/office/drawing/2014/main" id="{B42D5E84-3B31-A96E-066A-8BCF10D89371}"/>
              </a:ext>
            </a:extLst>
          </p:cNvPr>
          <p:cNvPicPr>
            <a:picLocks noChangeAspect="1" noChangeArrowheads="1"/>
          </p:cNvPicPr>
          <p:nvPr/>
        </p:nvPicPr>
        <p:blipFill>
          <a:blip r:embed="rId5"/>
          <a:srcRect/>
          <a:stretch>
            <a:fillRect/>
          </a:stretch>
        </p:blipFill>
        <p:spPr bwMode="auto">
          <a:xfrm>
            <a:off x="381000" y="0"/>
            <a:ext cx="1524000" cy="1395413"/>
          </a:xfrm>
          <a:prstGeom prst="rect">
            <a:avLst/>
          </a:prstGeom>
          <a:noFill/>
          <a:ln w="9525">
            <a:noFill/>
            <a:miter lim="800000"/>
            <a:headEnd/>
            <a:tailEnd/>
          </a:ln>
        </p:spPr>
      </p:pic>
    </p:spTree>
    <p:extLst>
      <p:ext uri="{BB962C8B-B14F-4D97-AF65-F5344CB8AC3E}">
        <p14:creationId xmlns:p14="http://schemas.microsoft.com/office/powerpoint/2010/main" val="115329359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pic>
        <p:nvPicPr>
          <p:cNvPr id="176" name="Google Shape;176;p10" descr="C:\Users\parul\Desktop\Digital Learning Content.png"/>
          <p:cNvPicPr preferRelativeResize="0"/>
          <p:nvPr/>
        </p:nvPicPr>
        <p:blipFill rotWithShape="1">
          <a:blip r:embed="rId3">
            <a:alphaModFix/>
          </a:blip>
          <a:srcRect/>
          <a:stretch/>
        </p:blipFill>
        <p:spPr>
          <a:xfrm>
            <a:off x="0" y="0"/>
            <a:ext cx="9144000" cy="6900863"/>
          </a:xfrm>
          <a:prstGeom prst="rect">
            <a:avLst/>
          </a:prstGeom>
          <a:noFill/>
          <a:ln>
            <a:noFill/>
          </a:ln>
        </p:spPr>
      </p:pic>
      <p:pic>
        <p:nvPicPr>
          <p:cNvPr id="177" name="Google Shape;177;p10" descr="C:\Users\parul\Desktop\Untitled-1.png"/>
          <p:cNvPicPr preferRelativeResize="0"/>
          <p:nvPr/>
        </p:nvPicPr>
        <p:blipFill rotWithShape="1">
          <a:blip r:embed="rId4">
            <a:alphaModFix/>
          </a:blip>
          <a:srcRect/>
          <a:stretch/>
        </p:blipFill>
        <p:spPr>
          <a:xfrm>
            <a:off x="1857375" y="3071813"/>
            <a:ext cx="5430838" cy="2803525"/>
          </a:xfrm>
          <a:prstGeom prst="rect">
            <a:avLst/>
          </a:prstGeom>
          <a:noFill/>
          <a:ln>
            <a:noFill/>
          </a:ln>
        </p:spPr>
      </p:pic>
      <p:sp>
        <p:nvSpPr>
          <p:cNvPr id="178" name="Google Shape;178;p10"/>
          <p:cNvSpPr txBox="1"/>
          <p:nvPr/>
        </p:nvSpPr>
        <p:spPr>
          <a:xfrm>
            <a:off x="190500" y="2286000"/>
            <a:ext cx="8629650" cy="5016718"/>
          </a:xfrm>
          <a:prstGeom prst="rect">
            <a:avLst/>
          </a:prstGeom>
          <a:noFill/>
          <a:ln>
            <a:noFill/>
          </a:ln>
        </p:spPr>
        <p:txBody>
          <a:bodyPr spcFirstLastPara="1" wrap="square" lIns="91425" tIns="45700" rIns="91425" bIns="45700" anchor="t" anchorCtr="0">
            <a:spAutoFit/>
          </a:bodyPr>
          <a:lstStyle/>
          <a:p>
            <a:pPr algn="l" fontAlgn="base">
              <a:buFont typeface="Arial" panose="020B0604020202020204" pitchFamily="34" charset="0"/>
              <a:buChar char="•"/>
            </a:pPr>
            <a:r>
              <a:rPr lang="en-US" sz="2000" b="1" i="0" dirty="0">
                <a:solidFill>
                  <a:srgbClr val="1C1D1E"/>
                </a:solidFill>
                <a:effectLst/>
                <a:highlight>
                  <a:srgbClr val="FFFFFF"/>
                </a:highlight>
                <a:latin typeface="Times New Roman" panose="02020603050405020304" pitchFamily="18" charset="0"/>
                <a:cs typeface="Times New Roman" panose="02020603050405020304" pitchFamily="18" charset="0"/>
              </a:rPr>
              <a:t>public static </a:t>
            </a:r>
            <a:r>
              <a:rPr lang="en-US" sz="2000" b="1" i="0" dirty="0" err="1">
                <a:solidFill>
                  <a:srgbClr val="1C1D1E"/>
                </a:solidFill>
                <a:effectLst/>
                <a:highlight>
                  <a:srgbClr val="FFFFFF"/>
                </a:highlight>
                <a:latin typeface="Times New Roman" panose="02020603050405020304" pitchFamily="18" charset="0"/>
                <a:cs typeface="Times New Roman" panose="02020603050405020304" pitchFamily="18" charset="0"/>
              </a:rPr>
              <a:t>SimpleExpression</a:t>
            </a:r>
            <a:r>
              <a:rPr lang="en-US" sz="2000" b="1" i="0" dirty="0">
                <a:solidFill>
                  <a:srgbClr val="1C1D1E"/>
                </a:solidFill>
                <a:effectLst/>
                <a:highlight>
                  <a:srgbClr val="FFFFFF"/>
                </a:highlight>
                <a:latin typeface="Times New Roman" panose="02020603050405020304" pitchFamily="18" charset="0"/>
                <a:cs typeface="Times New Roman" panose="02020603050405020304" pitchFamily="18" charset="0"/>
              </a:rPr>
              <a:t> </a:t>
            </a:r>
            <a:r>
              <a:rPr lang="en-US" sz="2000" b="1" i="0" dirty="0" err="1">
                <a:solidFill>
                  <a:srgbClr val="1C1D1E"/>
                </a:solidFill>
                <a:effectLst/>
                <a:highlight>
                  <a:srgbClr val="FFFFFF"/>
                </a:highlight>
                <a:latin typeface="Times New Roman" panose="02020603050405020304" pitchFamily="18" charset="0"/>
                <a:cs typeface="Times New Roman" panose="02020603050405020304" pitchFamily="18" charset="0"/>
              </a:rPr>
              <a:t>ge</a:t>
            </a:r>
            <a:r>
              <a:rPr lang="en-US" sz="2000" b="1" i="0" dirty="0">
                <a:solidFill>
                  <a:srgbClr val="1C1D1E"/>
                </a:solidFill>
                <a:effectLst/>
                <a:highlight>
                  <a:srgbClr val="FFFFFF"/>
                </a:highlight>
                <a:latin typeface="Times New Roman" panose="02020603050405020304" pitchFamily="18" charset="0"/>
                <a:cs typeface="Times New Roman" panose="02020603050405020304" pitchFamily="18" charset="0"/>
              </a:rPr>
              <a:t>(String </a:t>
            </a:r>
            <a:r>
              <a:rPr lang="en-US" sz="2000" b="1" i="0" dirty="0" err="1">
                <a:solidFill>
                  <a:srgbClr val="1C1D1E"/>
                </a:solidFill>
                <a:effectLst/>
                <a:highlight>
                  <a:srgbClr val="FFFFFF"/>
                </a:highlight>
                <a:latin typeface="Times New Roman" panose="02020603050405020304" pitchFamily="18" charset="0"/>
                <a:cs typeface="Times New Roman" panose="02020603050405020304" pitchFamily="18" charset="0"/>
              </a:rPr>
              <a:t>propertyName</a:t>
            </a:r>
            <a:r>
              <a:rPr lang="en-US" sz="2000" b="1" i="0" dirty="0">
                <a:solidFill>
                  <a:srgbClr val="1C1D1E"/>
                </a:solidFill>
                <a:effectLst/>
                <a:highlight>
                  <a:srgbClr val="FFFFFF"/>
                </a:highlight>
                <a:latin typeface="Times New Roman" panose="02020603050405020304" pitchFamily="18" charset="0"/>
                <a:cs typeface="Times New Roman" panose="02020603050405020304" pitchFamily="18" charset="0"/>
              </a:rPr>
              <a:t>, Object value)</a:t>
            </a:r>
            <a:endParaRPr lang="en-US" sz="2000" b="0" i="0" dirty="0">
              <a:solidFill>
                <a:srgbClr val="1C1D1E"/>
              </a:solidFill>
              <a:effectLst/>
              <a:highlight>
                <a:srgbClr val="FFFFFF"/>
              </a:highlight>
              <a:latin typeface="Times New Roman" panose="02020603050405020304" pitchFamily="18" charset="0"/>
              <a:cs typeface="Times New Roman" panose="02020603050405020304" pitchFamily="18" charset="0"/>
            </a:endParaRPr>
          </a:p>
          <a:p>
            <a:pPr algn="l" fontAlgn="base"/>
            <a:r>
              <a:rPr lang="en-US" sz="2000" b="0" i="0" dirty="0">
                <a:solidFill>
                  <a:srgbClr val="1C1D1E"/>
                </a:solidFill>
                <a:effectLst/>
                <a:highlight>
                  <a:srgbClr val="FFFFFF"/>
                </a:highlight>
                <a:latin typeface="Times New Roman" panose="02020603050405020304" pitchFamily="18" charset="0"/>
                <a:cs typeface="Times New Roman" panose="02020603050405020304" pitchFamily="18" charset="0"/>
              </a:rPr>
              <a:t>‘</a:t>
            </a:r>
            <a:r>
              <a:rPr lang="en-US" sz="2000" b="0" i="0" dirty="0" err="1">
                <a:solidFill>
                  <a:srgbClr val="1C1D1E"/>
                </a:solidFill>
                <a:effectLst/>
                <a:highlight>
                  <a:srgbClr val="FFFFFF"/>
                </a:highlight>
                <a:latin typeface="Times New Roman" panose="02020603050405020304" pitchFamily="18" charset="0"/>
                <a:cs typeface="Times New Roman" panose="02020603050405020304" pitchFamily="18" charset="0"/>
              </a:rPr>
              <a:t>ge</a:t>
            </a:r>
            <a:r>
              <a:rPr lang="en-US" sz="2000" b="0" i="0" dirty="0">
                <a:solidFill>
                  <a:srgbClr val="1C1D1E"/>
                </a:solidFill>
                <a:effectLst/>
                <a:highlight>
                  <a:srgbClr val="FFFFFF"/>
                </a:highlight>
                <a:latin typeface="Times New Roman" panose="02020603050405020304" pitchFamily="18" charset="0"/>
                <a:cs typeface="Times New Roman" panose="02020603050405020304" pitchFamily="18" charset="0"/>
              </a:rPr>
              <a:t>’ is abbreviation for </a:t>
            </a:r>
            <a:r>
              <a:rPr lang="en-US" sz="2000" b="1" i="0" dirty="0">
                <a:solidFill>
                  <a:srgbClr val="1C1D1E"/>
                </a:solidFill>
                <a:effectLst/>
                <a:highlight>
                  <a:srgbClr val="FFFFFF"/>
                </a:highlight>
                <a:latin typeface="Times New Roman" panose="02020603050405020304" pitchFamily="18" charset="0"/>
                <a:cs typeface="Times New Roman" panose="02020603050405020304" pitchFamily="18" charset="0"/>
              </a:rPr>
              <a:t>greater than or equal to.</a:t>
            </a:r>
            <a:endParaRPr lang="en-US" sz="2000" b="0" i="0" dirty="0">
              <a:solidFill>
                <a:srgbClr val="1C1D1E"/>
              </a:solidFill>
              <a:effectLst/>
              <a:highlight>
                <a:srgbClr val="FFFFFF"/>
              </a:highlight>
              <a:latin typeface="Times New Roman" panose="02020603050405020304" pitchFamily="18" charset="0"/>
              <a:cs typeface="Times New Roman" panose="02020603050405020304" pitchFamily="18" charset="0"/>
            </a:endParaRPr>
          </a:p>
          <a:p>
            <a:pPr algn="l" fontAlgn="base"/>
            <a:r>
              <a:rPr lang="en-US" sz="2000" b="1" i="0" dirty="0">
                <a:solidFill>
                  <a:srgbClr val="1C1D1E"/>
                </a:solidFill>
                <a:effectLst/>
                <a:highlight>
                  <a:srgbClr val="FFFFFF"/>
                </a:highlight>
                <a:latin typeface="Times New Roman" panose="02020603050405020304" pitchFamily="18" charset="0"/>
                <a:cs typeface="Times New Roman" panose="02020603050405020304" pitchFamily="18" charset="0"/>
              </a:rPr>
              <a:t>Example of Restrictions.ge</a:t>
            </a:r>
          </a:p>
          <a:p>
            <a:pPr algn="l" fontAlgn="base"/>
            <a:r>
              <a:rPr lang="en-US" sz="2000" dirty="0">
                <a:solidFill>
                  <a:srgbClr val="1C1D1E"/>
                </a:solidFill>
                <a:highlight>
                  <a:srgbClr val="FFFFFF"/>
                </a:highlight>
                <a:latin typeface="Times New Roman" panose="02020603050405020304" pitchFamily="18" charset="0"/>
                <a:cs typeface="Times New Roman" panose="02020603050405020304" pitchFamily="18" charset="0"/>
              </a:rPr>
              <a:t>Criteria </a:t>
            </a:r>
            <a:r>
              <a:rPr lang="en-US" sz="2000" dirty="0" err="1">
                <a:solidFill>
                  <a:srgbClr val="1C1D1E"/>
                </a:solidFill>
                <a:highlight>
                  <a:srgbClr val="FFFFFF"/>
                </a:highlight>
                <a:latin typeface="Times New Roman" panose="02020603050405020304" pitchFamily="18" charset="0"/>
                <a:cs typeface="Times New Roman" panose="02020603050405020304" pitchFamily="18" charset="0"/>
              </a:rPr>
              <a:t>criteria</a:t>
            </a:r>
            <a:r>
              <a:rPr lang="en-US" sz="2000" dirty="0">
                <a:solidFill>
                  <a:srgbClr val="1C1D1E"/>
                </a:solidFill>
                <a:highlight>
                  <a:srgbClr val="FFFFFF"/>
                </a:highlight>
                <a:latin typeface="Times New Roman" panose="02020603050405020304" pitchFamily="18" charset="0"/>
                <a:cs typeface="Times New Roman" panose="02020603050405020304" pitchFamily="18" charset="0"/>
              </a:rPr>
              <a:t> = </a:t>
            </a:r>
            <a:r>
              <a:rPr lang="en-US" sz="2000" dirty="0" err="1">
                <a:solidFill>
                  <a:srgbClr val="1C1D1E"/>
                </a:solidFill>
                <a:highlight>
                  <a:srgbClr val="FFFFFF"/>
                </a:highlight>
                <a:latin typeface="Times New Roman" panose="02020603050405020304" pitchFamily="18" charset="0"/>
                <a:cs typeface="Times New Roman" panose="02020603050405020304" pitchFamily="18" charset="0"/>
              </a:rPr>
              <a:t>session.createCriteria</a:t>
            </a:r>
            <a:r>
              <a:rPr lang="en-US" sz="2000" dirty="0">
                <a:solidFill>
                  <a:srgbClr val="1C1D1E"/>
                </a:solidFill>
                <a:highlight>
                  <a:srgbClr val="FFFFFF"/>
                </a:highlight>
                <a:latin typeface="Times New Roman" panose="02020603050405020304" pitchFamily="18" charset="0"/>
                <a:cs typeface="Times New Roman" panose="02020603050405020304" pitchFamily="18" charset="0"/>
              </a:rPr>
              <a:t>(</a:t>
            </a:r>
            <a:r>
              <a:rPr lang="en-US" sz="2000" dirty="0" err="1">
                <a:solidFill>
                  <a:srgbClr val="1C1D1E"/>
                </a:solidFill>
                <a:highlight>
                  <a:srgbClr val="FFFFFF"/>
                </a:highlight>
                <a:latin typeface="Times New Roman" panose="02020603050405020304" pitchFamily="18" charset="0"/>
                <a:cs typeface="Times New Roman" panose="02020603050405020304" pitchFamily="18" charset="0"/>
              </a:rPr>
              <a:t>Employee.class</a:t>
            </a:r>
            <a:r>
              <a:rPr lang="en-US" sz="2000" dirty="0">
                <a:solidFill>
                  <a:srgbClr val="1C1D1E"/>
                </a:solidFill>
                <a:highlight>
                  <a:srgbClr val="FFFFFF"/>
                </a:highlight>
                <a:latin typeface="Times New Roman" panose="02020603050405020304" pitchFamily="18" charset="0"/>
                <a:cs typeface="Times New Roman" panose="02020603050405020304" pitchFamily="18" charset="0"/>
              </a:rPr>
              <a:t>);</a:t>
            </a:r>
          </a:p>
          <a:p>
            <a:pPr algn="l" fontAlgn="base"/>
            <a:r>
              <a:rPr lang="en-US" sz="2000" dirty="0" err="1">
                <a:solidFill>
                  <a:srgbClr val="1C1D1E"/>
                </a:solidFill>
                <a:highlight>
                  <a:srgbClr val="FFFFFF"/>
                </a:highlight>
                <a:latin typeface="Times New Roman" panose="02020603050405020304" pitchFamily="18" charset="0"/>
                <a:cs typeface="Times New Roman" panose="02020603050405020304" pitchFamily="18" charset="0"/>
              </a:rPr>
              <a:t>c</a:t>
            </a:r>
            <a:r>
              <a:rPr lang="en-US" sz="2000" i="0" dirty="0" err="1">
                <a:solidFill>
                  <a:srgbClr val="1C1D1E"/>
                </a:solidFill>
                <a:effectLst/>
                <a:highlight>
                  <a:srgbClr val="FFFFFF"/>
                </a:highlight>
                <a:latin typeface="Times New Roman" panose="02020603050405020304" pitchFamily="18" charset="0"/>
                <a:cs typeface="Times New Roman" panose="02020603050405020304" pitchFamily="18" charset="0"/>
              </a:rPr>
              <a:t>riteria.add</a:t>
            </a:r>
            <a:r>
              <a:rPr lang="en-US" sz="2000" i="0" dirty="0">
                <a:solidFill>
                  <a:srgbClr val="1C1D1E"/>
                </a:solidFill>
                <a:effectLst/>
                <a:highlight>
                  <a:srgbClr val="FFFFFF"/>
                </a:highlight>
                <a:latin typeface="Times New Roman" panose="02020603050405020304" pitchFamily="18" charset="0"/>
                <a:cs typeface="Times New Roman" panose="02020603050405020304" pitchFamily="18" charset="0"/>
              </a:rPr>
              <a:t>(Restrictions.ge(“empId”,10));</a:t>
            </a:r>
          </a:p>
          <a:p>
            <a:pPr algn="l" fontAlgn="base"/>
            <a:r>
              <a:rPr lang="en-US" sz="2000" dirty="0">
                <a:solidFill>
                  <a:srgbClr val="1C1D1E"/>
                </a:solidFill>
                <a:highlight>
                  <a:srgbClr val="FFFFFF"/>
                </a:highlight>
                <a:latin typeface="Times New Roman" panose="02020603050405020304" pitchFamily="18" charset="0"/>
                <a:cs typeface="Times New Roman" panose="02020603050405020304" pitchFamily="18" charset="0"/>
              </a:rPr>
              <a:t>List </a:t>
            </a:r>
            <a:r>
              <a:rPr lang="en-US" sz="2000" dirty="0" err="1">
                <a:solidFill>
                  <a:srgbClr val="1C1D1E"/>
                </a:solidFill>
                <a:highlight>
                  <a:srgbClr val="FFFFFF"/>
                </a:highlight>
                <a:latin typeface="Times New Roman" panose="02020603050405020304" pitchFamily="18" charset="0"/>
                <a:cs typeface="Times New Roman" panose="02020603050405020304" pitchFamily="18" charset="0"/>
              </a:rPr>
              <a:t>list</a:t>
            </a:r>
            <a:r>
              <a:rPr lang="en-US" sz="2000" dirty="0">
                <a:solidFill>
                  <a:srgbClr val="1C1D1E"/>
                </a:solidFill>
                <a:highlight>
                  <a:srgbClr val="FFFFFF"/>
                </a:highlight>
                <a:latin typeface="Times New Roman" panose="02020603050405020304" pitchFamily="18" charset="0"/>
                <a:cs typeface="Times New Roman" panose="02020603050405020304" pitchFamily="18" charset="0"/>
              </a:rPr>
              <a:t> = </a:t>
            </a:r>
            <a:r>
              <a:rPr lang="en-US" sz="2000" dirty="0" err="1">
                <a:solidFill>
                  <a:srgbClr val="1C1D1E"/>
                </a:solidFill>
                <a:highlight>
                  <a:srgbClr val="FFFFFF"/>
                </a:highlight>
                <a:latin typeface="Times New Roman" panose="02020603050405020304" pitchFamily="18" charset="0"/>
                <a:cs typeface="Times New Roman" panose="02020603050405020304" pitchFamily="18" charset="0"/>
              </a:rPr>
              <a:t>criteria.list</a:t>
            </a:r>
            <a:r>
              <a:rPr lang="en-US" sz="2000" dirty="0">
                <a:solidFill>
                  <a:srgbClr val="1C1D1E"/>
                </a:solidFill>
                <a:highlight>
                  <a:srgbClr val="FFFFFF"/>
                </a:highlight>
                <a:latin typeface="Times New Roman" panose="02020603050405020304" pitchFamily="18" charset="0"/>
                <a:cs typeface="Times New Roman" panose="02020603050405020304" pitchFamily="18" charset="0"/>
              </a:rPr>
              <a:t>();</a:t>
            </a:r>
          </a:p>
          <a:p>
            <a:pPr algn="l" fontAlgn="base"/>
            <a:endParaRPr lang="en-US" sz="2000" i="0" dirty="0">
              <a:solidFill>
                <a:srgbClr val="1C1D1E"/>
              </a:solidFill>
              <a:effectLst/>
              <a:highlight>
                <a:srgbClr val="FFFFFF"/>
              </a:highlight>
              <a:latin typeface="Times New Roman" panose="02020603050405020304" pitchFamily="18" charset="0"/>
              <a:cs typeface="Times New Roman" panose="02020603050405020304" pitchFamily="18" charset="0"/>
            </a:endParaRPr>
          </a:p>
          <a:p>
            <a:pPr algn="l" fontAlgn="base">
              <a:buFont typeface="Arial" panose="020B0604020202020204" pitchFamily="34" charset="0"/>
              <a:buChar char="•"/>
            </a:pPr>
            <a:r>
              <a:rPr lang="en-US" sz="2000" b="1" i="0" dirty="0">
                <a:solidFill>
                  <a:srgbClr val="1C1D1E"/>
                </a:solidFill>
                <a:effectLst/>
                <a:highlight>
                  <a:srgbClr val="FFFFFF"/>
                </a:highlight>
                <a:latin typeface="Times New Roman" panose="02020603050405020304" pitchFamily="18" charset="0"/>
                <a:cs typeface="Times New Roman" panose="02020603050405020304" pitchFamily="18" charset="0"/>
              </a:rPr>
              <a:t>public static </a:t>
            </a:r>
            <a:r>
              <a:rPr lang="en-US" sz="2000" b="1" i="0" dirty="0" err="1">
                <a:solidFill>
                  <a:srgbClr val="1C1D1E"/>
                </a:solidFill>
                <a:effectLst/>
                <a:highlight>
                  <a:srgbClr val="FFFFFF"/>
                </a:highlight>
                <a:latin typeface="Times New Roman" panose="02020603050405020304" pitchFamily="18" charset="0"/>
                <a:cs typeface="Times New Roman" panose="02020603050405020304" pitchFamily="18" charset="0"/>
              </a:rPr>
              <a:t>SimpleExpression</a:t>
            </a:r>
            <a:r>
              <a:rPr lang="en-US" sz="2000" b="1" i="0" dirty="0">
                <a:solidFill>
                  <a:srgbClr val="1C1D1E"/>
                </a:solidFill>
                <a:effectLst/>
                <a:highlight>
                  <a:srgbClr val="FFFFFF"/>
                </a:highlight>
                <a:latin typeface="Times New Roman" panose="02020603050405020304" pitchFamily="18" charset="0"/>
                <a:cs typeface="Times New Roman" panose="02020603050405020304" pitchFamily="18" charset="0"/>
              </a:rPr>
              <a:t> </a:t>
            </a:r>
            <a:r>
              <a:rPr lang="en-US" sz="2000" b="1" i="0" dirty="0" err="1">
                <a:solidFill>
                  <a:srgbClr val="1C1D1E"/>
                </a:solidFill>
                <a:effectLst/>
                <a:highlight>
                  <a:srgbClr val="FFFFFF"/>
                </a:highlight>
                <a:latin typeface="Times New Roman" panose="02020603050405020304" pitchFamily="18" charset="0"/>
                <a:cs typeface="Times New Roman" panose="02020603050405020304" pitchFamily="18" charset="0"/>
              </a:rPr>
              <a:t>gt</a:t>
            </a:r>
            <a:r>
              <a:rPr lang="en-US" sz="2000" b="1" i="0" dirty="0">
                <a:solidFill>
                  <a:srgbClr val="1C1D1E"/>
                </a:solidFill>
                <a:effectLst/>
                <a:highlight>
                  <a:srgbClr val="FFFFFF"/>
                </a:highlight>
                <a:latin typeface="Times New Roman" panose="02020603050405020304" pitchFamily="18" charset="0"/>
                <a:cs typeface="Times New Roman" panose="02020603050405020304" pitchFamily="18" charset="0"/>
              </a:rPr>
              <a:t>(String </a:t>
            </a:r>
            <a:r>
              <a:rPr lang="en-US" sz="2000" b="1" i="0" dirty="0" err="1">
                <a:solidFill>
                  <a:srgbClr val="1C1D1E"/>
                </a:solidFill>
                <a:effectLst/>
                <a:highlight>
                  <a:srgbClr val="FFFFFF"/>
                </a:highlight>
                <a:latin typeface="Times New Roman" panose="02020603050405020304" pitchFamily="18" charset="0"/>
                <a:cs typeface="Times New Roman" panose="02020603050405020304" pitchFamily="18" charset="0"/>
              </a:rPr>
              <a:t>propertyName</a:t>
            </a:r>
            <a:r>
              <a:rPr lang="en-US" sz="2000" b="1" i="0" dirty="0">
                <a:solidFill>
                  <a:srgbClr val="1C1D1E"/>
                </a:solidFill>
                <a:effectLst/>
                <a:highlight>
                  <a:srgbClr val="FFFFFF"/>
                </a:highlight>
                <a:latin typeface="Times New Roman" panose="02020603050405020304" pitchFamily="18" charset="0"/>
                <a:cs typeface="Times New Roman" panose="02020603050405020304" pitchFamily="18" charset="0"/>
              </a:rPr>
              <a:t>, Object value)</a:t>
            </a:r>
            <a:endParaRPr lang="en-US" sz="2000" b="0" i="0" dirty="0">
              <a:solidFill>
                <a:srgbClr val="1C1D1E"/>
              </a:solidFill>
              <a:effectLst/>
              <a:highlight>
                <a:srgbClr val="FFFFFF"/>
              </a:highlight>
              <a:latin typeface="Times New Roman" panose="02020603050405020304" pitchFamily="18" charset="0"/>
              <a:cs typeface="Times New Roman" panose="02020603050405020304" pitchFamily="18" charset="0"/>
            </a:endParaRPr>
          </a:p>
          <a:p>
            <a:pPr algn="l" fontAlgn="base"/>
            <a:r>
              <a:rPr lang="en-US" sz="2000" b="0" i="0" dirty="0">
                <a:solidFill>
                  <a:srgbClr val="1C1D1E"/>
                </a:solidFill>
                <a:effectLst/>
                <a:highlight>
                  <a:srgbClr val="FFFFFF"/>
                </a:highlight>
                <a:latin typeface="Times New Roman" panose="02020603050405020304" pitchFamily="18" charset="0"/>
                <a:cs typeface="Times New Roman" panose="02020603050405020304" pitchFamily="18" charset="0"/>
              </a:rPr>
              <a:t>‘</a:t>
            </a:r>
            <a:r>
              <a:rPr lang="en-US" sz="2000" b="0" i="0" dirty="0" err="1">
                <a:solidFill>
                  <a:srgbClr val="1C1D1E"/>
                </a:solidFill>
                <a:effectLst/>
                <a:highlight>
                  <a:srgbClr val="FFFFFF"/>
                </a:highlight>
                <a:latin typeface="Times New Roman" panose="02020603050405020304" pitchFamily="18" charset="0"/>
                <a:cs typeface="Times New Roman" panose="02020603050405020304" pitchFamily="18" charset="0"/>
              </a:rPr>
              <a:t>gt</a:t>
            </a:r>
            <a:r>
              <a:rPr lang="en-US" sz="2000" b="0" i="0" dirty="0">
                <a:solidFill>
                  <a:srgbClr val="1C1D1E"/>
                </a:solidFill>
                <a:effectLst/>
                <a:highlight>
                  <a:srgbClr val="FFFFFF"/>
                </a:highlight>
                <a:latin typeface="Times New Roman" panose="02020603050405020304" pitchFamily="18" charset="0"/>
                <a:cs typeface="Times New Roman" panose="02020603050405020304" pitchFamily="18" charset="0"/>
              </a:rPr>
              <a:t>’ stands for greater than.</a:t>
            </a:r>
          </a:p>
          <a:p>
            <a:pPr algn="l" fontAlgn="base"/>
            <a:r>
              <a:rPr lang="en-US" sz="2000" b="1" i="0" dirty="0">
                <a:solidFill>
                  <a:srgbClr val="1C1D1E"/>
                </a:solidFill>
                <a:effectLst/>
                <a:highlight>
                  <a:srgbClr val="FFFFFF"/>
                </a:highlight>
                <a:latin typeface="Times New Roman" panose="02020603050405020304" pitchFamily="18" charset="0"/>
                <a:cs typeface="Times New Roman" panose="02020603050405020304" pitchFamily="18" charset="0"/>
              </a:rPr>
              <a:t>Example of Restrictions.gt</a:t>
            </a:r>
          </a:p>
          <a:p>
            <a:pPr algn="l" fontAlgn="base"/>
            <a:r>
              <a:rPr lang="en-US" sz="2000" dirty="0">
                <a:solidFill>
                  <a:srgbClr val="1C1D1E"/>
                </a:solidFill>
                <a:highlight>
                  <a:srgbClr val="FFFFFF"/>
                </a:highlight>
                <a:latin typeface="Times New Roman" panose="02020603050405020304" pitchFamily="18" charset="0"/>
                <a:cs typeface="Times New Roman" panose="02020603050405020304" pitchFamily="18" charset="0"/>
              </a:rPr>
              <a:t>Criteria </a:t>
            </a:r>
            <a:r>
              <a:rPr lang="en-US" sz="2000" dirty="0" err="1">
                <a:solidFill>
                  <a:srgbClr val="1C1D1E"/>
                </a:solidFill>
                <a:highlight>
                  <a:srgbClr val="FFFFFF"/>
                </a:highlight>
                <a:latin typeface="Times New Roman" panose="02020603050405020304" pitchFamily="18" charset="0"/>
                <a:cs typeface="Times New Roman" panose="02020603050405020304" pitchFamily="18" charset="0"/>
              </a:rPr>
              <a:t>criteria</a:t>
            </a:r>
            <a:r>
              <a:rPr lang="en-US" sz="2000" dirty="0">
                <a:solidFill>
                  <a:srgbClr val="1C1D1E"/>
                </a:solidFill>
                <a:highlight>
                  <a:srgbClr val="FFFFFF"/>
                </a:highlight>
                <a:latin typeface="Times New Roman" panose="02020603050405020304" pitchFamily="18" charset="0"/>
                <a:cs typeface="Times New Roman" panose="02020603050405020304" pitchFamily="18" charset="0"/>
              </a:rPr>
              <a:t> = </a:t>
            </a:r>
            <a:r>
              <a:rPr lang="en-US" sz="2000" dirty="0" err="1">
                <a:solidFill>
                  <a:srgbClr val="1C1D1E"/>
                </a:solidFill>
                <a:highlight>
                  <a:srgbClr val="FFFFFF"/>
                </a:highlight>
                <a:latin typeface="Times New Roman" panose="02020603050405020304" pitchFamily="18" charset="0"/>
                <a:cs typeface="Times New Roman" panose="02020603050405020304" pitchFamily="18" charset="0"/>
              </a:rPr>
              <a:t>session.createCriteria</a:t>
            </a:r>
            <a:r>
              <a:rPr lang="en-US" sz="2000" dirty="0">
                <a:solidFill>
                  <a:srgbClr val="1C1D1E"/>
                </a:solidFill>
                <a:highlight>
                  <a:srgbClr val="FFFFFF"/>
                </a:highlight>
                <a:latin typeface="Times New Roman" panose="02020603050405020304" pitchFamily="18" charset="0"/>
                <a:cs typeface="Times New Roman" panose="02020603050405020304" pitchFamily="18" charset="0"/>
              </a:rPr>
              <a:t>(</a:t>
            </a:r>
            <a:r>
              <a:rPr lang="en-US" sz="2000" dirty="0" err="1">
                <a:solidFill>
                  <a:srgbClr val="1C1D1E"/>
                </a:solidFill>
                <a:highlight>
                  <a:srgbClr val="FFFFFF"/>
                </a:highlight>
                <a:latin typeface="Times New Roman" panose="02020603050405020304" pitchFamily="18" charset="0"/>
                <a:cs typeface="Times New Roman" panose="02020603050405020304" pitchFamily="18" charset="0"/>
              </a:rPr>
              <a:t>Employee.class</a:t>
            </a:r>
            <a:r>
              <a:rPr lang="en-US" sz="2000" dirty="0">
                <a:solidFill>
                  <a:srgbClr val="1C1D1E"/>
                </a:solidFill>
                <a:highlight>
                  <a:srgbClr val="FFFFFF"/>
                </a:highlight>
                <a:latin typeface="Times New Roman" panose="02020603050405020304" pitchFamily="18" charset="0"/>
                <a:cs typeface="Times New Roman" panose="02020603050405020304" pitchFamily="18" charset="0"/>
              </a:rPr>
              <a:t>);</a:t>
            </a:r>
          </a:p>
          <a:p>
            <a:pPr algn="l" fontAlgn="base"/>
            <a:r>
              <a:rPr lang="en-US" sz="2000" dirty="0" err="1">
                <a:solidFill>
                  <a:srgbClr val="1C1D1E"/>
                </a:solidFill>
                <a:highlight>
                  <a:srgbClr val="FFFFFF"/>
                </a:highlight>
                <a:latin typeface="Times New Roman" panose="02020603050405020304" pitchFamily="18" charset="0"/>
                <a:cs typeface="Times New Roman" panose="02020603050405020304" pitchFamily="18" charset="0"/>
              </a:rPr>
              <a:t>c</a:t>
            </a:r>
            <a:r>
              <a:rPr lang="en-US" sz="2000" i="0" dirty="0" err="1">
                <a:solidFill>
                  <a:srgbClr val="1C1D1E"/>
                </a:solidFill>
                <a:effectLst/>
                <a:highlight>
                  <a:srgbClr val="FFFFFF"/>
                </a:highlight>
                <a:latin typeface="Times New Roman" panose="02020603050405020304" pitchFamily="18" charset="0"/>
                <a:cs typeface="Times New Roman" panose="02020603050405020304" pitchFamily="18" charset="0"/>
              </a:rPr>
              <a:t>riteria.add</a:t>
            </a:r>
            <a:r>
              <a:rPr lang="en-US" sz="2000" i="0" dirty="0">
                <a:solidFill>
                  <a:srgbClr val="1C1D1E"/>
                </a:solidFill>
                <a:effectLst/>
                <a:highlight>
                  <a:srgbClr val="FFFFFF"/>
                </a:highlight>
                <a:latin typeface="Times New Roman" panose="02020603050405020304" pitchFamily="18" charset="0"/>
                <a:cs typeface="Times New Roman" panose="02020603050405020304" pitchFamily="18" charset="0"/>
              </a:rPr>
              <a:t>(Restrictions.gt(“empId”,10));</a:t>
            </a:r>
          </a:p>
          <a:p>
            <a:pPr algn="l" fontAlgn="base"/>
            <a:r>
              <a:rPr lang="en-US" sz="2000" dirty="0">
                <a:solidFill>
                  <a:srgbClr val="1C1D1E"/>
                </a:solidFill>
                <a:highlight>
                  <a:srgbClr val="FFFFFF"/>
                </a:highlight>
                <a:latin typeface="Times New Roman" panose="02020603050405020304" pitchFamily="18" charset="0"/>
                <a:cs typeface="Times New Roman" panose="02020603050405020304" pitchFamily="18" charset="0"/>
              </a:rPr>
              <a:t>List </a:t>
            </a:r>
            <a:r>
              <a:rPr lang="en-US" sz="2000" dirty="0" err="1">
                <a:solidFill>
                  <a:srgbClr val="1C1D1E"/>
                </a:solidFill>
                <a:highlight>
                  <a:srgbClr val="FFFFFF"/>
                </a:highlight>
                <a:latin typeface="Times New Roman" panose="02020603050405020304" pitchFamily="18" charset="0"/>
                <a:cs typeface="Times New Roman" panose="02020603050405020304" pitchFamily="18" charset="0"/>
              </a:rPr>
              <a:t>list</a:t>
            </a:r>
            <a:r>
              <a:rPr lang="en-US" sz="2000" dirty="0">
                <a:solidFill>
                  <a:srgbClr val="1C1D1E"/>
                </a:solidFill>
                <a:highlight>
                  <a:srgbClr val="FFFFFF"/>
                </a:highlight>
                <a:latin typeface="Times New Roman" panose="02020603050405020304" pitchFamily="18" charset="0"/>
                <a:cs typeface="Times New Roman" panose="02020603050405020304" pitchFamily="18" charset="0"/>
              </a:rPr>
              <a:t> = </a:t>
            </a:r>
            <a:r>
              <a:rPr lang="en-US" sz="2000" dirty="0" err="1">
                <a:solidFill>
                  <a:srgbClr val="1C1D1E"/>
                </a:solidFill>
                <a:highlight>
                  <a:srgbClr val="FFFFFF"/>
                </a:highlight>
                <a:latin typeface="Times New Roman" panose="02020603050405020304" pitchFamily="18" charset="0"/>
                <a:cs typeface="Times New Roman" panose="02020603050405020304" pitchFamily="18" charset="0"/>
              </a:rPr>
              <a:t>criteria.list</a:t>
            </a:r>
            <a:r>
              <a:rPr lang="en-US" sz="2000" dirty="0">
                <a:solidFill>
                  <a:srgbClr val="1C1D1E"/>
                </a:solidFill>
                <a:highlight>
                  <a:srgbClr val="FFFFFF"/>
                </a:highlight>
                <a:latin typeface="Times New Roman" panose="02020603050405020304" pitchFamily="18" charset="0"/>
                <a:cs typeface="Times New Roman" panose="02020603050405020304" pitchFamily="18" charset="0"/>
              </a:rPr>
              <a:t>();</a:t>
            </a:r>
          </a:p>
          <a:p>
            <a:pPr algn="l" fontAlgn="base"/>
            <a:endParaRPr lang="en-US" sz="2000" b="1" i="0" dirty="0">
              <a:solidFill>
                <a:srgbClr val="1C1D1E"/>
              </a:solidFill>
              <a:effectLst/>
              <a:highlight>
                <a:srgbClr val="FFFFFF"/>
              </a:highlight>
              <a:latin typeface="Times New Roman" panose="02020603050405020304" pitchFamily="18" charset="0"/>
              <a:cs typeface="Times New Roman" panose="02020603050405020304" pitchFamily="18" charset="0"/>
            </a:endParaRPr>
          </a:p>
          <a:p>
            <a:pPr algn="l" fontAlgn="base"/>
            <a:endParaRPr lang="en-US" sz="2000" b="0" i="0" dirty="0">
              <a:solidFill>
                <a:srgbClr val="1C1D1E"/>
              </a:solidFill>
              <a:effectLst/>
              <a:highlight>
                <a:srgbClr val="FFFFFF"/>
              </a:highlight>
              <a:latin typeface="Times New Roman" panose="02020603050405020304" pitchFamily="18" charset="0"/>
              <a:cs typeface="Times New Roman" panose="02020603050405020304" pitchFamily="18" charset="0"/>
            </a:endParaRPr>
          </a:p>
          <a:p>
            <a:pPr algn="l" fontAlgn="base"/>
            <a:endParaRPr lang="en-US" sz="2000" i="0" dirty="0">
              <a:solidFill>
                <a:srgbClr val="1C1D1E"/>
              </a:solidFill>
              <a:effectLst/>
              <a:highlight>
                <a:srgbClr val="FFFFFF"/>
              </a:highlight>
              <a:latin typeface="Times New Roman" panose="02020603050405020304" pitchFamily="18" charset="0"/>
              <a:cs typeface="Times New Roman" panose="02020603050405020304" pitchFamily="18" charset="0"/>
            </a:endParaRPr>
          </a:p>
        </p:txBody>
      </p:sp>
      <p:sp>
        <p:nvSpPr>
          <p:cNvPr id="179" name="Google Shape;179;p10"/>
          <p:cNvSpPr/>
          <p:nvPr/>
        </p:nvSpPr>
        <p:spPr>
          <a:xfrm>
            <a:off x="0" y="1643063"/>
            <a:ext cx="9144000" cy="642937"/>
          </a:xfrm>
          <a:prstGeom prst="rect">
            <a:avLst/>
          </a:prstGeom>
          <a:solidFill>
            <a:srgbClr val="1F497D"/>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180" name="Google Shape;180;p10"/>
          <p:cNvSpPr/>
          <p:nvPr/>
        </p:nvSpPr>
        <p:spPr>
          <a:xfrm>
            <a:off x="190500" y="1687513"/>
            <a:ext cx="8763000" cy="554037"/>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lt1"/>
              </a:buClr>
              <a:buSzPts val="3000"/>
              <a:buFont typeface="Arial"/>
              <a:buNone/>
            </a:pPr>
            <a:r>
              <a:rPr lang="en-IN" sz="3000" b="1" dirty="0">
                <a:solidFill>
                  <a:schemeClr val="lt1"/>
                </a:solidFill>
                <a:latin typeface="Calibri"/>
                <a:ea typeface="Calibri"/>
                <a:cs typeface="Calibri"/>
                <a:sym typeface="Calibri"/>
              </a:rPr>
              <a:t>Restrictions Class</a:t>
            </a:r>
            <a:endParaRPr lang="en-IN" dirty="0"/>
          </a:p>
        </p:txBody>
      </p:sp>
      <p:pic>
        <p:nvPicPr>
          <p:cNvPr id="2" name="Picture 12">
            <a:extLst>
              <a:ext uri="{FF2B5EF4-FFF2-40B4-BE49-F238E27FC236}">
                <a16:creationId xmlns:a16="http://schemas.microsoft.com/office/drawing/2014/main" id="{B42D5E84-3B31-A96E-066A-8BCF10D89371}"/>
              </a:ext>
            </a:extLst>
          </p:cNvPr>
          <p:cNvPicPr>
            <a:picLocks noChangeAspect="1" noChangeArrowheads="1"/>
          </p:cNvPicPr>
          <p:nvPr/>
        </p:nvPicPr>
        <p:blipFill>
          <a:blip r:embed="rId5"/>
          <a:srcRect/>
          <a:stretch>
            <a:fillRect/>
          </a:stretch>
        </p:blipFill>
        <p:spPr bwMode="auto">
          <a:xfrm>
            <a:off x="381000" y="0"/>
            <a:ext cx="1524000" cy="1395413"/>
          </a:xfrm>
          <a:prstGeom prst="rect">
            <a:avLst/>
          </a:prstGeom>
          <a:noFill/>
          <a:ln w="9525">
            <a:noFill/>
            <a:miter lim="800000"/>
            <a:headEnd/>
            <a:tailEnd/>
          </a:ln>
        </p:spPr>
      </p:pic>
    </p:spTree>
    <p:extLst>
      <p:ext uri="{BB962C8B-B14F-4D97-AF65-F5344CB8AC3E}">
        <p14:creationId xmlns:p14="http://schemas.microsoft.com/office/powerpoint/2010/main" val="194886909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825"/>
        <p:cNvGrpSpPr/>
        <p:nvPr/>
      </p:nvGrpSpPr>
      <p:grpSpPr>
        <a:xfrm>
          <a:off x="0" y="0"/>
          <a:ext cx="0" cy="0"/>
          <a:chOff x="0" y="0"/>
          <a:chExt cx="0" cy="0"/>
        </a:xfrm>
      </p:grpSpPr>
      <p:sp>
        <p:nvSpPr>
          <p:cNvPr id="826" name="Google Shape;826;p77"/>
          <p:cNvSpPr/>
          <p:nvPr/>
        </p:nvSpPr>
        <p:spPr>
          <a:xfrm>
            <a:off x="0" y="3214688"/>
            <a:ext cx="9144000" cy="3643312"/>
          </a:xfrm>
          <a:prstGeom prst="rect">
            <a:avLst/>
          </a:prstGeom>
          <a:solidFill>
            <a:srgbClr val="1F497D"/>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pic>
        <p:nvPicPr>
          <p:cNvPr id="827" name="Google Shape;827;p77" descr="C:\Users\parul\Desktop\1.png"/>
          <p:cNvPicPr preferRelativeResize="0"/>
          <p:nvPr/>
        </p:nvPicPr>
        <p:blipFill rotWithShape="1">
          <a:blip r:embed="rId3">
            <a:alphaModFix/>
          </a:blip>
          <a:srcRect/>
          <a:stretch/>
        </p:blipFill>
        <p:spPr>
          <a:xfrm>
            <a:off x="1219200" y="361950"/>
            <a:ext cx="6705600" cy="2857500"/>
          </a:xfrm>
          <a:prstGeom prst="rect">
            <a:avLst/>
          </a:prstGeom>
          <a:noFill/>
          <a:ln>
            <a:noFill/>
          </a:ln>
        </p:spPr>
      </p:pic>
      <p:pic>
        <p:nvPicPr>
          <p:cNvPr id="828" name="Google Shape;828;p77" descr="C:\Users\parul\Desktop\2.png"/>
          <p:cNvPicPr preferRelativeResize="0"/>
          <p:nvPr/>
        </p:nvPicPr>
        <p:blipFill rotWithShape="1">
          <a:blip r:embed="rId4">
            <a:alphaModFix/>
          </a:blip>
          <a:srcRect/>
          <a:stretch/>
        </p:blipFill>
        <p:spPr>
          <a:xfrm>
            <a:off x="2433638" y="4000500"/>
            <a:ext cx="4276725" cy="571500"/>
          </a:xfrm>
          <a:prstGeom prst="rect">
            <a:avLst/>
          </a:prstGeom>
          <a:noFill/>
          <a:ln>
            <a:noFill/>
          </a:ln>
        </p:spPr>
      </p:pic>
      <p:pic>
        <p:nvPicPr>
          <p:cNvPr id="829" name="Google Shape;829;p77" descr="C:\Users\parul\Desktop\Cover Page with yellow patch - Version 18.png"/>
          <p:cNvPicPr preferRelativeResize="0"/>
          <p:nvPr/>
        </p:nvPicPr>
        <p:blipFill rotWithShape="1">
          <a:blip r:embed="rId5">
            <a:alphaModFix/>
          </a:blip>
          <a:srcRect/>
          <a:stretch/>
        </p:blipFill>
        <p:spPr>
          <a:xfrm>
            <a:off x="3038475" y="4946650"/>
            <a:ext cx="3067050" cy="260350"/>
          </a:xfrm>
          <a:prstGeom prst="rect">
            <a:avLst/>
          </a:prstGeom>
          <a:noFill/>
          <a:ln>
            <a:noFill/>
          </a:ln>
        </p:spPr>
      </p:pic>
      <p:sp>
        <p:nvSpPr>
          <p:cNvPr id="830" name="Google Shape;830;p77"/>
          <p:cNvSpPr/>
          <p:nvPr/>
        </p:nvSpPr>
        <p:spPr>
          <a:xfrm>
            <a:off x="0" y="6003925"/>
            <a:ext cx="9144000" cy="357188"/>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Clr>
                <a:schemeClr val="dk1"/>
              </a:buClr>
              <a:buSzPts val="1800"/>
              <a:buFont typeface="Arial"/>
              <a:buNone/>
            </a:pPr>
            <a:endParaRPr sz="1800">
              <a:solidFill>
                <a:schemeClr val="dk1"/>
              </a:solidFill>
              <a:latin typeface="Arial"/>
              <a:ea typeface="Arial"/>
              <a:cs typeface="Arial"/>
              <a:sym typeface="Arial"/>
            </a:endParaRPr>
          </a:p>
        </p:txBody>
      </p:sp>
      <p:sp>
        <p:nvSpPr>
          <p:cNvPr id="831" name="Google Shape;831;p77"/>
          <p:cNvSpPr/>
          <p:nvPr/>
        </p:nvSpPr>
        <p:spPr>
          <a:xfrm>
            <a:off x="3249613" y="5997575"/>
            <a:ext cx="2644775" cy="369888"/>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chemeClr val="dk2"/>
              </a:buClr>
              <a:buSzPts val="1800"/>
              <a:buFont typeface="Arial"/>
              <a:buNone/>
            </a:pPr>
            <a:r>
              <a:rPr lang="en-IN" sz="1800">
                <a:solidFill>
                  <a:schemeClr val="dk2"/>
                </a:solidFill>
                <a:latin typeface="Calibri"/>
                <a:ea typeface="Calibri"/>
                <a:cs typeface="Calibri"/>
                <a:sym typeface="Calibri"/>
              </a:rPr>
              <a:t>www.paruluniversity.ac.in</a:t>
            </a: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5565</TotalTime>
  <Words>4162</Words>
  <Application>Microsoft Office PowerPoint</Application>
  <PresentationFormat>On-screen Show (4:3)</PresentationFormat>
  <Paragraphs>350</Paragraphs>
  <Slides>58</Slides>
  <Notes>57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58</vt:i4>
      </vt:variant>
    </vt:vector>
  </HeadingPairs>
  <TitlesOfParts>
    <vt:vector size="66" baseType="lpstr">
      <vt:lpstr>Arial</vt:lpstr>
      <vt:lpstr>Calibri</vt:lpstr>
      <vt:lpstr>inter-regular</vt:lpstr>
      <vt:lpstr>Nunito</vt:lpstr>
      <vt:lpstr>Roboto-Bold</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parul</dc:creator>
  <cp:lastModifiedBy>parmanand tiwary</cp:lastModifiedBy>
  <cp:revision>14</cp:revision>
  <dcterms:created xsi:type="dcterms:W3CDTF">2020-05-18T10:32:41Z</dcterms:created>
  <dcterms:modified xsi:type="dcterms:W3CDTF">2024-06-05T04:12:50Z</dcterms:modified>
</cp:coreProperties>
</file>