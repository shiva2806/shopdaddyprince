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305" r:id="rId4"/>
    <p:sldId id="256" r:id="rId5"/>
    <p:sldId id="260" r:id="rId6"/>
    <p:sldId id="261" r:id="rId7"/>
    <p:sldId id="262" r:id="rId8"/>
    <p:sldId id="265" r:id="rId9"/>
    <p:sldId id="263" r:id="rId10"/>
    <p:sldId id="264" r:id="rId11"/>
    <p:sldId id="267" r:id="rId12"/>
    <p:sldId id="306" r:id="rId13"/>
    <p:sldId id="268" r:id="rId14"/>
    <p:sldId id="308" r:id="rId15"/>
    <p:sldId id="275" r:id="rId16"/>
    <p:sldId id="276" r:id="rId17"/>
    <p:sldId id="277" r:id="rId18"/>
    <p:sldId id="269" r:id="rId19"/>
    <p:sldId id="311" r:id="rId20"/>
    <p:sldId id="281" r:id="rId21"/>
    <p:sldId id="279" r:id="rId22"/>
    <p:sldId id="280" r:id="rId23"/>
    <p:sldId id="271" r:id="rId24"/>
    <p:sldId id="307" r:id="rId25"/>
    <p:sldId id="272" r:id="rId26"/>
    <p:sldId id="273" r:id="rId27"/>
    <p:sldId id="282" r:id="rId28"/>
    <p:sldId id="309" r:id="rId29"/>
    <p:sldId id="283" r:id="rId30"/>
    <p:sldId id="310" r:id="rId31"/>
    <p:sldId id="284" r:id="rId32"/>
    <p:sldId id="288" r:id="rId33"/>
    <p:sldId id="285" r:id="rId34"/>
    <p:sldId id="289" r:id="rId35"/>
    <p:sldId id="290" r:id="rId36"/>
    <p:sldId id="291" r:id="rId37"/>
    <p:sldId id="317" r:id="rId38"/>
    <p:sldId id="292" r:id="rId39"/>
    <p:sldId id="312" r:id="rId40"/>
    <p:sldId id="293" r:id="rId41"/>
    <p:sldId id="294" r:id="rId42"/>
    <p:sldId id="295" r:id="rId43"/>
    <p:sldId id="313" r:id="rId44"/>
    <p:sldId id="296" r:id="rId45"/>
    <p:sldId id="297" r:id="rId46"/>
    <p:sldId id="314" r:id="rId47"/>
    <p:sldId id="298" r:id="rId48"/>
    <p:sldId id="300" r:id="rId49"/>
    <p:sldId id="315" r:id="rId50"/>
    <p:sldId id="302" r:id="rId51"/>
    <p:sldId id="303" r:id="rId52"/>
    <p:sldId id="316" r:id="rId53"/>
    <p:sldId id="304" r:id="rId54"/>
    <p:sldId id="259"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9" autoAdjust="0"/>
    <p:restoredTop sz="94660"/>
  </p:normalViewPr>
  <p:slideViewPr>
    <p:cSldViewPr snapToGrid="0">
      <p:cViewPr>
        <p:scale>
          <a:sx n="81" d="100"/>
          <a:sy n="81" d="100"/>
        </p:scale>
        <p:origin x="-21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6291486-6343-443F-B3DB-2B78D474D91D}" type="datetimeFigureOut">
              <a:rPr lang="en-US" smtClean="0"/>
              <a:pPr/>
              <a:t>7/22/2024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877C9E-EC90-458D-BDF6-F29EAF5A7442}" type="slidenum">
              <a:rPr lang="en-US" smtClean="0"/>
              <a:pPr/>
              <a:t>‹#›</a:t>
            </a:fld>
            <a:endParaRPr lang="en-US"/>
          </a:p>
        </p:txBody>
      </p:sp>
    </p:spTree>
    <p:extLst>
      <p:ext uri="{BB962C8B-B14F-4D97-AF65-F5344CB8AC3E}">
        <p14:creationId xmlns:p14="http://schemas.microsoft.com/office/powerpoint/2010/main" val="3823656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291486-6343-443F-B3DB-2B78D474D91D}" type="datetimeFigureOut">
              <a:rPr lang="en-US" smtClean="0"/>
              <a:pPr/>
              <a:t>7/22/2024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877C9E-EC90-458D-BDF6-F29EAF5A7442}" type="slidenum">
              <a:rPr lang="en-US" smtClean="0"/>
              <a:pPr/>
              <a:t>‹#›</a:t>
            </a:fld>
            <a:endParaRPr lang="en-US"/>
          </a:p>
        </p:txBody>
      </p:sp>
    </p:spTree>
    <p:extLst>
      <p:ext uri="{BB962C8B-B14F-4D97-AF65-F5344CB8AC3E}">
        <p14:creationId xmlns:p14="http://schemas.microsoft.com/office/powerpoint/2010/main" val="95009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291486-6343-443F-B3DB-2B78D474D91D}" type="datetimeFigureOut">
              <a:rPr lang="en-US" smtClean="0"/>
              <a:pPr/>
              <a:t>7/22/2024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877C9E-EC90-458D-BDF6-F29EAF5A7442}" type="slidenum">
              <a:rPr lang="en-US" smtClean="0"/>
              <a:pPr/>
              <a:t>‹#›</a:t>
            </a:fld>
            <a:endParaRPr lang="en-US"/>
          </a:p>
        </p:txBody>
      </p:sp>
    </p:spTree>
    <p:extLst>
      <p:ext uri="{BB962C8B-B14F-4D97-AF65-F5344CB8AC3E}">
        <p14:creationId xmlns:p14="http://schemas.microsoft.com/office/powerpoint/2010/main" val="2406384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6291486-6343-443F-B3DB-2B78D474D91D}" type="datetimeFigureOut">
              <a:rPr lang="en-US" smtClean="0"/>
              <a:pPr/>
              <a:t>7/22/2024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877C9E-EC90-458D-BDF6-F29EAF5A7442}" type="slidenum">
              <a:rPr lang="en-US" smtClean="0"/>
              <a:pPr/>
              <a:t>‹#›</a:t>
            </a:fld>
            <a:endParaRPr lang="en-US"/>
          </a:p>
        </p:txBody>
      </p:sp>
    </p:spTree>
    <p:extLst>
      <p:ext uri="{BB962C8B-B14F-4D97-AF65-F5344CB8AC3E}">
        <p14:creationId xmlns:p14="http://schemas.microsoft.com/office/powerpoint/2010/main" val="2639381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291486-6343-443F-B3DB-2B78D474D91D}" type="datetimeFigureOut">
              <a:rPr lang="en-US" smtClean="0"/>
              <a:pPr/>
              <a:t>7/22/2024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877C9E-EC90-458D-BDF6-F29EAF5A7442}" type="slidenum">
              <a:rPr lang="en-US" smtClean="0"/>
              <a:pPr/>
              <a:t>‹#›</a:t>
            </a:fld>
            <a:endParaRPr lang="en-US"/>
          </a:p>
        </p:txBody>
      </p:sp>
    </p:spTree>
    <p:extLst>
      <p:ext uri="{BB962C8B-B14F-4D97-AF65-F5344CB8AC3E}">
        <p14:creationId xmlns:p14="http://schemas.microsoft.com/office/powerpoint/2010/main" val="3699919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291486-6343-443F-B3DB-2B78D474D91D}" type="datetimeFigureOut">
              <a:rPr lang="en-US" smtClean="0"/>
              <a:pPr/>
              <a:t>7/22/2024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877C9E-EC90-458D-BDF6-F29EAF5A7442}" type="slidenum">
              <a:rPr lang="en-US" smtClean="0"/>
              <a:pPr/>
              <a:t>‹#›</a:t>
            </a:fld>
            <a:endParaRPr lang="en-US"/>
          </a:p>
        </p:txBody>
      </p:sp>
    </p:spTree>
    <p:extLst>
      <p:ext uri="{BB962C8B-B14F-4D97-AF65-F5344CB8AC3E}">
        <p14:creationId xmlns:p14="http://schemas.microsoft.com/office/powerpoint/2010/main" val="1215642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291486-6343-443F-B3DB-2B78D474D91D}" type="datetimeFigureOut">
              <a:rPr lang="en-US" smtClean="0"/>
              <a:pPr/>
              <a:t>7/22/2024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877C9E-EC90-458D-BDF6-F29EAF5A7442}" type="slidenum">
              <a:rPr lang="en-US" smtClean="0"/>
              <a:pPr/>
              <a:t>‹#›</a:t>
            </a:fld>
            <a:endParaRPr lang="en-US"/>
          </a:p>
        </p:txBody>
      </p:sp>
    </p:spTree>
    <p:extLst>
      <p:ext uri="{BB962C8B-B14F-4D97-AF65-F5344CB8AC3E}">
        <p14:creationId xmlns:p14="http://schemas.microsoft.com/office/powerpoint/2010/main" val="2423451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291486-6343-443F-B3DB-2B78D474D91D}" type="datetimeFigureOut">
              <a:rPr lang="en-US" smtClean="0"/>
              <a:pPr/>
              <a:t>7/22/2024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877C9E-EC90-458D-BDF6-F29EAF5A7442}" type="slidenum">
              <a:rPr lang="en-US" smtClean="0"/>
              <a:pPr/>
              <a:t>‹#›</a:t>
            </a:fld>
            <a:endParaRPr lang="en-US"/>
          </a:p>
        </p:txBody>
      </p:sp>
    </p:spTree>
    <p:extLst>
      <p:ext uri="{BB962C8B-B14F-4D97-AF65-F5344CB8AC3E}">
        <p14:creationId xmlns:p14="http://schemas.microsoft.com/office/powerpoint/2010/main" val="209585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291486-6343-443F-B3DB-2B78D474D91D}" type="datetimeFigureOut">
              <a:rPr lang="en-US" smtClean="0"/>
              <a:pPr/>
              <a:t>7/22/2024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877C9E-EC90-458D-BDF6-F29EAF5A7442}" type="slidenum">
              <a:rPr lang="en-US" smtClean="0"/>
              <a:pPr/>
              <a:t>‹#›</a:t>
            </a:fld>
            <a:endParaRPr lang="en-US"/>
          </a:p>
        </p:txBody>
      </p:sp>
    </p:spTree>
    <p:extLst>
      <p:ext uri="{BB962C8B-B14F-4D97-AF65-F5344CB8AC3E}">
        <p14:creationId xmlns:p14="http://schemas.microsoft.com/office/powerpoint/2010/main" val="3932940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291486-6343-443F-B3DB-2B78D474D91D}" type="datetimeFigureOut">
              <a:rPr lang="en-US" smtClean="0"/>
              <a:pPr/>
              <a:t>7/22/2024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877C9E-EC90-458D-BDF6-F29EAF5A7442}" type="slidenum">
              <a:rPr lang="en-US" smtClean="0"/>
              <a:pPr/>
              <a:t>‹#›</a:t>
            </a:fld>
            <a:endParaRPr lang="en-US"/>
          </a:p>
        </p:txBody>
      </p:sp>
    </p:spTree>
    <p:extLst>
      <p:ext uri="{BB962C8B-B14F-4D97-AF65-F5344CB8AC3E}">
        <p14:creationId xmlns:p14="http://schemas.microsoft.com/office/powerpoint/2010/main" val="3608089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291486-6343-443F-B3DB-2B78D474D91D}" type="datetimeFigureOut">
              <a:rPr lang="en-US" smtClean="0"/>
              <a:pPr/>
              <a:t>7/22/2024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877C9E-EC90-458D-BDF6-F29EAF5A7442}" type="slidenum">
              <a:rPr lang="en-US" smtClean="0"/>
              <a:pPr/>
              <a:t>‹#›</a:t>
            </a:fld>
            <a:endParaRPr lang="en-US"/>
          </a:p>
        </p:txBody>
      </p:sp>
    </p:spTree>
    <p:extLst>
      <p:ext uri="{BB962C8B-B14F-4D97-AF65-F5344CB8AC3E}">
        <p14:creationId xmlns:p14="http://schemas.microsoft.com/office/powerpoint/2010/main" val="529612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291486-6343-443F-B3DB-2B78D474D91D}" type="datetimeFigureOut">
              <a:rPr lang="en-US" smtClean="0"/>
              <a:pPr/>
              <a:t>7/22/2024</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877C9E-EC90-458D-BDF6-F29EAF5A7442}" type="slidenum">
              <a:rPr lang="en-US" smtClean="0"/>
              <a:pPr/>
              <a:t>‹#›</a:t>
            </a:fld>
            <a:endParaRPr lang="en-US"/>
          </a:p>
        </p:txBody>
      </p:sp>
    </p:spTree>
    <p:extLst>
      <p:ext uri="{BB962C8B-B14F-4D97-AF65-F5344CB8AC3E}">
        <p14:creationId xmlns:p14="http://schemas.microsoft.com/office/powerpoint/2010/main" val="3177565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4766762" y="1819072"/>
            <a:ext cx="1904689" cy="707886"/>
          </a:xfrm>
          <a:prstGeom prst="rect">
            <a:avLst/>
          </a:prstGeom>
          <a:noFill/>
        </p:spPr>
        <p:txBody>
          <a:bodyPr wrap="none" rtlCol="0">
            <a:spAutoFit/>
          </a:bodyPr>
          <a:lstStyle/>
          <a:p>
            <a:pPr algn="ctr"/>
            <a:r>
              <a:rPr lang="en-US" sz="4000" b="1" dirty="0" smtClean="0">
                <a:effectLst/>
                <a:latin typeface="Poppins" panose="00000500000000000000" pitchFamily="2" charset="0"/>
                <a:cs typeface="Poppins" panose="00000500000000000000" pitchFamily="2" charset="0"/>
              </a:rPr>
              <a:t>Unit-III</a:t>
            </a:r>
            <a:endParaRPr lang="en-US" sz="3600" b="1"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0062844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4620911" y="2684833"/>
            <a:ext cx="2898569" cy="646331"/>
          </a:xfrm>
          <a:prstGeom prst="rect">
            <a:avLst/>
          </a:prstGeom>
          <a:noFill/>
        </p:spPr>
        <p:txBody>
          <a:bodyPr wrap="square" rtlCol="0">
            <a:spAutoFit/>
          </a:bodyPr>
          <a:lstStyle/>
          <a:p>
            <a:pPr algn="ctr"/>
            <a:r>
              <a:rPr lang="en-US" sz="3600" b="1" dirty="0">
                <a:latin typeface="Poppins" panose="00000500000000000000" pitchFamily="2" charset="0"/>
                <a:cs typeface="Poppins" panose="00000500000000000000" pitchFamily="2" charset="0"/>
              </a:rPr>
              <a:t>CHAPTER </a:t>
            </a:r>
            <a:r>
              <a:rPr lang="en-US" sz="3600" b="1" dirty="0" smtClean="0">
                <a:latin typeface="Poppins" panose="00000500000000000000" pitchFamily="2" charset="0"/>
                <a:cs typeface="Poppins" panose="00000500000000000000" pitchFamily="2" charset="0"/>
              </a:rPr>
              <a:t>3</a:t>
            </a:r>
            <a:endParaRPr lang="en-US" sz="3600" b="1" dirty="0">
              <a:latin typeface="Poppins" panose="00000500000000000000" pitchFamily="2" charset="0"/>
              <a:cs typeface="Poppins" panose="00000500000000000000" pitchFamily="2" charset="0"/>
            </a:endParaRPr>
          </a:p>
        </p:txBody>
      </p:sp>
      <p:sp>
        <p:nvSpPr>
          <p:cNvPr id="5" name="Rectangle 4"/>
          <p:cNvSpPr/>
          <p:nvPr/>
        </p:nvSpPr>
        <p:spPr>
          <a:xfrm>
            <a:off x="1630017" y="3623713"/>
            <a:ext cx="9259735" cy="707886"/>
          </a:xfrm>
          <a:prstGeom prst="rect">
            <a:avLst/>
          </a:prstGeom>
        </p:spPr>
        <p:txBody>
          <a:bodyPr wrap="square">
            <a:spAutoFit/>
          </a:bodyPr>
          <a:lstStyle/>
          <a:p>
            <a:pPr algn="ctr"/>
            <a:r>
              <a:rPr lang="en-IN" sz="4000" dirty="0" smtClean="0"/>
              <a:t>JSP: Java Server Programming</a:t>
            </a:r>
            <a:endParaRPr lang="en-US" sz="4000" b="1"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2949337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pPr algn="ctr">
              <a:buNone/>
            </a:pPr>
            <a:endParaRPr lang="en-IN" sz="4400" b="1" dirty="0" smtClean="0">
              <a:latin typeface="Times New Roman" pitchFamily="18" charset="0"/>
              <a:cs typeface="Times New Roman" pitchFamily="18" charset="0"/>
            </a:endParaRPr>
          </a:p>
          <a:p>
            <a:pPr algn="ctr">
              <a:buNone/>
            </a:pPr>
            <a:endParaRPr lang="en-IN" sz="4400" b="1" dirty="0" smtClean="0">
              <a:latin typeface="Times New Roman" pitchFamily="18" charset="0"/>
              <a:cs typeface="Times New Roman" pitchFamily="18" charset="0"/>
            </a:endParaRPr>
          </a:p>
        </p:txBody>
      </p:sp>
      <p:sp>
        <p:nvSpPr>
          <p:cNvPr id="6" name="Rectangle 5"/>
          <p:cNvSpPr/>
          <p:nvPr/>
        </p:nvSpPr>
        <p:spPr>
          <a:xfrm>
            <a:off x="0" y="3424930"/>
            <a:ext cx="12191999" cy="707886"/>
          </a:xfrm>
          <a:prstGeom prst="rect">
            <a:avLst/>
          </a:prstGeom>
          <a:solidFill>
            <a:srgbClr val="FFFFCC"/>
          </a:solidFill>
        </p:spPr>
        <p:txBody>
          <a:bodyPr wrap="square">
            <a:spAutoFit/>
          </a:bodyPr>
          <a:lstStyle/>
          <a:p>
            <a:pPr algn="ctr"/>
            <a:r>
              <a:rPr lang="en-IN" sz="4000" dirty="0" smtClean="0">
                <a:latin typeface="Times New Roman" pitchFamily="18" charset="0"/>
                <a:cs typeface="Times New Roman" pitchFamily="18" charset="0"/>
              </a:rPr>
              <a:t>Introduction</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pPr>
              <a:spcBef>
                <a:spcPts val="1000"/>
              </a:spcBef>
            </a:pPr>
            <a:r>
              <a:rPr lang="en-US" sz="3600" b="1" dirty="0" smtClean="0">
                <a:latin typeface="Times New Roman" pitchFamily="18" charset="0"/>
                <a:cs typeface="Times New Roman" pitchFamily="18" charset="0"/>
              </a:rPr>
              <a:t>What are Java Server Pages (JSP)?</a:t>
            </a:r>
            <a:endParaRPr lang="en-IN" sz="3200" b="1" dirty="0">
              <a:latin typeface="Times New Roman" pitchFamily="18" charset="0"/>
              <a:ea typeface="+mn-ea"/>
              <a:cs typeface="Times New Roman" pitchFamily="18" charset="0"/>
            </a:endParaRPr>
          </a:p>
        </p:txBody>
      </p:sp>
      <p:sp>
        <p:nvSpPr>
          <p:cNvPr id="4" name="Content Placeholder 3"/>
          <p:cNvSpPr>
            <a:spLocks noGrp="1"/>
          </p:cNvSpPr>
          <p:nvPr>
            <p:ph idx="1"/>
          </p:nvPr>
        </p:nvSpPr>
        <p:spPr>
          <a:xfrm>
            <a:off x="428625" y="2082800"/>
            <a:ext cx="10515600" cy="4351338"/>
          </a:xfrm>
        </p:spPr>
        <p:txBody>
          <a:bodyPr>
            <a:normAutofit/>
          </a:bodyPr>
          <a:lstStyle/>
          <a:p>
            <a:pPr>
              <a:buFont typeface="Wingdings" pitchFamily="2" charset="2"/>
              <a:buChar char="v"/>
            </a:pPr>
            <a:endParaRPr lang="en-US" dirty="0" smtClean="0"/>
          </a:p>
          <a:p>
            <a:pPr>
              <a:buFont typeface="Wingdings" pitchFamily="2" charset="2"/>
              <a:buChar char="v"/>
            </a:pPr>
            <a:r>
              <a:rPr lang="en-US" dirty="0" smtClean="0">
                <a:latin typeface="Times New Roman" pitchFamily="18" charset="0"/>
                <a:cs typeface="Times New Roman" pitchFamily="18" charset="0"/>
              </a:rPr>
              <a:t>JSP is a server-side technology used to develop dynamic web content.</a:t>
            </a:r>
          </a:p>
          <a:p>
            <a:pPr>
              <a:buFont typeface="Wingdings" pitchFamily="2" charset="2"/>
              <a:buChar char="v"/>
            </a:pPr>
            <a:r>
              <a:rPr lang="en-US" dirty="0" smtClean="0">
                <a:latin typeface="Times New Roman" pitchFamily="18" charset="0"/>
                <a:cs typeface="Times New Roman" pitchFamily="18" charset="0"/>
              </a:rPr>
              <a:t>It combines HTML tags with snippets of Java code embedded within.</a:t>
            </a:r>
          </a:p>
          <a:p>
            <a:pPr>
              <a:buFont typeface="Wingdings" pitchFamily="2" charset="2"/>
              <a:buChar char="v"/>
            </a:pPr>
            <a:r>
              <a:rPr lang="en-US" dirty="0" smtClean="0">
                <a:latin typeface="Times New Roman" pitchFamily="18" charset="0"/>
                <a:cs typeface="Times New Roman" pitchFamily="18" charset="0"/>
              </a:rPr>
              <a:t>JSP pages are compiled into Java Servlet before execution on the server.</a:t>
            </a:r>
          </a:p>
          <a:p>
            <a:pPr>
              <a:buFont typeface="Wingdings" pitchFamily="2" charset="2"/>
              <a:buChar char="v"/>
            </a:pPr>
            <a:r>
              <a:rPr lang="en-US" dirty="0" smtClean="0">
                <a:latin typeface="Times New Roman" pitchFamily="18" charset="0"/>
                <a:cs typeface="Times New Roman" pitchFamily="18" charset="0"/>
              </a:rPr>
              <a:t>This allows for dynamic content generation based on user requests or server-side logic.</a:t>
            </a:r>
          </a:p>
          <a:p>
            <a:pPr>
              <a:buNone/>
            </a:pPr>
            <a:endParaRPr lang="en-IN" dirty="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pPr>
              <a:spcBef>
                <a:spcPts val="1000"/>
              </a:spcBef>
            </a:pPr>
            <a:r>
              <a:rPr lang="en-US" sz="3600" b="1" dirty="0" smtClean="0">
                <a:latin typeface="Times New Roman" pitchFamily="18" charset="0"/>
                <a:cs typeface="Times New Roman" pitchFamily="18" charset="0"/>
              </a:rPr>
              <a:t>Purpose of JSP</a:t>
            </a:r>
            <a:endParaRPr lang="en-IN" sz="3400" b="1" dirty="0">
              <a:latin typeface="Times New Roman" pitchFamily="18" charset="0"/>
              <a:ea typeface="+mn-ea"/>
              <a:cs typeface="Times New Roman" pitchFamily="18" charset="0"/>
            </a:endParaRPr>
          </a:p>
        </p:txBody>
      </p:sp>
      <p:sp>
        <p:nvSpPr>
          <p:cNvPr id="4" name="Content Placeholder 3"/>
          <p:cNvSpPr>
            <a:spLocks noGrp="1"/>
          </p:cNvSpPr>
          <p:nvPr>
            <p:ph idx="1"/>
          </p:nvPr>
        </p:nvSpPr>
        <p:spPr>
          <a:xfrm>
            <a:off x="428625" y="2082800"/>
            <a:ext cx="10515600" cy="4351338"/>
          </a:xfrm>
        </p:spPr>
        <p:txBody>
          <a:bodyPr>
            <a:normAutofit lnSpcReduction="10000"/>
          </a:bodyPr>
          <a:lstStyle/>
          <a:p>
            <a:pPr>
              <a:buFont typeface="Wingdings" pitchFamily="2" charset="2"/>
              <a:buChar char="v"/>
            </a:pPr>
            <a:r>
              <a:rPr lang="en-US" dirty="0" smtClean="0">
                <a:latin typeface="Times New Roman" pitchFamily="18" charset="0"/>
                <a:cs typeface="Times New Roman" pitchFamily="18" charset="0"/>
              </a:rPr>
              <a:t>Create dynamic web pages that adapt to user input and server-side conditions.</a:t>
            </a:r>
          </a:p>
          <a:p>
            <a:pPr>
              <a:buFont typeface="Wingdings" pitchFamily="2" charset="2"/>
              <a:buChar char="v"/>
            </a:pPr>
            <a:r>
              <a:rPr lang="en-US" dirty="0" smtClean="0">
                <a:latin typeface="Times New Roman" pitchFamily="18" charset="0"/>
                <a:cs typeface="Times New Roman" pitchFamily="18" charset="0"/>
              </a:rPr>
              <a:t>Generate content based on database queries, user sessions, or application logic.</a:t>
            </a:r>
          </a:p>
          <a:p>
            <a:pPr>
              <a:buFont typeface="Wingdings" pitchFamily="2" charset="2"/>
              <a:buChar char="v"/>
            </a:pPr>
            <a:r>
              <a:rPr lang="en-US" dirty="0" smtClean="0">
                <a:latin typeface="Times New Roman" pitchFamily="18" charset="0"/>
                <a:cs typeface="Times New Roman" pitchFamily="18" charset="0"/>
              </a:rPr>
              <a:t>Facilitate interaction with various back-end resources like databases and web services.</a:t>
            </a:r>
          </a:p>
          <a:p>
            <a:pPr>
              <a:buFont typeface="Wingdings" pitchFamily="2" charset="2"/>
              <a:buChar char="v"/>
            </a:pPr>
            <a:r>
              <a:rPr lang="en-US" dirty="0" smtClean="0">
                <a:latin typeface="Times New Roman" pitchFamily="18" charset="0"/>
                <a:cs typeface="Times New Roman" pitchFamily="18" charset="0"/>
              </a:rPr>
              <a:t>Simplify development by separating presentation logic (HTML) from business logic (Java code).</a:t>
            </a:r>
          </a:p>
          <a:p>
            <a:pPr>
              <a:buFont typeface="Wingdings" pitchFamily="2" charset="2"/>
              <a:buChar char="v"/>
            </a:pPr>
            <a:r>
              <a:rPr lang="en-US" dirty="0" smtClean="0">
                <a:latin typeface="Times New Roman" pitchFamily="18" charset="0"/>
                <a:cs typeface="Times New Roman" pitchFamily="18" charset="0"/>
              </a:rPr>
              <a:t>Enhance user experience with interactive features and personalized content.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024696" cy="711444"/>
          </a:xfrm>
          <a:solidFill>
            <a:srgbClr val="FFFFCC"/>
          </a:solidFill>
        </p:spPr>
        <p:txBody>
          <a:bodyPr>
            <a:normAutofit/>
          </a:bodyPr>
          <a:lstStyle/>
          <a:p>
            <a:pPr>
              <a:spcBef>
                <a:spcPts val="1000"/>
              </a:spcBef>
            </a:pPr>
            <a:r>
              <a:rPr lang="en-US" sz="3600" b="1" dirty="0" smtClean="0">
                <a:latin typeface="Times New Roman" pitchFamily="18" charset="0"/>
                <a:cs typeface="Times New Roman" pitchFamily="18" charset="0"/>
              </a:rPr>
              <a:t>Importance of JSP in Web Development</a:t>
            </a:r>
            <a:endParaRPr lang="en-IN" sz="3400" b="1" dirty="0">
              <a:latin typeface="Times New Roman" pitchFamily="18" charset="0"/>
              <a:ea typeface="+mn-ea"/>
              <a:cs typeface="Times New Roman" pitchFamily="18" charset="0"/>
            </a:endParaRPr>
          </a:p>
        </p:txBody>
      </p:sp>
      <p:sp>
        <p:nvSpPr>
          <p:cNvPr id="4" name="Content Placeholder 3"/>
          <p:cNvSpPr>
            <a:spLocks noGrp="1"/>
          </p:cNvSpPr>
          <p:nvPr>
            <p:ph idx="1"/>
          </p:nvPr>
        </p:nvSpPr>
        <p:spPr>
          <a:xfrm>
            <a:off x="428625" y="2082800"/>
            <a:ext cx="10515600" cy="4351338"/>
          </a:xfrm>
        </p:spPr>
        <p:txBody>
          <a:bodyPr>
            <a:normAutofit/>
          </a:bodyPr>
          <a:lstStyle/>
          <a:p>
            <a:pPr>
              <a:buFont typeface="Wingdings" pitchFamily="2" charset="2"/>
              <a:buChar char="v"/>
            </a:pPr>
            <a:r>
              <a:rPr lang="en-US" dirty="0" smtClean="0">
                <a:latin typeface="Times New Roman" pitchFamily="18" charset="0"/>
                <a:cs typeface="Times New Roman" pitchFamily="18" charset="0"/>
              </a:rPr>
              <a:t>Promotes separation of concerns, making code more maintainable and reusable.</a:t>
            </a:r>
          </a:p>
          <a:p>
            <a:pPr>
              <a:buFont typeface="Wingdings" pitchFamily="2" charset="2"/>
              <a:buChar char="v"/>
            </a:pPr>
            <a:r>
              <a:rPr lang="en-US" dirty="0" smtClean="0">
                <a:latin typeface="Times New Roman" pitchFamily="18" charset="0"/>
                <a:cs typeface="Times New Roman" pitchFamily="18" charset="0"/>
              </a:rPr>
              <a:t>Reduces development time by offering pre-defined tags and expression language.</a:t>
            </a:r>
          </a:p>
          <a:p>
            <a:pPr>
              <a:buFont typeface="Wingdings" pitchFamily="2" charset="2"/>
              <a:buChar char="v"/>
            </a:pPr>
            <a:r>
              <a:rPr lang="en-US" dirty="0" smtClean="0">
                <a:latin typeface="Times New Roman" pitchFamily="18" charset="0"/>
                <a:cs typeface="Times New Roman" pitchFamily="18" charset="0"/>
              </a:rPr>
              <a:t>Enables seamless integration with Java frameworks and libraries.</a:t>
            </a:r>
          </a:p>
          <a:p>
            <a:pPr>
              <a:buFont typeface="Wingdings" pitchFamily="2" charset="2"/>
              <a:buChar char="v"/>
            </a:pPr>
            <a:r>
              <a:rPr lang="en-US" dirty="0" smtClean="0">
                <a:latin typeface="Times New Roman" pitchFamily="18" charset="0"/>
                <a:cs typeface="Times New Roman" pitchFamily="18" charset="0"/>
              </a:rPr>
              <a:t>Offers a mature and widely adopted technology with a large developer community.</a:t>
            </a:r>
          </a:p>
          <a:p>
            <a:pPr>
              <a:buFont typeface="Wingdings" pitchFamily="2" charset="2"/>
              <a:buChar char="v"/>
            </a:pPr>
            <a:r>
              <a:rPr lang="en-US" dirty="0" smtClean="0">
                <a:latin typeface="Times New Roman" pitchFamily="18" charset="0"/>
                <a:cs typeface="Times New Roman" pitchFamily="18" charset="0"/>
              </a:rPr>
              <a:t>Provides a cost-effective solution for building dynamic web applications.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pPr algn="ctr">
              <a:buNone/>
            </a:pPr>
            <a:endParaRPr lang="en-IN" sz="4400" b="1" dirty="0" smtClean="0">
              <a:latin typeface="Times New Roman" pitchFamily="18" charset="0"/>
              <a:cs typeface="Times New Roman" pitchFamily="18" charset="0"/>
            </a:endParaRPr>
          </a:p>
          <a:p>
            <a:pPr algn="ctr">
              <a:buNone/>
            </a:pPr>
            <a:endParaRPr lang="en-IN" sz="4400" b="1" dirty="0" smtClean="0">
              <a:latin typeface="Times New Roman" pitchFamily="18" charset="0"/>
              <a:cs typeface="Times New Roman" pitchFamily="18" charset="0"/>
            </a:endParaRPr>
          </a:p>
        </p:txBody>
      </p:sp>
      <p:sp>
        <p:nvSpPr>
          <p:cNvPr id="5" name="Rectangle 4"/>
          <p:cNvSpPr/>
          <p:nvPr/>
        </p:nvSpPr>
        <p:spPr>
          <a:xfrm>
            <a:off x="0" y="3530947"/>
            <a:ext cx="12191999" cy="707886"/>
          </a:xfrm>
          <a:prstGeom prst="rect">
            <a:avLst/>
          </a:prstGeom>
          <a:solidFill>
            <a:srgbClr val="FFFFCC"/>
          </a:solidFill>
        </p:spPr>
        <p:txBody>
          <a:bodyPr wrap="square">
            <a:spAutoFit/>
          </a:bodyPr>
          <a:lstStyle/>
          <a:p>
            <a:pPr algn="ctr"/>
            <a:r>
              <a:rPr lang="en-IN" sz="4000" dirty="0" smtClean="0">
                <a:latin typeface="Times New Roman" pitchFamily="18" charset="0"/>
                <a:cs typeface="Times New Roman" pitchFamily="18" charset="0"/>
              </a:rPr>
              <a:t>JSP Architecture</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pPr>
              <a:spcBef>
                <a:spcPts val="1000"/>
              </a:spcBef>
            </a:pPr>
            <a:r>
              <a:rPr lang="en-US" sz="3600" b="1" dirty="0" smtClean="0">
                <a:latin typeface="Times New Roman" pitchFamily="18" charset="0"/>
                <a:cs typeface="Times New Roman" pitchFamily="18" charset="0"/>
              </a:rPr>
              <a:t>Translation - From Script to Servlet</a:t>
            </a:r>
            <a:endParaRPr lang="en-IN" sz="3400" b="1" dirty="0">
              <a:latin typeface="Times New Roman" pitchFamily="18" charset="0"/>
              <a:ea typeface="+mn-ea"/>
              <a:cs typeface="Times New Roman" pitchFamily="18" charset="0"/>
            </a:endParaRPr>
          </a:p>
        </p:txBody>
      </p:sp>
      <p:sp>
        <p:nvSpPr>
          <p:cNvPr id="4" name="Content Placeholder 3"/>
          <p:cNvSpPr>
            <a:spLocks noGrp="1"/>
          </p:cNvSpPr>
          <p:nvPr>
            <p:ph idx="1"/>
          </p:nvPr>
        </p:nvSpPr>
        <p:spPr>
          <a:xfrm>
            <a:off x="428625" y="2082800"/>
            <a:ext cx="10515600" cy="4351338"/>
          </a:xfrm>
        </p:spPr>
        <p:txBody>
          <a:bodyPr>
            <a:normAutofit/>
          </a:bodyPr>
          <a:lstStyle/>
          <a:p>
            <a:endParaRPr lang="en-US" dirty="0" smtClean="0">
              <a:latin typeface="Times New Roman" pitchFamily="18" charset="0"/>
              <a:cs typeface="Times New Roman" pitchFamily="18" charset="0"/>
            </a:endParaRPr>
          </a:p>
          <a:p>
            <a:pPr>
              <a:buFont typeface="Wingdings" pitchFamily="2" charset="2"/>
              <a:buChar char="v"/>
            </a:pPr>
            <a:r>
              <a:rPr lang="en-US" dirty="0" smtClean="0">
                <a:latin typeface="Times New Roman" pitchFamily="18" charset="0"/>
                <a:cs typeface="Times New Roman" pitchFamily="18" charset="0"/>
              </a:rPr>
              <a:t>The very first step in the JSP life cycle.</a:t>
            </a:r>
          </a:p>
          <a:p>
            <a:pPr>
              <a:buFont typeface="Wingdings" pitchFamily="2" charset="2"/>
              <a:buChar char="v"/>
            </a:pPr>
            <a:r>
              <a:rPr lang="en-US" dirty="0" smtClean="0">
                <a:latin typeface="Times New Roman" pitchFamily="18" charset="0"/>
                <a:cs typeface="Times New Roman" pitchFamily="18" charset="0"/>
              </a:rPr>
              <a:t>The JSP container translates the JSP page into a corresponding Servlet class.</a:t>
            </a:r>
          </a:p>
          <a:p>
            <a:pPr>
              <a:buFont typeface="Wingdings" pitchFamily="2" charset="2"/>
              <a:buChar char="v"/>
            </a:pPr>
            <a:r>
              <a:rPr lang="en-US" dirty="0" smtClean="0">
                <a:latin typeface="Times New Roman" pitchFamily="18" charset="0"/>
                <a:cs typeface="Times New Roman" pitchFamily="18" charset="0"/>
              </a:rPr>
              <a:t>This Servlet class is essentially a Java program that mirrors the structure of the JSP page.</a:t>
            </a:r>
          </a:p>
          <a:p>
            <a:pPr>
              <a:buFont typeface="Wingdings" pitchFamily="2" charset="2"/>
              <a:buChar char="v"/>
            </a:pPr>
            <a:r>
              <a:rPr lang="en-US" dirty="0" smtClean="0">
                <a:latin typeface="Times New Roman" pitchFamily="18" charset="0"/>
                <a:cs typeface="Times New Roman" pitchFamily="18" charset="0"/>
              </a:rPr>
              <a:t>During translation, JSP tags are converted into equivalent Java code snippets.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r>
              <a:rPr lang="en-US" sz="3600" b="1" dirty="0" smtClean="0">
                <a:latin typeface="Times New Roman" pitchFamily="18" charset="0"/>
                <a:cs typeface="Times New Roman" pitchFamily="18" charset="0"/>
              </a:rPr>
              <a:t>Definition and Syntax</a:t>
            </a:r>
          </a:p>
        </p:txBody>
      </p:sp>
      <p:sp>
        <p:nvSpPr>
          <p:cNvPr id="4" name="Content Placeholder 3"/>
          <p:cNvSpPr>
            <a:spLocks noGrp="1"/>
          </p:cNvSpPr>
          <p:nvPr>
            <p:ph idx="1"/>
          </p:nvPr>
        </p:nvSpPr>
        <p:spPr>
          <a:xfrm>
            <a:off x="428625" y="2082800"/>
            <a:ext cx="10515600" cy="4351338"/>
          </a:xfrm>
        </p:spPr>
        <p:txBody>
          <a:bodyPr>
            <a:normAutofit/>
          </a:bodyPr>
          <a:lstStyle/>
          <a:p>
            <a:endParaRPr lang="en-US" sz="1800" dirty="0" smtClean="0"/>
          </a:p>
          <a:p>
            <a:pPr>
              <a:buFont typeface="Wingdings" pitchFamily="2" charset="2"/>
              <a:buChar char="v"/>
            </a:pPr>
            <a:r>
              <a:rPr lang="en-US" dirty="0" smtClean="0">
                <a:latin typeface="Times New Roman" pitchFamily="18" charset="0"/>
                <a:cs typeface="Times New Roman" pitchFamily="18" charset="0"/>
              </a:rPr>
              <a:t>The translated Servlet class undergoes compilation.</a:t>
            </a:r>
          </a:p>
          <a:p>
            <a:pPr>
              <a:buFont typeface="Wingdings" pitchFamily="2" charset="2"/>
              <a:buChar char="v"/>
            </a:pPr>
            <a:r>
              <a:rPr lang="en-US" dirty="0" smtClean="0">
                <a:latin typeface="Times New Roman" pitchFamily="18" charset="0"/>
                <a:cs typeface="Times New Roman" pitchFamily="18" charset="0"/>
              </a:rPr>
              <a:t>The Java compiler converts the human-readable Java code into </a:t>
            </a:r>
            <a:r>
              <a:rPr lang="en-US" dirty="0" err="1" smtClean="0">
                <a:latin typeface="Times New Roman" pitchFamily="18" charset="0"/>
                <a:cs typeface="Times New Roman" pitchFamily="18" charset="0"/>
              </a:rPr>
              <a:t>bytecode</a:t>
            </a:r>
            <a:r>
              <a:rPr lang="en-US" dirty="0" smtClean="0">
                <a:latin typeface="Times New Roman" pitchFamily="18" charset="0"/>
                <a:cs typeface="Times New Roman" pitchFamily="18" charset="0"/>
              </a:rPr>
              <a:t>, the machine-readable instructions that the Java Virtual Machine (JVM) can comprehend.</a:t>
            </a:r>
          </a:p>
          <a:p>
            <a:pPr>
              <a:buFont typeface="Wingdings" pitchFamily="2" charset="2"/>
              <a:buChar char="v"/>
            </a:pPr>
            <a:r>
              <a:rPr lang="en-US" dirty="0" smtClean="0">
                <a:latin typeface="Times New Roman" pitchFamily="18" charset="0"/>
                <a:cs typeface="Times New Roman" pitchFamily="18" charset="0"/>
              </a:rPr>
              <a:t>A successful compilation results in a .class file, representing the compiled version of the Servlet class.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r>
              <a:rPr lang="en-US" sz="3600" b="1" dirty="0" smtClean="0">
                <a:latin typeface="Times New Roman" pitchFamily="18" charset="0"/>
                <a:cs typeface="Times New Roman" pitchFamily="18" charset="0"/>
              </a:rPr>
              <a:t>Execution - The Powerhouse of JSP</a:t>
            </a:r>
          </a:p>
        </p:txBody>
      </p:sp>
      <p:sp>
        <p:nvSpPr>
          <p:cNvPr id="4" name="Content Placeholder 3"/>
          <p:cNvSpPr>
            <a:spLocks noGrp="1"/>
          </p:cNvSpPr>
          <p:nvPr>
            <p:ph idx="1"/>
          </p:nvPr>
        </p:nvSpPr>
        <p:spPr>
          <a:xfrm>
            <a:off x="428625" y="2082800"/>
            <a:ext cx="10515600" cy="4351338"/>
          </a:xfrm>
        </p:spPr>
        <p:txBody>
          <a:bodyPr>
            <a:normAutofit lnSpcReduction="10000"/>
          </a:bodyPr>
          <a:lstStyle/>
          <a:p>
            <a:pPr>
              <a:buFont typeface="Wingdings" pitchFamily="2" charset="2"/>
              <a:buChar char="v"/>
            </a:pPr>
            <a:r>
              <a:rPr lang="en-US" dirty="0" smtClean="0">
                <a:latin typeface="Times New Roman" pitchFamily="18" charset="0"/>
                <a:cs typeface="Times New Roman" pitchFamily="18" charset="0"/>
              </a:rPr>
              <a:t>The heart of the JSP life cycle, where the magic happens.</a:t>
            </a:r>
          </a:p>
          <a:p>
            <a:pPr>
              <a:buFont typeface="Wingdings" pitchFamily="2" charset="2"/>
              <a:buChar char="v"/>
            </a:pPr>
            <a:r>
              <a:rPr lang="en-US" dirty="0" smtClean="0">
                <a:latin typeface="Times New Roman" pitchFamily="18" charset="0"/>
                <a:cs typeface="Times New Roman" pitchFamily="18" charset="0"/>
              </a:rPr>
              <a:t>The JSP container loads the compiled Servlet class (.class file) into memory.</a:t>
            </a:r>
          </a:p>
          <a:p>
            <a:pPr>
              <a:buFont typeface="Wingdings" pitchFamily="2" charset="2"/>
              <a:buChar char="v"/>
            </a:pPr>
            <a:r>
              <a:rPr lang="en-US" dirty="0" smtClean="0">
                <a:latin typeface="Times New Roman" pitchFamily="18" charset="0"/>
                <a:cs typeface="Times New Roman" pitchFamily="18" charset="0"/>
              </a:rPr>
              <a:t>An instance of the Servlet class is created.</a:t>
            </a:r>
          </a:p>
          <a:p>
            <a:pPr>
              <a:buFont typeface="Wingdings" pitchFamily="2" charset="2"/>
              <a:buChar char="v"/>
            </a:pPr>
            <a:r>
              <a:rPr lang="en-US" dirty="0" smtClean="0">
                <a:latin typeface="Times New Roman" pitchFamily="18" charset="0"/>
                <a:cs typeface="Times New Roman" pitchFamily="18" charset="0"/>
              </a:rPr>
              <a:t>The container invokes lifecycle methods of the </a:t>
            </a:r>
            <a:r>
              <a:rPr lang="en-US" dirty="0" err="1" smtClean="0">
                <a:latin typeface="Times New Roman" pitchFamily="18" charset="0"/>
                <a:cs typeface="Times New Roman" pitchFamily="18" charset="0"/>
              </a:rPr>
              <a:t>servlet</a:t>
            </a:r>
            <a:r>
              <a:rPr lang="en-US" dirty="0" smtClean="0">
                <a:latin typeface="Times New Roman" pitchFamily="18" charset="0"/>
                <a:cs typeface="Times New Roman" pitchFamily="18" charset="0"/>
              </a:rPr>
              <a:t> class, including </a:t>
            </a:r>
            <a:r>
              <a:rPr lang="en-US" dirty="0" err="1" smtClean="0">
                <a:latin typeface="Times New Roman" pitchFamily="18" charset="0"/>
                <a:cs typeface="Times New Roman" pitchFamily="18" charset="0"/>
              </a:rPr>
              <a:t>jspInit</a:t>
            </a:r>
            <a:r>
              <a:rPr lang="en-US" dirty="0" smtClean="0">
                <a:latin typeface="Times New Roman" pitchFamily="18" charset="0"/>
                <a:cs typeface="Times New Roman" pitchFamily="18" charset="0"/>
              </a:rPr>
              <a:t>(), _</a:t>
            </a:r>
            <a:r>
              <a:rPr lang="en-US" dirty="0" err="1" smtClean="0">
                <a:latin typeface="Times New Roman" pitchFamily="18" charset="0"/>
                <a:cs typeface="Times New Roman" pitchFamily="18" charset="0"/>
              </a:rPr>
              <a:t>jspService</a:t>
            </a:r>
            <a:r>
              <a:rPr lang="en-US" dirty="0" smtClean="0">
                <a:latin typeface="Times New Roman" pitchFamily="18" charset="0"/>
                <a:cs typeface="Times New Roman" pitchFamily="18" charset="0"/>
              </a:rPr>
              <a:t>(), and </a:t>
            </a:r>
            <a:r>
              <a:rPr lang="en-US" dirty="0" err="1" smtClean="0">
                <a:latin typeface="Times New Roman" pitchFamily="18" charset="0"/>
                <a:cs typeface="Times New Roman" pitchFamily="18" charset="0"/>
              </a:rPr>
              <a:t>jspDestroy</a:t>
            </a:r>
            <a:r>
              <a:rPr lang="en-US" dirty="0" smtClean="0">
                <a:latin typeface="Times New Roman" pitchFamily="18" charset="0"/>
                <a:cs typeface="Times New Roman" pitchFamily="18" charset="0"/>
              </a:rPr>
              <a:t>().</a:t>
            </a:r>
          </a:p>
          <a:p>
            <a:pPr>
              <a:buFont typeface="Wingdings" pitchFamily="2" charset="2"/>
              <a:buChar char="v"/>
            </a:pPr>
            <a:r>
              <a:rPr lang="en-US" dirty="0" smtClean="0">
                <a:latin typeface="Times New Roman" pitchFamily="18" charset="0"/>
                <a:cs typeface="Times New Roman" pitchFamily="18" charset="0"/>
              </a:rPr>
              <a:t>Within the _</a:t>
            </a:r>
            <a:r>
              <a:rPr lang="en-US" dirty="0" err="1" smtClean="0">
                <a:latin typeface="Times New Roman" pitchFamily="18" charset="0"/>
                <a:cs typeface="Times New Roman" pitchFamily="18" charset="0"/>
              </a:rPr>
              <a:t>jspService</a:t>
            </a:r>
            <a:r>
              <a:rPr lang="en-US" dirty="0" smtClean="0">
                <a:latin typeface="Times New Roman" pitchFamily="18" charset="0"/>
                <a:cs typeface="Times New Roman" pitchFamily="18" charset="0"/>
              </a:rPr>
              <a:t>() method, the container processes user requests, interacts with back-end resources like databases, and generates dynamic content that is ultimately sent back to the browser as HTML.</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pPr algn="ctr">
              <a:buNone/>
            </a:pPr>
            <a:endParaRPr lang="en-IN" sz="4400" b="1" dirty="0" smtClean="0">
              <a:latin typeface="Times New Roman" pitchFamily="18" charset="0"/>
              <a:cs typeface="Times New Roman" pitchFamily="18" charset="0"/>
            </a:endParaRPr>
          </a:p>
          <a:p>
            <a:pPr algn="ctr">
              <a:buNone/>
            </a:pPr>
            <a:endParaRPr lang="en-IN" sz="4400" b="1" dirty="0" smtClean="0">
              <a:latin typeface="Times New Roman" pitchFamily="18" charset="0"/>
              <a:cs typeface="Times New Roman" pitchFamily="18" charset="0"/>
            </a:endParaRPr>
          </a:p>
        </p:txBody>
      </p:sp>
      <p:sp>
        <p:nvSpPr>
          <p:cNvPr id="5" name="Rectangle 4"/>
          <p:cNvSpPr/>
          <p:nvPr/>
        </p:nvSpPr>
        <p:spPr>
          <a:xfrm>
            <a:off x="0" y="3530947"/>
            <a:ext cx="12191999" cy="707886"/>
          </a:xfrm>
          <a:prstGeom prst="rect">
            <a:avLst/>
          </a:prstGeom>
          <a:solidFill>
            <a:srgbClr val="FFFFCC"/>
          </a:solidFill>
        </p:spPr>
        <p:txBody>
          <a:bodyPr wrap="square">
            <a:spAutoFit/>
          </a:bodyPr>
          <a:lstStyle/>
          <a:p>
            <a:pPr algn="ctr"/>
            <a:r>
              <a:rPr lang="en-IN" sz="4000" dirty="0" smtClean="0">
                <a:latin typeface="Times New Roman" pitchFamily="18" charset="0"/>
                <a:cs typeface="Times New Roman" pitchFamily="18" charset="0"/>
              </a:rPr>
              <a:t>Scripting Elements</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1272209"/>
            <a:ext cx="10515600" cy="5161929"/>
          </a:xfrm>
        </p:spPr>
        <p:txBody>
          <a:bodyPr>
            <a:noAutofit/>
          </a:bodyPr>
          <a:lstStyle/>
          <a:p>
            <a:pPr>
              <a:buFont typeface="Wingdings" pitchFamily="2" charset="2"/>
              <a:buChar char="§"/>
            </a:pPr>
            <a:r>
              <a:rPr lang="en-US" dirty="0" smtClean="0">
                <a:latin typeface="Times New Roman" pitchFamily="18" charset="0"/>
                <a:cs typeface="Times New Roman" pitchFamily="18" charset="0"/>
              </a:rPr>
              <a:t>JSP scripting elements are designated by special tags that enclose Java code.</a:t>
            </a:r>
          </a:p>
          <a:p>
            <a:pPr>
              <a:buFont typeface="Wingdings" pitchFamily="2" charset="2"/>
              <a:buChar char="§"/>
            </a:pPr>
            <a:r>
              <a:rPr lang="en-US" dirty="0" smtClean="0">
                <a:latin typeface="Times New Roman" pitchFamily="18" charset="0"/>
                <a:cs typeface="Times New Roman" pitchFamily="18" charset="0"/>
              </a:rPr>
              <a:t>These tags enable developers to seamlessly embed Java code within their JSP pages.</a:t>
            </a:r>
          </a:p>
          <a:p>
            <a:pPr>
              <a:buNone/>
            </a:pPr>
            <a:r>
              <a:rPr lang="en-US" dirty="0" smtClean="0">
                <a:latin typeface="Times New Roman" pitchFamily="18" charset="0"/>
                <a:cs typeface="Times New Roman" pitchFamily="18" charset="0"/>
              </a:rPr>
              <a:t>There are three primary types of scripting elements, each serving a distinct purpose:</a:t>
            </a:r>
          </a:p>
          <a:p>
            <a:pPr>
              <a:buFont typeface="Wingdings" pitchFamily="2" charset="2"/>
              <a:buChar char="v"/>
            </a:pPr>
            <a:r>
              <a:rPr lang="en-US" b="1" dirty="0" smtClean="0">
                <a:latin typeface="Times New Roman" pitchFamily="18" charset="0"/>
                <a:cs typeface="Times New Roman" pitchFamily="18" charset="0"/>
              </a:rPr>
              <a:t>Scriptlets (&lt;% %&gt;:</a:t>
            </a:r>
            <a:r>
              <a:rPr lang="en-US" dirty="0" smtClean="0">
                <a:latin typeface="Times New Roman" pitchFamily="18" charset="0"/>
                <a:cs typeface="Times New Roman" pitchFamily="18" charset="0"/>
              </a:rPr>
              <a:t> Used for executing multiple lines of Java code.</a:t>
            </a:r>
          </a:p>
          <a:p>
            <a:pPr>
              <a:buFont typeface="Wingdings" pitchFamily="2" charset="2"/>
              <a:buChar char="v"/>
            </a:pPr>
            <a:r>
              <a:rPr lang="en-US" b="1" dirty="0" smtClean="0">
                <a:latin typeface="Times New Roman" pitchFamily="18" charset="0"/>
                <a:cs typeface="Times New Roman" pitchFamily="18" charset="0"/>
              </a:rPr>
              <a:t>Expressions (&lt;%= %&gt;) : </a:t>
            </a:r>
            <a:r>
              <a:rPr lang="en-US" dirty="0" smtClean="0">
                <a:latin typeface="Times New Roman" pitchFamily="18" charset="0"/>
                <a:cs typeface="Times New Roman" pitchFamily="18" charset="0"/>
              </a:rPr>
              <a:t>Employed to embed expressions that evaluate to a single value.</a:t>
            </a:r>
          </a:p>
          <a:p>
            <a:pPr>
              <a:buFont typeface="Wingdings" pitchFamily="2" charset="2"/>
              <a:buChar char="v"/>
            </a:pPr>
            <a:r>
              <a:rPr lang="en-US" b="1" dirty="0" smtClean="0">
                <a:latin typeface="Times New Roman" pitchFamily="18" charset="0"/>
                <a:cs typeface="Times New Roman" pitchFamily="18" charset="0"/>
              </a:rPr>
              <a:t>Declarations (&lt;%! %&gt;) : </a:t>
            </a:r>
            <a:r>
              <a:rPr lang="en-US" dirty="0" smtClean="0">
                <a:latin typeface="Times New Roman" pitchFamily="18" charset="0"/>
                <a:cs typeface="Times New Roman" pitchFamily="18" charset="0"/>
              </a:rPr>
              <a:t>Utilized to declare variables and methods with class-level scope.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pPr algn="ctr">
              <a:buNone/>
            </a:pPr>
            <a:endParaRPr lang="en-US" b="1" dirty="0" smtClean="0">
              <a:latin typeface="Times New Roman" pitchFamily="18" charset="0"/>
              <a:cs typeface="Times New Roman" pitchFamily="18" charset="0"/>
            </a:endParaRPr>
          </a:p>
          <a:p>
            <a:pPr algn="ctr">
              <a:buNone/>
            </a:pPr>
            <a:endParaRPr lang="en-US" b="1" dirty="0" smtClean="0">
              <a:latin typeface="Times New Roman" pitchFamily="18" charset="0"/>
              <a:cs typeface="Times New Roman" pitchFamily="18" charset="0"/>
            </a:endParaRPr>
          </a:p>
          <a:p>
            <a:pPr algn="ctr">
              <a:buNone/>
            </a:pPr>
            <a:endParaRPr lang="en-US" b="1" dirty="0" smtClean="0">
              <a:latin typeface="Times New Roman" pitchFamily="18" charset="0"/>
              <a:cs typeface="Times New Roman" pitchFamily="18" charset="0"/>
            </a:endParaRPr>
          </a:p>
        </p:txBody>
      </p:sp>
      <p:sp>
        <p:nvSpPr>
          <p:cNvPr id="5" name="Rectangle 4"/>
          <p:cNvSpPr/>
          <p:nvPr/>
        </p:nvSpPr>
        <p:spPr>
          <a:xfrm>
            <a:off x="0" y="3530947"/>
            <a:ext cx="12191999" cy="707886"/>
          </a:xfrm>
          <a:prstGeom prst="rect">
            <a:avLst/>
          </a:prstGeom>
          <a:solidFill>
            <a:srgbClr val="FFFFCC"/>
          </a:solidFill>
        </p:spPr>
        <p:txBody>
          <a:bodyPr wrap="square">
            <a:spAutoFit/>
          </a:bodyPr>
          <a:lstStyle/>
          <a:p>
            <a:pPr algn="ctr"/>
            <a:r>
              <a:rPr lang="en-IN" sz="4000" dirty="0" smtClean="0">
                <a:latin typeface="Times New Roman" pitchFamily="18" charset="0"/>
                <a:cs typeface="Times New Roman" pitchFamily="18" charset="0"/>
              </a:rPr>
              <a:t>Scriptlets</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815423"/>
          </a:xfrm>
          <a:solidFill>
            <a:srgbClr val="FFFFCC"/>
          </a:solidFill>
        </p:spPr>
        <p:txBody>
          <a:bodyPr>
            <a:normAutofit/>
          </a:bodyPr>
          <a:lstStyle/>
          <a:p>
            <a:r>
              <a:rPr lang="en-US" sz="3600" b="1" dirty="0" smtClean="0">
                <a:latin typeface="Times New Roman" pitchFamily="18" charset="0"/>
                <a:cs typeface="Times New Roman" pitchFamily="18" charset="0"/>
              </a:rPr>
              <a:t>Scriptlets (&lt;% %&gt;)</a:t>
            </a:r>
          </a:p>
        </p:txBody>
      </p:sp>
      <p:sp>
        <p:nvSpPr>
          <p:cNvPr id="4" name="Content Placeholder 3"/>
          <p:cNvSpPr>
            <a:spLocks noGrp="1"/>
          </p:cNvSpPr>
          <p:nvPr>
            <p:ph idx="1"/>
          </p:nvPr>
        </p:nvSpPr>
        <p:spPr>
          <a:xfrm>
            <a:off x="428625" y="2082800"/>
            <a:ext cx="10515600" cy="4351338"/>
          </a:xfrm>
        </p:spPr>
        <p:txBody>
          <a:bodyPr>
            <a:noAutofit/>
          </a:bodyPr>
          <a:lstStyle/>
          <a:p>
            <a:pPr>
              <a:buFont typeface="Wingdings" pitchFamily="2" charset="2"/>
              <a:buChar char="v"/>
            </a:pPr>
            <a:r>
              <a:rPr lang="en-US" sz="2400" dirty="0" smtClean="0">
                <a:latin typeface="Times New Roman" pitchFamily="18" charset="0"/>
                <a:cs typeface="Times New Roman" pitchFamily="18" charset="0"/>
              </a:rPr>
              <a:t>Scriptlets are enclosed within the &lt;% %&gt; tags.</a:t>
            </a:r>
          </a:p>
          <a:p>
            <a:pPr>
              <a:buFont typeface="Wingdings" pitchFamily="2" charset="2"/>
              <a:buChar char="v"/>
            </a:pPr>
            <a:r>
              <a:rPr lang="en-US" sz="2400" dirty="0" smtClean="0">
                <a:latin typeface="Times New Roman" pitchFamily="18" charset="0"/>
                <a:cs typeface="Times New Roman" pitchFamily="18" charset="0"/>
              </a:rPr>
              <a:t>They enable developers to execute multiple lines of Java code within a JSP page.</a:t>
            </a:r>
          </a:p>
          <a:p>
            <a:pPr>
              <a:buFont typeface="Wingdings" pitchFamily="2" charset="2"/>
              <a:buChar char="v"/>
            </a:pPr>
            <a:r>
              <a:rPr lang="en-US" sz="2400" dirty="0" smtClean="0">
                <a:latin typeface="Times New Roman" pitchFamily="18" charset="0"/>
                <a:cs typeface="Times New Roman" pitchFamily="18" charset="0"/>
              </a:rPr>
              <a:t>Scriptlets offer a flexible approach to incorporating Java logic directly into the JSP code structure.</a:t>
            </a:r>
          </a:p>
          <a:p>
            <a:pPr>
              <a:buFont typeface="Wingdings" pitchFamily="2" charset="2"/>
              <a:buChar char="v"/>
            </a:pPr>
            <a:r>
              <a:rPr lang="en-US" sz="2400" dirty="0" smtClean="0">
                <a:latin typeface="Times New Roman" pitchFamily="18" charset="0"/>
                <a:cs typeface="Times New Roman" pitchFamily="18" charset="0"/>
              </a:rPr>
              <a:t>Scriptlets offer greater control over logic flow and can be used for various purposes, including:</a:t>
            </a:r>
            <a:endParaRPr lang="en-IN" sz="2400" dirty="0" smtClean="0">
              <a:latin typeface="Times New Roman" pitchFamily="18" charset="0"/>
              <a:cs typeface="Times New Roman" pitchFamily="18" charset="0"/>
            </a:endParaRPr>
          </a:p>
          <a:p>
            <a:pPr lvl="1">
              <a:buFont typeface="Wingdings" pitchFamily="2" charset="2"/>
              <a:buChar char="ü"/>
            </a:pPr>
            <a:r>
              <a:rPr lang="en-US" sz="2000" dirty="0" smtClean="0">
                <a:latin typeface="Times New Roman" pitchFamily="18" charset="0"/>
                <a:cs typeface="Times New Roman" pitchFamily="18" charset="0"/>
              </a:rPr>
              <a:t>Performing calculations</a:t>
            </a:r>
          </a:p>
          <a:p>
            <a:pPr lvl="1">
              <a:buFont typeface="Wingdings" pitchFamily="2" charset="2"/>
              <a:buChar char="ü"/>
            </a:pPr>
            <a:r>
              <a:rPr lang="en-US" sz="2000" dirty="0" smtClean="0">
                <a:latin typeface="Times New Roman" pitchFamily="18" charset="0"/>
                <a:cs typeface="Times New Roman" pitchFamily="18" charset="0"/>
              </a:rPr>
              <a:t>Accessing and manipulating objects</a:t>
            </a:r>
          </a:p>
          <a:p>
            <a:pPr lvl="1">
              <a:buFont typeface="Wingdings" pitchFamily="2" charset="2"/>
              <a:buChar char="ü"/>
            </a:pPr>
            <a:r>
              <a:rPr lang="en-US" sz="2000" dirty="0" smtClean="0">
                <a:latin typeface="Times New Roman" pitchFamily="18" charset="0"/>
                <a:cs typeface="Times New Roman" pitchFamily="18" charset="0"/>
              </a:rPr>
              <a:t>Interacting with databases</a:t>
            </a:r>
          </a:p>
          <a:p>
            <a:pPr lvl="1">
              <a:buFont typeface="Wingdings" pitchFamily="2" charset="2"/>
              <a:buChar char="ü"/>
            </a:pPr>
            <a:r>
              <a:rPr lang="en-US" sz="2000" dirty="0" smtClean="0">
                <a:latin typeface="Times New Roman" pitchFamily="18" charset="0"/>
                <a:cs typeface="Times New Roman" pitchFamily="18" charset="0"/>
              </a:rPr>
              <a:t>Conditional statements and loops</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fontScale="90000"/>
          </a:bodyPr>
          <a:lstStyle/>
          <a:p>
            <a:pPr>
              <a:spcBef>
                <a:spcPts val="1000"/>
              </a:spcBef>
            </a:pPr>
            <a:r>
              <a:rPr lang="en-US" sz="4000" b="1" dirty="0" smtClean="0">
                <a:latin typeface="Times New Roman" pitchFamily="18" charset="0"/>
                <a:cs typeface="Times New Roman" pitchFamily="18" charset="0"/>
              </a:rPr>
              <a:t>Usage and Examples </a:t>
            </a:r>
            <a:r>
              <a:rPr lang="en-US" sz="3600" b="1" dirty="0" smtClean="0"/>
              <a:t/>
            </a:r>
            <a:br>
              <a:rPr lang="en-US" sz="3600" b="1" dirty="0" smtClean="0"/>
            </a:br>
            <a:endParaRPr lang="en-US" sz="3400" b="1" dirty="0" smtClean="0">
              <a:latin typeface="+mn-lt"/>
              <a:ea typeface="+mn-ea"/>
              <a:cs typeface="+mn-cs"/>
            </a:endParaRPr>
          </a:p>
        </p:txBody>
      </p:sp>
      <p:sp>
        <p:nvSpPr>
          <p:cNvPr id="4" name="Content Placeholder 3"/>
          <p:cNvSpPr>
            <a:spLocks noGrp="1"/>
          </p:cNvSpPr>
          <p:nvPr>
            <p:ph idx="1"/>
          </p:nvPr>
        </p:nvSpPr>
        <p:spPr>
          <a:xfrm>
            <a:off x="428625" y="2082800"/>
            <a:ext cx="10515600" cy="4351338"/>
          </a:xfrm>
        </p:spPr>
        <p:txBody>
          <a:bodyPr>
            <a:normAutofit/>
          </a:bodyPr>
          <a:lstStyle/>
          <a:p>
            <a:pPr>
              <a:buNone/>
            </a:pPr>
            <a:r>
              <a:rPr lang="en-US" dirty="0" smtClean="0">
                <a:latin typeface="Times New Roman" pitchFamily="18" charset="0"/>
                <a:cs typeface="Times New Roman" pitchFamily="18" charset="0"/>
              </a:rPr>
              <a:t>Scriptlets can be used for a variety of purposes, including:</a:t>
            </a:r>
          </a:p>
          <a:p>
            <a:pPr>
              <a:buFont typeface="Wingdings" pitchFamily="2" charset="2"/>
              <a:buChar char="v"/>
            </a:pPr>
            <a:r>
              <a:rPr lang="en-US" dirty="0" smtClean="0">
                <a:latin typeface="Times New Roman" pitchFamily="18" charset="0"/>
                <a:cs typeface="Times New Roman" pitchFamily="18" charset="0"/>
              </a:rPr>
              <a:t>Performing calculations on the server-side before content is rendered.</a:t>
            </a:r>
          </a:p>
          <a:p>
            <a:pPr>
              <a:buFont typeface="Wingdings" pitchFamily="2" charset="2"/>
              <a:buChar char="v"/>
            </a:pPr>
            <a:r>
              <a:rPr lang="en-US" dirty="0" smtClean="0">
                <a:latin typeface="Times New Roman" pitchFamily="18" charset="0"/>
                <a:cs typeface="Times New Roman" pitchFamily="18" charset="0"/>
              </a:rPr>
              <a:t>Accessing and manipulating objects, such as database connections or user input.</a:t>
            </a:r>
          </a:p>
          <a:p>
            <a:pPr>
              <a:buFont typeface="Wingdings" pitchFamily="2" charset="2"/>
              <a:buChar char="v"/>
            </a:pPr>
            <a:r>
              <a:rPr lang="en-US" dirty="0" smtClean="0">
                <a:latin typeface="Times New Roman" pitchFamily="18" charset="0"/>
                <a:cs typeface="Times New Roman" pitchFamily="18" charset="0"/>
              </a:rPr>
              <a:t>Implementing conditional statements (if/else) and loops (for/while) to control the flow of logic within the </a:t>
            </a:r>
            <a:r>
              <a:rPr lang="en-US" dirty="0" err="1" smtClean="0">
                <a:latin typeface="Times New Roman" pitchFamily="18" charset="0"/>
                <a:cs typeface="Times New Roman" pitchFamily="18" charset="0"/>
              </a:rPr>
              <a:t>scriptlet</a:t>
            </a:r>
            <a:r>
              <a:rPr lang="en-US" dirty="0" smtClean="0">
                <a:latin typeface="Times New Roman" pitchFamily="18" charset="0"/>
                <a:cs typeface="Times New Roman" pitchFamily="18" charset="0"/>
              </a:rPr>
              <a:t>.</a:t>
            </a:r>
          </a:p>
          <a:p>
            <a:pPr>
              <a:buFont typeface="Wingdings" pitchFamily="2" charset="2"/>
              <a:buChar char="v"/>
            </a:pPr>
            <a:r>
              <a:rPr lang="en-US" dirty="0" smtClean="0">
                <a:latin typeface="Times New Roman" pitchFamily="18" charset="0"/>
                <a:cs typeface="Times New Roman" pitchFamily="18" charset="0"/>
              </a:rPr>
              <a:t>Interacting with back-end resources like databases to fetch or store data dynamically.</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r>
              <a:rPr lang="en-US" sz="3600" b="1" dirty="0" smtClean="0">
                <a:latin typeface="Times New Roman" pitchFamily="18" charset="0"/>
                <a:cs typeface="Times New Roman" pitchFamily="18" charset="0"/>
              </a:rPr>
              <a:t>Example: Conditional Statements with Scriptlets:</a:t>
            </a:r>
          </a:p>
        </p:txBody>
      </p:sp>
      <p:sp>
        <p:nvSpPr>
          <p:cNvPr id="4" name="Content Placeholder 3"/>
          <p:cNvSpPr>
            <a:spLocks noGrp="1"/>
          </p:cNvSpPr>
          <p:nvPr>
            <p:ph idx="1"/>
          </p:nvPr>
        </p:nvSpPr>
        <p:spPr>
          <a:xfrm>
            <a:off x="428625" y="2082800"/>
            <a:ext cx="10515600" cy="4351338"/>
          </a:xfrm>
        </p:spPr>
        <p:style>
          <a:lnRef idx="2">
            <a:schemeClr val="dk1"/>
          </a:lnRef>
          <a:fillRef idx="1">
            <a:schemeClr val="lt1"/>
          </a:fillRef>
          <a:effectRef idx="0">
            <a:schemeClr val="dk1"/>
          </a:effectRef>
          <a:fontRef idx="minor">
            <a:schemeClr val="dk1"/>
          </a:fontRef>
        </p:style>
        <p:txBody>
          <a:bodyPr>
            <a:normAutofit/>
          </a:bodyPr>
          <a:lstStyle/>
          <a:p>
            <a:pPr>
              <a:buFont typeface="Wingdings" pitchFamily="2" charset="2"/>
              <a:buChar char="v"/>
            </a:pPr>
            <a:r>
              <a:rPr lang="en-US" dirty="0" smtClean="0">
                <a:latin typeface="Times New Roman" pitchFamily="18" charset="0"/>
                <a:cs typeface="Times New Roman" pitchFamily="18" charset="0"/>
              </a:rPr>
              <a:t>Scriptlets can be used to implement conditional statements for dynamic content.</a:t>
            </a:r>
          </a:p>
          <a:p>
            <a:pPr>
              <a:buFont typeface="Wingdings" pitchFamily="2" charset="2"/>
              <a:buChar char="v"/>
            </a:pPr>
            <a:r>
              <a:rPr lang="en-US" dirty="0" smtClean="0">
                <a:latin typeface="Times New Roman" pitchFamily="18" charset="0"/>
                <a:cs typeface="Times New Roman" pitchFamily="18" charset="0"/>
              </a:rPr>
              <a:t>The following example displays a message based on a user's age:</a:t>
            </a:r>
          </a:p>
          <a:p>
            <a:endParaRPr lang="en-US" dirty="0" smtClean="0"/>
          </a:p>
          <a:p>
            <a:pPr>
              <a:buNone/>
            </a:pPr>
            <a:endParaRPr lang="en-US" b="1" dirty="0" smtClean="0"/>
          </a:p>
        </p:txBody>
      </p:sp>
      <p:sp>
        <p:nvSpPr>
          <p:cNvPr id="5" name="Rectangle 4"/>
          <p:cNvSpPr/>
          <p:nvPr/>
        </p:nvSpPr>
        <p:spPr>
          <a:xfrm>
            <a:off x="609601" y="3578086"/>
            <a:ext cx="4797287" cy="22263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smtClean="0">
                <a:latin typeface="Times New Roman" pitchFamily="18" charset="0"/>
                <a:cs typeface="Times New Roman" pitchFamily="18" charset="0"/>
              </a:rPr>
              <a:t>Java</a:t>
            </a:r>
          </a:p>
          <a:p>
            <a:r>
              <a:rPr lang="en-US" dirty="0" smtClean="0">
                <a:latin typeface="Times New Roman" pitchFamily="18" charset="0"/>
                <a:cs typeface="Times New Roman" pitchFamily="18" charset="0"/>
              </a:rPr>
              <a:t>&lt;%</a:t>
            </a:r>
          </a:p>
          <a:p>
            <a:r>
              <a:rPr lang="en-US" dirty="0" err="1" smtClean="0">
                <a:latin typeface="Times New Roman" pitchFamily="18" charset="0"/>
                <a:cs typeface="Times New Roman" pitchFamily="18" charset="0"/>
              </a:rPr>
              <a:t>int</a:t>
            </a:r>
            <a:r>
              <a:rPr lang="en-US" dirty="0" smtClean="0">
                <a:latin typeface="Times New Roman" pitchFamily="18" charset="0"/>
                <a:cs typeface="Times New Roman" pitchFamily="18" charset="0"/>
              </a:rPr>
              <a:t> age = 20; // Assuming you have retrieved the //user's age</a:t>
            </a:r>
          </a:p>
          <a:p>
            <a:r>
              <a:rPr lang="en-US" dirty="0" smtClean="0">
                <a:latin typeface="Times New Roman" pitchFamily="18" charset="0"/>
                <a:cs typeface="Times New Roman" pitchFamily="18" charset="0"/>
              </a:rPr>
              <a:t>if (age &gt;= 18) {</a:t>
            </a:r>
          </a:p>
          <a:p>
            <a:r>
              <a:rPr lang="en-US" dirty="0" smtClean="0">
                <a:latin typeface="Times New Roman" pitchFamily="18" charset="0"/>
                <a:cs typeface="Times New Roman" pitchFamily="18" charset="0"/>
              </a:rPr>
              <a:t>%&gt;</a:t>
            </a:r>
          </a:p>
          <a:p>
            <a:pPr algn="ctr"/>
            <a:endParaRPr lang="en-US" dirty="0"/>
          </a:p>
        </p:txBody>
      </p:sp>
      <p:sp>
        <p:nvSpPr>
          <p:cNvPr id="6" name="Rectangle 5"/>
          <p:cNvSpPr/>
          <p:nvPr/>
        </p:nvSpPr>
        <p:spPr>
          <a:xfrm>
            <a:off x="5526156" y="3564834"/>
            <a:ext cx="5082209" cy="220648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smtClean="0">
                <a:latin typeface="Times New Roman" pitchFamily="18" charset="0"/>
                <a:cs typeface="Times New Roman" pitchFamily="18" charset="0"/>
              </a:rPr>
              <a:t>You are eligible to vote.</a:t>
            </a:r>
          </a:p>
          <a:p>
            <a:r>
              <a:rPr lang="en-US" dirty="0" smtClean="0">
                <a:latin typeface="Times New Roman" pitchFamily="18" charset="0"/>
                <a:cs typeface="Times New Roman" pitchFamily="18" charset="0"/>
              </a:rPr>
              <a:t>&lt;%</a:t>
            </a:r>
          </a:p>
          <a:p>
            <a:r>
              <a:rPr lang="en-US" dirty="0" smtClean="0">
                <a:latin typeface="Times New Roman" pitchFamily="18" charset="0"/>
                <a:cs typeface="Times New Roman" pitchFamily="18" charset="0"/>
              </a:rPr>
              <a:t>} else {</a:t>
            </a:r>
          </a:p>
          <a:p>
            <a:r>
              <a:rPr lang="en-US" dirty="0" smtClean="0">
                <a:latin typeface="Times New Roman" pitchFamily="18" charset="0"/>
                <a:cs typeface="Times New Roman" pitchFamily="18" charset="0"/>
              </a:rPr>
              <a:t>%&gt;</a:t>
            </a:r>
          </a:p>
          <a:p>
            <a:r>
              <a:rPr lang="en-US" dirty="0" smtClean="0">
                <a:latin typeface="Times New Roman" pitchFamily="18" charset="0"/>
                <a:cs typeface="Times New Roman" pitchFamily="18" charset="0"/>
              </a:rPr>
              <a:t>You are not eligible to vote.</a:t>
            </a:r>
          </a:p>
          <a:p>
            <a:r>
              <a:rPr lang="en-US" dirty="0" smtClean="0">
                <a:latin typeface="Times New Roman" pitchFamily="18" charset="0"/>
                <a:cs typeface="Times New Roman" pitchFamily="18" charset="0"/>
              </a:rPr>
              <a:t>&lt;%</a:t>
            </a:r>
          </a:p>
          <a:p>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%&gt;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pPr>
              <a:buNone/>
            </a:pPr>
            <a:endParaRPr lang="en-US" dirty="0" smtClean="0">
              <a:latin typeface="Times New Roman" pitchFamily="18" charset="0"/>
              <a:cs typeface="Times New Roman" pitchFamily="18" charset="0"/>
            </a:endParaRPr>
          </a:p>
          <a:p>
            <a:pPr>
              <a:buFont typeface="Wingdings" pitchFamily="2" charset="2"/>
              <a:buChar char="v"/>
            </a:pPr>
            <a:r>
              <a:rPr lang="en-US" dirty="0" smtClean="0">
                <a:latin typeface="Times New Roman" pitchFamily="18" charset="0"/>
                <a:cs typeface="Times New Roman" pitchFamily="18" charset="0"/>
              </a:rPr>
              <a:t>Scriptlets offer a powerful mechanism for embedding Java logic within JSP pages.</a:t>
            </a:r>
          </a:p>
          <a:p>
            <a:pPr>
              <a:buFont typeface="Wingdings" pitchFamily="2" charset="2"/>
              <a:buChar char="v"/>
            </a:pPr>
            <a:r>
              <a:rPr lang="en-US" dirty="0" smtClean="0">
                <a:latin typeface="Times New Roman" pitchFamily="18" charset="0"/>
                <a:cs typeface="Times New Roman" pitchFamily="18" charset="0"/>
              </a:rPr>
              <a:t>They provide flexibility and control over the flow of execution.</a:t>
            </a:r>
          </a:p>
          <a:p>
            <a:pPr>
              <a:buFont typeface="Wingdings" pitchFamily="2" charset="2"/>
              <a:buChar char="v"/>
            </a:pPr>
            <a:r>
              <a:rPr lang="en-US" dirty="0" smtClean="0">
                <a:latin typeface="Times New Roman" pitchFamily="18" charset="0"/>
                <a:cs typeface="Times New Roman" pitchFamily="18" charset="0"/>
              </a:rPr>
              <a:t>However, overuse of </a:t>
            </a:r>
            <a:r>
              <a:rPr lang="en-US" dirty="0" err="1" smtClean="0">
                <a:latin typeface="Times New Roman" pitchFamily="18" charset="0"/>
                <a:cs typeface="Times New Roman" pitchFamily="18" charset="0"/>
              </a:rPr>
              <a:t>scriptlets</a:t>
            </a:r>
            <a:r>
              <a:rPr lang="en-US" dirty="0" smtClean="0">
                <a:latin typeface="Times New Roman" pitchFamily="18" charset="0"/>
                <a:cs typeface="Times New Roman" pitchFamily="18" charset="0"/>
              </a:rPr>
              <a:t> can lead to code that is less maintainable and readable.</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pPr>
              <a:buNone/>
            </a:pPr>
            <a:endParaRPr lang="en-US" sz="3600" b="1" dirty="0" smtClean="0">
              <a:latin typeface="Times New Roman" pitchFamily="18" charset="0"/>
              <a:cs typeface="Times New Roman" pitchFamily="18" charset="0"/>
            </a:endParaRPr>
          </a:p>
          <a:p>
            <a:pPr>
              <a:buNone/>
            </a:pPr>
            <a:endParaRPr lang="en-US" sz="3600" b="1" dirty="0" smtClean="0">
              <a:latin typeface="Times New Roman" pitchFamily="18" charset="0"/>
              <a:cs typeface="Times New Roman" pitchFamily="18" charset="0"/>
            </a:endParaRPr>
          </a:p>
          <a:p>
            <a:pPr>
              <a:buNone/>
            </a:pPr>
            <a:endParaRPr lang="en-US" sz="3600" b="1" dirty="0" smtClean="0">
              <a:latin typeface="Times New Roman" pitchFamily="18" charset="0"/>
              <a:cs typeface="Times New Roman" pitchFamily="18" charset="0"/>
            </a:endParaRPr>
          </a:p>
        </p:txBody>
      </p:sp>
      <p:sp>
        <p:nvSpPr>
          <p:cNvPr id="5" name="Rectangle 4"/>
          <p:cNvSpPr/>
          <p:nvPr/>
        </p:nvSpPr>
        <p:spPr>
          <a:xfrm>
            <a:off x="0" y="3530947"/>
            <a:ext cx="12191999" cy="707886"/>
          </a:xfrm>
          <a:prstGeom prst="rect">
            <a:avLst/>
          </a:prstGeom>
          <a:solidFill>
            <a:srgbClr val="FFFFCC"/>
          </a:solidFill>
        </p:spPr>
        <p:txBody>
          <a:bodyPr wrap="square">
            <a:spAutoFit/>
          </a:bodyPr>
          <a:lstStyle/>
          <a:p>
            <a:pPr algn="ctr"/>
            <a:r>
              <a:rPr lang="en-IN" sz="4000" dirty="0" smtClean="0">
                <a:latin typeface="Times New Roman" pitchFamily="18" charset="0"/>
                <a:cs typeface="Times New Roman" pitchFamily="18" charset="0"/>
              </a:rPr>
              <a:t>Expressions (&lt;%= %&gt;)</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pPr>
              <a:buFont typeface="Wingdings" pitchFamily="2" charset="2"/>
              <a:buChar char="v"/>
            </a:pPr>
            <a:r>
              <a:rPr lang="en-US" dirty="0" smtClean="0">
                <a:latin typeface="Times New Roman" pitchFamily="18" charset="0"/>
                <a:cs typeface="Times New Roman" pitchFamily="18" charset="0"/>
              </a:rPr>
              <a:t>Expressions are enclosed within the &lt;%= %&gt; tags.</a:t>
            </a:r>
          </a:p>
          <a:p>
            <a:pPr>
              <a:buFont typeface="Wingdings" pitchFamily="2" charset="2"/>
              <a:buChar char="v"/>
            </a:pPr>
            <a:r>
              <a:rPr lang="en-US" dirty="0" smtClean="0">
                <a:latin typeface="Times New Roman" pitchFamily="18" charset="0"/>
                <a:cs typeface="Times New Roman" pitchFamily="18" charset="0"/>
              </a:rPr>
              <a:t>They are used to embed expressions that evaluate to a single value within the JSP page.</a:t>
            </a:r>
          </a:p>
          <a:p>
            <a:pPr>
              <a:buFont typeface="Wingdings" pitchFamily="2" charset="2"/>
              <a:buChar char="v"/>
            </a:pPr>
            <a:r>
              <a:rPr lang="en-US" dirty="0" smtClean="0">
                <a:latin typeface="Times New Roman" pitchFamily="18" charset="0"/>
                <a:cs typeface="Times New Roman" pitchFamily="18" charset="0"/>
              </a:rPr>
              <a:t>The evaluated value is automatically inserted into the HTML output sent to the browser.</a:t>
            </a:r>
          </a:p>
          <a:p>
            <a:pPr>
              <a:buNone/>
            </a:pPr>
            <a:r>
              <a:rPr lang="en-US" dirty="0" smtClean="0">
                <a:latin typeface="Times New Roman" pitchFamily="18" charset="0"/>
                <a:cs typeface="Times New Roman" pitchFamily="18" charset="0"/>
              </a:rPr>
              <a:t>Expressions are commonly used for:</a:t>
            </a:r>
          </a:p>
          <a:p>
            <a:pPr lvl="1">
              <a:buFont typeface="Wingdings" pitchFamily="2" charset="2"/>
              <a:buChar char="ü"/>
            </a:pPr>
            <a:r>
              <a:rPr lang="en-US" dirty="0" smtClean="0">
                <a:latin typeface="Times New Roman" pitchFamily="18" charset="0"/>
                <a:cs typeface="Times New Roman" pitchFamily="18" charset="0"/>
              </a:rPr>
              <a:t>Displaying dynamic content based on variables or calculations.</a:t>
            </a:r>
          </a:p>
          <a:p>
            <a:pPr lvl="1">
              <a:buFont typeface="Wingdings" pitchFamily="2" charset="2"/>
              <a:buChar char="ü"/>
            </a:pPr>
            <a:r>
              <a:rPr lang="en-US" dirty="0" smtClean="0">
                <a:latin typeface="Times New Roman" pitchFamily="18" charset="0"/>
                <a:cs typeface="Times New Roman" pitchFamily="18" charset="0"/>
              </a:rPr>
              <a:t>Integrating user input into the page.</a:t>
            </a:r>
          </a:p>
          <a:p>
            <a:pPr lvl="1">
              <a:buFont typeface="Wingdings" pitchFamily="2" charset="2"/>
              <a:buChar char="ü"/>
            </a:pPr>
            <a:r>
              <a:rPr lang="en-US" dirty="0" smtClean="0">
                <a:latin typeface="Times New Roman" pitchFamily="18" charset="0"/>
                <a:cs typeface="Times New Roman" pitchFamily="18" charset="0"/>
              </a:rPr>
              <a:t>Constructing dynamic URLs or form elements.</a:t>
            </a:r>
          </a:p>
        </p:txBody>
      </p:sp>
      <p:sp>
        <p:nvSpPr>
          <p:cNvPr id="5" name="Title 2"/>
          <p:cNvSpPr>
            <a:spLocks noGrp="1"/>
          </p:cNvSpPr>
          <p:nvPr>
            <p:ph type="title"/>
          </p:nvPr>
        </p:nvSpPr>
        <p:spPr>
          <a:xfrm>
            <a:off x="361950" y="1304925"/>
            <a:ext cx="10515600" cy="709405"/>
          </a:xfrm>
          <a:solidFill>
            <a:srgbClr val="FFFFCC"/>
          </a:solidFill>
        </p:spPr>
        <p:txBody>
          <a:bodyPr>
            <a:normAutofit/>
          </a:bodyPr>
          <a:lstStyle/>
          <a:p>
            <a:pPr>
              <a:spcBef>
                <a:spcPts val="1000"/>
              </a:spcBef>
            </a:pPr>
            <a:r>
              <a:rPr lang="en-US" sz="3200" b="1" dirty="0" smtClean="0">
                <a:latin typeface="Times New Roman" pitchFamily="18" charset="0"/>
                <a:cs typeface="Times New Roman" pitchFamily="18" charset="0"/>
              </a:rPr>
              <a:t>Definition and Syntax</a:t>
            </a:r>
            <a:endParaRPr lang="en-US" sz="3400" b="1" dirty="0" smtClean="0">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endParaRPr lang="en-US" dirty="0" smtClean="0"/>
          </a:p>
          <a:p>
            <a:pPr>
              <a:buFont typeface="Wingdings" pitchFamily="2" charset="2"/>
              <a:buChar char="v"/>
            </a:pPr>
            <a:r>
              <a:rPr lang="en-US" dirty="0" smtClean="0">
                <a:latin typeface="Times New Roman" pitchFamily="18" charset="0"/>
                <a:cs typeface="Times New Roman" pitchFamily="18" charset="0"/>
              </a:rPr>
              <a:t>Expressions are a fundamental building block for generating dynamic content in JSP.</a:t>
            </a:r>
          </a:p>
          <a:p>
            <a:pPr>
              <a:buFont typeface="Wingdings" pitchFamily="2" charset="2"/>
              <a:buChar char="v"/>
            </a:pPr>
            <a:r>
              <a:rPr lang="en-US" dirty="0" smtClean="0">
                <a:latin typeface="Times New Roman" pitchFamily="18" charset="0"/>
                <a:cs typeface="Times New Roman" pitchFamily="18" charset="0"/>
              </a:rPr>
              <a:t>They offer a concise and efficient way to integrate dynamic values into your web pages.</a:t>
            </a:r>
          </a:p>
          <a:p>
            <a:pPr>
              <a:buFont typeface="Wingdings" pitchFamily="2" charset="2"/>
              <a:buChar char="v"/>
            </a:pPr>
            <a:r>
              <a:rPr lang="en-US" dirty="0" smtClean="0">
                <a:latin typeface="Times New Roman" pitchFamily="18" charset="0"/>
                <a:cs typeface="Times New Roman" pitchFamily="18" charset="0"/>
              </a:rPr>
              <a:t>By effectively utilizing expressions, developers can create interactive and user-centric web experiences.</a:t>
            </a:r>
          </a:p>
          <a:p>
            <a:pPr>
              <a:buNone/>
            </a:pPr>
            <a:endParaRPr lang="en-US" dirty="0" smtClean="0"/>
          </a:p>
          <a:p>
            <a:pPr>
              <a:buNone/>
            </a:pPr>
            <a:endParaRPr lang="en-US" dirty="0" smtClean="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pPr>
              <a:spcBef>
                <a:spcPts val="1000"/>
              </a:spcBef>
            </a:pPr>
            <a:r>
              <a:rPr lang="en-US" sz="3600" b="1" dirty="0" smtClean="0">
                <a:latin typeface="Times New Roman" pitchFamily="18" charset="0"/>
                <a:cs typeface="Times New Roman" pitchFamily="18" charset="0"/>
              </a:rPr>
              <a:t>Usage and Examples</a:t>
            </a:r>
            <a:endParaRPr lang="en-US" sz="3400" b="1" dirty="0" smtClean="0">
              <a:latin typeface="Times New Roman" pitchFamily="18" charset="0"/>
              <a:ea typeface="+mn-ea"/>
              <a:cs typeface="Times New Roman" pitchFamily="18" charset="0"/>
            </a:endParaRPr>
          </a:p>
        </p:txBody>
      </p:sp>
      <p:sp>
        <p:nvSpPr>
          <p:cNvPr id="4" name="Content Placeholder 3"/>
          <p:cNvSpPr>
            <a:spLocks noGrp="1"/>
          </p:cNvSpPr>
          <p:nvPr>
            <p:ph idx="1"/>
          </p:nvPr>
        </p:nvSpPr>
        <p:spPr>
          <a:xfrm>
            <a:off x="428625" y="2082800"/>
            <a:ext cx="10515600" cy="4351338"/>
          </a:xfrm>
        </p:spPr>
        <p:txBody>
          <a:bodyPr>
            <a:normAutofit/>
          </a:bodyPr>
          <a:lstStyle/>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Expressions can be used for a variety of purposes, including:</a:t>
            </a:r>
          </a:p>
          <a:p>
            <a:pPr>
              <a:buFont typeface="Wingdings" pitchFamily="2" charset="2"/>
              <a:buChar char="v"/>
            </a:pPr>
            <a:r>
              <a:rPr lang="en-US" dirty="0" smtClean="0">
                <a:latin typeface="Times New Roman" pitchFamily="18" charset="0"/>
                <a:cs typeface="Times New Roman" pitchFamily="18" charset="0"/>
              </a:rPr>
              <a:t>Displaying dynamic content based on variables or calculations.</a:t>
            </a:r>
          </a:p>
          <a:p>
            <a:pPr>
              <a:buFont typeface="Wingdings" pitchFamily="2" charset="2"/>
              <a:buChar char="v"/>
            </a:pPr>
            <a:r>
              <a:rPr lang="en-US" dirty="0" smtClean="0">
                <a:latin typeface="Times New Roman" pitchFamily="18" charset="0"/>
                <a:cs typeface="Times New Roman" pitchFamily="18" charset="0"/>
              </a:rPr>
              <a:t>Integrating user input into the page.</a:t>
            </a:r>
          </a:p>
          <a:p>
            <a:pPr>
              <a:buFont typeface="Wingdings" pitchFamily="2" charset="2"/>
              <a:buChar char="v"/>
            </a:pPr>
            <a:r>
              <a:rPr lang="en-US" dirty="0" smtClean="0">
                <a:latin typeface="Times New Roman" pitchFamily="18" charset="0"/>
                <a:cs typeface="Times New Roman" pitchFamily="18" charset="0"/>
              </a:rPr>
              <a:t>Constructing dynamic URLs or form elements.</a:t>
            </a:r>
          </a:p>
          <a:p>
            <a:pPr>
              <a:buFont typeface="Wingdings" pitchFamily="2" charset="2"/>
              <a:buChar char="v"/>
            </a:pPr>
            <a:r>
              <a:rPr lang="en-US" dirty="0" smtClean="0">
                <a:latin typeface="Times New Roman" pitchFamily="18" charset="0"/>
                <a:cs typeface="Times New Roman" pitchFamily="18" charset="0"/>
              </a:rPr>
              <a:t>Integrating with internationalization (i18n) for displaying localized content.</a:t>
            </a:r>
          </a:p>
          <a:p>
            <a:pPr>
              <a:buNone/>
            </a:pPr>
            <a:endParaRPr lang="en-US" dirty="0" smtClean="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r>
              <a:rPr lang="en-US" sz="3600" b="1" dirty="0" smtClean="0">
                <a:latin typeface="Times New Roman" pitchFamily="18" charset="0"/>
                <a:cs typeface="Times New Roman" pitchFamily="18" charset="0"/>
              </a:rPr>
              <a:t>Example: Displaying Variable Values</a:t>
            </a:r>
          </a:p>
        </p:txBody>
      </p:sp>
      <p:sp>
        <p:nvSpPr>
          <p:cNvPr id="4" name="Content Placeholder 3"/>
          <p:cNvSpPr>
            <a:spLocks noGrp="1"/>
          </p:cNvSpPr>
          <p:nvPr>
            <p:ph idx="1"/>
          </p:nvPr>
        </p:nvSpPr>
        <p:spPr>
          <a:xfrm>
            <a:off x="428625" y="2082800"/>
            <a:ext cx="10515600" cy="4351338"/>
          </a:xfrm>
        </p:spPr>
        <p:txBody>
          <a:bodyPr>
            <a:normAutofit/>
          </a:bodyPr>
          <a:lstStyle/>
          <a:p>
            <a:pPr>
              <a:buNone/>
            </a:pPr>
            <a:endParaRPr lang="en-US" dirty="0" smtClean="0"/>
          </a:p>
          <a:p>
            <a:pPr>
              <a:buFont typeface="Wingdings" pitchFamily="2" charset="2"/>
              <a:buChar char="§"/>
            </a:pPr>
            <a:r>
              <a:rPr lang="en-US" dirty="0" smtClean="0">
                <a:latin typeface="Times New Roman" pitchFamily="18" charset="0"/>
                <a:cs typeface="Times New Roman" pitchFamily="18" charset="0"/>
              </a:rPr>
              <a:t>Expressions can be used to display the values of variables.</a:t>
            </a:r>
          </a:p>
          <a:p>
            <a:pPr>
              <a:buFont typeface="Wingdings" pitchFamily="2" charset="2"/>
              <a:buChar char="§"/>
            </a:pPr>
            <a:r>
              <a:rPr lang="en-US" dirty="0" smtClean="0">
                <a:latin typeface="Times New Roman" pitchFamily="18" charset="0"/>
                <a:cs typeface="Times New Roman" pitchFamily="18" charset="0"/>
              </a:rPr>
              <a:t>The following example displays the value of a variable named "name":</a:t>
            </a:r>
          </a:p>
          <a:p>
            <a:pPr>
              <a:buNone/>
            </a:pPr>
            <a:endParaRPr lang="en-US" dirty="0" smtClean="0"/>
          </a:p>
        </p:txBody>
      </p:sp>
      <p:sp>
        <p:nvSpPr>
          <p:cNvPr id="5" name="Rectangle 4"/>
          <p:cNvSpPr/>
          <p:nvPr/>
        </p:nvSpPr>
        <p:spPr>
          <a:xfrm>
            <a:off x="821635" y="3737113"/>
            <a:ext cx="6069496" cy="22528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buNone/>
            </a:pPr>
            <a:r>
              <a:rPr lang="en-US" sz="2000" dirty="0" smtClean="0">
                <a:latin typeface="Times New Roman" pitchFamily="18" charset="0"/>
                <a:cs typeface="Times New Roman" pitchFamily="18" charset="0"/>
              </a:rPr>
              <a:t>&lt;%!</a:t>
            </a:r>
          </a:p>
          <a:p>
            <a:pPr>
              <a:buNone/>
            </a:pPr>
            <a:r>
              <a:rPr lang="en-US" sz="2000" dirty="0" smtClean="0">
                <a:latin typeface="Times New Roman" pitchFamily="18" charset="0"/>
                <a:cs typeface="Times New Roman" pitchFamily="18" charset="0"/>
              </a:rPr>
              <a:t>String name = "Alice";</a:t>
            </a:r>
          </a:p>
          <a:p>
            <a:pPr>
              <a:buNone/>
            </a:pPr>
            <a:r>
              <a:rPr lang="en-US" sz="2000" dirty="0" smtClean="0">
                <a:latin typeface="Times New Roman" pitchFamily="18" charset="0"/>
                <a:cs typeface="Times New Roman" pitchFamily="18" charset="0"/>
              </a:rPr>
              <a:t>%&gt;</a:t>
            </a:r>
          </a:p>
          <a:p>
            <a:pPr>
              <a:buNone/>
            </a:pPr>
            <a:r>
              <a:rPr lang="en-US" sz="2000" dirty="0" smtClean="0">
                <a:latin typeface="Times New Roman" pitchFamily="18" charset="0"/>
                <a:cs typeface="Times New Roman" pitchFamily="18" charset="0"/>
              </a:rPr>
              <a:t>Welcome, </a:t>
            </a:r>
            <a:r>
              <a:rPr lang="en-US" sz="2000" dirty="0" smtClean="0">
                <a:solidFill>
                  <a:srgbClr val="FF0000"/>
                </a:solidFill>
                <a:latin typeface="Times New Roman" pitchFamily="18" charset="0"/>
                <a:cs typeface="Times New Roman" pitchFamily="18" charset="0"/>
              </a:rPr>
              <a:t>&lt;%= name %&gt;!</a:t>
            </a:r>
          </a:p>
          <a:p>
            <a:pPr algn="ctr"/>
            <a:endParaRPr lang="en-US" dirty="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pPr algn="ctr">
              <a:buNone/>
            </a:pPr>
            <a:endParaRPr lang="en-US" sz="4400" b="1" dirty="0" smtClean="0">
              <a:latin typeface="Times New Roman" pitchFamily="18" charset="0"/>
              <a:cs typeface="Times New Roman" pitchFamily="18" charset="0"/>
            </a:endParaRPr>
          </a:p>
          <a:p>
            <a:pPr algn="ctr">
              <a:buNone/>
            </a:pPr>
            <a:endParaRPr lang="en-US" sz="4400" b="1" dirty="0" smtClean="0">
              <a:latin typeface="Times New Roman" pitchFamily="18" charset="0"/>
              <a:cs typeface="Times New Roman" pitchFamily="18" charset="0"/>
            </a:endParaRPr>
          </a:p>
        </p:txBody>
      </p:sp>
      <p:sp>
        <p:nvSpPr>
          <p:cNvPr id="5" name="Rectangle 4"/>
          <p:cNvSpPr/>
          <p:nvPr/>
        </p:nvSpPr>
        <p:spPr>
          <a:xfrm>
            <a:off x="0" y="3530947"/>
            <a:ext cx="12191999" cy="707886"/>
          </a:xfrm>
          <a:prstGeom prst="rect">
            <a:avLst/>
          </a:prstGeom>
          <a:solidFill>
            <a:srgbClr val="FFFFCC"/>
          </a:solidFill>
        </p:spPr>
        <p:txBody>
          <a:bodyPr wrap="square">
            <a:spAutoFit/>
          </a:bodyPr>
          <a:lstStyle/>
          <a:p>
            <a:pPr algn="ctr"/>
            <a:r>
              <a:rPr lang="en-IN" sz="4000" dirty="0" smtClean="0">
                <a:latin typeface="Times New Roman" pitchFamily="18" charset="0"/>
                <a:cs typeface="Times New Roman" pitchFamily="18" charset="0"/>
              </a:rPr>
              <a:t>Declarations in JSP</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Autofit/>
          </a:bodyPr>
          <a:lstStyle/>
          <a:p>
            <a:pPr>
              <a:spcBef>
                <a:spcPts val="1000"/>
              </a:spcBef>
            </a:pPr>
            <a:r>
              <a:rPr lang="en-US" sz="3200" b="1" dirty="0" smtClean="0">
                <a:latin typeface="Times New Roman" pitchFamily="18" charset="0"/>
                <a:cs typeface="Times New Roman" pitchFamily="18" charset="0"/>
              </a:rPr>
              <a:t>Definition and Syntax - Setting the Stage for Declarations</a:t>
            </a:r>
            <a:endParaRPr lang="en-US" sz="2800" b="1" dirty="0" smtClean="0">
              <a:latin typeface="Times New Roman" pitchFamily="18" charset="0"/>
              <a:ea typeface="+mn-ea"/>
              <a:cs typeface="Times New Roman" pitchFamily="18" charset="0"/>
            </a:endParaRPr>
          </a:p>
        </p:txBody>
      </p:sp>
      <p:sp>
        <p:nvSpPr>
          <p:cNvPr id="4" name="Content Placeholder 3"/>
          <p:cNvSpPr>
            <a:spLocks noGrp="1"/>
          </p:cNvSpPr>
          <p:nvPr>
            <p:ph idx="1"/>
          </p:nvPr>
        </p:nvSpPr>
        <p:spPr>
          <a:xfrm>
            <a:off x="428625" y="2082800"/>
            <a:ext cx="10515600" cy="4351338"/>
          </a:xfrm>
        </p:spPr>
        <p:txBody>
          <a:bodyPr>
            <a:normAutofit/>
          </a:bodyPr>
          <a:lstStyle/>
          <a:p>
            <a:pPr>
              <a:buFont typeface="Wingdings" pitchFamily="2" charset="2"/>
              <a:buChar char="ü"/>
            </a:pPr>
            <a:endParaRPr lang="en-US" dirty="0" smtClean="0"/>
          </a:p>
          <a:p>
            <a:pPr>
              <a:buFont typeface="Wingdings" pitchFamily="2" charset="2"/>
              <a:buChar char="v"/>
            </a:pPr>
            <a:r>
              <a:rPr lang="en-US" dirty="0" smtClean="0">
                <a:latin typeface="Times New Roman" pitchFamily="18" charset="0"/>
                <a:cs typeface="Times New Roman" pitchFamily="18" charset="0"/>
              </a:rPr>
              <a:t>Declarations are defined within the &lt;%! %&gt; tags.</a:t>
            </a:r>
          </a:p>
          <a:p>
            <a:pPr>
              <a:buFont typeface="Wingdings" pitchFamily="2" charset="2"/>
              <a:buChar char="v"/>
            </a:pPr>
            <a:r>
              <a:rPr lang="en-US" dirty="0" smtClean="0">
                <a:latin typeface="Times New Roman" pitchFamily="18" charset="0"/>
                <a:cs typeface="Times New Roman" pitchFamily="18" charset="0"/>
              </a:rPr>
              <a:t>This syntax signifies that the enclosed code resides outside the _</a:t>
            </a:r>
            <a:r>
              <a:rPr lang="en-US" dirty="0" err="1" smtClean="0">
                <a:latin typeface="Times New Roman" pitchFamily="18" charset="0"/>
                <a:cs typeface="Times New Roman" pitchFamily="18" charset="0"/>
              </a:rPr>
              <a:t>jspService</a:t>
            </a:r>
            <a:r>
              <a:rPr lang="en-US" dirty="0" smtClean="0">
                <a:latin typeface="Times New Roman" pitchFamily="18" charset="0"/>
                <a:cs typeface="Times New Roman" pitchFamily="18" charset="0"/>
              </a:rPr>
              <a:t>() method of the generated </a:t>
            </a:r>
            <a:r>
              <a:rPr lang="en-US" dirty="0" err="1" smtClean="0">
                <a:latin typeface="Times New Roman" pitchFamily="18" charset="0"/>
                <a:cs typeface="Times New Roman" pitchFamily="18" charset="0"/>
              </a:rPr>
              <a:t>servlet</a:t>
            </a:r>
            <a:r>
              <a:rPr lang="en-US" dirty="0" smtClean="0">
                <a:latin typeface="Times New Roman" pitchFamily="18" charset="0"/>
                <a:cs typeface="Times New Roman" pitchFamily="18" charset="0"/>
              </a:rPr>
              <a:t> class.</a:t>
            </a:r>
          </a:p>
          <a:p>
            <a:pPr>
              <a:buFont typeface="Wingdings" pitchFamily="2" charset="2"/>
              <a:buChar char="v"/>
            </a:pPr>
            <a:r>
              <a:rPr lang="en-US" dirty="0" smtClean="0">
                <a:latin typeface="Times New Roman" pitchFamily="18" charset="0"/>
                <a:cs typeface="Times New Roman" pitchFamily="18" charset="0"/>
              </a:rPr>
              <a:t>Code within declarations has class-level scope, meaning it's accessible throughout the entire JSP page.</a:t>
            </a:r>
          </a:p>
          <a:p>
            <a:pPr>
              <a:buNone/>
            </a:pPr>
            <a:endParaRPr lang="en-US" dirty="0" smtClean="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pPr>
              <a:spcBef>
                <a:spcPts val="1000"/>
              </a:spcBef>
            </a:pPr>
            <a:r>
              <a:rPr lang="en-US" sz="3600" b="1" dirty="0" smtClean="0">
                <a:latin typeface="Times New Roman" pitchFamily="18" charset="0"/>
                <a:cs typeface="Times New Roman" pitchFamily="18" charset="0"/>
              </a:rPr>
              <a:t>Usage and Examples</a:t>
            </a:r>
            <a:endParaRPr lang="en-US" sz="3400" b="1" dirty="0" smtClean="0">
              <a:latin typeface="Times New Roman" pitchFamily="18" charset="0"/>
              <a:ea typeface="+mn-ea"/>
              <a:cs typeface="Times New Roman" pitchFamily="18" charset="0"/>
            </a:endParaRPr>
          </a:p>
        </p:txBody>
      </p:sp>
      <p:sp>
        <p:nvSpPr>
          <p:cNvPr id="4" name="Content Placeholder 3"/>
          <p:cNvSpPr>
            <a:spLocks noGrp="1"/>
          </p:cNvSpPr>
          <p:nvPr>
            <p:ph idx="1"/>
          </p:nvPr>
        </p:nvSpPr>
        <p:spPr>
          <a:xfrm>
            <a:off x="428625" y="2082800"/>
            <a:ext cx="10515600" cy="4351338"/>
          </a:xfrm>
        </p:spPr>
        <p:txBody>
          <a:bodyPr>
            <a:normAutofit/>
          </a:bodyPr>
          <a:lstStyle/>
          <a:p>
            <a:pPr>
              <a:buNone/>
            </a:pPr>
            <a:endParaRPr lang="en-US" dirty="0" smtClean="0"/>
          </a:p>
          <a:p>
            <a:pPr>
              <a:buNone/>
            </a:pPr>
            <a:r>
              <a:rPr lang="en-US" b="1" dirty="0" smtClean="0">
                <a:latin typeface="Times New Roman" pitchFamily="18" charset="0"/>
                <a:cs typeface="Times New Roman" pitchFamily="18" charset="0"/>
              </a:rPr>
              <a:t>Declarations are primarily used for two purposes:</a:t>
            </a:r>
          </a:p>
          <a:p>
            <a:pPr>
              <a:buNone/>
            </a:pPr>
            <a:r>
              <a:rPr lang="en-US" b="1" dirty="0" smtClean="0">
                <a:latin typeface="Times New Roman" pitchFamily="18" charset="0"/>
                <a:cs typeface="Times New Roman" pitchFamily="18" charset="0"/>
              </a:rPr>
              <a:t>Declaring Variables:</a:t>
            </a:r>
          </a:p>
          <a:p>
            <a:pPr>
              <a:buNone/>
            </a:pPr>
            <a:r>
              <a:rPr lang="en-US" dirty="0" smtClean="0">
                <a:latin typeface="Times New Roman" pitchFamily="18" charset="0"/>
                <a:cs typeface="Times New Roman" pitchFamily="18" charset="0"/>
              </a:rPr>
              <a:t>Define variables to store data that can be used throughout the JSP page.</a:t>
            </a:r>
          </a:p>
          <a:p>
            <a:pPr>
              <a:buNone/>
            </a:pPr>
            <a:endParaRPr lang="en-US" dirty="0" smtClean="0"/>
          </a:p>
        </p:txBody>
      </p:sp>
      <p:sp>
        <p:nvSpPr>
          <p:cNvPr id="5" name="Rectangle 4"/>
          <p:cNvSpPr/>
          <p:nvPr/>
        </p:nvSpPr>
        <p:spPr>
          <a:xfrm>
            <a:off x="848139" y="4346713"/>
            <a:ext cx="6069496" cy="13782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buNone/>
            </a:pPr>
            <a:r>
              <a:rPr lang="en-US" sz="2000" dirty="0" smtClean="0">
                <a:latin typeface="Times New Roman" pitchFamily="18" charset="0"/>
                <a:cs typeface="Times New Roman" pitchFamily="18" charset="0"/>
              </a:rPr>
              <a:t>Example: &lt;%! String </a:t>
            </a:r>
            <a:r>
              <a:rPr lang="en-US" sz="2000" dirty="0" err="1" smtClean="0">
                <a:latin typeface="Times New Roman" pitchFamily="18" charset="0"/>
                <a:cs typeface="Times New Roman" pitchFamily="18" charset="0"/>
              </a:rPr>
              <a:t>userName</a:t>
            </a:r>
            <a:r>
              <a:rPr lang="en-US" sz="2000" dirty="0" smtClean="0">
                <a:latin typeface="Times New Roman" pitchFamily="18" charset="0"/>
                <a:cs typeface="Times New Roman" pitchFamily="18" charset="0"/>
              </a:rPr>
              <a:t> = "John Doe"; %&gt;</a:t>
            </a:r>
          </a:p>
          <a:p>
            <a:pPr algn="ctr"/>
            <a:endParaRPr lang="en-US" dirty="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pPr>
              <a:buNone/>
            </a:pPr>
            <a:r>
              <a:rPr lang="en-US" b="1" dirty="0" smtClean="0">
                <a:latin typeface="Times New Roman" pitchFamily="18" charset="0"/>
                <a:cs typeface="Times New Roman" pitchFamily="18" charset="0"/>
              </a:rPr>
              <a:t>Declaring Methods</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Create reusable blocks of code that can be invoked from various locations within the JSP page.</a:t>
            </a:r>
          </a:p>
          <a:p>
            <a:pPr>
              <a:buNone/>
            </a:pPr>
            <a:r>
              <a:rPr lang="en-US" dirty="0" smtClean="0">
                <a:latin typeface="Times New Roman" pitchFamily="18" charset="0"/>
                <a:cs typeface="Times New Roman" pitchFamily="18" charset="0"/>
              </a:rPr>
              <a:t>Example:</a:t>
            </a:r>
          </a:p>
          <a:p>
            <a:pPr>
              <a:buNone/>
            </a:pPr>
            <a:endParaRPr lang="en-US" dirty="0" smtClean="0">
              <a:latin typeface="Times New Roman" pitchFamily="18" charset="0"/>
              <a:cs typeface="Times New Roman" pitchFamily="18" charset="0"/>
            </a:endParaRPr>
          </a:p>
          <a:p>
            <a:pPr>
              <a:buNone/>
            </a:pPr>
            <a:endParaRPr lang="en-US" dirty="0" smtClean="0"/>
          </a:p>
        </p:txBody>
      </p:sp>
      <p:sp>
        <p:nvSpPr>
          <p:cNvPr id="5" name="Rectangle 4"/>
          <p:cNvSpPr/>
          <p:nvPr/>
        </p:nvSpPr>
        <p:spPr>
          <a:xfrm>
            <a:off x="1749286" y="4214192"/>
            <a:ext cx="6069496" cy="176253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buNone/>
            </a:pPr>
            <a:r>
              <a:rPr lang="en-US" sz="2000" dirty="0" smtClean="0">
                <a:latin typeface="Times New Roman" pitchFamily="18" charset="0"/>
                <a:cs typeface="Times New Roman" pitchFamily="18" charset="0"/>
              </a:rPr>
              <a:t>&lt;%!</a:t>
            </a:r>
          </a:p>
          <a:p>
            <a:pPr>
              <a:buNone/>
            </a:pPr>
            <a:r>
              <a:rPr lang="en-US" sz="2000" dirty="0" smtClean="0">
                <a:latin typeface="Times New Roman" pitchFamily="18" charset="0"/>
                <a:cs typeface="Times New Roman" pitchFamily="18" charset="0"/>
              </a:rPr>
              <a:t>public String </a:t>
            </a:r>
            <a:r>
              <a:rPr lang="en-US" sz="2000" dirty="0" err="1" smtClean="0">
                <a:latin typeface="Times New Roman" pitchFamily="18" charset="0"/>
                <a:cs typeface="Times New Roman" pitchFamily="18" charset="0"/>
              </a:rPr>
              <a:t>greetUser</a:t>
            </a:r>
            <a:r>
              <a:rPr lang="en-US" sz="2000" dirty="0" smtClean="0">
                <a:latin typeface="Times New Roman" pitchFamily="18" charset="0"/>
                <a:cs typeface="Times New Roman" pitchFamily="18" charset="0"/>
              </a:rPr>
              <a:t>(String name) {</a:t>
            </a:r>
          </a:p>
          <a:p>
            <a:pPr>
              <a:buNone/>
            </a:pPr>
            <a:r>
              <a:rPr lang="en-US" sz="2000" dirty="0" smtClean="0">
                <a:latin typeface="Times New Roman" pitchFamily="18" charset="0"/>
                <a:cs typeface="Times New Roman" pitchFamily="18" charset="0"/>
              </a:rPr>
              <a:t>    return "Hello, " + name + "!";</a:t>
            </a:r>
          </a:p>
          <a:p>
            <a:pPr>
              <a:buNone/>
            </a:pPr>
            <a:r>
              <a:rPr lang="en-US" sz="2000" dirty="0" smtClean="0">
                <a:latin typeface="Times New Roman" pitchFamily="18" charset="0"/>
                <a:cs typeface="Times New Roman" pitchFamily="18" charset="0"/>
              </a:rPr>
              <a:t>}</a:t>
            </a:r>
          </a:p>
          <a:p>
            <a:pPr>
              <a:buNone/>
            </a:pPr>
            <a:r>
              <a:rPr lang="en-US" sz="2000" dirty="0" smtClean="0">
                <a:latin typeface="Times New Roman" pitchFamily="18" charset="0"/>
                <a:cs typeface="Times New Roman" pitchFamily="18" charset="0"/>
              </a:rPr>
              <a:t>%&gt;</a:t>
            </a:r>
          </a:p>
          <a:p>
            <a:pPr algn="ctr"/>
            <a:endParaRPr lang="en-US" dirty="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pPr>
              <a:buNone/>
            </a:pPr>
            <a:endParaRPr lang="en-US" dirty="0" smtClean="0"/>
          </a:p>
          <a:p>
            <a:pPr algn="ctr">
              <a:buNone/>
            </a:pPr>
            <a:endParaRPr lang="en-US" sz="4400" b="1" dirty="0" smtClean="0">
              <a:latin typeface="Times New Roman" pitchFamily="18" charset="0"/>
              <a:cs typeface="Times New Roman" pitchFamily="18" charset="0"/>
            </a:endParaRPr>
          </a:p>
        </p:txBody>
      </p:sp>
      <p:sp>
        <p:nvSpPr>
          <p:cNvPr id="5" name="Rectangle 4"/>
          <p:cNvSpPr/>
          <p:nvPr/>
        </p:nvSpPr>
        <p:spPr>
          <a:xfrm>
            <a:off x="-198783" y="3332165"/>
            <a:ext cx="12191999" cy="707886"/>
          </a:xfrm>
          <a:prstGeom prst="rect">
            <a:avLst/>
          </a:prstGeom>
          <a:solidFill>
            <a:srgbClr val="FFFFCC"/>
          </a:solidFill>
        </p:spPr>
        <p:txBody>
          <a:bodyPr wrap="square">
            <a:spAutoFit/>
          </a:bodyPr>
          <a:lstStyle/>
          <a:p>
            <a:pPr algn="ctr"/>
            <a:r>
              <a:rPr lang="en-IN" sz="4000" dirty="0" smtClean="0">
                <a:latin typeface="Times New Roman" pitchFamily="18" charset="0"/>
                <a:cs typeface="Times New Roman" pitchFamily="18" charset="0"/>
              </a:rPr>
              <a:t>Directive Elements</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r>
              <a:rPr lang="en-US" sz="3600" b="1" dirty="0" smtClean="0">
                <a:latin typeface="Times New Roman" pitchFamily="18" charset="0"/>
                <a:cs typeface="Times New Roman" pitchFamily="18" charset="0"/>
              </a:rPr>
              <a:t>Introduction to Directive Elements</a:t>
            </a:r>
          </a:p>
        </p:txBody>
      </p:sp>
      <p:sp>
        <p:nvSpPr>
          <p:cNvPr id="4" name="Content Placeholder 3"/>
          <p:cNvSpPr>
            <a:spLocks noGrp="1"/>
          </p:cNvSpPr>
          <p:nvPr>
            <p:ph idx="1"/>
          </p:nvPr>
        </p:nvSpPr>
        <p:spPr>
          <a:xfrm>
            <a:off x="428625" y="2082800"/>
            <a:ext cx="10515600" cy="4351338"/>
          </a:xfrm>
        </p:spPr>
        <p:txBody>
          <a:bodyPr>
            <a:normAutofit/>
          </a:bodyPr>
          <a:lstStyle/>
          <a:p>
            <a:endParaRPr lang="en-US" dirty="0" smtClean="0"/>
          </a:p>
          <a:p>
            <a:pPr>
              <a:buFont typeface="Wingdings" pitchFamily="2" charset="2"/>
              <a:buChar char="v"/>
            </a:pPr>
            <a:r>
              <a:rPr lang="en-US" dirty="0" smtClean="0">
                <a:latin typeface="Times New Roman" pitchFamily="18" charset="0"/>
                <a:cs typeface="Times New Roman" pitchFamily="18" charset="0"/>
              </a:rPr>
              <a:t>Directive elements are special tags embedded within JSP pages.</a:t>
            </a:r>
          </a:p>
          <a:p>
            <a:pPr>
              <a:buFont typeface="Wingdings" pitchFamily="2" charset="2"/>
              <a:buChar char="v"/>
            </a:pPr>
            <a:r>
              <a:rPr lang="en-US" dirty="0" smtClean="0">
                <a:latin typeface="Times New Roman" pitchFamily="18" charset="0"/>
                <a:cs typeface="Times New Roman" pitchFamily="18" charset="0"/>
              </a:rPr>
              <a:t>They provide instructions to the JSP container during the translation phase.</a:t>
            </a:r>
          </a:p>
          <a:p>
            <a:pPr>
              <a:buFont typeface="Wingdings" pitchFamily="2" charset="2"/>
              <a:buChar char="v"/>
            </a:pPr>
            <a:r>
              <a:rPr lang="en-US" dirty="0" smtClean="0">
                <a:latin typeface="Times New Roman" pitchFamily="18" charset="0"/>
                <a:cs typeface="Times New Roman" pitchFamily="18" charset="0"/>
              </a:rPr>
              <a:t>Directives influence the way the JSP page is processed and ultimately rendered as a Servlet.</a:t>
            </a:r>
          </a:p>
          <a:p>
            <a:pPr>
              <a:buNone/>
            </a:pPr>
            <a:endParaRPr lang="en-US" dirty="0" smtClean="0"/>
          </a:p>
          <a:p>
            <a:pPr>
              <a:buNone/>
            </a:pPr>
            <a:endParaRPr lang="en-US" dirty="0" smtClean="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r>
              <a:rPr lang="en-US" sz="3600" b="1" dirty="0" smtClean="0">
                <a:latin typeface="Times New Roman" pitchFamily="18" charset="0"/>
                <a:cs typeface="Times New Roman" pitchFamily="18" charset="0"/>
              </a:rPr>
              <a:t>Types of Directive Elements</a:t>
            </a:r>
          </a:p>
        </p:txBody>
      </p:sp>
      <p:sp>
        <p:nvSpPr>
          <p:cNvPr id="4" name="Content Placeholder 3"/>
          <p:cNvSpPr>
            <a:spLocks noGrp="1"/>
          </p:cNvSpPr>
          <p:nvPr>
            <p:ph idx="1"/>
          </p:nvPr>
        </p:nvSpPr>
        <p:spPr>
          <a:xfrm>
            <a:off x="428625" y="2082800"/>
            <a:ext cx="10515600" cy="4351338"/>
          </a:xfrm>
        </p:spPr>
        <p:txBody>
          <a:bodyPr>
            <a:normAutofit/>
          </a:bodyPr>
          <a:lstStyle/>
          <a:p>
            <a:pPr>
              <a:buNone/>
            </a:pPr>
            <a:endParaRPr lang="en-US" dirty="0" smtClean="0"/>
          </a:p>
          <a:p>
            <a:pPr>
              <a:buNone/>
            </a:pPr>
            <a:r>
              <a:rPr lang="en-US" sz="3200" dirty="0" smtClean="0">
                <a:latin typeface="Times New Roman" pitchFamily="18" charset="0"/>
                <a:cs typeface="Times New Roman" pitchFamily="18" charset="0"/>
              </a:rPr>
              <a:t>There are three primary types of directive elements in JSP:</a:t>
            </a:r>
          </a:p>
          <a:p>
            <a:pPr lvl="1">
              <a:buFont typeface="Wingdings" pitchFamily="2" charset="2"/>
              <a:buChar char="v"/>
            </a:pPr>
            <a:r>
              <a:rPr lang="en-US" sz="2800" dirty="0" smtClean="0">
                <a:latin typeface="Times New Roman" pitchFamily="18" charset="0"/>
                <a:cs typeface="Times New Roman" pitchFamily="18" charset="0"/>
              </a:rPr>
              <a:t>Page Directive</a:t>
            </a:r>
          </a:p>
          <a:p>
            <a:pPr lvl="1">
              <a:buFont typeface="Wingdings" pitchFamily="2" charset="2"/>
              <a:buChar char="v"/>
            </a:pPr>
            <a:r>
              <a:rPr lang="en-US" sz="2800" dirty="0" smtClean="0">
                <a:latin typeface="Times New Roman" pitchFamily="18" charset="0"/>
                <a:cs typeface="Times New Roman" pitchFamily="18" charset="0"/>
              </a:rPr>
              <a:t>Include Directive</a:t>
            </a:r>
          </a:p>
          <a:p>
            <a:pPr lvl="1">
              <a:buFont typeface="Wingdings" pitchFamily="2" charset="2"/>
              <a:buChar char="v"/>
            </a:pPr>
            <a:r>
              <a:rPr lang="en-US" sz="2800" dirty="0" err="1" smtClean="0">
                <a:latin typeface="Times New Roman" pitchFamily="18" charset="0"/>
                <a:cs typeface="Times New Roman" pitchFamily="18" charset="0"/>
              </a:rPr>
              <a:t>Taglib</a:t>
            </a:r>
            <a:r>
              <a:rPr lang="en-US" sz="2800" dirty="0" smtClean="0">
                <a:latin typeface="Times New Roman" pitchFamily="18" charset="0"/>
                <a:cs typeface="Times New Roman" pitchFamily="18" charset="0"/>
              </a:rPr>
              <a:t> Directive</a:t>
            </a:r>
          </a:p>
          <a:p>
            <a:pPr>
              <a:buNone/>
            </a:pPr>
            <a:endParaRPr lang="en-US" dirty="0" smtClean="0"/>
          </a:p>
          <a:p>
            <a:pPr>
              <a:buNone/>
            </a:pPr>
            <a:endParaRPr lang="en-US" dirty="0" smtClean="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fontScale="90000"/>
          </a:bodyPr>
          <a:lstStyle/>
          <a:p>
            <a:pPr>
              <a:spcBef>
                <a:spcPts val="1000"/>
              </a:spcBef>
            </a:pPr>
            <a:r>
              <a:rPr lang="en-US" sz="4000" b="1" dirty="0" smtClean="0">
                <a:latin typeface="Times New Roman" pitchFamily="18" charset="0"/>
                <a:cs typeface="Times New Roman" pitchFamily="18" charset="0"/>
              </a:rPr>
              <a:t>Definition and Syntax</a:t>
            </a:r>
            <a:r>
              <a:rPr lang="en-US" sz="3600" dirty="0" smtClean="0"/>
              <a:t/>
            </a:r>
            <a:br>
              <a:rPr lang="en-US" sz="3600" dirty="0" smtClean="0"/>
            </a:br>
            <a:endParaRPr lang="en-US" sz="3400" b="1" dirty="0" smtClean="0">
              <a:latin typeface="+mn-lt"/>
              <a:ea typeface="+mn-ea"/>
              <a:cs typeface="+mn-cs"/>
            </a:endParaRPr>
          </a:p>
        </p:txBody>
      </p:sp>
      <p:sp>
        <p:nvSpPr>
          <p:cNvPr id="4" name="Content Placeholder 3"/>
          <p:cNvSpPr>
            <a:spLocks noGrp="1"/>
          </p:cNvSpPr>
          <p:nvPr>
            <p:ph idx="1"/>
          </p:nvPr>
        </p:nvSpPr>
        <p:spPr>
          <a:xfrm>
            <a:off x="428625" y="2082800"/>
            <a:ext cx="10515600" cy="4351338"/>
          </a:xfrm>
        </p:spPr>
        <p:txBody>
          <a:bodyPr>
            <a:normAutofit/>
          </a:bodyPr>
          <a:lstStyle/>
          <a:p>
            <a:pPr>
              <a:buNone/>
            </a:pPr>
            <a:endParaRPr lang="en-US" dirty="0" smtClean="0"/>
          </a:p>
          <a:p>
            <a:pPr>
              <a:buNone/>
            </a:pPr>
            <a:r>
              <a:rPr lang="en-US" dirty="0" smtClean="0">
                <a:latin typeface="Times New Roman" pitchFamily="18" charset="0"/>
                <a:cs typeface="Times New Roman" pitchFamily="18" charset="0"/>
              </a:rPr>
              <a:t>The page directive is defined using the following syntax:</a:t>
            </a:r>
          </a:p>
          <a:p>
            <a:pPr>
              <a:buNone/>
            </a:pPr>
            <a:r>
              <a:rPr lang="en-US" dirty="0" smtClean="0">
                <a:solidFill>
                  <a:srgbClr val="FF0000"/>
                </a:solidFill>
                <a:latin typeface="Times New Roman" pitchFamily="18" charset="0"/>
                <a:cs typeface="Times New Roman" pitchFamily="18" charset="0"/>
              </a:rPr>
              <a:t>&lt;%@ page attribute="value" %&gt;</a:t>
            </a:r>
          </a:p>
          <a:p>
            <a:pPr>
              <a:buNone/>
            </a:pPr>
            <a:endParaRPr lang="en-US" dirty="0" smtClean="0">
              <a:latin typeface="Times New Roman" pitchFamily="18" charset="0"/>
              <a:cs typeface="Times New Roman" pitchFamily="18" charset="0"/>
            </a:endParaRPr>
          </a:p>
          <a:p>
            <a:pPr>
              <a:buFont typeface="Wingdings" pitchFamily="2" charset="2"/>
              <a:buChar char="v"/>
            </a:pPr>
            <a:r>
              <a:rPr lang="en-US" dirty="0" smtClean="0">
                <a:latin typeface="Times New Roman" pitchFamily="18" charset="0"/>
                <a:cs typeface="Times New Roman" pitchFamily="18" charset="0"/>
              </a:rPr>
              <a:t>The attribute specifies a particular setting you want to configure for the generated Servlet class.</a:t>
            </a:r>
          </a:p>
          <a:p>
            <a:pPr>
              <a:buFont typeface="Wingdings" pitchFamily="2" charset="2"/>
              <a:buChar char="v"/>
            </a:pPr>
            <a:r>
              <a:rPr lang="en-US" dirty="0" smtClean="0">
                <a:latin typeface="Times New Roman" pitchFamily="18" charset="0"/>
                <a:cs typeface="Times New Roman" pitchFamily="18" charset="0"/>
              </a:rPr>
              <a:t>The value assigns a specific value to the chosen attribute.</a:t>
            </a:r>
          </a:p>
          <a:p>
            <a:pPr>
              <a:buNone/>
            </a:pPr>
            <a:endParaRPr lang="en-US" dirty="0" smtClean="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r>
              <a:rPr lang="en-US" sz="3600" b="1" dirty="0" smtClean="0">
                <a:latin typeface="Times New Roman" pitchFamily="18" charset="0"/>
                <a:cs typeface="Times New Roman" pitchFamily="18" charset="0"/>
              </a:rPr>
              <a:t>Page Directive - Setting the Stage</a:t>
            </a:r>
          </a:p>
        </p:txBody>
      </p:sp>
      <p:sp>
        <p:nvSpPr>
          <p:cNvPr id="4" name="Content Placeholder 3"/>
          <p:cNvSpPr>
            <a:spLocks noGrp="1"/>
          </p:cNvSpPr>
          <p:nvPr>
            <p:ph idx="1"/>
          </p:nvPr>
        </p:nvSpPr>
        <p:spPr>
          <a:xfrm>
            <a:off x="428625" y="2082800"/>
            <a:ext cx="10515600" cy="4351338"/>
          </a:xfrm>
        </p:spPr>
        <p:txBody>
          <a:bodyPr>
            <a:normAutofit/>
          </a:bodyPr>
          <a:lstStyle/>
          <a:p>
            <a:pPr>
              <a:buFont typeface="Wingdings" pitchFamily="2" charset="2"/>
              <a:buChar char="v"/>
            </a:pPr>
            <a:r>
              <a:rPr lang="en-US" dirty="0" smtClean="0">
                <a:latin typeface="Times New Roman" pitchFamily="18" charset="0"/>
                <a:cs typeface="Times New Roman" pitchFamily="18" charset="0"/>
              </a:rPr>
              <a:t>The page directive is used to define attributes that influence the generated </a:t>
            </a:r>
            <a:r>
              <a:rPr lang="en-US" dirty="0" err="1" smtClean="0">
                <a:latin typeface="Times New Roman" pitchFamily="18" charset="0"/>
                <a:cs typeface="Times New Roman" pitchFamily="18" charset="0"/>
              </a:rPr>
              <a:t>servlet</a:t>
            </a:r>
            <a:r>
              <a:rPr lang="en-US" dirty="0" smtClean="0">
                <a:latin typeface="Times New Roman" pitchFamily="18" charset="0"/>
                <a:cs typeface="Times New Roman" pitchFamily="18" charset="0"/>
              </a:rPr>
              <a:t> class.</a:t>
            </a:r>
          </a:p>
          <a:p>
            <a:pPr>
              <a:buFont typeface="Wingdings" pitchFamily="2" charset="2"/>
              <a:buChar char="v"/>
            </a:pPr>
            <a:r>
              <a:rPr lang="en-US" dirty="0" smtClean="0">
                <a:latin typeface="Times New Roman" pitchFamily="18" charset="0"/>
                <a:cs typeface="Times New Roman" pitchFamily="18" charset="0"/>
              </a:rPr>
              <a:t>Some common attributes include:</a:t>
            </a:r>
          </a:p>
          <a:p>
            <a:pPr lvl="1">
              <a:buFont typeface="Courier New" pitchFamily="49" charset="0"/>
              <a:buChar char="o"/>
            </a:pPr>
            <a:r>
              <a:rPr lang="en-US" dirty="0" smtClean="0">
                <a:latin typeface="Times New Roman" pitchFamily="18" charset="0"/>
                <a:cs typeface="Times New Roman" pitchFamily="18" charset="0"/>
              </a:rPr>
              <a:t>language: Specifies the scripting language used within the JSP page (e.g., java, scripting).</a:t>
            </a:r>
          </a:p>
          <a:p>
            <a:pPr lvl="1">
              <a:buFont typeface="Courier New" pitchFamily="49" charset="0"/>
              <a:buChar char="o"/>
            </a:pPr>
            <a:r>
              <a:rPr lang="en-US" dirty="0" err="1" smtClean="0">
                <a:latin typeface="Times New Roman" pitchFamily="18" charset="0"/>
                <a:cs typeface="Times New Roman" pitchFamily="18" charset="0"/>
              </a:rPr>
              <a:t>contentType</a:t>
            </a:r>
            <a:r>
              <a:rPr lang="en-US" dirty="0" smtClean="0">
                <a:latin typeface="Times New Roman" pitchFamily="18" charset="0"/>
                <a:cs typeface="Times New Roman" pitchFamily="18" charset="0"/>
              </a:rPr>
              <a:t>: Defines the content type of the response generated by the </a:t>
            </a:r>
            <a:r>
              <a:rPr lang="en-US" dirty="0" err="1" smtClean="0">
                <a:latin typeface="Times New Roman" pitchFamily="18" charset="0"/>
                <a:cs typeface="Times New Roman" pitchFamily="18" charset="0"/>
              </a:rPr>
              <a:t>servlet</a:t>
            </a:r>
            <a:r>
              <a:rPr lang="en-US" dirty="0" smtClean="0">
                <a:latin typeface="Times New Roman" pitchFamily="18" charset="0"/>
                <a:cs typeface="Times New Roman" pitchFamily="18" charset="0"/>
              </a:rPr>
              <a:t> (e.g., text/html).</a:t>
            </a:r>
          </a:p>
          <a:p>
            <a:pPr lvl="1">
              <a:buFont typeface="Courier New" pitchFamily="49" charset="0"/>
              <a:buChar char="o"/>
            </a:pPr>
            <a:r>
              <a:rPr lang="en-US" dirty="0" err="1" smtClean="0">
                <a:latin typeface="Times New Roman" pitchFamily="18" charset="0"/>
                <a:cs typeface="Times New Roman" pitchFamily="18" charset="0"/>
              </a:rPr>
              <a:t>pageEncoding</a:t>
            </a:r>
            <a:r>
              <a:rPr lang="en-US" dirty="0" smtClean="0">
                <a:latin typeface="Times New Roman" pitchFamily="18" charset="0"/>
                <a:cs typeface="Times New Roman" pitchFamily="18" charset="0"/>
              </a:rPr>
              <a:t>: Sets the character encoding for the JSP page (e.g., UTF-8).</a:t>
            </a:r>
          </a:p>
          <a:p>
            <a:pPr lvl="1">
              <a:buFont typeface="Courier New" pitchFamily="49" charset="0"/>
              <a:buChar char="o"/>
            </a:pPr>
            <a:r>
              <a:rPr lang="en-US" dirty="0" err="1" smtClean="0">
                <a:latin typeface="Times New Roman" pitchFamily="18" charset="0"/>
                <a:cs typeface="Times New Roman" pitchFamily="18" charset="0"/>
              </a:rPr>
              <a:t>errorPage</a:t>
            </a:r>
            <a:r>
              <a:rPr lang="en-US" dirty="0" smtClean="0">
                <a:latin typeface="Times New Roman" pitchFamily="18" charset="0"/>
                <a:cs typeface="Times New Roman" pitchFamily="18" charset="0"/>
              </a:rPr>
              <a:t>: Defines a fallback page to handle errors that occur during JSP processing.</a:t>
            </a:r>
          </a:p>
          <a:p>
            <a:pPr>
              <a:buNone/>
            </a:pPr>
            <a:endParaRPr lang="en-US" dirty="0" smtClean="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r>
              <a:rPr lang="en-US" sz="3600" b="1" dirty="0" smtClean="0">
                <a:latin typeface="Times New Roman" pitchFamily="18" charset="0"/>
                <a:cs typeface="Times New Roman" pitchFamily="18" charset="0"/>
              </a:rPr>
              <a:t>Examples</a:t>
            </a:r>
            <a:r>
              <a:rPr lang="en-US" sz="3600" b="1" dirty="0" smtClean="0"/>
              <a:t> </a:t>
            </a:r>
            <a:endParaRPr lang="en-US" sz="3600" dirty="0" smtClean="0"/>
          </a:p>
        </p:txBody>
      </p:sp>
      <p:sp>
        <p:nvSpPr>
          <p:cNvPr id="4" name="Content Placeholder 3"/>
          <p:cNvSpPr>
            <a:spLocks noGrp="1"/>
          </p:cNvSpPr>
          <p:nvPr>
            <p:ph idx="1"/>
          </p:nvPr>
        </p:nvSpPr>
        <p:spPr>
          <a:xfrm>
            <a:off x="428625" y="2082800"/>
            <a:ext cx="10515600" cy="4351338"/>
          </a:xfrm>
        </p:spPr>
        <p:txBody>
          <a:bodyPr>
            <a:normAutofit/>
          </a:bodyPr>
          <a:lstStyle/>
          <a:p>
            <a:pPr>
              <a:buNone/>
            </a:pPr>
            <a:endParaRPr lang="en-US" b="1" dirty="0" smtClean="0"/>
          </a:p>
          <a:p>
            <a:pPr>
              <a:buNone/>
            </a:pPr>
            <a:r>
              <a:rPr lang="en-US" dirty="0" smtClean="0">
                <a:latin typeface="Times New Roman" pitchFamily="18" charset="0"/>
                <a:cs typeface="Times New Roman" pitchFamily="18" charset="0"/>
              </a:rPr>
              <a:t>Let's look at some examples of how to use the page directive:</a:t>
            </a:r>
          </a:p>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Example 1: Setting Scripting Language</a:t>
            </a:r>
          </a:p>
          <a:p>
            <a:pPr>
              <a:buNone/>
            </a:pPr>
            <a:endParaRPr lang="en-US" dirty="0" smtClean="0">
              <a:latin typeface="Times New Roman" pitchFamily="18" charset="0"/>
              <a:cs typeface="Times New Roman" pitchFamily="18" charset="0"/>
            </a:endParaRPr>
          </a:p>
          <a:p>
            <a:pPr>
              <a:buNone/>
            </a:pPr>
            <a:endParaRPr lang="en-US" dirty="0" smtClean="0"/>
          </a:p>
        </p:txBody>
      </p:sp>
      <p:sp>
        <p:nvSpPr>
          <p:cNvPr id="5" name="Rectangle 4"/>
          <p:cNvSpPr/>
          <p:nvPr/>
        </p:nvSpPr>
        <p:spPr>
          <a:xfrm>
            <a:off x="914400" y="4837043"/>
            <a:ext cx="6679095"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buNone/>
            </a:pPr>
            <a:r>
              <a:rPr lang="en-US" dirty="0" smtClean="0">
                <a:latin typeface="Times New Roman" pitchFamily="18" charset="0"/>
                <a:cs typeface="Times New Roman" pitchFamily="18" charset="0"/>
              </a:rPr>
              <a:t>&lt;%@ page language="java" %&gt;</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pPr>
              <a:buNone/>
            </a:pPr>
            <a:endParaRPr lang="en-US" dirty="0" smtClean="0"/>
          </a:p>
          <a:p>
            <a:pPr>
              <a:buNone/>
            </a:pPr>
            <a:endParaRPr lang="en-US" dirty="0" smtClean="0"/>
          </a:p>
          <a:p>
            <a:pPr algn="ctr">
              <a:buNone/>
            </a:pPr>
            <a:endParaRPr lang="en-US" sz="4400" b="1" dirty="0" smtClean="0">
              <a:latin typeface="Times New Roman" pitchFamily="18" charset="0"/>
              <a:cs typeface="Times New Roman" pitchFamily="18" charset="0"/>
            </a:endParaRPr>
          </a:p>
        </p:txBody>
      </p:sp>
      <p:sp>
        <p:nvSpPr>
          <p:cNvPr id="5" name="Rectangle 4"/>
          <p:cNvSpPr/>
          <p:nvPr/>
        </p:nvSpPr>
        <p:spPr>
          <a:xfrm>
            <a:off x="1" y="3305660"/>
            <a:ext cx="12191999" cy="707886"/>
          </a:xfrm>
          <a:prstGeom prst="rect">
            <a:avLst/>
          </a:prstGeom>
          <a:solidFill>
            <a:srgbClr val="FFFFCC"/>
          </a:solidFill>
        </p:spPr>
        <p:txBody>
          <a:bodyPr wrap="square">
            <a:spAutoFit/>
          </a:bodyPr>
          <a:lstStyle/>
          <a:p>
            <a:pPr algn="ctr"/>
            <a:r>
              <a:rPr lang="en-IN" sz="4000" dirty="0" smtClean="0">
                <a:latin typeface="Times New Roman" pitchFamily="18" charset="0"/>
                <a:cs typeface="Times New Roman" pitchFamily="18" charset="0"/>
              </a:rPr>
              <a:t>Include Directive - Promoting Reusability</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r>
              <a:rPr lang="en-US" sz="3600" b="1" dirty="0" smtClean="0">
                <a:latin typeface="Times New Roman" pitchFamily="18" charset="0"/>
                <a:cs typeface="Times New Roman" pitchFamily="18" charset="0"/>
              </a:rPr>
              <a:t>Syntax -  A Simple Approach to Inclusion</a:t>
            </a:r>
          </a:p>
        </p:txBody>
      </p:sp>
      <p:sp>
        <p:nvSpPr>
          <p:cNvPr id="4" name="Content Placeholder 3"/>
          <p:cNvSpPr>
            <a:spLocks noGrp="1"/>
          </p:cNvSpPr>
          <p:nvPr>
            <p:ph idx="1"/>
          </p:nvPr>
        </p:nvSpPr>
        <p:spPr>
          <a:xfrm>
            <a:off x="428625" y="2082800"/>
            <a:ext cx="10515600" cy="4351338"/>
          </a:xfrm>
        </p:spPr>
        <p:txBody>
          <a:bodyPr>
            <a:normAutofit/>
          </a:bodyPr>
          <a:lstStyle/>
          <a:p>
            <a:pPr>
              <a:buNone/>
            </a:pPr>
            <a:endParaRPr lang="en-US" dirty="0" smtClean="0"/>
          </a:p>
          <a:p>
            <a:pPr>
              <a:buNone/>
            </a:pPr>
            <a:r>
              <a:rPr lang="en-US" dirty="0" smtClean="0">
                <a:latin typeface="Times New Roman" pitchFamily="18" charset="0"/>
                <a:cs typeface="Times New Roman" pitchFamily="18" charset="0"/>
              </a:rPr>
              <a:t>The include directive follows a concise syntax:</a:t>
            </a:r>
          </a:p>
          <a:p>
            <a:pPr>
              <a:buNone/>
            </a:pPr>
            <a:r>
              <a:rPr lang="en-US" dirty="0" smtClean="0">
                <a:solidFill>
                  <a:srgbClr val="FF0000"/>
                </a:solidFill>
                <a:latin typeface="Times New Roman" pitchFamily="18" charset="0"/>
                <a:cs typeface="Times New Roman" pitchFamily="18" charset="0"/>
              </a:rPr>
              <a:t>&lt;%@ include file="</a:t>
            </a:r>
            <a:r>
              <a:rPr lang="en-US" dirty="0" err="1" smtClean="0">
                <a:solidFill>
                  <a:srgbClr val="FF0000"/>
                </a:solidFill>
                <a:latin typeface="Times New Roman" pitchFamily="18" charset="0"/>
                <a:cs typeface="Times New Roman" pitchFamily="18" charset="0"/>
              </a:rPr>
              <a:t>relativeURL</a:t>
            </a:r>
            <a:r>
              <a:rPr lang="en-US" dirty="0" smtClean="0">
                <a:solidFill>
                  <a:srgbClr val="FF0000"/>
                </a:solidFill>
                <a:latin typeface="Times New Roman" pitchFamily="18" charset="0"/>
                <a:cs typeface="Times New Roman" pitchFamily="18" charset="0"/>
              </a:rPr>
              <a:t>" %&gt;</a:t>
            </a:r>
          </a:p>
          <a:p>
            <a:pPr>
              <a:buNone/>
            </a:pPr>
            <a:endParaRPr lang="en-US" dirty="0" smtClean="0">
              <a:latin typeface="Times New Roman" pitchFamily="18" charset="0"/>
              <a:cs typeface="Times New Roman" pitchFamily="18" charset="0"/>
            </a:endParaRPr>
          </a:p>
          <a:p>
            <a:pPr>
              <a:buFont typeface="Wingdings" pitchFamily="2" charset="2"/>
              <a:buChar char="v"/>
            </a:pPr>
            <a:r>
              <a:rPr lang="en-US" dirty="0" smtClean="0">
                <a:latin typeface="Times New Roman" pitchFamily="18" charset="0"/>
                <a:cs typeface="Times New Roman" pitchFamily="18" charset="0"/>
              </a:rPr>
              <a:t>The file attribute specifies the relative path to the file you want to include.</a:t>
            </a:r>
          </a:p>
          <a:p>
            <a:pPr>
              <a:buFont typeface="Wingdings" pitchFamily="2" charset="2"/>
              <a:buChar char="v"/>
            </a:pPr>
            <a:r>
              <a:rPr lang="en-US" dirty="0" smtClean="0">
                <a:latin typeface="Times New Roman" pitchFamily="18" charset="0"/>
                <a:cs typeface="Times New Roman" pitchFamily="18" charset="0"/>
              </a:rPr>
              <a:t>The included content is inserted at the location where the directive is placed within the JSP page.</a:t>
            </a:r>
          </a:p>
          <a:p>
            <a:pPr>
              <a:buNone/>
            </a:pPr>
            <a:endParaRPr lang="en-US" dirty="0" smtClean="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r>
              <a:rPr lang="en-US" sz="3600" b="1" dirty="0" smtClean="0">
                <a:latin typeface="Times New Roman" pitchFamily="18" charset="0"/>
                <a:cs typeface="Times New Roman" pitchFamily="18" charset="0"/>
              </a:rPr>
              <a:t>Usage and Examples</a:t>
            </a:r>
          </a:p>
        </p:txBody>
      </p:sp>
      <p:sp>
        <p:nvSpPr>
          <p:cNvPr id="4" name="Content Placeholder 3"/>
          <p:cNvSpPr>
            <a:spLocks noGrp="1"/>
          </p:cNvSpPr>
          <p:nvPr>
            <p:ph idx="1"/>
          </p:nvPr>
        </p:nvSpPr>
        <p:spPr>
          <a:xfrm>
            <a:off x="428625" y="2082800"/>
            <a:ext cx="10515600" cy="4351338"/>
          </a:xfrm>
        </p:spPr>
        <p:txBody>
          <a:bodyPr>
            <a:normAutofit/>
          </a:bodyPr>
          <a:lstStyle/>
          <a:p>
            <a:pPr>
              <a:buNone/>
            </a:pPr>
            <a:endParaRPr lang="en-US" b="1" dirty="0" smtClean="0"/>
          </a:p>
          <a:p>
            <a:pPr>
              <a:buFont typeface="Wingdings" pitchFamily="2" charset="2"/>
              <a:buChar char="v"/>
            </a:pPr>
            <a:r>
              <a:rPr lang="en-US" dirty="0" smtClean="0">
                <a:latin typeface="Times New Roman" pitchFamily="18" charset="0"/>
                <a:cs typeface="Times New Roman" pitchFamily="18" charset="0"/>
              </a:rPr>
              <a:t>The include directive offers a multitude of applications:</a:t>
            </a:r>
          </a:p>
          <a:p>
            <a:pPr>
              <a:buFont typeface="Wingdings" pitchFamily="2" charset="2"/>
              <a:buChar char="v"/>
            </a:pPr>
            <a:r>
              <a:rPr lang="en-US" dirty="0" smtClean="0">
                <a:latin typeface="Times New Roman" pitchFamily="18" charset="0"/>
                <a:cs typeface="Times New Roman" pitchFamily="18" charset="0"/>
              </a:rPr>
              <a:t>Including headers, footers, and navigation bars across multiple pages.</a:t>
            </a:r>
          </a:p>
          <a:p>
            <a:pPr>
              <a:buFont typeface="Wingdings" pitchFamily="2" charset="2"/>
              <a:buChar char="v"/>
            </a:pPr>
            <a:r>
              <a:rPr lang="en-US" dirty="0" smtClean="0">
                <a:latin typeface="Times New Roman" pitchFamily="18" charset="0"/>
                <a:cs typeface="Times New Roman" pitchFamily="18" charset="0"/>
              </a:rPr>
              <a:t>Reusing common UI elements like login forms or search bars.</a:t>
            </a:r>
          </a:p>
          <a:p>
            <a:pPr>
              <a:buFont typeface="Wingdings" pitchFamily="2" charset="2"/>
              <a:buChar char="v"/>
            </a:pPr>
            <a:r>
              <a:rPr lang="en-US" dirty="0" smtClean="0">
                <a:latin typeface="Times New Roman" pitchFamily="18" charset="0"/>
                <a:cs typeface="Times New Roman" pitchFamily="18" charset="0"/>
              </a:rPr>
              <a:t>Incorporating dynamic content generated by separate JSP files.</a:t>
            </a:r>
          </a:p>
          <a:p>
            <a:pPr>
              <a:buNone/>
            </a:pPr>
            <a:endParaRPr lang="en-US" dirty="0" smtClean="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pPr algn="ctr">
              <a:buNone/>
            </a:pPr>
            <a:endParaRPr lang="en-US" sz="4400" b="1" dirty="0" smtClean="0">
              <a:latin typeface="Times New Roman" pitchFamily="18" charset="0"/>
              <a:cs typeface="Times New Roman" pitchFamily="18" charset="0"/>
            </a:endParaRPr>
          </a:p>
          <a:p>
            <a:pPr algn="ctr">
              <a:buNone/>
            </a:pPr>
            <a:endParaRPr lang="en-US" sz="4400" b="1" dirty="0" smtClean="0">
              <a:latin typeface="Times New Roman" pitchFamily="18" charset="0"/>
              <a:cs typeface="Times New Roman" pitchFamily="18" charset="0"/>
            </a:endParaRPr>
          </a:p>
        </p:txBody>
      </p:sp>
      <p:sp>
        <p:nvSpPr>
          <p:cNvPr id="5" name="Rectangle 4"/>
          <p:cNvSpPr/>
          <p:nvPr/>
        </p:nvSpPr>
        <p:spPr>
          <a:xfrm>
            <a:off x="1" y="3305660"/>
            <a:ext cx="12191999" cy="707886"/>
          </a:xfrm>
          <a:prstGeom prst="rect">
            <a:avLst/>
          </a:prstGeom>
          <a:solidFill>
            <a:srgbClr val="FFFFCC"/>
          </a:solidFill>
        </p:spPr>
        <p:txBody>
          <a:bodyPr wrap="square">
            <a:spAutoFit/>
          </a:bodyPr>
          <a:lstStyle/>
          <a:p>
            <a:pPr algn="ctr"/>
            <a:r>
              <a:rPr lang="en-IN" sz="4000" dirty="0" err="1" smtClean="0">
                <a:latin typeface="Times New Roman" pitchFamily="18" charset="0"/>
                <a:cs typeface="Times New Roman" pitchFamily="18" charset="0"/>
              </a:rPr>
              <a:t>Taglib</a:t>
            </a:r>
            <a:r>
              <a:rPr lang="en-IN" sz="4000" dirty="0" smtClean="0">
                <a:latin typeface="Times New Roman" pitchFamily="18" charset="0"/>
                <a:cs typeface="Times New Roman" pitchFamily="18" charset="0"/>
              </a:rPr>
              <a:t> directives</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r>
              <a:rPr lang="en-US" sz="3600" b="1" dirty="0" smtClean="0">
                <a:latin typeface="Times New Roman" pitchFamily="18" charset="0"/>
                <a:cs typeface="Times New Roman" pitchFamily="18" charset="0"/>
              </a:rPr>
              <a:t>Definition and Syntax</a:t>
            </a:r>
            <a:endParaRPr lang="en-US" sz="3600" dirty="0" smtClean="0">
              <a:latin typeface="Times New Roman" pitchFamily="18" charset="0"/>
              <a:cs typeface="Times New Roman" pitchFamily="18" charset="0"/>
            </a:endParaRPr>
          </a:p>
        </p:txBody>
      </p:sp>
      <p:sp>
        <p:nvSpPr>
          <p:cNvPr id="4" name="Content Placeholder 3"/>
          <p:cNvSpPr>
            <a:spLocks noGrp="1"/>
          </p:cNvSpPr>
          <p:nvPr>
            <p:ph idx="1"/>
          </p:nvPr>
        </p:nvSpPr>
        <p:spPr>
          <a:xfrm>
            <a:off x="428625" y="2082800"/>
            <a:ext cx="10515600" cy="4351338"/>
          </a:xfrm>
        </p:spPr>
        <p:txBody>
          <a:bodyPr>
            <a:normAutofit/>
          </a:bodyPr>
          <a:lstStyle/>
          <a:p>
            <a:pPr>
              <a:buNone/>
            </a:pPr>
            <a:endParaRPr lang="en-US" dirty="0" smtClean="0"/>
          </a:p>
          <a:p>
            <a:pPr>
              <a:buNone/>
            </a:pPr>
            <a:r>
              <a:rPr lang="en-US" dirty="0" smtClean="0">
                <a:latin typeface="Times New Roman" pitchFamily="18" charset="0"/>
                <a:cs typeface="Times New Roman" pitchFamily="18" charset="0"/>
              </a:rPr>
              <a:t>The </a:t>
            </a:r>
            <a:r>
              <a:rPr lang="en-US" dirty="0" err="1" smtClean="0">
                <a:latin typeface="Times New Roman" pitchFamily="18" charset="0"/>
                <a:cs typeface="Times New Roman" pitchFamily="18" charset="0"/>
              </a:rPr>
              <a:t>taglib</a:t>
            </a:r>
            <a:r>
              <a:rPr lang="en-US" dirty="0" smtClean="0">
                <a:latin typeface="Times New Roman" pitchFamily="18" charset="0"/>
                <a:cs typeface="Times New Roman" pitchFamily="18" charset="0"/>
              </a:rPr>
              <a:t> directive adheres to a well-defined syntax:</a:t>
            </a:r>
          </a:p>
          <a:p>
            <a:pPr>
              <a:buNone/>
            </a:pPr>
            <a:r>
              <a:rPr lang="en-US" dirty="0" smtClean="0">
                <a:latin typeface="Times New Roman" pitchFamily="18" charset="0"/>
                <a:cs typeface="Times New Roman" pitchFamily="18" charset="0"/>
              </a:rPr>
              <a:t>&lt;%@ </a:t>
            </a:r>
            <a:r>
              <a:rPr lang="en-US" dirty="0" err="1" smtClean="0">
                <a:latin typeface="Times New Roman" pitchFamily="18" charset="0"/>
                <a:cs typeface="Times New Roman" pitchFamily="18" charset="0"/>
              </a:rPr>
              <a:t>taglib</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uri</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tagLibraryURI</a:t>
            </a:r>
            <a:r>
              <a:rPr lang="en-US" dirty="0" smtClean="0">
                <a:latin typeface="Times New Roman" pitchFamily="18" charset="0"/>
                <a:cs typeface="Times New Roman" pitchFamily="18" charset="0"/>
              </a:rPr>
              <a:t>" prefix="</a:t>
            </a:r>
            <a:r>
              <a:rPr lang="en-US" dirty="0" err="1" smtClean="0">
                <a:latin typeface="Times New Roman" pitchFamily="18" charset="0"/>
                <a:cs typeface="Times New Roman" pitchFamily="18" charset="0"/>
              </a:rPr>
              <a:t>tagPrefix</a:t>
            </a:r>
            <a:r>
              <a:rPr lang="en-US" dirty="0" smtClean="0">
                <a:latin typeface="Times New Roman" pitchFamily="18" charset="0"/>
                <a:cs typeface="Times New Roman" pitchFamily="18" charset="0"/>
              </a:rPr>
              <a:t>" %&gt;</a:t>
            </a:r>
          </a:p>
          <a:p>
            <a:pPr>
              <a:buNone/>
            </a:pPr>
            <a:endParaRPr lang="en-IN"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The </a:t>
            </a:r>
            <a:r>
              <a:rPr lang="en-US" dirty="0" err="1" smtClean="0">
                <a:latin typeface="Times New Roman" pitchFamily="18" charset="0"/>
                <a:cs typeface="Times New Roman" pitchFamily="18" charset="0"/>
              </a:rPr>
              <a:t>uri</a:t>
            </a:r>
            <a:r>
              <a:rPr lang="en-US" dirty="0" smtClean="0">
                <a:latin typeface="Times New Roman" pitchFamily="18" charset="0"/>
                <a:cs typeface="Times New Roman" pitchFamily="18" charset="0"/>
              </a:rPr>
              <a:t> attribute specifies the location (URI) of the tag library descriptor file.</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pPr>
              <a:buNone/>
            </a:pPr>
            <a:endParaRPr lang="en-US" sz="3200" b="1" dirty="0" smtClean="0">
              <a:latin typeface="Times New Roman" pitchFamily="18" charset="0"/>
              <a:cs typeface="Times New Roman" pitchFamily="18" charset="0"/>
            </a:endParaRPr>
          </a:p>
          <a:p>
            <a:pPr>
              <a:buNone/>
            </a:pPr>
            <a:endParaRPr lang="en-US" sz="3200" b="1" dirty="0" smtClean="0">
              <a:latin typeface="Times New Roman" pitchFamily="18" charset="0"/>
              <a:cs typeface="Times New Roman" pitchFamily="18" charset="0"/>
            </a:endParaRPr>
          </a:p>
        </p:txBody>
      </p:sp>
      <p:sp>
        <p:nvSpPr>
          <p:cNvPr id="5" name="Rectangle 4"/>
          <p:cNvSpPr/>
          <p:nvPr/>
        </p:nvSpPr>
        <p:spPr>
          <a:xfrm>
            <a:off x="1" y="3305660"/>
            <a:ext cx="12191999" cy="1323439"/>
          </a:xfrm>
          <a:prstGeom prst="rect">
            <a:avLst/>
          </a:prstGeom>
          <a:solidFill>
            <a:srgbClr val="FFFFCC"/>
          </a:solidFill>
        </p:spPr>
        <p:txBody>
          <a:bodyPr wrap="square">
            <a:spAutoFit/>
          </a:bodyPr>
          <a:lstStyle/>
          <a:p>
            <a:pPr algn="ctr"/>
            <a:r>
              <a:rPr lang="en-US" sz="4000" dirty="0" smtClean="0">
                <a:latin typeface="Times New Roman" pitchFamily="18" charset="0"/>
                <a:cs typeface="Times New Roman" pitchFamily="18" charset="0"/>
              </a:rPr>
              <a:t>CRUD Operations</a:t>
            </a:r>
          </a:p>
          <a:p>
            <a:pPr algn="ctr"/>
            <a:r>
              <a:rPr lang="en-US" sz="4000" dirty="0" smtClean="0">
                <a:latin typeface="Times New Roman" pitchFamily="18" charset="0"/>
                <a:cs typeface="Times New Roman" pitchFamily="18" charset="0"/>
              </a:rPr>
              <a:t>The Backbone of Data Management</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pPr>
              <a:spcBef>
                <a:spcPts val="1000"/>
              </a:spcBef>
            </a:pPr>
            <a:r>
              <a:rPr lang="en-US" sz="3600" b="1" dirty="0" smtClean="0">
                <a:latin typeface="Times New Roman" pitchFamily="18" charset="0"/>
                <a:cs typeface="Times New Roman" pitchFamily="18" charset="0"/>
              </a:rPr>
              <a:t>Definition of CRUD</a:t>
            </a:r>
            <a:endParaRPr lang="en-US" sz="3400" b="1" dirty="0" smtClean="0">
              <a:latin typeface="Times New Roman" pitchFamily="18" charset="0"/>
              <a:ea typeface="+mn-ea"/>
              <a:cs typeface="Times New Roman" pitchFamily="18" charset="0"/>
            </a:endParaRPr>
          </a:p>
        </p:txBody>
      </p:sp>
      <p:sp>
        <p:nvSpPr>
          <p:cNvPr id="4" name="Content Placeholder 3"/>
          <p:cNvSpPr>
            <a:spLocks noGrp="1"/>
          </p:cNvSpPr>
          <p:nvPr>
            <p:ph idx="1"/>
          </p:nvPr>
        </p:nvSpPr>
        <p:spPr>
          <a:xfrm>
            <a:off x="428625" y="2082800"/>
            <a:ext cx="10515600" cy="4351338"/>
          </a:xfrm>
        </p:spPr>
        <p:txBody>
          <a:bodyPr>
            <a:normAutofit fontScale="92500" lnSpcReduction="10000"/>
          </a:bodyPr>
          <a:lstStyle/>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CRUD is an acronym that stands for:</a:t>
            </a:r>
          </a:p>
          <a:p>
            <a:pPr>
              <a:buFont typeface="Wingdings" pitchFamily="2" charset="2"/>
              <a:buChar char="v"/>
            </a:pPr>
            <a:r>
              <a:rPr lang="en-US" dirty="0" smtClean="0">
                <a:latin typeface="Times New Roman" pitchFamily="18" charset="0"/>
                <a:cs typeface="Times New Roman" pitchFamily="18" charset="0"/>
              </a:rPr>
              <a:t>Create: This operation refers to the process of adding new data records to a database table.</a:t>
            </a:r>
          </a:p>
          <a:p>
            <a:pPr>
              <a:buFont typeface="Wingdings" pitchFamily="2" charset="2"/>
              <a:buChar char="v"/>
            </a:pPr>
            <a:r>
              <a:rPr lang="en-US" dirty="0" smtClean="0">
                <a:latin typeface="Times New Roman" pitchFamily="18" charset="0"/>
                <a:cs typeface="Times New Roman" pitchFamily="18" charset="0"/>
              </a:rPr>
              <a:t>Read: This operation signifies retrieving existing data from a database table. This data can be retrieved based on specific criteria or displayed in its entirety.</a:t>
            </a:r>
          </a:p>
          <a:p>
            <a:pPr>
              <a:buFont typeface="Wingdings" pitchFamily="2" charset="2"/>
              <a:buChar char="v"/>
            </a:pPr>
            <a:r>
              <a:rPr lang="en-US" dirty="0" smtClean="0">
                <a:latin typeface="Times New Roman" pitchFamily="18" charset="0"/>
                <a:cs typeface="Times New Roman" pitchFamily="18" charset="0"/>
              </a:rPr>
              <a:t>Update: This operation involves modifying existing data records within a database table. Changes can be made to specific fields or the entire record.</a:t>
            </a:r>
          </a:p>
          <a:p>
            <a:pPr>
              <a:buFont typeface="Wingdings" pitchFamily="2" charset="2"/>
              <a:buChar char="v"/>
            </a:pPr>
            <a:r>
              <a:rPr lang="en-US" dirty="0" smtClean="0">
                <a:latin typeface="Times New Roman" pitchFamily="18" charset="0"/>
                <a:cs typeface="Times New Roman" pitchFamily="18" charset="0"/>
              </a:rPr>
              <a:t>Delete: This operation entails removing unwanted data records from a database table.</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641106"/>
          </a:xfrm>
          <a:solidFill>
            <a:srgbClr val="FFFFCC"/>
          </a:solidFill>
        </p:spPr>
        <p:txBody>
          <a:bodyPr>
            <a:normAutofit/>
          </a:bodyPr>
          <a:lstStyle/>
          <a:p>
            <a:r>
              <a:rPr lang="en-US" sz="3600" b="1" dirty="0" smtClean="0">
                <a:latin typeface="Times New Roman" pitchFamily="18" charset="0"/>
                <a:cs typeface="Times New Roman" pitchFamily="18" charset="0"/>
              </a:rPr>
              <a:t>Importance in Web Applications</a:t>
            </a:r>
            <a:endParaRPr lang="en-US" sz="3600" dirty="0" smtClean="0">
              <a:latin typeface="Times New Roman" pitchFamily="18" charset="0"/>
              <a:cs typeface="Times New Roman" pitchFamily="18" charset="0"/>
            </a:endParaRPr>
          </a:p>
        </p:txBody>
      </p:sp>
      <p:sp>
        <p:nvSpPr>
          <p:cNvPr id="4" name="Content Placeholder 3"/>
          <p:cNvSpPr>
            <a:spLocks noGrp="1"/>
          </p:cNvSpPr>
          <p:nvPr>
            <p:ph idx="1"/>
          </p:nvPr>
        </p:nvSpPr>
        <p:spPr>
          <a:xfrm>
            <a:off x="428625" y="2082800"/>
            <a:ext cx="10515600" cy="4351338"/>
          </a:xfrm>
        </p:spPr>
        <p:txBody>
          <a:bodyPr>
            <a:normAutofit/>
          </a:bodyPr>
          <a:lstStyle/>
          <a:p>
            <a:pPr>
              <a:buFont typeface="Wingdings" pitchFamily="2" charset="2"/>
              <a:buChar char="v"/>
            </a:pPr>
            <a:r>
              <a:rPr lang="en-US" sz="3200" dirty="0" smtClean="0">
                <a:latin typeface="Times New Roman" pitchFamily="18" charset="0"/>
                <a:cs typeface="Times New Roman" pitchFamily="18" charset="0"/>
              </a:rPr>
              <a:t>CRUD operations are the lifeblood of most web applications.</a:t>
            </a:r>
          </a:p>
          <a:p>
            <a:pPr>
              <a:buFont typeface="Wingdings" pitchFamily="2" charset="2"/>
              <a:buChar char="v"/>
            </a:pPr>
            <a:r>
              <a:rPr lang="en-US" sz="3200" dirty="0" smtClean="0">
                <a:latin typeface="Times New Roman" pitchFamily="18" charset="0"/>
                <a:cs typeface="Times New Roman" pitchFamily="18" charset="0"/>
              </a:rPr>
              <a:t>They empower users to:</a:t>
            </a:r>
          </a:p>
          <a:p>
            <a:pPr lvl="1">
              <a:buFont typeface="Courier New" pitchFamily="49" charset="0"/>
              <a:buChar char="o"/>
            </a:pPr>
            <a:r>
              <a:rPr lang="en-US" sz="2800" dirty="0" smtClean="0">
                <a:latin typeface="Times New Roman" pitchFamily="18" charset="0"/>
                <a:cs typeface="Times New Roman" pitchFamily="18" charset="0"/>
              </a:rPr>
              <a:t>Create new accounts, profiles, or entries within the application.</a:t>
            </a:r>
          </a:p>
          <a:p>
            <a:pPr lvl="1">
              <a:buFont typeface="Courier New" pitchFamily="49" charset="0"/>
              <a:buChar char="o"/>
            </a:pPr>
            <a:r>
              <a:rPr lang="en-US" sz="2800" dirty="0" smtClean="0">
                <a:latin typeface="Times New Roman" pitchFamily="18" charset="0"/>
                <a:cs typeface="Times New Roman" pitchFamily="18" charset="0"/>
              </a:rPr>
              <a:t>View and access existing data relevant to their needs.</a:t>
            </a:r>
          </a:p>
          <a:p>
            <a:pPr lvl="1">
              <a:buFont typeface="Courier New" pitchFamily="49" charset="0"/>
              <a:buChar char="o"/>
            </a:pPr>
            <a:r>
              <a:rPr lang="en-US" sz="2800" dirty="0" smtClean="0">
                <a:latin typeface="Times New Roman" pitchFamily="18" charset="0"/>
                <a:cs typeface="Times New Roman" pitchFamily="18" charset="0"/>
              </a:rPr>
              <a:t>Modify or update their personal information or preferences.</a:t>
            </a:r>
          </a:p>
          <a:p>
            <a:pPr lvl="1">
              <a:buFont typeface="Courier New" pitchFamily="49" charset="0"/>
              <a:buChar char="o"/>
            </a:pPr>
            <a:r>
              <a:rPr lang="en-US" sz="2800" dirty="0" smtClean="0">
                <a:latin typeface="Times New Roman" pitchFamily="18" charset="0"/>
                <a:cs typeface="Times New Roman" pitchFamily="18" charset="0"/>
              </a:rPr>
              <a:t>Delete unwanted data or entries from their accounts or interactions.</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r>
              <a:rPr lang="en-US" sz="3600" b="1" dirty="0" smtClean="0">
                <a:latin typeface="Times New Roman" pitchFamily="18" charset="0"/>
                <a:cs typeface="Times New Roman" pitchFamily="18" charset="0"/>
              </a:rPr>
              <a:t>Managing Data in Databases</a:t>
            </a:r>
          </a:p>
        </p:txBody>
      </p:sp>
      <p:sp>
        <p:nvSpPr>
          <p:cNvPr id="4" name="Content Placeholder 3"/>
          <p:cNvSpPr>
            <a:spLocks noGrp="1"/>
          </p:cNvSpPr>
          <p:nvPr>
            <p:ph idx="1"/>
          </p:nvPr>
        </p:nvSpPr>
        <p:spPr>
          <a:xfrm>
            <a:off x="428625" y="2082800"/>
            <a:ext cx="10515600" cy="4351338"/>
          </a:xfrm>
        </p:spPr>
        <p:txBody>
          <a:bodyPr>
            <a:normAutofit/>
          </a:bodyPr>
          <a:lstStyle/>
          <a:p>
            <a:pPr>
              <a:buFont typeface="Wingdings" pitchFamily="2" charset="2"/>
              <a:buChar char="v"/>
            </a:pPr>
            <a:r>
              <a:rPr lang="en-US" dirty="0" smtClean="0">
                <a:latin typeface="Times New Roman" pitchFamily="18" charset="0"/>
                <a:cs typeface="Times New Roman" pitchFamily="18" charset="0"/>
              </a:rPr>
              <a:t>CRUD operations act as a bridge between web applications and databases.</a:t>
            </a:r>
          </a:p>
          <a:p>
            <a:pPr>
              <a:buFont typeface="Wingdings" pitchFamily="2" charset="2"/>
              <a:buChar char="v"/>
            </a:pPr>
            <a:r>
              <a:rPr lang="en-US" dirty="0" smtClean="0">
                <a:latin typeface="Times New Roman" pitchFamily="18" charset="0"/>
                <a:cs typeface="Times New Roman" pitchFamily="18" charset="0"/>
              </a:rPr>
              <a:t>They enable applications to interact with data stored in a structured format within the database.</a:t>
            </a:r>
          </a:p>
          <a:p>
            <a:pPr>
              <a:buFont typeface="Wingdings" pitchFamily="2" charset="2"/>
              <a:buChar char="v"/>
            </a:pPr>
            <a:r>
              <a:rPr lang="en-US" dirty="0" smtClean="0">
                <a:latin typeface="Times New Roman" pitchFamily="18" charset="0"/>
                <a:cs typeface="Times New Roman" pitchFamily="18" charset="0"/>
              </a:rPr>
              <a:t>Developers utilize programming languages (e.g., Java) and database management systems (e.g., </a:t>
            </a:r>
            <a:r>
              <a:rPr lang="en-US" dirty="0" err="1" smtClean="0">
                <a:latin typeface="Times New Roman" pitchFamily="18" charset="0"/>
                <a:cs typeface="Times New Roman" pitchFamily="18" charset="0"/>
              </a:rPr>
              <a:t>MySQL</a:t>
            </a:r>
            <a:r>
              <a:rPr lang="en-US" dirty="0" smtClean="0">
                <a:latin typeface="Times New Roman" pitchFamily="18" charset="0"/>
                <a:cs typeface="Times New Roman" pitchFamily="18" charset="0"/>
              </a:rPr>
              <a:t>) to implement CRUD operations effectively.</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angle 5"/>
          <p:cNvSpPr/>
          <p:nvPr/>
        </p:nvSpPr>
        <p:spPr>
          <a:xfrm>
            <a:off x="1" y="3305660"/>
            <a:ext cx="12191999" cy="1323439"/>
          </a:xfrm>
          <a:prstGeom prst="rect">
            <a:avLst/>
          </a:prstGeom>
          <a:solidFill>
            <a:srgbClr val="FFFFCC"/>
          </a:solidFill>
        </p:spPr>
        <p:txBody>
          <a:bodyPr wrap="square">
            <a:spAutoFit/>
          </a:bodyPr>
          <a:lstStyle/>
          <a:p>
            <a:pPr algn="ctr"/>
            <a:r>
              <a:rPr lang="en-US" sz="4000" dirty="0" smtClean="0">
                <a:latin typeface="Times New Roman" pitchFamily="18" charset="0"/>
                <a:cs typeface="Times New Roman" pitchFamily="18" charset="0"/>
              </a:rPr>
              <a:t>The Create Operation</a:t>
            </a:r>
          </a:p>
          <a:p>
            <a:pPr algn="ctr"/>
            <a:r>
              <a:rPr lang="en-US" sz="4000" dirty="0" smtClean="0">
                <a:latin typeface="Times New Roman" pitchFamily="18" charset="0"/>
                <a:cs typeface="Times New Roman" pitchFamily="18" charset="0"/>
              </a:rPr>
              <a:t>Bringing New Data to Life</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Autofit/>
          </a:bodyPr>
          <a:lstStyle/>
          <a:p>
            <a:r>
              <a:rPr lang="en-US" sz="3200" b="1" dirty="0" smtClean="0">
                <a:latin typeface="Times New Roman" pitchFamily="18" charset="0"/>
                <a:cs typeface="Times New Roman" pitchFamily="18" charset="0"/>
              </a:rPr>
              <a:t>Definition and Process - Unveiling the Create Operation</a:t>
            </a:r>
          </a:p>
        </p:txBody>
      </p:sp>
      <p:sp>
        <p:nvSpPr>
          <p:cNvPr id="4" name="Content Placeholder 3"/>
          <p:cNvSpPr>
            <a:spLocks noGrp="1"/>
          </p:cNvSpPr>
          <p:nvPr>
            <p:ph idx="1"/>
          </p:nvPr>
        </p:nvSpPr>
        <p:spPr>
          <a:xfrm>
            <a:off x="428625" y="2082800"/>
            <a:ext cx="10515600" cy="4351338"/>
          </a:xfrm>
        </p:spPr>
        <p:txBody>
          <a:bodyPr>
            <a:normAutofit/>
          </a:bodyPr>
          <a:lstStyle/>
          <a:p>
            <a:pPr>
              <a:buFont typeface="Wingdings" pitchFamily="2" charset="2"/>
              <a:buChar char="v"/>
            </a:pPr>
            <a:r>
              <a:rPr lang="en-US" dirty="0" smtClean="0">
                <a:latin typeface="Times New Roman" pitchFamily="18" charset="0"/>
                <a:cs typeface="Times New Roman" pitchFamily="18" charset="0"/>
              </a:rPr>
              <a:t>The Create operation signifies the act of adding a new record to a database table.</a:t>
            </a:r>
          </a:p>
          <a:p>
            <a:pPr>
              <a:buFont typeface="Wingdings" pitchFamily="2" charset="2"/>
              <a:buChar char="v"/>
            </a:pPr>
            <a:r>
              <a:rPr lang="en-US" dirty="0" smtClean="0">
                <a:latin typeface="Times New Roman" pitchFamily="18" charset="0"/>
                <a:cs typeface="Times New Roman" pitchFamily="18" charset="0"/>
              </a:rPr>
              <a:t>It typically involves these steps:</a:t>
            </a:r>
          </a:p>
          <a:p>
            <a:pPr lvl="1">
              <a:buFont typeface="Wingdings" pitchFamily="2" charset="2"/>
              <a:buChar char="ü"/>
            </a:pPr>
            <a:r>
              <a:rPr lang="en-US" dirty="0" smtClean="0">
                <a:latin typeface="Times New Roman" pitchFamily="18" charset="0"/>
                <a:cs typeface="Times New Roman" pitchFamily="18" charset="0"/>
              </a:rPr>
              <a:t>User Interaction: A user interacts with a web application, providing new data through a form.</a:t>
            </a:r>
          </a:p>
          <a:p>
            <a:pPr lvl="1">
              <a:buFont typeface="Wingdings" pitchFamily="2" charset="2"/>
              <a:buChar char="ü"/>
            </a:pPr>
            <a:r>
              <a:rPr lang="en-US" dirty="0" smtClean="0">
                <a:latin typeface="Times New Roman" pitchFamily="18" charset="0"/>
                <a:cs typeface="Times New Roman" pitchFamily="18" charset="0"/>
              </a:rPr>
              <a:t>Form Submission: The user submits the form, sending the data to a JSP page on the server.</a:t>
            </a:r>
          </a:p>
          <a:p>
            <a:pPr lvl="1">
              <a:buFont typeface="Wingdings" pitchFamily="2" charset="2"/>
              <a:buChar char="ü"/>
            </a:pPr>
            <a:r>
              <a:rPr lang="en-US" dirty="0" smtClean="0">
                <a:latin typeface="Times New Roman" pitchFamily="18" charset="0"/>
                <a:cs typeface="Times New Roman" pitchFamily="18" charset="0"/>
              </a:rPr>
              <a:t>Data Retrieval: The JSP page retrieves the submitted data from the form.</a:t>
            </a:r>
          </a:p>
          <a:p>
            <a:pPr lvl="1">
              <a:buFont typeface="Wingdings" pitchFamily="2" charset="2"/>
              <a:buChar char="ü"/>
            </a:pPr>
            <a:r>
              <a:rPr lang="en-US" dirty="0" smtClean="0">
                <a:latin typeface="Times New Roman" pitchFamily="18" charset="0"/>
                <a:cs typeface="Times New Roman" pitchFamily="18" charset="0"/>
              </a:rPr>
              <a:t>Database Interaction: The JSP page interacts with the database using JDBC (Java Database Connectivity) to insert the new data as a record in the designated table.</a:t>
            </a:r>
          </a:p>
          <a:p>
            <a:pPr>
              <a:buNone/>
            </a:pPr>
            <a:endParaRPr lang="en-US" b="1" dirty="0" smtClean="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r>
              <a:rPr lang="en-US" sz="3600" b="1" dirty="0" smtClean="0">
                <a:latin typeface="Times New Roman" pitchFamily="18" charset="0"/>
                <a:cs typeface="Times New Roman" pitchFamily="18" charset="0"/>
              </a:rPr>
              <a:t>JSP Example: Creating a User Registration Form</a:t>
            </a:r>
          </a:p>
        </p:txBody>
      </p:sp>
      <p:sp>
        <p:nvSpPr>
          <p:cNvPr id="4" name="Content Placeholder 3"/>
          <p:cNvSpPr>
            <a:spLocks noGrp="1"/>
          </p:cNvSpPr>
          <p:nvPr>
            <p:ph idx="1"/>
          </p:nvPr>
        </p:nvSpPr>
        <p:spPr>
          <a:xfrm>
            <a:off x="428625" y="2082800"/>
            <a:ext cx="10515600" cy="4351338"/>
          </a:xfrm>
        </p:spPr>
        <p:txBody>
          <a:bodyPr>
            <a:normAutofit/>
          </a:bodyPr>
          <a:lstStyle/>
          <a:p>
            <a:pPr>
              <a:buNone/>
            </a:pPr>
            <a:endParaRPr lang="en-US" b="1" dirty="0" smtClean="0"/>
          </a:p>
          <a:p>
            <a:pPr>
              <a:buNone/>
            </a:pPr>
            <a:endParaRPr lang="en-US" b="1" dirty="0" smtClean="0"/>
          </a:p>
        </p:txBody>
      </p:sp>
      <p:sp>
        <p:nvSpPr>
          <p:cNvPr id="5" name="Rectangle 4"/>
          <p:cNvSpPr/>
          <p:nvPr/>
        </p:nvSpPr>
        <p:spPr>
          <a:xfrm>
            <a:off x="543339" y="2557670"/>
            <a:ext cx="5155096" cy="3657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smtClean="0">
                <a:latin typeface="Times New Roman" pitchFamily="18" charset="0"/>
                <a:cs typeface="Times New Roman" pitchFamily="18" charset="0"/>
              </a:rPr>
              <a:t>&lt;!DOCTYPE html&gt;</a:t>
            </a:r>
          </a:p>
          <a:p>
            <a:r>
              <a:rPr lang="en-US" dirty="0" smtClean="0">
                <a:latin typeface="Times New Roman" pitchFamily="18" charset="0"/>
                <a:cs typeface="Times New Roman" pitchFamily="18" charset="0"/>
              </a:rPr>
              <a:t>&lt;html&gt;</a:t>
            </a:r>
          </a:p>
          <a:p>
            <a:r>
              <a:rPr lang="en-US" dirty="0" smtClean="0">
                <a:latin typeface="Times New Roman" pitchFamily="18" charset="0"/>
                <a:cs typeface="Times New Roman" pitchFamily="18" charset="0"/>
              </a:rPr>
              <a:t>&lt;head&gt;</a:t>
            </a:r>
          </a:p>
          <a:p>
            <a:r>
              <a:rPr lang="en-US" dirty="0" smtClean="0">
                <a:latin typeface="Times New Roman" pitchFamily="18" charset="0"/>
                <a:cs typeface="Times New Roman" pitchFamily="18" charset="0"/>
              </a:rPr>
              <a:t>&lt;title&gt;User Registration&lt;/title&gt;</a:t>
            </a:r>
          </a:p>
          <a:p>
            <a:r>
              <a:rPr lang="en-US" dirty="0" smtClean="0">
                <a:latin typeface="Times New Roman" pitchFamily="18" charset="0"/>
                <a:cs typeface="Times New Roman" pitchFamily="18" charset="0"/>
              </a:rPr>
              <a:t>&lt;/head&gt;</a:t>
            </a:r>
          </a:p>
          <a:p>
            <a:r>
              <a:rPr lang="en-US" dirty="0" smtClean="0">
                <a:latin typeface="Times New Roman" pitchFamily="18" charset="0"/>
                <a:cs typeface="Times New Roman" pitchFamily="18" charset="0"/>
              </a:rPr>
              <a:t>&lt;body&gt;</a:t>
            </a:r>
          </a:p>
          <a:p>
            <a:r>
              <a:rPr lang="en-US" dirty="0" smtClean="0">
                <a:latin typeface="Times New Roman" pitchFamily="18" charset="0"/>
                <a:cs typeface="Times New Roman" pitchFamily="18" charset="0"/>
              </a:rPr>
              <a:t>&lt;h1&gt;Register Here&lt;/h1&gt;</a:t>
            </a:r>
          </a:p>
          <a:p>
            <a:r>
              <a:rPr lang="en-US" dirty="0" smtClean="0">
                <a:latin typeface="Times New Roman" pitchFamily="18" charset="0"/>
                <a:cs typeface="Times New Roman" pitchFamily="18" charset="0"/>
              </a:rPr>
              <a:t>&lt;form action="register.jsp" method="post"&gt;</a:t>
            </a:r>
          </a:p>
          <a:p>
            <a:r>
              <a:rPr lang="en-US" dirty="0" smtClean="0">
                <a:latin typeface="Times New Roman" pitchFamily="18" charset="0"/>
                <a:cs typeface="Times New Roman" pitchFamily="18" charset="0"/>
              </a:rPr>
              <a:t>  &lt;label for="username"&gt;Username:&lt;/label&gt;</a:t>
            </a:r>
          </a:p>
          <a:p>
            <a:r>
              <a:rPr lang="en-US" dirty="0" smtClean="0"/>
              <a:t>  </a:t>
            </a:r>
          </a:p>
          <a:p>
            <a:endParaRPr lang="en-US" dirty="0" smtClean="0"/>
          </a:p>
          <a:p>
            <a:pPr algn="ctr"/>
            <a:endParaRPr lang="en-US" dirty="0"/>
          </a:p>
        </p:txBody>
      </p:sp>
      <p:sp>
        <p:nvSpPr>
          <p:cNvPr id="6" name="Rectangle 5"/>
          <p:cNvSpPr/>
          <p:nvPr/>
        </p:nvSpPr>
        <p:spPr>
          <a:xfrm>
            <a:off x="6182139" y="2524539"/>
            <a:ext cx="5155096" cy="3657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smtClean="0">
                <a:latin typeface="Times New Roman" pitchFamily="18" charset="0"/>
                <a:cs typeface="Times New Roman" pitchFamily="18" charset="0"/>
              </a:rPr>
              <a:t>&lt;input type="text" id="username" name="username" required&gt;&lt;</a:t>
            </a:r>
            <a:r>
              <a:rPr lang="en-US" dirty="0" err="1" smtClean="0">
                <a:latin typeface="Times New Roman" pitchFamily="18" charset="0"/>
                <a:cs typeface="Times New Roman" pitchFamily="18" charset="0"/>
              </a:rPr>
              <a:t>br</a:t>
            </a:r>
            <a:r>
              <a:rPr lang="en-US" dirty="0" smtClean="0">
                <a:latin typeface="Times New Roman" pitchFamily="18" charset="0"/>
                <a:cs typeface="Times New Roman" pitchFamily="18" charset="0"/>
              </a:rPr>
              <a:t>&gt;&lt;</a:t>
            </a:r>
            <a:r>
              <a:rPr lang="en-US" dirty="0" err="1" smtClean="0">
                <a:latin typeface="Times New Roman" pitchFamily="18" charset="0"/>
                <a:cs typeface="Times New Roman" pitchFamily="18" charset="0"/>
              </a:rPr>
              <a:t>br</a:t>
            </a:r>
            <a:r>
              <a:rPr lang="en-US" dirty="0" smtClean="0">
                <a:latin typeface="Times New Roman" pitchFamily="18" charset="0"/>
                <a:cs typeface="Times New Roman" pitchFamily="18" charset="0"/>
              </a:rPr>
              <a:t>&gt;</a:t>
            </a:r>
          </a:p>
          <a:p>
            <a:r>
              <a:rPr lang="en-US" dirty="0" smtClean="0">
                <a:latin typeface="Times New Roman" pitchFamily="18" charset="0"/>
                <a:cs typeface="Times New Roman" pitchFamily="18" charset="0"/>
              </a:rPr>
              <a:t>&lt;label for="email"&gt;Email:&lt;/label&gt;</a:t>
            </a:r>
          </a:p>
          <a:p>
            <a:r>
              <a:rPr lang="en-US" dirty="0" smtClean="0">
                <a:latin typeface="Times New Roman" pitchFamily="18" charset="0"/>
                <a:cs typeface="Times New Roman" pitchFamily="18" charset="0"/>
              </a:rPr>
              <a:t>  &lt;input type="email" id="email" name="email" required&gt;&lt;</a:t>
            </a:r>
            <a:r>
              <a:rPr lang="en-US" dirty="0" err="1" smtClean="0">
                <a:latin typeface="Times New Roman" pitchFamily="18" charset="0"/>
                <a:cs typeface="Times New Roman" pitchFamily="18" charset="0"/>
              </a:rPr>
              <a:t>br</a:t>
            </a:r>
            <a:r>
              <a:rPr lang="en-US" dirty="0" smtClean="0">
                <a:latin typeface="Times New Roman" pitchFamily="18" charset="0"/>
                <a:cs typeface="Times New Roman" pitchFamily="18" charset="0"/>
              </a:rPr>
              <a:t>&gt;&lt;</a:t>
            </a:r>
            <a:r>
              <a:rPr lang="en-US" dirty="0" err="1" smtClean="0">
                <a:latin typeface="Times New Roman" pitchFamily="18" charset="0"/>
                <a:cs typeface="Times New Roman" pitchFamily="18" charset="0"/>
              </a:rPr>
              <a:t>br</a:t>
            </a:r>
            <a:r>
              <a:rPr lang="en-US" dirty="0" smtClean="0">
                <a:latin typeface="Times New Roman" pitchFamily="18" charset="0"/>
                <a:cs typeface="Times New Roman" pitchFamily="18" charset="0"/>
              </a:rPr>
              <a:t>&gt;</a:t>
            </a:r>
          </a:p>
          <a:p>
            <a:r>
              <a:rPr lang="en-US" dirty="0" smtClean="0">
                <a:latin typeface="Times New Roman" pitchFamily="18" charset="0"/>
                <a:cs typeface="Times New Roman" pitchFamily="18" charset="0"/>
              </a:rPr>
              <a:t>  &lt;label for="password"&gt;Password:&lt;/label&gt;</a:t>
            </a:r>
          </a:p>
          <a:p>
            <a:r>
              <a:rPr lang="en-US" dirty="0" smtClean="0">
                <a:latin typeface="Times New Roman" pitchFamily="18" charset="0"/>
                <a:cs typeface="Times New Roman" pitchFamily="18" charset="0"/>
              </a:rPr>
              <a:t>  &lt;input type="password" id="password" name="password" required&gt;&lt;</a:t>
            </a:r>
            <a:r>
              <a:rPr lang="en-US" dirty="0" err="1" smtClean="0">
                <a:latin typeface="Times New Roman" pitchFamily="18" charset="0"/>
                <a:cs typeface="Times New Roman" pitchFamily="18" charset="0"/>
              </a:rPr>
              <a:t>br</a:t>
            </a:r>
            <a:r>
              <a:rPr lang="en-US" dirty="0" smtClean="0">
                <a:latin typeface="Times New Roman" pitchFamily="18" charset="0"/>
                <a:cs typeface="Times New Roman" pitchFamily="18" charset="0"/>
              </a:rPr>
              <a:t>&gt;&lt;</a:t>
            </a:r>
            <a:r>
              <a:rPr lang="en-US" dirty="0" err="1" smtClean="0">
                <a:latin typeface="Times New Roman" pitchFamily="18" charset="0"/>
                <a:cs typeface="Times New Roman" pitchFamily="18" charset="0"/>
              </a:rPr>
              <a:t>br</a:t>
            </a:r>
            <a:r>
              <a:rPr lang="en-US" dirty="0" smtClean="0">
                <a:latin typeface="Times New Roman" pitchFamily="18" charset="0"/>
                <a:cs typeface="Times New Roman" pitchFamily="18" charset="0"/>
              </a:rPr>
              <a:t>&gt;</a:t>
            </a:r>
          </a:p>
          <a:p>
            <a:r>
              <a:rPr lang="en-US" dirty="0" smtClean="0">
                <a:latin typeface="Times New Roman" pitchFamily="18" charset="0"/>
                <a:cs typeface="Times New Roman" pitchFamily="18" charset="0"/>
              </a:rPr>
              <a:t>  &lt;input type="submit" value="Register"&gt;</a:t>
            </a:r>
          </a:p>
          <a:p>
            <a:r>
              <a:rPr lang="en-US" dirty="0" smtClean="0">
                <a:latin typeface="Times New Roman" pitchFamily="18" charset="0"/>
                <a:cs typeface="Times New Roman" pitchFamily="18" charset="0"/>
              </a:rPr>
              <a:t>&lt;/form&gt;</a:t>
            </a:r>
          </a:p>
          <a:p>
            <a:r>
              <a:rPr lang="en-US" dirty="0" smtClean="0">
                <a:latin typeface="Times New Roman" pitchFamily="18" charset="0"/>
                <a:cs typeface="Times New Roman" pitchFamily="18" charset="0"/>
              </a:rPr>
              <a:t>&lt;/body&gt;</a:t>
            </a:r>
          </a:p>
          <a:p>
            <a:r>
              <a:rPr lang="en-US" dirty="0" smtClean="0">
                <a:latin typeface="Times New Roman" pitchFamily="18" charset="0"/>
                <a:cs typeface="Times New Roman" pitchFamily="18" charset="0"/>
              </a:rPr>
              <a:t>&lt;/html&gt;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p:cNvSpPr/>
          <p:nvPr/>
        </p:nvSpPr>
        <p:spPr>
          <a:xfrm>
            <a:off x="1" y="3305660"/>
            <a:ext cx="12191999" cy="1323439"/>
          </a:xfrm>
          <a:prstGeom prst="rect">
            <a:avLst/>
          </a:prstGeom>
          <a:solidFill>
            <a:srgbClr val="FFFFCC"/>
          </a:solidFill>
        </p:spPr>
        <p:txBody>
          <a:bodyPr wrap="square">
            <a:spAutoFit/>
          </a:bodyPr>
          <a:lstStyle/>
          <a:p>
            <a:pPr algn="ctr"/>
            <a:r>
              <a:rPr lang="en-US" sz="4000" dirty="0" smtClean="0">
                <a:latin typeface="Times New Roman" pitchFamily="18" charset="0"/>
                <a:cs typeface="Times New Roman" pitchFamily="18" charset="0"/>
              </a:rPr>
              <a:t>The Read Operation</a:t>
            </a:r>
          </a:p>
          <a:p>
            <a:pPr algn="ctr"/>
            <a:r>
              <a:rPr lang="en-US" sz="4000" dirty="0" smtClean="0">
                <a:latin typeface="Times New Roman" pitchFamily="18" charset="0"/>
                <a:cs typeface="Times New Roman" pitchFamily="18" charset="0"/>
              </a:rPr>
              <a:t>Unveiling the Secrets of Data</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Autofit/>
          </a:bodyPr>
          <a:lstStyle/>
          <a:p>
            <a:r>
              <a:rPr lang="en-US" sz="3200" b="1" dirty="0" smtClean="0">
                <a:latin typeface="Times New Roman" pitchFamily="18" charset="0"/>
                <a:cs typeface="Times New Roman" pitchFamily="18" charset="0"/>
              </a:rPr>
              <a:t>Definition and Process -  Unveiling the Read Operation</a:t>
            </a:r>
          </a:p>
        </p:txBody>
      </p:sp>
      <p:sp>
        <p:nvSpPr>
          <p:cNvPr id="4" name="Content Placeholder 3"/>
          <p:cNvSpPr>
            <a:spLocks noGrp="1"/>
          </p:cNvSpPr>
          <p:nvPr>
            <p:ph idx="1"/>
          </p:nvPr>
        </p:nvSpPr>
        <p:spPr>
          <a:xfrm>
            <a:off x="428625" y="2082800"/>
            <a:ext cx="10515600" cy="4351338"/>
          </a:xfrm>
        </p:spPr>
        <p:txBody>
          <a:bodyPr>
            <a:normAutofit lnSpcReduction="10000"/>
          </a:bodyPr>
          <a:lstStyle/>
          <a:p>
            <a:pPr>
              <a:buFont typeface="Wingdings" pitchFamily="2" charset="2"/>
              <a:buChar char="v"/>
            </a:pPr>
            <a:r>
              <a:rPr lang="en-US" dirty="0" smtClean="0">
                <a:latin typeface="Times New Roman" pitchFamily="18" charset="0"/>
                <a:cs typeface="Times New Roman" pitchFamily="18" charset="0"/>
              </a:rPr>
              <a:t>The Read operation refers to the process of retrieving existing data records from a database table.</a:t>
            </a:r>
          </a:p>
          <a:p>
            <a:pPr>
              <a:buFont typeface="Wingdings" pitchFamily="2" charset="2"/>
              <a:buChar char="v"/>
            </a:pPr>
            <a:r>
              <a:rPr lang="en-US" dirty="0" smtClean="0">
                <a:latin typeface="Times New Roman" pitchFamily="18" charset="0"/>
                <a:cs typeface="Times New Roman" pitchFamily="18" charset="0"/>
              </a:rPr>
              <a:t>It typically involves these steps:</a:t>
            </a:r>
          </a:p>
          <a:p>
            <a:pPr lvl="1">
              <a:buFont typeface="Courier New" pitchFamily="49" charset="0"/>
              <a:buChar char="o"/>
            </a:pPr>
            <a:r>
              <a:rPr lang="en-US" dirty="0" smtClean="0">
                <a:latin typeface="Times New Roman" pitchFamily="18" charset="0"/>
                <a:cs typeface="Times New Roman" pitchFamily="18" charset="0"/>
              </a:rPr>
              <a:t>User Request: A user interacts with the web application, potentially requesting to view a list of products, their profile information, or any data relevant to their needs.</a:t>
            </a:r>
          </a:p>
          <a:p>
            <a:pPr lvl="1">
              <a:buFont typeface="Courier New" pitchFamily="49" charset="0"/>
              <a:buChar char="o"/>
            </a:pPr>
            <a:r>
              <a:rPr lang="en-US" dirty="0" smtClean="0">
                <a:latin typeface="Times New Roman" pitchFamily="18" charset="0"/>
                <a:cs typeface="Times New Roman" pitchFamily="18" charset="0"/>
              </a:rPr>
              <a:t>JSP Page Takes Action: The JSP page on the server interprets the user's request and generates an SQL SELECT statement.</a:t>
            </a:r>
          </a:p>
          <a:p>
            <a:pPr lvl="1">
              <a:buFont typeface="Courier New" pitchFamily="49" charset="0"/>
              <a:buChar char="o"/>
            </a:pPr>
            <a:r>
              <a:rPr lang="en-US" dirty="0" smtClean="0">
                <a:latin typeface="Times New Roman" pitchFamily="18" charset="0"/>
                <a:cs typeface="Times New Roman" pitchFamily="18" charset="0"/>
              </a:rPr>
              <a:t>Database Interaction: The JSP page interacts with the database using JDBC to execute the SQL SELECT statement, retrieving the requested data.</a:t>
            </a:r>
          </a:p>
          <a:p>
            <a:pPr lvl="1">
              <a:buFont typeface="Courier New" pitchFamily="49" charset="0"/>
              <a:buChar char="o"/>
            </a:pPr>
            <a:r>
              <a:rPr lang="en-US" dirty="0" smtClean="0">
                <a:latin typeface="Times New Roman" pitchFamily="18" charset="0"/>
                <a:cs typeface="Times New Roman" pitchFamily="18" charset="0"/>
              </a:rPr>
              <a:t>Data Presentation: The JSP page processes the retrieved data and presents it in a meaningful format (e.g., table, list) within the web page</a:t>
            </a:r>
          </a:p>
          <a:p>
            <a:pPr>
              <a:buNone/>
            </a:pPr>
            <a:endParaRPr lang="en-US" b="1" dirty="0" smtClean="0"/>
          </a:p>
          <a:p>
            <a:pPr>
              <a:buNone/>
            </a:pPr>
            <a:endParaRPr lang="en-US" b="1" dirty="0" smtClean="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r>
              <a:rPr lang="en-US" sz="3600" b="1" dirty="0" smtClean="0">
                <a:latin typeface="Times New Roman" pitchFamily="18" charset="0"/>
                <a:cs typeface="Times New Roman" pitchFamily="18" charset="0"/>
              </a:rPr>
              <a:t>JSP Example: Displaying Products in a Table</a:t>
            </a:r>
          </a:p>
        </p:txBody>
      </p:sp>
      <p:sp>
        <p:nvSpPr>
          <p:cNvPr id="4" name="Content Placeholder 3"/>
          <p:cNvSpPr>
            <a:spLocks noGrp="1"/>
          </p:cNvSpPr>
          <p:nvPr>
            <p:ph idx="1"/>
          </p:nvPr>
        </p:nvSpPr>
        <p:spPr>
          <a:xfrm>
            <a:off x="428625" y="2082800"/>
            <a:ext cx="10515600" cy="4351338"/>
          </a:xfrm>
        </p:spPr>
        <p:txBody>
          <a:bodyPr>
            <a:normAutofit/>
          </a:bodyPr>
          <a:lstStyle/>
          <a:p>
            <a:pPr>
              <a:buNone/>
            </a:pPr>
            <a:endParaRPr lang="en-US" b="1" dirty="0" smtClean="0"/>
          </a:p>
          <a:p>
            <a:pPr>
              <a:buNone/>
            </a:pPr>
            <a:endParaRPr lang="en-US" b="1" dirty="0" smtClean="0"/>
          </a:p>
        </p:txBody>
      </p:sp>
      <p:sp>
        <p:nvSpPr>
          <p:cNvPr id="5" name="Rectangle 4"/>
          <p:cNvSpPr/>
          <p:nvPr/>
        </p:nvSpPr>
        <p:spPr>
          <a:xfrm>
            <a:off x="530088" y="2584174"/>
            <a:ext cx="3511826" cy="40816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smtClean="0">
                <a:latin typeface="Times New Roman" pitchFamily="18" charset="0"/>
                <a:cs typeface="Times New Roman" pitchFamily="18" charset="0"/>
              </a:rPr>
              <a:t>&lt;!DOCTYPE html&gt;</a:t>
            </a:r>
          </a:p>
          <a:p>
            <a:r>
              <a:rPr lang="en-US" dirty="0" smtClean="0">
                <a:latin typeface="Times New Roman" pitchFamily="18" charset="0"/>
                <a:cs typeface="Times New Roman" pitchFamily="18" charset="0"/>
              </a:rPr>
              <a:t>&lt;html&gt;</a:t>
            </a:r>
          </a:p>
          <a:p>
            <a:r>
              <a:rPr lang="en-US" dirty="0" smtClean="0">
                <a:latin typeface="Times New Roman" pitchFamily="18" charset="0"/>
                <a:cs typeface="Times New Roman" pitchFamily="18" charset="0"/>
              </a:rPr>
              <a:t>&lt;head&gt;</a:t>
            </a:r>
          </a:p>
          <a:p>
            <a:r>
              <a:rPr lang="en-US" dirty="0" smtClean="0">
                <a:latin typeface="Times New Roman" pitchFamily="18" charset="0"/>
                <a:cs typeface="Times New Roman" pitchFamily="18" charset="0"/>
              </a:rPr>
              <a:t>&lt;title&gt;Products&lt;/title&gt;</a:t>
            </a:r>
          </a:p>
          <a:p>
            <a:r>
              <a:rPr lang="en-US" dirty="0" smtClean="0">
                <a:latin typeface="Times New Roman" pitchFamily="18" charset="0"/>
                <a:cs typeface="Times New Roman" pitchFamily="18" charset="0"/>
              </a:rPr>
              <a:t>&lt;/head&gt;</a:t>
            </a:r>
          </a:p>
          <a:p>
            <a:r>
              <a:rPr lang="en-US" dirty="0" smtClean="0">
                <a:latin typeface="Times New Roman" pitchFamily="18" charset="0"/>
                <a:cs typeface="Times New Roman" pitchFamily="18" charset="0"/>
              </a:rPr>
              <a:t>&lt;body&gt;</a:t>
            </a:r>
          </a:p>
          <a:p>
            <a:r>
              <a:rPr lang="en-US" dirty="0" smtClean="0">
                <a:latin typeface="Times New Roman" pitchFamily="18" charset="0"/>
                <a:cs typeface="Times New Roman" pitchFamily="18" charset="0"/>
              </a:rPr>
              <a:t>&lt;h1&gt;Products&lt;/h1&gt;</a:t>
            </a:r>
          </a:p>
          <a:p>
            <a:r>
              <a:rPr lang="en-US" dirty="0" smtClean="0">
                <a:latin typeface="Times New Roman" pitchFamily="18" charset="0"/>
                <a:cs typeface="Times New Roman" pitchFamily="18" charset="0"/>
              </a:rPr>
              <a:t>&lt;table&gt;</a:t>
            </a:r>
          </a:p>
          <a:p>
            <a:r>
              <a:rPr lang="en-US" dirty="0" smtClean="0">
                <a:latin typeface="Times New Roman" pitchFamily="18" charset="0"/>
                <a:cs typeface="Times New Roman" pitchFamily="18" charset="0"/>
              </a:rPr>
              <a:t>  &lt;</a:t>
            </a:r>
            <a:r>
              <a:rPr lang="en-US" dirty="0" err="1" smtClean="0">
                <a:latin typeface="Times New Roman" pitchFamily="18" charset="0"/>
                <a:cs typeface="Times New Roman" pitchFamily="18" charset="0"/>
              </a:rPr>
              <a:t>tr</a:t>
            </a:r>
            <a:r>
              <a:rPr lang="en-US" dirty="0" smtClean="0">
                <a:latin typeface="Times New Roman" pitchFamily="18" charset="0"/>
                <a:cs typeface="Times New Roman" pitchFamily="18" charset="0"/>
              </a:rPr>
              <a:t>&gt;</a:t>
            </a:r>
          </a:p>
          <a:p>
            <a:r>
              <a:rPr lang="en-US" dirty="0" smtClean="0">
                <a:latin typeface="Times New Roman" pitchFamily="18" charset="0"/>
                <a:cs typeface="Times New Roman" pitchFamily="18" charset="0"/>
              </a:rPr>
              <a:t>    &lt;</a:t>
            </a:r>
            <a:r>
              <a:rPr lang="en-US" dirty="0" err="1" smtClean="0">
                <a:latin typeface="Times New Roman" pitchFamily="18" charset="0"/>
                <a:cs typeface="Times New Roman" pitchFamily="18" charset="0"/>
              </a:rPr>
              <a:t>th</a:t>
            </a:r>
            <a:r>
              <a:rPr lang="en-US" dirty="0" smtClean="0">
                <a:latin typeface="Times New Roman" pitchFamily="18" charset="0"/>
                <a:cs typeface="Times New Roman" pitchFamily="18" charset="0"/>
              </a:rPr>
              <a:t>&gt;ID&lt;/</a:t>
            </a:r>
            <a:r>
              <a:rPr lang="en-US" dirty="0" err="1" smtClean="0">
                <a:latin typeface="Times New Roman" pitchFamily="18" charset="0"/>
                <a:cs typeface="Times New Roman" pitchFamily="18" charset="0"/>
              </a:rPr>
              <a:t>th</a:t>
            </a:r>
            <a:r>
              <a:rPr lang="en-US" dirty="0" smtClean="0">
                <a:latin typeface="Times New Roman" pitchFamily="18" charset="0"/>
                <a:cs typeface="Times New Roman" pitchFamily="18" charset="0"/>
              </a:rPr>
              <a:t>&gt;</a:t>
            </a:r>
          </a:p>
          <a:p>
            <a:r>
              <a:rPr lang="en-US" dirty="0" smtClean="0">
                <a:latin typeface="Times New Roman" pitchFamily="18" charset="0"/>
                <a:cs typeface="Times New Roman" pitchFamily="18" charset="0"/>
              </a:rPr>
              <a:t>    &lt;</a:t>
            </a:r>
            <a:r>
              <a:rPr lang="en-US" dirty="0" err="1" smtClean="0">
                <a:latin typeface="Times New Roman" pitchFamily="18" charset="0"/>
                <a:cs typeface="Times New Roman" pitchFamily="18" charset="0"/>
              </a:rPr>
              <a:t>th</a:t>
            </a:r>
            <a:r>
              <a:rPr lang="en-US" dirty="0" smtClean="0">
                <a:latin typeface="Times New Roman" pitchFamily="18" charset="0"/>
                <a:cs typeface="Times New Roman" pitchFamily="18" charset="0"/>
              </a:rPr>
              <a:t>&gt;Name&lt;/</a:t>
            </a:r>
            <a:r>
              <a:rPr lang="en-US" dirty="0" err="1" smtClean="0">
                <a:latin typeface="Times New Roman" pitchFamily="18" charset="0"/>
                <a:cs typeface="Times New Roman" pitchFamily="18" charset="0"/>
              </a:rPr>
              <a:t>th</a:t>
            </a:r>
            <a:r>
              <a:rPr lang="en-US" dirty="0" smtClean="0">
                <a:latin typeface="Times New Roman" pitchFamily="18" charset="0"/>
                <a:cs typeface="Times New Roman" pitchFamily="18" charset="0"/>
              </a:rPr>
              <a:t>&gt;</a:t>
            </a:r>
          </a:p>
          <a:p>
            <a:r>
              <a:rPr lang="en-US" dirty="0" smtClean="0">
                <a:latin typeface="Times New Roman" pitchFamily="18" charset="0"/>
                <a:cs typeface="Times New Roman" pitchFamily="18" charset="0"/>
              </a:rPr>
              <a:t>    &lt;</a:t>
            </a:r>
            <a:r>
              <a:rPr lang="en-US" dirty="0" err="1" smtClean="0">
                <a:latin typeface="Times New Roman" pitchFamily="18" charset="0"/>
                <a:cs typeface="Times New Roman" pitchFamily="18" charset="0"/>
              </a:rPr>
              <a:t>th</a:t>
            </a:r>
            <a:r>
              <a:rPr lang="en-US" dirty="0" smtClean="0">
                <a:latin typeface="Times New Roman" pitchFamily="18" charset="0"/>
                <a:cs typeface="Times New Roman" pitchFamily="18" charset="0"/>
              </a:rPr>
              <a:t>&gt;Price&lt;/</a:t>
            </a:r>
            <a:r>
              <a:rPr lang="en-US" dirty="0" err="1" smtClean="0">
                <a:latin typeface="Times New Roman" pitchFamily="18" charset="0"/>
                <a:cs typeface="Times New Roman" pitchFamily="18" charset="0"/>
              </a:rPr>
              <a:t>th</a:t>
            </a:r>
            <a:r>
              <a:rPr lang="en-US" dirty="0" smtClean="0">
                <a:latin typeface="Times New Roman" pitchFamily="18" charset="0"/>
                <a:cs typeface="Times New Roman" pitchFamily="18" charset="0"/>
              </a:rPr>
              <a:t>&gt;</a:t>
            </a:r>
          </a:p>
          <a:p>
            <a:r>
              <a:rPr lang="en-US" dirty="0" smtClean="0">
                <a:latin typeface="Times New Roman" pitchFamily="18" charset="0"/>
                <a:cs typeface="Times New Roman" pitchFamily="18" charset="0"/>
              </a:rPr>
              <a:t>    &lt;</a:t>
            </a:r>
            <a:r>
              <a:rPr lang="en-US" dirty="0" err="1" smtClean="0">
                <a:latin typeface="Times New Roman" pitchFamily="18" charset="0"/>
                <a:cs typeface="Times New Roman" pitchFamily="18" charset="0"/>
              </a:rPr>
              <a:t>th</a:t>
            </a:r>
            <a:r>
              <a:rPr lang="en-US" dirty="0" smtClean="0">
                <a:latin typeface="Times New Roman" pitchFamily="18" charset="0"/>
                <a:cs typeface="Times New Roman" pitchFamily="18" charset="0"/>
              </a:rPr>
              <a:t>&gt;Image&lt;/</a:t>
            </a:r>
            <a:r>
              <a:rPr lang="en-US" dirty="0" err="1" smtClean="0">
                <a:latin typeface="Times New Roman" pitchFamily="18" charset="0"/>
                <a:cs typeface="Times New Roman" pitchFamily="18" charset="0"/>
              </a:rPr>
              <a:t>th</a:t>
            </a:r>
            <a:r>
              <a:rPr lang="en-US" dirty="0" smtClean="0">
                <a:latin typeface="Times New Roman" pitchFamily="18" charset="0"/>
                <a:cs typeface="Times New Roman" pitchFamily="18" charset="0"/>
              </a:rPr>
              <a:t>&gt;</a:t>
            </a:r>
          </a:p>
          <a:p>
            <a:r>
              <a:rPr lang="en-US" dirty="0" smtClean="0">
                <a:latin typeface="Times New Roman" pitchFamily="18" charset="0"/>
                <a:cs typeface="Times New Roman" pitchFamily="18" charset="0"/>
              </a:rPr>
              <a:t>  &lt;/</a:t>
            </a:r>
            <a:r>
              <a:rPr lang="en-US" dirty="0" err="1" smtClean="0">
                <a:latin typeface="Times New Roman" pitchFamily="18" charset="0"/>
                <a:cs typeface="Times New Roman" pitchFamily="18" charset="0"/>
              </a:rPr>
              <a:t>tr</a:t>
            </a:r>
            <a:r>
              <a:rPr lang="en-US" dirty="0" smtClean="0">
                <a:latin typeface="Times New Roman" pitchFamily="18" charset="0"/>
                <a:cs typeface="Times New Roman" pitchFamily="18" charset="0"/>
              </a:rPr>
              <a:t>&gt;</a:t>
            </a:r>
          </a:p>
          <a:p>
            <a:pPr algn="ctr"/>
            <a:endParaRPr lang="en-US" dirty="0"/>
          </a:p>
        </p:txBody>
      </p:sp>
      <p:sp>
        <p:nvSpPr>
          <p:cNvPr id="6" name="Rectangle 5"/>
          <p:cNvSpPr/>
          <p:nvPr/>
        </p:nvSpPr>
        <p:spPr>
          <a:xfrm>
            <a:off x="4578626" y="2551044"/>
            <a:ext cx="6129131" cy="40816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smtClean="0">
                <a:latin typeface="Times New Roman" pitchFamily="18" charset="0"/>
                <a:cs typeface="Times New Roman" pitchFamily="18" charset="0"/>
              </a:rPr>
              <a:t> &lt;%-- Loop through retrieved products and display them in table rows --%&gt;</a:t>
            </a:r>
          </a:p>
          <a:p>
            <a:r>
              <a:rPr lang="en-US" dirty="0" smtClean="0">
                <a:latin typeface="Times New Roman" pitchFamily="18" charset="0"/>
                <a:cs typeface="Times New Roman" pitchFamily="18" charset="0"/>
              </a:rPr>
              <a:t>  &lt;% for (Product </a:t>
            </a:r>
            <a:r>
              <a:rPr lang="en-US" dirty="0" err="1" smtClean="0">
                <a:latin typeface="Times New Roman" pitchFamily="18" charset="0"/>
                <a:cs typeface="Times New Roman" pitchFamily="18" charset="0"/>
              </a:rPr>
              <a:t>product</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productList</a:t>
            </a:r>
            <a:r>
              <a:rPr lang="en-US" dirty="0" smtClean="0">
                <a:latin typeface="Times New Roman" pitchFamily="18" charset="0"/>
                <a:cs typeface="Times New Roman" pitchFamily="18" charset="0"/>
              </a:rPr>
              <a:t>) { %&gt;</a:t>
            </a:r>
          </a:p>
          <a:p>
            <a:r>
              <a:rPr lang="en-US" dirty="0" smtClean="0">
                <a:latin typeface="Times New Roman" pitchFamily="18" charset="0"/>
                <a:cs typeface="Times New Roman" pitchFamily="18" charset="0"/>
              </a:rPr>
              <a:t>    &lt;</a:t>
            </a:r>
            <a:r>
              <a:rPr lang="en-US" dirty="0" err="1" smtClean="0">
                <a:latin typeface="Times New Roman" pitchFamily="18" charset="0"/>
                <a:cs typeface="Times New Roman" pitchFamily="18" charset="0"/>
              </a:rPr>
              <a:t>tr</a:t>
            </a:r>
            <a:r>
              <a:rPr lang="en-US" dirty="0" smtClean="0">
                <a:latin typeface="Times New Roman" pitchFamily="18" charset="0"/>
                <a:cs typeface="Times New Roman" pitchFamily="18" charset="0"/>
              </a:rPr>
              <a:t>&gt;</a:t>
            </a:r>
          </a:p>
          <a:p>
            <a:r>
              <a:rPr lang="en-US" dirty="0" smtClean="0">
                <a:latin typeface="Times New Roman" pitchFamily="18" charset="0"/>
                <a:cs typeface="Times New Roman" pitchFamily="18" charset="0"/>
              </a:rPr>
              <a:t>      &lt;td&gt;&lt;%= </a:t>
            </a:r>
            <a:r>
              <a:rPr lang="en-US" dirty="0" err="1" smtClean="0">
                <a:latin typeface="Times New Roman" pitchFamily="18" charset="0"/>
                <a:cs typeface="Times New Roman" pitchFamily="18" charset="0"/>
              </a:rPr>
              <a:t>product.getId</a:t>
            </a:r>
            <a:r>
              <a:rPr lang="en-US" dirty="0" smtClean="0">
                <a:latin typeface="Times New Roman" pitchFamily="18" charset="0"/>
                <a:cs typeface="Times New Roman" pitchFamily="18" charset="0"/>
              </a:rPr>
              <a:t>() %&gt;&lt;/td&gt;</a:t>
            </a:r>
          </a:p>
          <a:p>
            <a:r>
              <a:rPr lang="en-US" dirty="0" smtClean="0">
                <a:latin typeface="Times New Roman" pitchFamily="18" charset="0"/>
                <a:cs typeface="Times New Roman" pitchFamily="18" charset="0"/>
              </a:rPr>
              <a:t>      &lt;td&gt;&lt;%= </a:t>
            </a:r>
            <a:r>
              <a:rPr lang="en-US" dirty="0" err="1" smtClean="0">
                <a:latin typeface="Times New Roman" pitchFamily="18" charset="0"/>
                <a:cs typeface="Times New Roman" pitchFamily="18" charset="0"/>
              </a:rPr>
              <a:t>product.getName</a:t>
            </a:r>
            <a:r>
              <a:rPr lang="en-US" dirty="0" smtClean="0">
                <a:latin typeface="Times New Roman" pitchFamily="18" charset="0"/>
                <a:cs typeface="Times New Roman" pitchFamily="18" charset="0"/>
              </a:rPr>
              <a:t>() %&gt;&lt;/td&gt;</a:t>
            </a:r>
          </a:p>
          <a:p>
            <a:r>
              <a:rPr lang="en-US" dirty="0" smtClean="0">
                <a:latin typeface="Times New Roman" pitchFamily="18" charset="0"/>
                <a:cs typeface="Times New Roman" pitchFamily="18" charset="0"/>
              </a:rPr>
              <a:t>      &lt;td&gt;&lt;%= </a:t>
            </a:r>
            <a:r>
              <a:rPr lang="en-US" dirty="0" err="1" smtClean="0">
                <a:latin typeface="Times New Roman" pitchFamily="18" charset="0"/>
                <a:cs typeface="Times New Roman" pitchFamily="18" charset="0"/>
              </a:rPr>
              <a:t>product.getPrice</a:t>
            </a:r>
            <a:r>
              <a:rPr lang="en-US" dirty="0" smtClean="0">
                <a:latin typeface="Times New Roman" pitchFamily="18" charset="0"/>
                <a:cs typeface="Times New Roman" pitchFamily="18" charset="0"/>
              </a:rPr>
              <a:t>() %&gt;&lt;/td&gt;</a:t>
            </a:r>
          </a:p>
          <a:p>
            <a:r>
              <a:rPr lang="en-US" dirty="0" smtClean="0">
                <a:latin typeface="Times New Roman" pitchFamily="18" charset="0"/>
                <a:cs typeface="Times New Roman" pitchFamily="18" charset="0"/>
              </a:rPr>
              <a:t>      &lt;td&gt;&lt;</a:t>
            </a:r>
            <a:r>
              <a:rPr lang="en-US" dirty="0" err="1" smtClean="0">
                <a:latin typeface="Times New Roman" pitchFamily="18" charset="0"/>
                <a:cs typeface="Times New Roman" pitchFamily="18" charset="0"/>
              </a:rPr>
              <a:t>img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src</a:t>
            </a:r>
            <a:r>
              <a:rPr lang="en-US" dirty="0" smtClean="0">
                <a:latin typeface="Times New Roman" pitchFamily="18" charset="0"/>
                <a:cs typeface="Times New Roman" pitchFamily="18" charset="0"/>
              </a:rPr>
              <a:t>="&lt;%= </a:t>
            </a:r>
            <a:r>
              <a:rPr lang="en-US" dirty="0" err="1" smtClean="0">
                <a:latin typeface="Times New Roman" pitchFamily="18" charset="0"/>
                <a:cs typeface="Times New Roman" pitchFamily="18" charset="0"/>
              </a:rPr>
              <a:t>product.getImageUrl</a:t>
            </a:r>
            <a:r>
              <a:rPr lang="en-US" dirty="0" smtClean="0">
                <a:latin typeface="Times New Roman" pitchFamily="18" charset="0"/>
                <a:cs typeface="Times New Roman" pitchFamily="18" charset="0"/>
              </a:rPr>
              <a:t>() %&gt;" alt="&lt;%= </a:t>
            </a:r>
            <a:r>
              <a:rPr lang="en-US" dirty="0" err="1" smtClean="0">
                <a:latin typeface="Times New Roman" pitchFamily="18" charset="0"/>
                <a:cs typeface="Times New Roman" pitchFamily="18" charset="0"/>
              </a:rPr>
              <a:t>product.getName</a:t>
            </a:r>
            <a:r>
              <a:rPr lang="en-US" dirty="0" smtClean="0">
                <a:latin typeface="Times New Roman" pitchFamily="18" charset="0"/>
                <a:cs typeface="Times New Roman" pitchFamily="18" charset="0"/>
              </a:rPr>
              <a:t>() %&gt;"&gt;&lt;/td&gt;</a:t>
            </a:r>
          </a:p>
          <a:p>
            <a:r>
              <a:rPr lang="en-US" dirty="0" smtClean="0">
                <a:latin typeface="Times New Roman" pitchFamily="18" charset="0"/>
                <a:cs typeface="Times New Roman" pitchFamily="18" charset="0"/>
              </a:rPr>
              <a:t>    &lt;/</a:t>
            </a:r>
            <a:r>
              <a:rPr lang="en-US" dirty="0" err="1" smtClean="0">
                <a:latin typeface="Times New Roman" pitchFamily="18" charset="0"/>
                <a:cs typeface="Times New Roman" pitchFamily="18" charset="0"/>
              </a:rPr>
              <a:t>tr</a:t>
            </a:r>
            <a:r>
              <a:rPr lang="en-US" dirty="0" smtClean="0">
                <a:latin typeface="Times New Roman" pitchFamily="18" charset="0"/>
                <a:cs typeface="Times New Roman" pitchFamily="18" charset="0"/>
              </a:rPr>
              <a:t>&gt;</a:t>
            </a:r>
          </a:p>
          <a:p>
            <a:r>
              <a:rPr lang="en-US" dirty="0" smtClean="0">
                <a:latin typeface="Times New Roman" pitchFamily="18" charset="0"/>
                <a:cs typeface="Times New Roman" pitchFamily="18" charset="0"/>
              </a:rPr>
              <a:t>  &lt;% } %&gt;</a:t>
            </a:r>
          </a:p>
          <a:p>
            <a:r>
              <a:rPr lang="en-US" dirty="0" smtClean="0">
                <a:latin typeface="Times New Roman" pitchFamily="18" charset="0"/>
                <a:cs typeface="Times New Roman" pitchFamily="18" charset="0"/>
              </a:rPr>
              <a:t>&lt;/table&gt;</a:t>
            </a:r>
          </a:p>
          <a:p>
            <a:r>
              <a:rPr lang="en-US" dirty="0" smtClean="0">
                <a:latin typeface="Times New Roman" pitchFamily="18" charset="0"/>
                <a:cs typeface="Times New Roman" pitchFamily="18" charset="0"/>
              </a:rPr>
              <a:t>&lt;/body&gt;</a:t>
            </a:r>
          </a:p>
          <a:p>
            <a:r>
              <a:rPr lang="en-US" dirty="0" smtClean="0">
                <a:latin typeface="Times New Roman" pitchFamily="18" charset="0"/>
                <a:cs typeface="Times New Roman" pitchFamily="18" charset="0"/>
              </a:rPr>
              <a:t>&lt;/html&gt;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p:cNvSpPr/>
          <p:nvPr/>
        </p:nvSpPr>
        <p:spPr>
          <a:xfrm>
            <a:off x="1" y="3305660"/>
            <a:ext cx="12191999" cy="1200329"/>
          </a:xfrm>
          <a:prstGeom prst="rect">
            <a:avLst/>
          </a:prstGeom>
          <a:solidFill>
            <a:srgbClr val="FFFFCC"/>
          </a:solidFill>
        </p:spPr>
        <p:txBody>
          <a:bodyPr wrap="square">
            <a:spAutoFit/>
          </a:bodyPr>
          <a:lstStyle/>
          <a:p>
            <a:pPr algn="ctr"/>
            <a:r>
              <a:rPr lang="en-US" sz="4000" dirty="0" smtClean="0">
                <a:latin typeface="Times New Roman" pitchFamily="18" charset="0"/>
                <a:cs typeface="Times New Roman" pitchFamily="18" charset="0"/>
              </a:rPr>
              <a:t>The Update Operation </a:t>
            </a:r>
          </a:p>
          <a:p>
            <a:pPr algn="ctr"/>
            <a:r>
              <a:rPr lang="en-US" sz="3200" dirty="0" smtClean="0">
                <a:latin typeface="Times New Roman" pitchFamily="18" charset="0"/>
                <a:cs typeface="Times New Roman" pitchFamily="18" charset="0"/>
              </a:rPr>
              <a:t>Revamping Your Data</a:t>
            </a: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fontScale="90000"/>
          </a:bodyPr>
          <a:lstStyle/>
          <a:p>
            <a:r>
              <a:rPr lang="en-US" sz="3600" b="1" dirty="0" smtClean="0">
                <a:latin typeface="Times New Roman" pitchFamily="18" charset="0"/>
                <a:cs typeface="Times New Roman" pitchFamily="18" charset="0"/>
              </a:rPr>
              <a:t>Definition and Process -  Unveiling the Update Operation</a:t>
            </a:r>
          </a:p>
        </p:txBody>
      </p:sp>
      <p:sp>
        <p:nvSpPr>
          <p:cNvPr id="4" name="Content Placeholder 3"/>
          <p:cNvSpPr>
            <a:spLocks noGrp="1"/>
          </p:cNvSpPr>
          <p:nvPr>
            <p:ph idx="1"/>
          </p:nvPr>
        </p:nvSpPr>
        <p:spPr>
          <a:xfrm>
            <a:off x="428625" y="2082800"/>
            <a:ext cx="10515600" cy="4351338"/>
          </a:xfrm>
        </p:spPr>
        <p:txBody>
          <a:bodyPr>
            <a:normAutofit fontScale="92500" lnSpcReduction="10000"/>
          </a:bodyPr>
          <a:lstStyle/>
          <a:p>
            <a:pPr>
              <a:buFont typeface="Wingdings" pitchFamily="2" charset="2"/>
              <a:buChar char="v"/>
            </a:pPr>
            <a:r>
              <a:rPr lang="en-US" dirty="0" smtClean="0">
                <a:latin typeface="Times New Roman" pitchFamily="18" charset="0"/>
                <a:cs typeface="Times New Roman" pitchFamily="18" charset="0"/>
              </a:rPr>
              <a:t>The Update operation refers to the process of modifying existing data records within a database table.</a:t>
            </a:r>
          </a:p>
          <a:p>
            <a:pPr>
              <a:buFont typeface="Wingdings" pitchFamily="2" charset="2"/>
              <a:buChar char="v"/>
            </a:pPr>
            <a:r>
              <a:rPr lang="en-US" dirty="0" smtClean="0">
                <a:latin typeface="Times New Roman" pitchFamily="18" charset="0"/>
                <a:cs typeface="Times New Roman" pitchFamily="18" charset="0"/>
              </a:rPr>
              <a:t>It typically involves these steps:</a:t>
            </a:r>
          </a:p>
          <a:p>
            <a:pPr lvl="1">
              <a:buFont typeface="Courier New" pitchFamily="49" charset="0"/>
              <a:buChar char="o"/>
            </a:pPr>
            <a:r>
              <a:rPr lang="en-US" dirty="0" smtClean="0">
                <a:latin typeface="Times New Roman" pitchFamily="18" charset="0"/>
                <a:cs typeface="Times New Roman" pitchFamily="18" charset="0"/>
              </a:rPr>
              <a:t>User Initiates Change: A user interacts with the web application, requesting to edit a specific data record (e.g., their profile information, a product listing).</a:t>
            </a:r>
          </a:p>
          <a:p>
            <a:pPr lvl="1">
              <a:buFont typeface="Courier New" pitchFamily="49" charset="0"/>
              <a:buChar char="o"/>
            </a:pPr>
            <a:r>
              <a:rPr lang="en-US" dirty="0" smtClean="0">
                <a:latin typeface="Times New Roman" pitchFamily="18" charset="0"/>
                <a:cs typeface="Times New Roman" pitchFamily="18" charset="0"/>
              </a:rPr>
              <a:t>JSP Page Prepares for Update: The JSP page on the server interprets the user's request, retrieves the relevant data record from the database, and populates a form with the existing data.</a:t>
            </a:r>
          </a:p>
          <a:p>
            <a:pPr lvl="1">
              <a:buFont typeface="Courier New" pitchFamily="49" charset="0"/>
              <a:buChar char="o"/>
            </a:pPr>
            <a:r>
              <a:rPr lang="en-US" dirty="0" smtClean="0">
                <a:latin typeface="Times New Roman" pitchFamily="18" charset="0"/>
                <a:cs typeface="Times New Roman" pitchFamily="18" charset="0"/>
              </a:rPr>
              <a:t>User Makes Edits: The user interacts with the pre-filled form, modifying the desired data fields.</a:t>
            </a:r>
          </a:p>
          <a:p>
            <a:pPr lvl="1">
              <a:buFont typeface="Courier New" pitchFamily="49" charset="0"/>
              <a:buChar char="o"/>
            </a:pPr>
            <a:r>
              <a:rPr lang="en-US" dirty="0" smtClean="0">
                <a:latin typeface="Times New Roman" pitchFamily="18" charset="0"/>
                <a:cs typeface="Times New Roman" pitchFamily="18" charset="0"/>
              </a:rPr>
              <a:t>Database Reflects the Changes: The JSP page retrieves the updated data from the submitted form, interacts with the database using JDBC to execute an SQL UPDATE statement, and modifies the corresponding record with the new information.</a:t>
            </a:r>
          </a:p>
          <a:p>
            <a:pPr lvl="1">
              <a:buFont typeface="Courier New" pitchFamily="49" charset="0"/>
              <a:buChar char="o"/>
            </a:pPr>
            <a:endParaRPr lang="en-US" b="1" dirty="0" smtClean="0"/>
          </a:p>
          <a:p>
            <a:pPr>
              <a:buNone/>
            </a:pPr>
            <a:endParaRPr lang="en-US" b="1" dirty="0" smtClean="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pPr lvl="1"/>
            <a:r>
              <a:rPr lang="en-US" sz="3600" b="1" dirty="0" smtClean="0">
                <a:latin typeface="Times New Roman" pitchFamily="18" charset="0"/>
                <a:cs typeface="Times New Roman" pitchFamily="18" charset="0"/>
              </a:rPr>
              <a:t>JSP Example:  Editing a User Profile</a:t>
            </a:r>
          </a:p>
        </p:txBody>
      </p:sp>
      <p:sp>
        <p:nvSpPr>
          <p:cNvPr id="4" name="Content Placeholder 3"/>
          <p:cNvSpPr>
            <a:spLocks noGrp="1"/>
          </p:cNvSpPr>
          <p:nvPr>
            <p:ph idx="1"/>
          </p:nvPr>
        </p:nvSpPr>
        <p:spPr>
          <a:xfrm>
            <a:off x="428625" y="2082800"/>
            <a:ext cx="10515600" cy="4351338"/>
          </a:xfrm>
        </p:spPr>
        <p:txBody>
          <a:bodyPr>
            <a:normAutofit/>
          </a:bodyPr>
          <a:lstStyle/>
          <a:p>
            <a:pPr lvl="1">
              <a:buNone/>
            </a:pPr>
            <a:endParaRPr lang="en-US" b="1" dirty="0" smtClean="0"/>
          </a:p>
          <a:p>
            <a:pPr>
              <a:buNone/>
            </a:pPr>
            <a:endParaRPr lang="en-US" b="1" dirty="0" smtClean="0"/>
          </a:p>
        </p:txBody>
      </p:sp>
      <p:sp>
        <p:nvSpPr>
          <p:cNvPr id="5" name="Rectangle 4"/>
          <p:cNvSpPr/>
          <p:nvPr/>
        </p:nvSpPr>
        <p:spPr>
          <a:xfrm>
            <a:off x="543340" y="2716696"/>
            <a:ext cx="4200938" cy="34985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smtClean="0">
                <a:latin typeface="Times New Roman" pitchFamily="18" charset="0"/>
                <a:cs typeface="Times New Roman" pitchFamily="18" charset="0"/>
              </a:rPr>
              <a:t>&lt;!DOCTYPE html&gt;</a:t>
            </a:r>
          </a:p>
          <a:p>
            <a:r>
              <a:rPr lang="en-US" dirty="0" smtClean="0">
                <a:latin typeface="Times New Roman" pitchFamily="18" charset="0"/>
                <a:cs typeface="Times New Roman" pitchFamily="18" charset="0"/>
              </a:rPr>
              <a:t>&lt;html&gt;</a:t>
            </a:r>
          </a:p>
          <a:p>
            <a:r>
              <a:rPr lang="en-US" dirty="0" smtClean="0">
                <a:latin typeface="Times New Roman" pitchFamily="18" charset="0"/>
                <a:cs typeface="Times New Roman" pitchFamily="18" charset="0"/>
              </a:rPr>
              <a:t>&lt;head&gt;</a:t>
            </a:r>
          </a:p>
          <a:p>
            <a:r>
              <a:rPr lang="en-US" dirty="0" smtClean="0">
                <a:latin typeface="Times New Roman" pitchFamily="18" charset="0"/>
                <a:cs typeface="Times New Roman" pitchFamily="18" charset="0"/>
              </a:rPr>
              <a:t>&lt;title&gt;Edit Profile&lt;/title&gt;</a:t>
            </a:r>
          </a:p>
          <a:p>
            <a:r>
              <a:rPr lang="en-US" dirty="0" smtClean="0">
                <a:latin typeface="Times New Roman" pitchFamily="18" charset="0"/>
                <a:cs typeface="Times New Roman" pitchFamily="18" charset="0"/>
              </a:rPr>
              <a:t>&lt;/head&gt;</a:t>
            </a:r>
          </a:p>
          <a:p>
            <a:r>
              <a:rPr lang="en-US" dirty="0" smtClean="0">
                <a:latin typeface="Times New Roman" pitchFamily="18" charset="0"/>
                <a:cs typeface="Times New Roman" pitchFamily="18" charset="0"/>
              </a:rPr>
              <a:t>&lt;body&gt;</a:t>
            </a:r>
          </a:p>
          <a:p>
            <a:r>
              <a:rPr lang="en-US" dirty="0" smtClean="0">
                <a:latin typeface="Times New Roman" pitchFamily="18" charset="0"/>
                <a:cs typeface="Times New Roman" pitchFamily="18" charset="0"/>
              </a:rPr>
              <a:t>&lt;h1&gt;Edit Profile&lt;/h1&gt;</a:t>
            </a:r>
          </a:p>
          <a:p>
            <a:r>
              <a:rPr lang="en-US" dirty="0" smtClean="0">
                <a:latin typeface="Times New Roman" pitchFamily="18" charset="0"/>
                <a:cs typeface="Times New Roman" pitchFamily="18" charset="0"/>
              </a:rPr>
              <a:t>&lt;form action="update_profile.jsp" method="post"&gt;</a:t>
            </a:r>
          </a:p>
          <a:p>
            <a:r>
              <a:rPr lang="en-US" dirty="0" smtClean="0">
                <a:latin typeface="Times New Roman" pitchFamily="18" charset="0"/>
                <a:cs typeface="Times New Roman" pitchFamily="18" charset="0"/>
              </a:rPr>
              <a:t>&lt;label for="username"&gt;Username:&lt;/label&gt;</a:t>
            </a:r>
          </a:p>
        </p:txBody>
      </p:sp>
      <p:sp>
        <p:nvSpPr>
          <p:cNvPr id="6" name="Rectangle 5"/>
          <p:cNvSpPr/>
          <p:nvPr/>
        </p:nvSpPr>
        <p:spPr>
          <a:xfrm>
            <a:off x="5075583" y="2749826"/>
            <a:ext cx="5890591" cy="34985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smtClean="0">
                <a:latin typeface="Times New Roman" pitchFamily="18" charset="0"/>
                <a:cs typeface="Times New Roman" pitchFamily="18" charset="0"/>
              </a:rPr>
              <a:t>&lt;input type="text" id="username" name="username" value="&lt;%= </a:t>
            </a:r>
            <a:r>
              <a:rPr lang="en-US" dirty="0" err="1" smtClean="0">
                <a:latin typeface="Times New Roman" pitchFamily="18" charset="0"/>
                <a:cs typeface="Times New Roman" pitchFamily="18" charset="0"/>
              </a:rPr>
              <a:t>user.getUsername</a:t>
            </a:r>
            <a:r>
              <a:rPr lang="en-US" dirty="0" smtClean="0">
                <a:latin typeface="Times New Roman" pitchFamily="18" charset="0"/>
                <a:cs typeface="Times New Roman" pitchFamily="18" charset="0"/>
              </a:rPr>
              <a:t>() %&gt;" required&gt;&lt;</a:t>
            </a:r>
            <a:r>
              <a:rPr lang="en-US" dirty="0" err="1" smtClean="0">
                <a:latin typeface="Times New Roman" pitchFamily="18" charset="0"/>
                <a:cs typeface="Times New Roman" pitchFamily="18" charset="0"/>
              </a:rPr>
              <a:t>br</a:t>
            </a:r>
            <a:r>
              <a:rPr lang="en-US" dirty="0" smtClean="0">
                <a:latin typeface="Times New Roman" pitchFamily="18" charset="0"/>
                <a:cs typeface="Times New Roman" pitchFamily="18" charset="0"/>
              </a:rPr>
              <a:t>&gt;&lt;</a:t>
            </a:r>
            <a:r>
              <a:rPr lang="en-US" dirty="0" err="1" smtClean="0">
                <a:latin typeface="Times New Roman" pitchFamily="18" charset="0"/>
                <a:cs typeface="Times New Roman" pitchFamily="18" charset="0"/>
              </a:rPr>
              <a:t>br</a:t>
            </a:r>
            <a:r>
              <a:rPr lang="en-US" dirty="0" smtClean="0">
                <a:latin typeface="Times New Roman" pitchFamily="18" charset="0"/>
                <a:cs typeface="Times New Roman" pitchFamily="18" charset="0"/>
              </a:rPr>
              <a:t>&gt;</a:t>
            </a:r>
          </a:p>
          <a:p>
            <a:r>
              <a:rPr lang="en-US" dirty="0" smtClean="0">
                <a:latin typeface="Times New Roman" pitchFamily="18" charset="0"/>
                <a:cs typeface="Times New Roman" pitchFamily="18" charset="0"/>
              </a:rPr>
              <a:t>  &lt;label for="email"&gt;Email:&lt;/label&gt;</a:t>
            </a:r>
          </a:p>
          <a:p>
            <a:r>
              <a:rPr lang="en-US" dirty="0" smtClean="0">
                <a:latin typeface="Times New Roman" pitchFamily="18" charset="0"/>
                <a:cs typeface="Times New Roman" pitchFamily="18" charset="0"/>
              </a:rPr>
              <a:t>  &lt;input type="email" id="email" name="email" value="&lt;%= </a:t>
            </a:r>
            <a:r>
              <a:rPr lang="en-US" dirty="0" err="1" smtClean="0">
                <a:latin typeface="Times New Roman" pitchFamily="18" charset="0"/>
                <a:cs typeface="Times New Roman" pitchFamily="18" charset="0"/>
              </a:rPr>
              <a:t>user.getEmail</a:t>
            </a:r>
            <a:r>
              <a:rPr lang="en-US" dirty="0" smtClean="0">
                <a:latin typeface="Times New Roman" pitchFamily="18" charset="0"/>
                <a:cs typeface="Times New Roman" pitchFamily="18" charset="0"/>
              </a:rPr>
              <a:t>() %&gt;" required&gt;&lt;</a:t>
            </a:r>
            <a:r>
              <a:rPr lang="en-US" dirty="0" err="1" smtClean="0">
                <a:latin typeface="Times New Roman" pitchFamily="18" charset="0"/>
                <a:cs typeface="Times New Roman" pitchFamily="18" charset="0"/>
              </a:rPr>
              <a:t>br</a:t>
            </a:r>
            <a:r>
              <a:rPr lang="en-US" dirty="0" smtClean="0">
                <a:latin typeface="Times New Roman" pitchFamily="18" charset="0"/>
                <a:cs typeface="Times New Roman" pitchFamily="18" charset="0"/>
              </a:rPr>
              <a:t>&gt;&lt;</a:t>
            </a:r>
            <a:r>
              <a:rPr lang="en-US" dirty="0" err="1" smtClean="0">
                <a:latin typeface="Times New Roman" pitchFamily="18" charset="0"/>
                <a:cs typeface="Times New Roman" pitchFamily="18" charset="0"/>
              </a:rPr>
              <a:t>br</a:t>
            </a:r>
            <a:r>
              <a:rPr lang="en-US" dirty="0" smtClean="0">
                <a:latin typeface="Times New Roman" pitchFamily="18" charset="0"/>
                <a:cs typeface="Times New Roman" pitchFamily="18" charset="0"/>
              </a:rPr>
              <a:t>&gt;</a:t>
            </a:r>
          </a:p>
          <a:p>
            <a:r>
              <a:rPr lang="en-US" dirty="0" smtClean="0">
                <a:latin typeface="Times New Roman" pitchFamily="18" charset="0"/>
                <a:cs typeface="Times New Roman" pitchFamily="18" charset="0"/>
              </a:rPr>
              <a:t>  &lt;input type="submit" value="Update Profile"&gt;</a:t>
            </a:r>
          </a:p>
          <a:p>
            <a:r>
              <a:rPr lang="en-US" dirty="0" smtClean="0">
                <a:latin typeface="Times New Roman" pitchFamily="18" charset="0"/>
                <a:cs typeface="Times New Roman" pitchFamily="18" charset="0"/>
              </a:rPr>
              <a:t>&lt;/form&gt;</a:t>
            </a:r>
          </a:p>
          <a:p>
            <a:r>
              <a:rPr lang="en-US" dirty="0" smtClean="0">
                <a:latin typeface="Times New Roman" pitchFamily="18" charset="0"/>
                <a:cs typeface="Times New Roman" pitchFamily="18" charset="0"/>
              </a:rPr>
              <a:t>&lt;/body&gt;</a:t>
            </a:r>
          </a:p>
          <a:p>
            <a:r>
              <a:rPr lang="en-US" dirty="0" smtClean="0">
                <a:latin typeface="Times New Roman" pitchFamily="18" charset="0"/>
                <a:cs typeface="Times New Roman" pitchFamily="18" charset="0"/>
              </a:rPr>
              <a:t>&lt;/html&gt;</a:t>
            </a:r>
          </a:p>
          <a:p>
            <a:pPr algn="ctr"/>
            <a:endParaRPr lang="en-US" dirty="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a:xfrm>
            <a:off x="428625" y="2082800"/>
            <a:ext cx="10515600" cy="4351338"/>
          </a:xfrm>
        </p:spPr>
        <p:txBody>
          <a:bodyPr>
            <a:normAutofit/>
          </a:bodyPr>
          <a:lstStyle/>
          <a:p>
            <a:pPr lvl="1"/>
            <a:endParaRPr lang="en-US" sz="4400" dirty="0" smtClean="0">
              <a:latin typeface="Times New Roman" pitchFamily="18" charset="0"/>
              <a:cs typeface="Times New Roman" pitchFamily="18" charset="0"/>
            </a:endParaRPr>
          </a:p>
          <a:p>
            <a:pPr lvl="1" algn="ctr">
              <a:buNone/>
            </a:pPr>
            <a:endParaRPr lang="en-US" sz="4400" b="1" dirty="0" smtClean="0">
              <a:latin typeface="Times New Roman" pitchFamily="18" charset="0"/>
              <a:cs typeface="Times New Roman" pitchFamily="18" charset="0"/>
            </a:endParaRPr>
          </a:p>
        </p:txBody>
      </p:sp>
      <p:sp>
        <p:nvSpPr>
          <p:cNvPr id="7" name="Rectangle 6"/>
          <p:cNvSpPr/>
          <p:nvPr/>
        </p:nvSpPr>
        <p:spPr>
          <a:xfrm>
            <a:off x="1" y="3305660"/>
            <a:ext cx="12191999" cy="1200329"/>
          </a:xfrm>
          <a:prstGeom prst="rect">
            <a:avLst/>
          </a:prstGeom>
          <a:solidFill>
            <a:srgbClr val="FFFFCC"/>
          </a:solidFill>
        </p:spPr>
        <p:txBody>
          <a:bodyPr wrap="square">
            <a:spAutoFit/>
          </a:bodyPr>
          <a:lstStyle/>
          <a:p>
            <a:pPr algn="ctr"/>
            <a:r>
              <a:rPr lang="en-US" sz="4000" dirty="0" smtClean="0">
                <a:latin typeface="Times New Roman" pitchFamily="18" charset="0"/>
                <a:cs typeface="Times New Roman" pitchFamily="18" charset="0"/>
              </a:rPr>
              <a:t>The Delete Operation</a:t>
            </a:r>
          </a:p>
          <a:p>
            <a:pPr algn="ctr"/>
            <a:r>
              <a:rPr lang="en-US" sz="3200" dirty="0" smtClean="0">
                <a:latin typeface="Times New Roman" pitchFamily="18" charset="0"/>
                <a:cs typeface="Times New Roman" pitchFamily="18" charset="0"/>
              </a:rPr>
              <a:t>Saying Goodbye to Data</a:t>
            </a:r>
            <a:endParaRPr lang="en-US" sz="24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pPr lvl="1"/>
            <a:r>
              <a:rPr lang="en-US" sz="3200" b="1" dirty="0" smtClean="0">
                <a:latin typeface="Times New Roman" pitchFamily="18" charset="0"/>
                <a:cs typeface="Times New Roman" pitchFamily="18" charset="0"/>
              </a:rPr>
              <a:t>Definition and Process -  Unveiling the Delete Operation</a:t>
            </a:r>
          </a:p>
        </p:txBody>
      </p:sp>
      <p:sp>
        <p:nvSpPr>
          <p:cNvPr id="4" name="Content Placeholder 3"/>
          <p:cNvSpPr>
            <a:spLocks noGrp="1"/>
          </p:cNvSpPr>
          <p:nvPr>
            <p:ph idx="1"/>
          </p:nvPr>
        </p:nvSpPr>
        <p:spPr>
          <a:xfrm>
            <a:off x="428625" y="2082800"/>
            <a:ext cx="10515600" cy="4351338"/>
          </a:xfrm>
        </p:spPr>
        <p:txBody>
          <a:bodyPr>
            <a:normAutofit fontScale="92500" lnSpcReduction="20000"/>
          </a:bodyPr>
          <a:lstStyle/>
          <a:p>
            <a:pPr lvl="1">
              <a:buFont typeface="Wingdings" pitchFamily="2" charset="2"/>
              <a:buChar char="v"/>
            </a:pPr>
            <a:r>
              <a:rPr lang="en-US" sz="2800" dirty="0" smtClean="0">
                <a:latin typeface="Times New Roman" pitchFamily="18" charset="0"/>
                <a:cs typeface="Times New Roman" pitchFamily="18" charset="0"/>
              </a:rPr>
              <a:t>The Delete operation refers to the process of permanently removing a data record from a database table.</a:t>
            </a:r>
          </a:p>
          <a:p>
            <a:pPr lvl="1">
              <a:buFont typeface="Wingdings" pitchFamily="2" charset="2"/>
              <a:buChar char="v"/>
            </a:pPr>
            <a:r>
              <a:rPr lang="en-US" sz="2800" dirty="0" smtClean="0">
                <a:latin typeface="Times New Roman" pitchFamily="18" charset="0"/>
                <a:cs typeface="Times New Roman" pitchFamily="18" charset="0"/>
              </a:rPr>
              <a:t>It typically involves these steps:</a:t>
            </a:r>
          </a:p>
          <a:p>
            <a:pPr lvl="2">
              <a:buFont typeface="Wingdings" pitchFamily="2" charset="2"/>
              <a:buChar char="ü"/>
            </a:pPr>
            <a:r>
              <a:rPr lang="en-US" sz="2400" dirty="0" smtClean="0">
                <a:latin typeface="Times New Roman" pitchFamily="18" charset="0"/>
                <a:cs typeface="Times New Roman" pitchFamily="18" charset="0"/>
              </a:rPr>
              <a:t>User Initiates Deletion: A user interacts with the web application, confirming their intention to delete a specific data record (e.g., a product listing, an old blog post). This confirmation might involve a button click or a link selection.</a:t>
            </a:r>
          </a:p>
          <a:p>
            <a:pPr lvl="2">
              <a:buFont typeface="Wingdings" pitchFamily="2" charset="2"/>
              <a:buChar char="ü"/>
            </a:pPr>
            <a:r>
              <a:rPr lang="en-US" sz="2400" dirty="0" smtClean="0">
                <a:latin typeface="Times New Roman" pitchFamily="18" charset="0"/>
                <a:cs typeface="Times New Roman" pitchFamily="18" charset="0"/>
              </a:rPr>
              <a:t>JSP Page Prepares for Deletion: The JSP page on the server interprets the user's confirmation and retrieves the unique identifier (ID) associated with the record to be deleted.</a:t>
            </a:r>
          </a:p>
          <a:p>
            <a:pPr lvl="2">
              <a:buFont typeface="Wingdings" pitchFamily="2" charset="2"/>
              <a:buChar char="ü"/>
            </a:pPr>
            <a:r>
              <a:rPr lang="en-US" sz="2400" dirty="0" smtClean="0">
                <a:latin typeface="Times New Roman" pitchFamily="18" charset="0"/>
                <a:cs typeface="Times New Roman" pitchFamily="18" charset="0"/>
              </a:rPr>
              <a:t>Database Deletion Occurs: The JSP page interacts with the database using JDBC to execute an SQL DELETE statement, targeting the record based on the retrieved ID.</a:t>
            </a:r>
          </a:p>
          <a:p>
            <a:pPr lvl="2">
              <a:buFont typeface="Wingdings" pitchFamily="2" charset="2"/>
              <a:buChar char="ü"/>
            </a:pPr>
            <a:r>
              <a:rPr lang="en-US" sz="2400" dirty="0" smtClean="0">
                <a:latin typeface="Times New Roman" pitchFamily="18" charset="0"/>
                <a:cs typeface="Times New Roman" pitchFamily="18" charset="0"/>
              </a:rPr>
              <a:t>Feedback for the User: The JSP page provides feedback to the user, potentially displaying a confirmation message or handling any errors that might arise during the deletion process.</a:t>
            </a:r>
          </a:p>
          <a:p>
            <a:pPr lvl="1"/>
            <a:endParaRPr lang="en-US" dirty="0" smtClean="0"/>
          </a:p>
          <a:p>
            <a:pPr lvl="1">
              <a:buNone/>
            </a:pPr>
            <a:endParaRPr lang="en-US" b="1" dirty="0" smtClean="0"/>
          </a:p>
          <a:p>
            <a:pPr>
              <a:buNone/>
            </a:pPr>
            <a:endParaRPr lang="en-US" b="1" dirty="0" smtClean="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61950" y="1304925"/>
            <a:ext cx="10515600" cy="966790"/>
          </a:xfrm>
          <a:solidFill>
            <a:srgbClr val="FFFFCC"/>
          </a:solidFill>
        </p:spPr>
        <p:txBody>
          <a:bodyPr>
            <a:normAutofit/>
          </a:bodyPr>
          <a:lstStyle/>
          <a:p>
            <a:pPr lvl="1"/>
            <a:r>
              <a:rPr lang="en-US" sz="3600" b="1" dirty="0" smtClean="0">
                <a:latin typeface="Times New Roman" pitchFamily="18" charset="0"/>
                <a:cs typeface="Times New Roman" pitchFamily="18" charset="0"/>
              </a:rPr>
              <a:t>JSP Example: Deleting a Product</a:t>
            </a:r>
          </a:p>
        </p:txBody>
      </p:sp>
      <p:sp>
        <p:nvSpPr>
          <p:cNvPr id="4" name="Content Placeholder 3"/>
          <p:cNvSpPr>
            <a:spLocks noGrp="1"/>
          </p:cNvSpPr>
          <p:nvPr>
            <p:ph idx="1"/>
          </p:nvPr>
        </p:nvSpPr>
        <p:spPr>
          <a:xfrm>
            <a:off x="428625" y="2082800"/>
            <a:ext cx="10515600" cy="4351338"/>
          </a:xfrm>
        </p:spPr>
        <p:txBody>
          <a:bodyPr>
            <a:normAutofit fontScale="92500" lnSpcReduction="20000"/>
          </a:bodyPr>
          <a:lstStyle/>
          <a:p>
            <a:pPr lvl="1">
              <a:buNone/>
            </a:pPr>
            <a:r>
              <a:rPr lang="en-US" dirty="0" smtClean="0">
                <a:latin typeface="Times New Roman" pitchFamily="18" charset="0"/>
                <a:cs typeface="Times New Roman" pitchFamily="18" charset="0"/>
              </a:rPr>
              <a:t>&lt;!DOCTYPE html&gt;</a:t>
            </a:r>
          </a:p>
          <a:p>
            <a:pPr lvl="1">
              <a:buNone/>
            </a:pPr>
            <a:r>
              <a:rPr lang="en-US" dirty="0" smtClean="0">
                <a:latin typeface="Times New Roman" pitchFamily="18" charset="0"/>
                <a:cs typeface="Times New Roman" pitchFamily="18" charset="0"/>
              </a:rPr>
              <a:t>&lt;html&gt;</a:t>
            </a:r>
          </a:p>
          <a:p>
            <a:pPr lvl="1">
              <a:buNone/>
            </a:pPr>
            <a:r>
              <a:rPr lang="en-US" dirty="0" smtClean="0">
                <a:latin typeface="Times New Roman" pitchFamily="18" charset="0"/>
                <a:cs typeface="Times New Roman" pitchFamily="18" charset="0"/>
              </a:rPr>
              <a:t>&lt;head&gt;</a:t>
            </a:r>
          </a:p>
          <a:p>
            <a:pPr lvl="1">
              <a:buNone/>
            </a:pPr>
            <a:r>
              <a:rPr lang="en-US" dirty="0" smtClean="0">
                <a:latin typeface="Times New Roman" pitchFamily="18" charset="0"/>
                <a:cs typeface="Times New Roman" pitchFamily="18" charset="0"/>
              </a:rPr>
              <a:t>&lt;title&gt;Product Listing&lt;/title&gt;</a:t>
            </a:r>
          </a:p>
          <a:p>
            <a:pPr lvl="1">
              <a:buNone/>
            </a:pPr>
            <a:r>
              <a:rPr lang="en-US" dirty="0" smtClean="0">
                <a:latin typeface="Times New Roman" pitchFamily="18" charset="0"/>
                <a:cs typeface="Times New Roman" pitchFamily="18" charset="0"/>
              </a:rPr>
              <a:t>&lt;/head&gt;</a:t>
            </a:r>
          </a:p>
          <a:p>
            <a:pPr lvl="1">
              <a:buNone/>
            </a:pPr>
            <a:r>
              <a:rPr lang="en-US" dirty="0" smtClean="0">
                <a:latin typeface="Times New Roman" pitchFamily="18" charset="0"/>
                <a:cs typeface="Times New Roman" pitchFamily="18" charset="0"/>
              </a:rPr>
              <a:t>&lt;body&gt;</a:t>
            </a:r>
          </a:p>
          <a:p>
            <a:pPr lvl="1">
              <a:buNone/>
            </a:pPr>
            <a:r>
              <a:rPr lang="en-US" dirty="0" smtClean="0">
                <a:latin typeface="Times New Roman" pitchFamily="18" charset="0"/>
                <a:cs typeface="Times New Roman" pitchFamily="18" charset="0"/>
              </a:rPr>
              <a:t>  &lt;h1&gt;Products&lt;/h1&gt;</a:t>
            </a:r>
          </a:p>
          <a:p>
            <a:pPr lvl="1">
              <a:buNone/>
            </a:pPr>
            <a:r>
              <a:rPr lang="en-US" dirty="0" smtClean="0">
                <a:latin typeface="Times New Roman" pitchFamily="18" charset="0"/>
                <a:cs typeface="Times New Roman" pitchFamily="18" charset="0"/>
              </a:rPr>
              <a:t>  &lt;% for (Product </a:t>
            </a:r>
            <a:r>
              <a:rPr lang="en-US" dirty="0" err="1" smtClean="0">
                <a:latin typeface="Times New Roman" pitchFamily="18" charset="0"/>
                <a:cs typeface="Times New Roman" pitchFamily="18" charset="0"/>
              </a:rPr>
              <a:t>product</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productList</a:t>
            </a:r>
            <a:r>
              <a:rPr lang="en-US" dirty="0" smtClean="0">
                <a:latin typeface="Times New Roman" pitchFamily="18" charset="0"/>
                <a:cs typeface="Times New Roman" pitchFamily="18" charset="0"/>
              </a:rPr>
              <a:t>) { %&gt;</a:t>
            </a:r>
          </a:p>
          <a:p>
            <a:pPr lvl="1">
              <a:buNone/>
            </a:pPr>
            <a:r>
              <a:rPr lang="en-US" dirty="0" smtClean="0">
                <a:latin typeface="Times New Roman" pitchFamily="18" charset="0"/>
                <a:cs typeface="Times New Roman" pitchFamily="18" charset="0"/>
              </a:rPr>
              <a:t>    &lt;p&gt;&lt;%= </a:t>
            </a:r>
            <a:r>
              <a:rPr lang="en-US" dirty="0" err="1" smtClean="0">
                <a:latin typeface="Times New Roman" pitchFamily="18" charset="0"/>
                <a:cs typeface="Times New Roman" pitchFamily="18" charset="0"/>
              </a:rPr>
              <a:t>product.getName</a:t>
            </a:r>
            <a:r>
              <a:rPr lang="en-US" dirty="0" smtClean="0">
                <a:latin typeface="Times New Roman" pitchFamily="18" charset="0"/>
                <a:cs typeface="Times New Roman" pitchFamily="18" charset="0"/>
              </a:rPr>
              <a:t>() %&gt; (&lt;%= </a:t>
            </a:r>
            <a:r>
              <a:rPr lang="en-US" dirty="0" err="1" smtClean="0">
                <a:latin typeface="Times New Roman" pitchFamily="18" charset="0"/>
                <a:cs typeface="Times New Roman" pitchFamily="18" charset="0"/>
              </a:rPr>
              <a:t>product.getId</a:t>
            </a:r>
            <a:r>
              <a:rPr lang="en-US" dirty="0" smtClean="0">
                <a:latin typeface="Times New Roman" pitchFamily="18" charset="0"/>
                <a:cs typeface="Times New Roman" pitchFamily="18" charset="0"/>
              </a:rPr>
              <a:t>() %&gt;)</a:t>
            </a:r>
          </a:p>
          <a:p>
            <a:pPr lvl="1">
              <a:buNone/>
            </a:pPr>
            <a:r>
              <a:rPr lang="en-US" dirty="0" smtClean="0">
                <a:latin typeface="Times New Roman" pitchFamily="18" charset="0"/>
                <a:cs typeface="Times New Roman" pitchFamily="18" charset="0"/>
              </a:rPr>
              <a:t>       &lt;a </a:t>
            </a:r>
            <a:r>
              <a:rPr lang="en-US" dirty="0" err="1" smtClean="0">
                <a:latin typeface="Times New Roman" pitchFamily="18" charset="0"/>
                <a:cs typeface="Times New Roman" pitchFamily="18" charset="0"/>
              </a:rPr>
              <a:t>href</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delete_product.jsp?id</a:t>
            </a:r>
            <a:r>
              <a:rPr lang="en-US" dirty="0" smtClean="0">
                <a:latin typeface="Times New Roman" pitchFamily="18" charset="0"/>
                <a:cs typeface="Times New Roman" pitchFamily="18" charset="0"/>
              </a:rPr>
              <a:t>=&lt;%= </a:t>
            </a:r>
            <a:r>
              <a:rPr lang="en-US" dirty="0" err="1" smtClean="0">
                <a:latin typeface="Times New Roman" pitchFamily="18" charset="0"/>
                <a:cs typeface="Times New Roman" pitchFamily="18" charset="0"/>
              </a:rPr>
              <a:t>product.getId</a:t>
            </a:r>
            <a:r>
              <a:rPr lang="en-US" dirty="0" smtClean="0">
                <a:latin typeface="Times New Roman" pitchFamily="18" charset="0"/>
                <a:cs typeface="Times New Roman" pitchFamily="18" charset="0"/>
              </a:rPr>
              <a:t>() %&gt;"&gt;Delete&lt;/a&gt;</a:t>
            </a:r>
          </a:p>
          <a:p>
            <a:pPr lvl="1">
              <a:buNone/>
            </a:pPr>
            <a:r>
              <a:rPr lang="en-US" dirty="0" smtClean="0">
                <a:latin typeface="Times New Roman" pitchFamily="18" charset="0"/>
                <a:cs typeface="Times New Roman" pitchFamily="18" charset="0"/>
              </a:rPr>
              <a:t>    &lt;/p&gt;</a:t>
            </a:r>
          </a:p>
          <a:p>
            <a:pPr lvl="1">
              <a:buNone/>
            </a:pPr>
            <a:r>
              <a:rPr lang="en-US" dirty="0" smtClean="0">
                <a:latin typeface="Times New Roman" pitchFamily="18" charset="0"/>
                <a:cs typeface="Times New Roman" pitchFamily="18" charset="0"/>
              </a:rPr>
              <a:t>  &lt;% } %&gt;</a:t>
            </a:r>
          </a:p>
          <a:p>
            <a:pPr lvl="1">
              <a:buNone/>
            </a:pPr>
            <a:r>
              <a:rPr lang="en-US" dirty="0" smtClean="0">
                <a:latin typeface="Times New Roman" pitchFamily="18" charset="0"/>
                <a:cs typeface="Times New Roman" pitchFamily="18" charset="0"/>
              </a:rPr>
              <a:t>&lt;/body&gt;</a:t>
            </a:r>
          </a:p>
          <a:p>
            <a:pPr lvl="1">
              <a:buNone/>
            </a:pPr>
            <a:r>
              <a:rPr lang="en-US" dirty="0" smtClean="0">
                <a:latin typeface="Times New Roman" pitchFamily="18" charset="0"/>
                <a:cs typeface="Times New Roman" pitchFamily="18" charset="0"/>
              </a:rPr>
              <a:t>&lt;/html&gt;</a:t>
            </a:r>
          </a:p>
          <a:p>
            <a:pPr lvl="1"/>
            <a:endParaRPr lang="en-US" dirty="0" smtClean="0"/>
          </a:p>
          <a:p>
            <a:pPr lvl="1">
              <a:buNone/>
            </a:pPr>
            <a:endParaRPr lang="en-US" b="1" dirty="0" smtClean="0"/>
          </a:p>
          <a:p>
            <a:pPr>
              <a:buNone/>
            </a:pPr>
            <a:endParaRPr lang="en-US" b="1" dirty="0" smtClean="0"/>
          </a:p>
        </p:txBody>
      </p:sp>
    </p:spTree>
    <p:extLst>
      <p:ext uri="{BB962C8B-B14F-4D97-AF65-F5344CB8AC3E}">
        <p14:creationId xmlns:p14="http://schemas.microsoft.com/office/powerpoint/2010/main" val="302361527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96632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1850</TotalTime>
  <Words>2841</Words>
  <Application>Microsoft Office PowerPoint</Application>
  <PresentationFormat>Custom</PresentationFormat>
  <Paragraphs>324</Paragraphs>
  <Slides>54</Slides>
  <Notes>0</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PowerPoint Presentation</vt:lpstr>
      <vt:lpstr>PowerPoint Presentation</vt:lpstr>
      <vt:lpstr>PowerPoint Presentation</vt:lpstr>
      <vt:lpstr>What are Java Server Pages (JSP)?</vt:lpstr>
      <vt:lpstr>Purpose of JSP</vt:lpstr>
      <vt:lpstr>Importance of JSP in Web Development</vt:lpstr>
      <vt:lpstr>PowerPoint Presentation</vt:lpstr>
      <vt:lpstr>Translation - From Script to Servlet</vt:lpstr>
      <vt:lpstr>Definition and Syntax</vt:lpstr>
      <vt:lpstr>Execution - The Powerhouse of JSP</vt:lpstr>
      <vt:lpstr>PowerPoint Presentation</vt:lpstr>
      <vt:lpstr>PowerPoint Presentation</vt:lpstr>
      <vt:lpstr>PowerPoint Presentation</vt:lpstr>
      <vt:lpstr>Scriptlets (&lt;% %&gt;)</vt:lpstr>
      <vt:lpstr>Usage and Examples  </vt:lpstr>
      <vt:lpstr>Example: Conditional Statements with Scriptlets:</vt:lpstr>
      <vt:lpstr>PowerPoint Presentation</vt:lpstr>
      <vt:lpstr>PowerPoint Presentation</vt:lpstr>
      <vt:lpstr>Definition and Syntax</vt:lpstr>
      <vt:lpstr>PowerPoint Presentation</vt:lpstr>
      <vt:lpstr>Usage and Examples</vt:lpstr>
      <vt:lpstr>Example: Displaying Variable Values</vt:lpstr>
      <vt:lpstr>PowerPoint Presentation</vt:lpstr>
      <vt:lpstr>Definition and Syntax - Setting the Stage for Declarations</vt:lpstr>
      <vt:lpstr>Usage and Examples</vt:lpstr>
      <vt:lpstr>PowerPoint Presentation</vt:lpstr>
      <vt:lpstr>PowerPoint Presentation</vt:lpstr>
      <vt:lpstr>Introduction to Directive Elements</vt:lpstr>
      <vt:lpstr>Types of Directive Elements</vt:lpstr>
      <vt:lpstr>Definition and Syntax </vt:lpstr>
      <vt:lpstr>Page Directive - Setting the Stage</vt:lpstr>
      <vt:lpstr>Examples </vt:lpstr>
      <vt:lpstr>PowerPoint Presentation</vt:lpstr>
      <vt:lpstr>Syntax -  A Simple Approach to Inclusion</vt:lpstr>
      <vt:lpstr>Usage and Examples</vt:lpstr>
      <vt:lpstr>PowerPoint Presentation</vt:lpstr>
      <vt:lpstr>Definition and Syntax</vt:lpstr>
      <vt:lpstr>PowerPoint Presentation</vt:lpstr>
      <vt:lpstr>Definition of CRUD</vt:lpstr>
      <vt:lpstr>Importance in Web Applications</vt:lpstr>
      <vt:lpstr>Managing Data in Databases</vt:lpstr>
      <vt:lpstr>PowerPoint Presentation</vt:lpstr>
      <vt:lpstr>Definition and Process - Unveiling the Create Operation</vt:lpstr>
      <vt:lpstr>JSP Example: Creating a User Registration Form</vt:lpstr>
      <vt:lpstr>PowerPoint Presentation</vt:lpstr>
      <vt:lpstr>Definition and Process -  Unveiling the Read Operation</vt:lpstr>
      <vt:lpstr>JSP Example: Displaying Products in a Table</vt:lpstr>
      <vt:lpstr>PowerPoint Presentation</vt:lpstr>
      <vt:lpstr>Definition and Process -  Unveiling the Update Operation</vt:lpstr>
      <vt:lpstr>JSP Example:  Editing a User Profile</vt:lpstr>
      <vt:lpstr>PowerPoint Presentation</vt:lpstr>
      <vt:lpstr>Definition and Process -  Unveiling the Delete Operation</vt:lpstr>
      <vt:lpstr>JSP Example: Deleting a Product</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HP</cp:lastModifiedBy>
  <cp:revision>148</cp:revision>
  <dcterms:created xsi:type="dcterms:W3CDTF">2023-12-11T09:34:34Z</dcterms:created>
  <dcterms:modified xsi:type="dcterms:W3CDTF">2024-07-22T05:44:17Z</dcterms:modified>
</cp:coreProperties>
</file>