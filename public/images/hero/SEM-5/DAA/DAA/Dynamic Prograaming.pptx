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6" r:id="rId5"/>
    <p:sldId id="259" r:id="rId6"/>
    <p:sldId id="260" r:id="rId7"/>
    <p:sldId id="261" r:id="rId8"/>
    <p:sldId id="262" r:id="rId9"/>
    <p:sldId id="264" r:id="rId10"/>
    <p:sldId id="265" r:id="rId11"/>
    <p:sldId id="267" r:id="rId12"/>
    <p:sldId id="268" r:id="rId13"/>
    <p:sldId id="269" r:id="rId14"/>
    <p:sldId id="273" r:id="rId15"/>
    <p:sldId id="271" r:id="rId16"/>
    <p:sldId id="272" r:id="rId17"/>
    <p:sldId id="274" r:id="rId18"/>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EF9ED1C6-3A75-47F7-8C38-58726AF08C71}">
          <p14:sldIdLst>
            <p14:sldId id="256"/>
            <p14:sldId id="257"/>
            <p14:sldId id="258"/>
            <p14:sldId id="266"/>
            <p14:sldId id="259"/>
            <p14:sldId id="260"/>
            <p14:sldId id="261"/>
            <p14:sldId id="262"/>
            <p14:sldId id="264"/>
            <p14:sldId id="265"/>
            <p14:sldId id="267"/>
            <p14:sldId id="268"/>
            <p14:sldId id="269"/>
            <p14:sldId id="273"/>
            <p14:sldId id="271"/>
            <p14:sldId id="272"/>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1" d="100"/>
          <a:sy n="71" d="100"/>
        </p:scale>
        <p:origin x="-456" y="2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839206"/>
            <a:ext cx="12192000" cy="5669915"/>
          </a:xfrm>
          <a:custGeom>
            <a:avLst/>
            <a:gdLst/>
            <a:ahLst/>
            <a:cxnLst/>
            <a:rect l="l" t="t" r="r" b="b"/>
            <a:pathLst>
              <a:path w="12192000" h="5669915">
                <a:moveTo>
                  <a:pt x="0" y="0"/>
                </a:moveTo>
                <a:lnTo>
                  <a:pt x="12191999" y="0"/>
                </a:lnTo>
              </a:path>
              <a:path w="12192000" h="5669915">
                <a:moveTo>
                  <a:pt x="0" y="5669548"/>
                </a:moveTo>
                <a:lnTo>
                  <a:pt x="12191999" y="5669548"/>
                </a:lnTo>
              </a:path>
            </a:pathLst>
          </a:custGeom>
          <a:ln w="28574">
            <a:solidFill>
              <a:srgbClr val="4471C4"/>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256755" y="194678"/>
            <a:ext cx="1162888" cy="479691"/>
          </a:xfrm>
          <a:prstGeom prst="rect">
            <a:avLst/>
          </a:prstGeom>
        </p:spPr>
      </p:pic>
      <p:pic>
        <p:nvPicPr>
          <p:cNvPr id="18" name="bg object 18"/>
          <p:cNvPicPr/>
          <p:nvPr/>
        </p:nvPicPr>
        <p:blipFill>
          <a:blip r:embed="rId3" cstate="print"/>
          <a:stretch>
            <a:fillRect/>
          </a:stretch>
        </p:blipFill>
        <p:spPr>
          <a:xfrm>
            <a:off x="3192414" y="2290696"/>
            <a:ext cx="5430774" cy="2803526"/>
          </a:xfrm>
          <a:prstGeom prst="rect">
            <a:avLst/>
          </a:prstGeom>
        </p:spPr>
      </p:pic>
      <p:pic>
        <p:nvPicPr>
          <p:cNvPr id="19" name="bg object 19"/>
          <p:cNvPicPr/>
          <p:nvPr/>
        </p:nvPicPr>
        <p:blipFill>
          <a:blip r:embed="rId4" cstate="print"/>
          <a:stretch>
            <a:fillRect/>
          </a:stretch>
        </p:blipFill>
        <p:spPr>
          <a:xfrm>
            <a:off x="10329915" y="102595"/>
            <a:ext cx="1746251" cy="727100"/>
          </a:xfrm>
          <a:prstGeom prst="rect">
            <a:avLst/>
          </a:prstGeom>
        </p:spPr>
      </p:pic>
      <p:pic>
        <p:nvPicPr>
          <p:cNvPr id="20" name="bg object 20"/>
          <p:cNvPicPr/>
          <p:nvPr/>
        </p:nvPicPr>
        <p:blipFill>
          <a:blip r:embed="rId5" cstate="print"/>
          <a:stretch>
            <a:fillRect/>
          </a:stretch>
        </p:blipFill>
        <p:spPr>
          <a:xfrm>
            <a:off x="0" y="0"/>
            <a:ext cx="12192000" cy="6857999"/>
          </a:xfrm>
          <a:prstGeom prst="rect">
            <a:avLst/>
          </a:prstGeom>
        </p:spPr>
      </p:pic>
      <p:sp>
        <p:nvSpPr>
          <p:cNvPr id="21" name="bg object 21"/>
          <p:cNvSpPr/>
          <p:nvPr/>
        </p:nvSpPr>
        <p:spPr>
          <a:xfrm>
            <a:off x="0" y="839205"/>
            <a:ext cx="12192000" cy="0"/>
          </a:xfrm>
          <a:custGeom>
            <a:avLst/>
            <a:gdLst/>
            <a:ahLst/>
            <a:cxnLst/>
            <a:rect l="l" t="t" r="r" b="b"/>
            <a:pathLst>
              <a:path w="12192000">
                <a:moveTo>
                  <a:pt x="0" y="0"/>
                </a:moveTo>
                <a:lnTo>
                  <a:pt x="12191999" y="0"/>
                </a:lnTo>
              </a:path>
            </a:pathLst>
          </a:custGeom>
          <a:ln w="57149">
            <a:solidFill>
              <a:srgbClr val="4471C4"/>
            </a:solidFill>
          </a:ln>
        </p:spPr>
        <p:txBody>
          <a:bodyPr wrap="square" lIns="0" tIns="0" rIns="0" bIns="0" rtlCol="0"/>
          <a:lstStyle/>
          <a:p>
            <a:endParaRPr/>
          </a:p>
        </p:txBody>
      </p:sp>
      <p:sp>
        <p:nvSpPr>
          <p:cNvPr id="2" name="Holder 2"/>
          <p:cNvSpPr>
            <a:spLocks noGrp="1"/>
          </p:cNvSpPr>
          <p:nvPr>
            <p:ph type="ctrTitle"/>
          </p:nvPr>
        </p:nvSpPr>
        <p:spPr>
          <a:xfrm>
            <a:off x="5477759" y="2759706"/>
            <a:ext cx="1236480" cy="575310"/>
          </a:xfrm>
          <a:prstGeom prst="rect">
            <a:avLst/>
          </a:prstGeom>
        </p:spPr>
        <p:txBody>
          <a:bodyPr wrap="square" lIns="0" tIns="0" rIns="0" bIns="0">
            <a:spAutoFit/>
          </a:bodyPr>
          <a:lstStyle>
            <a:lvl1pPr>
              <a:defRPr sz="30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839206"/>
            <a:ext cx="12192000" cy="5669915"/>
          </a:xfrm>
          <a:custGeom>
            <a:avLst/>
            <a:gdLst/>
            <a:ahLst/>
            <a:cxnLst/>
            <a:rect l="l" t="t" r="r" b="b"/>
            <a:pathLst>
              <a:path w="12192000" h="5669915">
                <a:moveTo>
                  <a:pt x="0" y="0"/>
                </a:moveTo>
                <a:lnTo>
                  <a:pt x="12191999" y="0"/>
                </a:lnTo>
              </a:path>
              <a:path w="12192000" h="5669915">
                <a:moveTo>
                  <a:pt x="0" y="5669548"/>
                </a:moveTo>
                <a:lnTo>
                  <a:pt x="12191999" y="5669548"/>
                </a:lnTo>
              </a:path>
            </a:pathLst>
          </a:custGeom>
          <a:ln w="28574">
            <a:solidFill>
              <a:srgbClr val="4471C4"/>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256755" y="194678"/>
            <a:ext cx="1162888" cy="479691"/>
          </a:xfrm>
          <a:prstGeom prst="rect">
            <a:avLst/>
          </a:prstGeom>
        </p:spPr>
      </p:pic>
      <p:pic>
        <p:nvPicPr>
          <p:cNvPr id="18" name="bg object 18"/>
          <p:cNvPicPr/>
          <p:nvPr/>
        </p:nvPicPr>
        <p:blipFill>
          <a:blip r:embed="rId3" cstate="print"/>
          <a:stretch>
            <a:fillRect/>
          </a:stretch>
        </p:blipFill>
        <p:spPr>
          <a:xfrm>
            <a:off x="3192414" y="2290696"/>
            <a:ext cx="5430774" cy="2803526"/>
          </a:xfrm>
          <a:prstGeom prst="rect">
            <a:avLst/>
          </a:prstGeom>
        </p:spPr>
      </p:pic>
      <p:pic>
        <p:nvPicPr>
          <p:cNvPr id="19" name="bg object 19"/>
          <p:cNvPicPr/>
          <p:nvPr/>
        </p:nvPicPr>
        <p:blipFill>
          <a:blip r:embed="rId4" cstate="print"/>
          <a:stretch>
            <a:fillRect/>
          </a:stretch>
        </p:blipFill>
        <p:spPr>
          <a:xfrm>
            <a:off x="10329915" y="102595"/>
            <a:ext cx="1746251" cy="727100"/>
          </a:xfrm>
          <a:prstGeom prst="rect">
            <a:avLst/>
          </a:prstGeom>
        </p:spPr>
      </p:pic>
      <p:pic>
        <p:nvPicPr>
          <p:cNvPr id="20" name="bg object 20"/>
          <p:cNvPicPr/>
          <p:nvPr/>
        </p:nvPicPr>
        <p:blipFill>
          <a:blip r:embed="rId5" cstate="print"/>
          <a:stretch>
            <a:fillRect/>
          </a:stretch>
        </p:blipFill>
        <p:spPr>
          <a:xfrm>
            <a:off x="0" y="0"/>
            <a:ext cx="12192000" cy="6857999"/>
          </a:xfrm>
          <a:prstGeom prst="rect">
            <a:avLst/>
          </a:prstGeom>
        </p:spPr>
      </p:pic>
      <p:sp>
        <p:nvSpPr>
          <p:cNvPr id="21" name="bg object 21"/>
          <p:cNvSpPr/>
          <p:nvPr/>
        </p:nvSpPr>
        <p:spPr>
          <a:xfrm>
            <a:off x="0" y="947937"/>
            <a:ext cx="12192000" cy="730885"/>
          </a:xfrm>
          <a:custGeom>
            <a:avLst/>
            <a:gdLst/>
            <a:ahLst/>
            <a:cxnLst/>
            <a:rect l="l" t="t" r="r" b="b"/>
            <a:pathLst>
              <a:path w="12192000" h="730885">
                <a:moveTo>
                  <a:pt x="12191999" y="0"/>
                </a:moveTo>
                <a:lnTo>
                  <a:pt x="0" y="0"/>
                </a:lnTo>
                <a:lnTo>
                  <a:pt x="0" y="730352"/>
                </a:lnTo>
                <a:lnTo>
                  <a:pt x="12191999" y="730352"/>
                </a:lnTo>
                <a:lnTo>
                  <a:pt x="12191999" y="0"/>
                </a:lnTo>
                <a:close/>
              </a:path>
            </a:pathLst>
          </a:custGeom>
          <a:solidFill>
            <a:srgbClr val="2E549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839206"/>
            <a:ext cx="12192000" cy="5669915"/>
          </a:xfrm>
          <a:custGeom>
            <a:avLst/>
            <a:gdLst/>
            <a:ahLst/>
            <a:cxnLst/>
            <a:rect l="l" t="t" r="r" b="b"/>
            <a:pathLst>
              <a:path w="12192000" h="5669915">
                <a:moveTo>
                  <a:pt x="0" y="0"/>
                </a:moveTo>
                <a:lnTo>
                  <a:pt x="12191999" y="0"/>
                </a:lnTo>
              </a:path>
              <a:path w="12192000" h="5669915">
                <a:moveTo>
                  <a:pt x="0" y="5669548"/>
                </a:moveTo>
                <a:lnTo>
                  <a:pt x="12191999" y="5669548"/>
                </a:lnTo>
              </a:path>
            </a:pathLst>
          </a:custGeom>
          <a:ln w="28574">
            <a:solidFill>
              <a:srgbClr val="4471C4"/>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256755" y="194678"/>
            <a:ext cx="1162888" cy="479691"/>
          </a:xfrm>
          <a:prstGeom prst="rect">
            <a:avLst/>
          </a:prstGeom>
        </p:spPr>
      </p:pic>
      <p:pic>
        <p:nvPicPr>
          <p:cNvPr id="18" name="bg object 18"/>
          <p:cNvPicPr/>
          <p:nvPr/>
        </p:nvPicPr>
        <p:blipFill>
          <a:blip r:embed="rId3" cstate="print"/>
          <a:stretch>
            <a:fillRect/>
          </a:stretch>
        </p:blipFill>
        <p:spPr>
          <a:xfrm>
            <a:off x="3192414" y="2290696"/>
            <a:ext cx="5430774" cy="2803526"/>
          </a:xfrm>
          <a:prstGeom prst="rect">
            <a:avLst/>
          </a:prstGeom>
        </p:spPr>
      </p:pic>
      <p:pic>
        <p:nvPicPr>
          <p:cNvPr id="19" name="bg object 19"/>
          <p:cNvPicPr/>
          <p:nvPr/>
        </p:nvPicPr>
        <p:blipFill>
          <a:blip r:embed="rId4" cstate="print"/>
          <a:stretch>
            <a:fillRect/>
          </a:stretch>
        </p:blipFill>
        <p:spPr>
          <a:xfrm>
            <a:off x="10329915" y="102595"/>
            <a:ext cx="1746251" cy="727100"/>
          </a:xfrm>
          <a:prstGeom prst="rect">
            <a:avLst/>
          </a:prstGeom>
        </p:spPr>
      </p:pic>
      <p:pic>
        <p:nvPicPr>
          <p:cNvPr id="20" name="bg object 20"/>
          <p:cNvPicPr/>
          <p:nvPr/>
        </p:nvPicPr>
        <p:blipFill>
          <a:blip r:embed="rId5" cstate="print"/>
          <a:stretch>
            <a:fillRect/>
          </a:stretch>
        </p:blipFill>
        <p:spPr>
          <a:xfrm>
            <a:off x="0" y="0"/>
            <a:ext cx="12192000" cy="6857999"/>
          </a:xfrm>
          <a:prstGeom prst="rect">
            <a:avLst/>
          </a:prstGeom>
        </p:spPr>
      </p:pic>
      <p:sp>
        <p:nvSpPr>
          <p:cNvPr id="21" name="bg object 21"/>
          <p:cNvSpPr/>
          <p:nvPr/>
        </p:nvSpPr>
        <p:spPr>
          <a:xfrm>
            <a:off x="0" y="947937"/>
            <a:ext cx="12192000" cy="730885"/>
          </a:xfrm>
          <a:custGeom>
            <a:avLst/>
            <a:gdLst/>
            <a:ahLst/>
            <a:cxnLst/>
            <a:rect l="l" t="t" r="r" b="b"/>
            <a:pathLst>
              <a:path w="12192000" h="730885">
                <a:moveTo>
                  <a:pt x="12191999" y="0"/>
                </a:moveTo>
                <a:lnTo>
                  <a:pt x="0" y="0"/>
                </a:lnTo>
                <a:lnTo>
                  <a:pt x="0" y="730352"/>
                </a:lnTo>
                <a:lnTo>
                  <a:pt x="12191999" y="730352"/>
                </a:lnTo>
                <a:lnTo>
                  <a:pt x="12191999" y="0"/>
                </a:lnTo>
                <a:close/>
              </a:path>
            </a:pathLst>
          </a:custGeom>
          <a:solidFill>
            <a:srgbClr val="2E549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839206"/>
            <a:ext cx="12192000" cy="5669915"/>
          </a:xfrm>
          <a:custGeom>
            <a:avLst/>
            <a:gdLst/>
            <a:ahLst/>
            <a:cxnLst/>
            <a:rect l="l" t="t" r="r" b="b"/>
            <a:pathLst>
              <a:path w="12192000" h="5669915">
                <a:moveTo>
                  <a:pt x="0" y="0"/>
                </a:moveTo>
                <a:lnTo>
                  <a:pt x="12191999" y="0"/>
                </a:lnTo>
              </a:path>
              <a:path w="12192000" h="5669915">
                <a:moveTo>
                  <a:pt x="0" y="5669548"/>
                </a:moveTo>
                <a:lnTo>
                  <a:pt x="12191999" y="5669548"/>
                </a:lnTo>
              </a:path>
            </a:pathLst>
          </a:custGeom>
          <a:ln w="28574">
            <a:solidFill>
              <a:srgbClr val="4471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256755" y="194678"/>
            <a:ext cx="1162888" cy="479691"/>
          </a:xfrm>
          <a:prstGeom prst="rect">
            <a:avLst/>
          </a:prstGeom>
        </p:spPr>
      </p:pic>
      <p:pic>
        <p:nvPicPr>
          <p:cNvPr id="18" name="bg object 18"/>
          <p:cNvPicPr/>
          <p:nvPr/>
        </p:nvPicPr>
        <p:blipFill>
          <a:blip r:embed="rId8" cstate="print"/>
          <a:stretch>
            <a:fillRect/>
          </a:stretch>
        </p:blipFill>
        <p:spPr>
          <a:xfrm>
            <a:off x="3192414" y="2290696"/>
            <a:ext cx="5430774" cy="2803526"/>
          </a:xfrm>
          <a:prstGeom prst="rect">
            <a:avLst/>
          </a:prstGeom>
        </p:spPr>
      </p:pic>
      <p:pic>
        <p:nvPicPr>
          <p:cNvPr id="19" name="bg object 19"/>
          <p:cNvPicPr/>
          <p:nvPr/>
        </p:nvPicPr>
        <p:blipFill>
          <a:blip r:embed="rId9" cstate="print"/>
          <a:stretch>
            <a:fillRect/>
          </a:stretch>
        </p:blipFill>
        <p:spPr>
          <a:xfrm>
            <a:off x="10329915" y="102595"/>
            <a:ext cx="1746251" cy="727100"/>
          </a:xfrm>
          <a:prstGeom prst="rect">
            <a:avLst/>
          </a:prstGeom>
        </p:spPr>
      </p:pic>
      <p:pic>
        <p:nvPicPr>
          <p:cNvPr id="20" name="bg object 20"/>
          <p:cNvPicPr/>
          <p:nvPr/>
        </p:nvPicPr>
        <p:blipFill>
          <a:blip r:embed="rId10" cstate="print"/>
          <a:stretch>
            <a:fillRect/>
          </a:stretch>
        </p:blipFill>
        <p:spPr>
          <a:xfrm>
            <a:off x="0" y="0"/>
            <a:ext cx="12192000" cy="6857999"/>
          </a:xfrm>
          <a:prstGeom prst="rect">
            <a:avLst/>
          </a:prstGeom>
        </p:spPr>
      </p:pic>
      <p:sp>
        <p:nvSpPr>
          <p:cNvPr id="2" name="Holder 2"/>
          <p:cNvSpPr>
            <a:spLocks noGrp="1"/>
          </p:cNvSpPr>
          <p:nvPr>
            <p:ph type="title"/>
          </p:nvPr>
        </p:nvSpPr>
        <p:spPr>
          <a:xfrm>
            <a:off x="78740" y="1029648"/>
            <a:ext cx="6686550" cy="483234"/>
          </a:xfrm>
          <a:prstGeom prst="rect">
            <a:avLst/>
          </a:prstGeom>
        </p:spPr>
        <p:txBody>
          <a:bodyPr wrap="square" lIns="0" tIns="0" rIns="0" bIns="0">
            <a:spAutoFit/>
          </a:bodyPr>
          <a:lstStyle>
            <a:lvl1pPr>
              <a:defRPr sz="3000" b="1" i="0">
                <a:solidFill>
                  <a:schemeClr val="bg1"/>
                </a:solidFill>
                <a:latin typeface="Calibri"/>
                <a:cs typeface="Calibri"/>
              </a:defRPr>
            </a:lvl1pPr>
          </a:lstStyle>
          <a:p>
            <a:endParaRPr/>
          </a:p>
        </p:txBody>
      </p:sp>
      <p:sp>
        <p:nvSpPr>
          <p:cNvPr id="3" name="Holder 3"/>
          <p:cNvSpPr>
            <a:spLocks noGrp="1"/>
          </p:cNvSpPr>
          <p:nvPr>
            <p:ph type="body" idx="1"/>
          </p:nvPr>
        </p:nvSpPr>
        <p:spPr>
          <a:xfrm>
            <a:off x="871870" y="1813619"/>
            <a:ext cx="10448258" cy="223266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839206"/>
              <a:ext cx="12192000" cy="5669915"/>
            </a:xfrm>
            <a:custGeom>
              <a:avLst/>
              <a:gdLst/>
              <a:ahLst/>
              <a:cxnLst/>
              <a:rect l="l" t="t" r="r" b="b"/>
              <a:pathLst>
                <a:path w="12192000" h="5669915">
                  <a:moveTo>
                    <a:pt x="0" y="0"/>
                  </a:moveTo>
                  <a:lnTo>
                    <a:pt x="12191999" y="0"/>
                  </a:lnTo>
                </a:path>
                <a:path w="12192000" h="5669915">
                  <a:moveTo>
                    <a:pt x="0" y="5669548"/>
                  </a:moveTo>
                  <a:lnTo>
                    <a:pt x="12191999" y="5669548"/>
                  </a:lnTo>
                </a:path>
              </a:pathLst>
            </a:custGeom>
            <a:ln w="28574">
              <a:solidFill>
                <a:srgbClr val="4471C4"/>
              </a:solidFill>
            </a:ln>
          </p:spPr>
          <p:txBody>
            <a:bodyPr wrap="square" lIns="0" tIns="0" rIns="0" bIns="0" rtlCol="0"/>
            <a:lstStyle/>
            <a:p>
              <a:endParaRPr/>
            </a:p>
          </p:txBody>
        </p:sp>
        <p:pic>
          <p:nvPicPr>
            <p:cNvPr id="4" name="object 4"/>
            <p:cNvPicPr/>
            <p:nvPr/>
          </p:nvPicPr>
          <p:blipFill>
            <a:blip r:embed="rId2" cstate="print"/>
            <a:stretch>
              <a:fillRect/>
            </a:stretch>
          </p:blipFill>
          <p:spPr>
            <a:xfrm>
              <a:off x="256755" y="194678"/>
              <a:ext cx="1162888" cy="479691"/>
            </a:xfrm>
            <a:prstGeom prst="rect">
              <a:avLst/>
            </a:prstGeom>
          </p:spPr>
        </p:pic>
        <p:pic>
          <p:nvPicPr>
            <p:cNvPr id="5" name="object 5"/>
            <p:cNvPicPr/>
            <p:nvPr/>
          </p:nvPicPr>
          <p:blipFill>
            <a:blip r:embed="rId3" cstate="print"/>
            <a:stretch>
              <a:fillRect/>
            </a:stretch>
          </p:blipFill>
          <p:spPr>
            <a:xfrm>
              <a:off x="3192414" y="2290696"/>
              <a:ext cx="5430774" cy="2803526"/>
            </a:xfrm>
            <a:prstGeom prst="rect">
              <a:avLst/>
            </a:prstGeom>
          </p:spPr>
        </p:pic>
        <p:pic>
          <p:nvPicPr>
            <p:cNvPr id="6" name="object 6"/>
            <p:cNvPicPr/>
            <p:nvPr/>
          </p:nvPicPr>
          <p:blipFill>
            <a:blip r:embed="rId4" cstate="print"/>
            <a:stretch>
              <a:fillRect/>
            </a:stretch>
          </p:blipFill>
          <p:spPr>
            <a:xfrm>
              <a:off x="10329915" y="102595"/>
              <a:ext cx="1746251" cy="727100"/>
            </a:xfrm>
            <a:prstGeom prst="rect">
              <a:avLst/>
            </a:prstGeom>
          </p:spPr>
        </p:pic>
        <p:pic>
          <p:nvPicPr>
            <p:cNvPr id="7" name="object 7"/>
            <p:cNvPicPr/>
            <p:nvPr/>
          </p:nvPicPr>
          <p:blipFill>
            <a:blip r:embed="rId5" cstate="print"/>
            <a:stretch>
              <a:fillRect/>
            </a:stretch>
          </p:blipFill>
          <p:spPr>
            <a:xfrm>
              <a:off x="0" y="0"/>
              <a:ext cx="12192000" cy="6857999"/>
            </a:xfrm>
            <a:prstGeom prst="rect">
              <a:avLst/>
            </a:prstGeom>
          </p:spPr>
        </p:pic>
      </p:grpSp>
      <p:grpSp>
        <p:nvGrpSpPr>
          <p:cNvPr id="8" name="object 8"/>
          <p:cNvGrpSpPr/>
          <p:nvPr/>
        </p:nvGrpSpPr>
        <p:grpSpPr>
          <a:xfrm>
            <a:off x="0" y="0"/>
            <a:ext cx="12192000" cy="6824980"/>
            <a:chOff x="0" y="0"/>
            <a:chExt cx="12192000" cy="6824980"/>
          </a:xfrm>
        </p:grpSpPr>
        <p:pic>
          <p:nvPicPr>
            <p:cNvPr id="9" name="object 9"/>
            <p:cNvPicPr/>
            <p:nvPr/>
          </p:nvPicPr>
          <p:blipFill>
            <a:blip r:embed="rId6" cstate="print"/>
            <a:stretch>
              <a:fillRect/>
            </a:stretch>
          </p:blipFill>
          <p:spPr>
            <a:xfrm>
              <a:off x="0" y="0"/>
              <a:ext cx="12192000" cy="6824661"/>
            </a:xfrm>
            <a:prstGeom prst="rect">
              <a:avLst/>
            </a:prstGeom>
          </p:spPr>
        </p:pic>
        <p:pic>
          <p:nvPicPr>
            <p:cNvPr id="10" name="object 10"/>
            <p:cNvPicPr/>
            <p:nvPr/>
          </p:nvPicPr>
          <p:blipFill>
            <a:blip r:embed="rId7" cstate="print"/>
            <a:stretch>
              <a:fillRect/>
            </a:stretch>
          </p:blipFill>
          <p:spPr>
            <a:xfrm>
              <a:off x="4905359" y="436107"/>
              <a:ext cx="2381250" cy="628650"/>
            </a:xfrm>
            <a:prstGeom prst="rect">
              <a:avLst/>
            </a:prstGeom>
          </p:spPr>
        </p:pic>
        <p:sp>
          <p:nvSpPr>
            <p:cNvPr id="11" name="object 11"/>
            <p:cNvSpPr/>
            <p:nvPr/>
          </p:nvSpPr>
          <p:spPr>
            <a:xfrm>
              <a:off x="2088129" y="2266310"/>
              <a:ext cx="7860665" cy="1905"/>
            </a:xfrm>
            <a:custGeom>
              <a:avLst/>
              <a:gdLst/>
              <a:ahLst/>
              <a:cxnLst/>
              <a:rect l="l" t="t" r="r" b="b"/>
              <a:pathLst>
                <a:path w="7860665" h="1905">
                  <a:moveTo>
                    <a:pt x="0" y="0"/>
                  </a:moveTo>
                  <a:lnTo>
                    <a:pt x="7860541" y="1280"/>
                  </a:lnTo>
                </a:path>
              </a:pathLst>
            </a:custGeom>
            <a:ln w="9534">
              <a:solidFill>
                <a:srgbClr val="000000"/>
              </a:solidFill>
            </a:ln>
          </p:spPr>
          <p:txBody>
            <a:bodyPr wrap="square" lIns="0" tIns="0" rIns="0" bIns="0" rtlCol="0"/>
            <a:lstStyle/>
            <a:p>
              <a:endParaRPr/>
            </a:p>
          </p:txBody>
        </p:sp>
        <p:pic>
          <p:nvPicPr>
            <p:cNvPr id="12" name="object 12"/>
            <p:cNvPicPr/>
            <p:nvPr/>
          </p:nvPicPr>
          <p:blipFill>
            <a:blip r:embed="rId8" cstate="print"/>
            <a:stretch>
              <a:fillRect/>
            </a:stretch>
          </p:blipFill>
          <p:spPr>
            <a:xfrm>
              <a:off x="2088129" y="2231014"/>
              <a:ext cx="117098" cy="71993"/>
            </a:xfrm>
            <a:prstGeom prst="rect">
              <a:avLst/>
            </a:prstGeom>
          </p:spPr>
        </p:pic>
        <p:pic>
          <p:nvPicPr>
            <p:cNvPr id="13" name="object 13"/>
            <p:cNvPicPr/>
            <p:nvPr/>
          </p:nvPicPr>
          <p:blipFill>
            <a:blip r:embed="rId9" cstate="print"/>
            <a:stretch>
              <a:fillRect/>
            </a:stretch>
          </p:blipFill>
          <p:spPr>
            <a:xfrm>
              <a:off x="9859395" y="2231014"/>
              <a:ext cx="117104" cy="71993"/>
            </a:xfrm>
            <a:prstGeom prst="rect">
              <a:avLst/>
            </a:prstGeom>
          </p:spPr>
        </p:pic>
      </p:grpSp>
      <p:sp>
        <p:nvSpPr>
          <p:cNvPr id="14" name="object 14"/>
          <p:cNvSpPr txBox="1">
            <a:spLocks noGrp="1"/>
          </p:cNvSpPr>
          <p:nvPr>
            <p:ph type="title"/>
          </p:nvPr>
        </p:nvSpPr>
        <p:spPr>
          <a:xfrm>
            <a:off x="2888363" y="1401059"/>
            <a:ext cx="6382385" cy="575310"/>
          </a:xfrm>
          <a:prstGeom prst="rect">
            <a:avLst/>
          </a:prstGeom>
        </p:spPr>
        <p:txBody>
          <a:bodyPr vert="horz" wrap="square" lIns="0" tIns="13335" rIns="0" bIns="0" rtlCol="0">
            <a:spAutoFit/>
          </a:bodyPr>
          <a:lstStyle/>
          <a:p>
            <a:pPr marL="12700">
              <a:lnSpc>
                <a:spcPct val="100000"/>
              </a:lnSpc>
              <a:spcBef>
                <a:spcPts val="105"/>
              </a:spcBef>
            </a:pPr>
            <a:r>
              <a:rPr sz="3600" dirty="0">
                <a:solidFill>
                  <a:srgbClr val="000000"/>
                </a:solidFill>
              </a:rPr>
              <a:t>Design</a:t>
            </a:r>
            <a:r>
              <a:rPr sz="3600" b="0" spc="-100" dirty="0">
                <a:solidFill>
                  <a:srgbClr val="000000"/>
                </a:solidFill>
                <a:latin typeface="Times New Roman"/>
                <a:cs typeface="Times New Roman"/>
              </a:rPr>
              <a:t> </a:t>
            </a:r>
            <a:r>
              <a:rPr sz="3600" dirty="0">
                <a:solidFill>
                  <a:srgbClr val="000000"/>
                </a:solidFill>
              </a:rPr>
              <a:t>and</a:t>
            </a:r>
            <a:r>
              <a:rPr sz="3600" b="0" spc="-130" dirty="0">
                <a:solidFill>
                  <a:srgbClr val="000000"/>
                </a:solidFill>
                <a:latin typeface="Times New Roman"/>
                <a:cs typeface="Times New Roman"/>
              </a:rPr>
              <a:t> </a:t>
            </a:r>
            <a:r>
              <a:rPr sz="3500" dirty="0">
                <a:solidFill>
                  <a:srgbClr val="000000"/>
                </a:solidFill>
              </a:rPr>
              <a:t>analysis</a:t>
            </a:r>
            <a:r>
              <a:rPr sz="3500" b="0" spc="-185" dirty="0">
                <a:solidFill>
                  <a:srgbClr val="000000"/>
                </a:solidFill>
                <a:latin typeface="Times New Roman"/>
                <a:cs typeface="Times New Roman"/>
              </a:rPr>
              <a:t> </a:t>
            </a:r>
            <a:r>
              <a:rPr sz="3600" dirty="0">
                <a:solidFill>
                  <a:srgbClr val="000000"/>
                </a:solidFill>
              </a:rPr>
              <a:t>of</a:t>
            </a:r>
            <a:r>
              <a:rPr sz="3600" b="0" spc="-110" dirty="0">
                <a:solidFill>
                  <a:srgbClr val="000000"/>
                </a:solidFill>
                <a:latin typeface="Times New Roman"/>
                <a:cs typeface="Times New Roman"/>
              </a:rPr>
              <a:t> </a:t>
            </a:r>
            <a:r>
              <a:rPr sz="3600" spc="-10" dirty="0">
                <a:solidFill>
                  <a:srgbClr val="000000"/>
                </a:solidFill>
              </a:rPr>
              <a:t>Algorithms</a:t>
            </a:r>
            <a:endParaRPr sz="3600">
              <a:latin typeface="Times New Roman"/>
              <a:cs typeface="Times New Roman"/>
            </a:endParaRPr>
          </a:p>
        </p:txBody>
      </p:sp>
      <p:sp>
        <p:nvSpPr>
          <p:cNvPr id="15" name="object 15"/>
          <p:cNvSpPr txBox="1"/>
          <p:nvPr/>
        </p:nvSpPr>
        <p:spPr>
          <a:xfrm>
            <a:off x="4041770" y="2442519"/>
            <a:ext cx="4069079" cy="1042035"/>
          </a:xfrm>
          <a:prstGeom prst="rect">
            <a:avLst/>
          </a:prstGeom>
        </p:spPr>
        <p:txBody>
          <a:bodyPr vert="horz" wrap="square" lIns="0" tIns="15875" rIns="0" bIns="0" rtlCol="0">
            <a:spAutoFit/>
          </a:bodyPr>
          <a:lstStyle/>
          <a:p>
            <a:pPr algn="ctr">
              <a:lnSpc>
                <a:spcPct val="100000"/>
              </a:lnSpc>
              <a:spcBef>
                <a:spcPts val="125"/>
              </a:spcBef>
            </a:pPr>
            <a:r>
              <a:rPr lang="en-US" sz="2150" b="1" dirty="0" err="1" smtClean="0">
                <a:latin typeface="Calibri"/>
                <a:cs typeface="Calibri"/>
              </a:rPr>
              <a:t>Anand</a:t>
            </a:r>
            <a:r>
              <a:rPr lang="en-US" sz="2150" b="1" dirty="0" smtClean="0">
                <a:latin typeface="Calibri"/>
                <a:cs typeface="Calibri"/>
              </a:rPr>
              <a:t> </a:t>
            </a:r>
            <a:r>
              <a:rPr lang="en-US" sz="2150" b="1" dirty="0" err="1" smtClean="0">
                <a:latin typeface="Calibri"/>
                <a:cs typeface="Calibri"/>
              </a:rPr>
              <a:t>Jawdekar</a:t>
            </a:r>
            <a:endParaRPr sz="2150" dirty="0">
              <a:latin typeface="Calibri"/>
              <a:cs typeface="Calibri"/>
            </a:endParaRPr>
          </a:p>
          <a:p>
            <a:pPr>
              <a:lnSpc>
                <a:spcPct val="100000"/>
              </a:lnSpc>
              <a:spcBef>
                <a:spcPts val="185"/>
              </a:spcBef>
            </a:pPr>
            <a:endParaRPr sz="2150" dirty="0">
              <a:latin typeface="Calibri"/>
              <a:cs typeface="Calibri"/>
            </a:endParaRPr>
          </a:p>
          <a:p>
            <a:pPr algn="ctr">
              <a:lnSpc>
                <a:spcPct val="100000"/>
              </a:lnSpc>
            </a:pPr>
            <a:r>
              <a:rPr sz="2150" dirty="0">
                <a:latin typeface="Calibri"/>
                <a:cs typeface="Calibri"/>
              </a:rPr>
              <a:t>Assistant</a:t>
            </a:r>
            <a:r>
              <a:rPr sz="2150" spc="-75" dirty="0">
                <a:latin typeface="Times New Roman"/>
                <a:cs typeface="Times New Roman"/>
              </a:rPr>
              <a:t> </a:t>
            </a:r>
            <a:r>
              <a:rPr sz="2150" dirty="0">
                <a:latin typeface="Calibri"/>
                <a:cs typeface="Calibri"/>
              </a:rPr>
              <a:t>Professor</a:t>
            </a:r>
            <a:r>
              <a:rPr sz="2150" spc="50" dirty="0">
                <a:latin typeface="Times New Roman"/>
                <a:cs typeface="Times New Roman"/>
              </a:rPr>
              <a:t> </a:t>
            </a:r>
            <a:r>
              <a:rPr sz="2150" dirty="0">
                <a:latin typeface="Calibri"/>
                <a:cs typeface="Calibri"/>
              </a:rPr>
              <a:t>CSE</a:t>
            </a:r>
            <a:r>
              <a:rPr sz="2150" spc="45" dirty="0">
                <a:latin typeface="Times New Roman"/>
                <a:cs typeface="Times New Roman"/>
              </a:rPr>
              <a:t> </a:t>
            </a:r>
            <a:r>
              <a:rPr sz="2150" spc="-10" dirty="0">
                <a:latin typeface="Calibri"/>
                <a:cs typeface="Calibri"/>
              </a:rPr>
              <a:t>Department</a:t>
            </a:r>
            <a:endParaRPr sz="215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6510" rIns="0" bIns="0" rtlCol="0">
            <a:spAutoFit/>
          </a:bodyPr>
          <a:lstStyle/>
          <a:p>
            <a:pPr marL="38100">
              <a:lnSpc>
                <a:spcPct val="100000"/>
              </a:lnSpc>
              <a:spcBef>
                <a:spcPts val="130"/>
              </a:spcBef>
            </a:pPr>
            <a:r>
              <a:rPr sz="3500" spc="-10" dirty="0" smtClean="0">
                <a:solidFill>
                  <a:srgbClr val="000000"/>
                </a:solidFill>
              </a:rPr>
              <a:t>Unit-</a:t>
            </a:r>
            <a:r>
              <a:rPr lang="en-US" sz="3500" spc="-50" dirty="0">
                <a:solidFill>
                  <a:srgbClr val="000000"/>
                </a:solidFill>
              </a:rPr>
              <a:t>4</a:t>
            </a:r>
            <a:endParaRPr sz="3500" dirty="0"/>
          </a:p>
        </p:txBody>
      </p:sp>
      <p:sp>
        <p:nvSpPr>
          <p:cNvPr id="3" name="object 3"/>
          <p:cNvSpPr/>
          <p:nvPr/>
        </p:nvSpPr>
        <p:spPr>
          <a:xfrm>
            <a:off x="0" y="3636965"/>
            <a:ext cx="12192000" cy="906780"/>
          </a:xfrm>
          <a:custGeom>
            <a:avLst/>
            <a:gdLst/>
            <a:ahLst/>
            <a:cxnLst/>
            <a:rect l="l" t="t" r="r" b="b"/>
            <a:pathLst>
              <a:path w="12192000" h="906779">
                <a:moveTo>
                  <a:pt x="12191999" y="0"/>
                </a:moveTo>
                <a:lnTo>
                  <a:pt x="0" y="0"/>
                </a:lnTo>
                <a:lnTo>
                  <a:pt x="0" y="906459"/>
                </a:lnTo>
                <a:lnTo>
                  <a:pt x="12191999" y="906459"/>
                </a:lnTo>
                <a:lnTo>
                  <a:pt x="12191999" y="0"/>
                </a:lnTo>
                <a:close/>
              </a:path>
            </a:pathLst>
          </a:custGeom>
          <a:solidFill>
            <a:srgbClr val="2E5496"/>
          </a:solidFill>
        </p:spPr>
        <p:txBody>
          <a:bodyPr wrap="square" lIns="0" tIns="0" rIns="0" bIns="0" rtlCol="0"/>
          <a:lstStyle/>
          <a:p>
            <a:endParaRPr/>
          </a:p>
        </p:txBody>
      </p:sp>
      <p:sp>
        <p:nvSpPr>
          <p:cNvPr id="4" name="object 4"/>
          <p:cNvSpPr txBox="1"/>
          <p:nvPr/>
        </p:nvSpPr>
        <p:spPr>
          <a:xfrm>
            <a:off x="3806574" y="3756911"/>
            <a:ext cx="4585970" cy="563880"/>
          </a:xfrm>
          <a:prstGeom prst="rect">
            <a:avLst/>
          </a:prstGeom>
        </p:spPr>
        <p:txBody>
          <a:bodyPr vert="horz" wrap="square" lIns="0" tIns="16510" rIns="0" bIns="0" rtlCol="0">
            <a:spAutoFit/>
          </a:bodyPr>
          <a:lstStyle/>
          <a:p>
            <a:pPr marL="12700">
              <a:lnSpc>
                <a:spcPct val="100000"/>
              </a:lnSpc>
              <a:spcBef>
                <a:spcPts val="130"/>
              </a:spcBef>
            </a:pPr>
            <a:r>
              <a:rPr lang="en-US" sz="3500" b="1" spc="-10" dirty="0" smtClean="0">
                <a:solidFill>
                  <a:srgbClr val="FFFFFF"/>
                </a:solidFill>
                <a:latin typeface="Calibri"/>
                <a:cs typeface="Calibri"/>
              </a:rPr>
              <a:t>Dynamic Programming</a:t>
            </a:r>
            <a:endParaRPr sz="35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40" y="1029648"/>
            <a:ext cx="6686550" cy="474489"/>
          </a:xfrm>
          <a:prstGeom prst="rect">
            <a:avLst/>
          </a:prstGeom>
        </p:spPr>
        <p:txBody>
          <a:bodyPr vert="horz" wrap="square" lIns="0" tIns="12700" rIns="0" bIns="0" rtlCol="0">
            <a:spAutoFit/>
          </a:bodyPr>
          <a:lstStyle/>
          <a:p>
            <a:pPr marL="12700">
              <a:lnSpc>
                <a:spcPct val="100000"/>
              </a:lnSpc>
              <a:spcBef>
                <a:spcPts val="100"/>
              </a:spcBef>
            </a:pPr>
            <a:r>
              <a:rPr lang="en-US" b="0" dirty="0"/>
              <a:t>Chain matrix multiplication</a:t>
            </a:r>
            <a:endParaRPr spc="-10" dirty="0"/>
          </a:p>
        </p:txBody>
      </p:sp>
      <p:sp>
        <p:nvSpPr>
          <p:cNvPr id="3" name="object 3"/>
          <p:cNvSpPr txBox="1"/>
          <p:nvPr/>
        </p:nvSpPr>
        <p:spPr>
          <a:xfrm>
            <a:off x="228600" y="1828800"/>
            <a:ext cx="11582400" cy="1158651"/>
          </a:xfrm>
          <a:prstGeom prst="rect">
            <a:avLst/>
          </a:prstGeom>
        </p:spPr>
        <p:txBody>
          <a:bodyPr vert="horz" wrap="square" lIns="0" tIns="50165" rIns="0" bIns="0" rtlCol="0">
            <a:spAutoFit/>
          </a:bodyPr>
          <a:lstStyle/>
          <a:p>
            <a:pPr marL="76200" algn="just">
              <a:lnSpc>
                <a:spcPct val="100000"/>
              </a:lnSpc>
              <a:spcBef>
                <a:spcPts val="395"/>
              </a:spcBef>
              <a:tabLst>
                <a:tab pos="304800" algn="l"/>
              </a:tabLst>
            </a:pPr>
            <a:r>
              <a:rPr lang="en-US" sz="2400" dirty="0" smtClean="0"/>
              <a:t>Matrix Chain Multiplication is a classic problem in computer science and dynamic programming. The problem is to determine the most efficient way to multiply a given sequence of matrices. The goal is to minimize the number of scalar multiplications.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Problem Statement</a:t>
            </a:r>
          </a:p>
        </p:txBody>
      </p:sp>
      <p:sp>
        <p:nvSpPr>
          <p:cNvPr id="3" name="Text Placeholder 2"/>
          <p:cNvSpPr>
            <a:spLocks noGrp="1"/>
          </p:cNvSpPr>
          <p:nvPr>
            <p:ph type="body" idx="1"/>
          </p:nvPr>
        </p:nvSpPr>
        <p:spPr>
          <a:xfrm>
            <a:off x="381000" y="1813618"/>
            <a:ext cx="10939128" cy="1969770"/>
          </a:xfrm>
        </p:spPr>
        <p:txBody>
          <a:bodyPr/>
          <a:lstStyle/>
          <a:p>
            <a:r>
              <a:rPr lang="en-US" sz="3200" dirty="0"/>
              <a:t>Given a sequence of matrices A1,A2,…,</a:t>
            </a:r>
            <a:r>
              <a:rPr lang="en-US" sz="3200" dirty="0" smtClean="0"/>
              <a:t>An , </a:t>
            </a:r>
            <a:r>
              <a:rPr lang="en-US" sz="3200" dirty="0"/>
              <a:t>where matrix </a:t>
            </a:r>
            <a:r>
              <a:rPr lang="en-US" sz="3200" dirty="0" smtClean="0"/>
              <a:t>Ai</a:t>
            </a:r>
            <a:r>
              <a:rPr lang="en-US" sz="3200" dirty="0"/>
              <a:t>​ has dimensions pi−</a:t>
            </a:r>
            <a:r>
              <a:rPr lang="en-US" sz="3200" dirty="0" smtClean="0"/>
              <a:t>1×pi, </a:t>
            </a:r>
            <a:r>
              <a:rPr lang="en-US" sz="3200" dirty="0"/>
              <a:t>the task is to determine the optimal </a:t>
            </a:r>
            <a:r>
              <a:rPr lang="en-US" sz="3200" dirty="0" err="1"/>
              <a:t>parenthesization</a:t>
            </a:r>
            <a:r>
              <a:rPr lang="en-US" sz="3200" dirty="0"/>
              <a:t> of the product </a:t>
            </a:r>
            <a:r>
              <a:rPr lang="en-US" sz="3200" dirty="0" smtClean="0"/>
              <a:t>A1,A2,…An.​ </a:t>
            </a:r>
            <a:r>
              <a:rPr lang="en-US" sz="3200" dirty="0"/>
              <a:t>that minimizes the number of scalar multiplications.</a:t>
            </a:r>
          </a:p>
        </p:txBody>
      </p:sp>
    </p:spTree>
    <p:extLst>
      <p:ext uri="{BB962C8B-B14F-4D97-AF65-F5344CB8AC3E}">
        <p14:creationId xmlns:p14="http://schemas.microsoft.com/office/powerpoint/2010/main" val="1635202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10" dirty="0"/>
              <a:t>Why is this Problem Important?</a:t>
            </a:r>
          </a:p>
        </p:txBody>
      </p:sp>
      <p:sp>
        <p:nvSpPr>
          <p:cNvPr id="4" name="Rectangle 3"/>
          <p:cNvSpPr/>
          <p:nvPr/>
        </p:nvSpPr>
        <p:spPr>
          <a:xfrm>
            <a:off x="304800" y="1752600"/>
            <a:ext cx="11353800" cy="5940088"/>
          </a:xfrm>
          <a:prstGeom prst="rect">
            <a:avLst/>
          </a:prstGeom>
        </p:spPr>
        <p:txBody>
          <a:bodyPr wrap="square">
            <a:spAutoFit/>
          </a:bodyPr>
          <a:lstStyle/>
          <a:p>
            <a:pPr algn="just"/>
            <a:r>
              <a:rPr lang="en-US" sz="2400" dirty="0" smtClean="0"/>
              <a:t>Matrix multiplication is associative, meaning that the order in which we multiply the matrices does not change the result, but the computational cost (number of scalar multiplications) can vary greatly depending on how the matrices are parenthesized..</a:t>
            </a:r>
          </a:p>
          <a:p>
            <a:r>
              <a:rPr lang="en-US" sz="2400" dirty="0" smtClean="0"/>
              <a:t>For three matrices A, B and C, where A is 10×100, B is 100×5 and C is 5×50</a:t>
            </a:r>
          </a:p>
          <a:p>
            <a:r>
              <a:rPr lang="en-US" sz="2400" dirty="0" smtClean="0"/>
              <a:t>If we first multiply A and B, the cost is </a:t>
            </a:r>
            <a:r>
              <a:rPr lang="en-US" sz="2400" b="1" dirty="0" smtClean="0"/>
              <a:t>10×100×5=5000</a:t>
            </a:r>
            <a:r>
              <a:rPr lang="en-US" sz="2400" dirty="0" smtClean="0"/>
              <a:t> operations, then multiplying the result with C costs </a:t>
            </a:r>
            <a:r>
              <a:rPr lang="en-US" sz="2400" b="1" dirty="0" smtClean="0"/>
              <a:t>10×5×50=2500</a:t>
            </a:r>
            <a:r>
              <a:rPr lang="en-US" sz="2400" dirty="0" smtClean="0"/>
              <a:t> operations, for a total of </a:t>
            </a:r>
            <a:r>
              <a:rPr lang="en-US" sz="2400" b="1" dirty="0" smtClean="0"/>
              <a:t>7500 operations</a:t>
            </a:r>
            <a:r>
              <a:rPr lang="en-US" sz="2400" dirty="0" smtClean="0"/>
              <a:t>.</a:t>
            </a:r>
          </a:p>
          <a:p>
            <a:r>
              <a:rPr lang="en-US" sz="2400" dirty="0" smtClean="0"/>
              <a:t>If we first multiply B and C, the cost is </a:t>
            </a:r>
            <a:r>
              <a:rPr lang="en-US" sz="2400" b="1" dirty="0" smtClean="0"/>
              <a:t>100×5×50=25000</a:t>
            </a:r>
            <a:r>
              <a:rPr lang="en-US" sz="2400" dirty="0" smtClean="0"/>
              <a:t> operations, then multiplying the result with A costs </a:t>
            </a:r>
            <a:r>
              <a:rPr lang="en-US" sz="2400" b="1" dirty="0" smtClean="0"/>
              <a:t>10×100×50=50000</a:t>
            </a:r>
            <a:r>
              <a:rPr lang="en-US" sz="2400" dirty="0" smtClean="0"/>
              <a:t> operations, for a total of </a:t>
            </a:r>
            <a:r>
              <a:rPr lang="en-US" sz="2400" b="1" dirty="0" smtClean="0"/>
              <a:t>75000 operations</a:t>
            </a:r>
            <a:r>
              <a:rPr lang="en-US" sz="2400" dirty="0" smtClean="0"/>
              <a:t>.</a:t>
            </a:r>
          </a:p>
          <a:p>
            <a:pPr algn="just"/>
            <a:endParaRPr lang="en-US" sz="2800" dirty="0"/>
          </a:p>
          <a:p>
            <a:pPr algn="just"/>
            <a:endParaRPr lang="en-US" sz="2800" dirty="0" smtClean="0"/>
          </a:p>
          <a:p>
            <a:pPr algn="just"/>
            <a:endParaRPr lang="en-US" sz="2800" dirty="0"/>
          </a:p>
          <a:p>
            <a:pPr algn="just"/>
            <a:endParaRPr lang="en-US" sz="2800" dirty="0" smtClean="0"/>
          </a:p>
          <a:p>
            <a:pPr algn="just"/>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40" y="1029648"/>
            <a:ext cx="8227060" cy="443711"/>
          </a:xfrm>
          <a:prstGeom prst="rect">
            <a:avLst/>
          </a:prstGeom>
        </p:spPr>
        <p:txBody>
          <a:bodyPr vert="horz" wrap="square" lIns="0" tIns="12700" rIns="0" bIns="0" rtlCol="0">
            <a:spAutoFit/>
          </a:bodyPr>
          <a:lstStyle/>
          <a:p>
            <a:r>
              <a:rPr lang="en-US" sz="2800" dirty="0"/>
              <a:t>Dynamic Programming Approach</a:t>
            </a:r>
          </a:p>
        </p:txBody>
      </p:sp>
      <p:sp>
        <p:nvSpPr>
          <p:cNvPr id="3" name="object 3"/>
          <p:cNvSpPr txBox="1"/>
          <p:nvPr/>
        </p:nvSpPr>
        <p:spPr>
          <a:xfrm>
            <a:off x="152400" y="1831422"/>
            <a:ext cx="11122029" cy="3463769"/>
          </a:xfrm>
          <a:prstGeom prst="rect">
            <a:avLst/>
          </a:prstGeom>
        </p:spPr>
        <p:txBody>
          <a:bodyPr vert="horz" wrap="square" lIns="0" tIns="16510" rIns="0" bIns="0" rtlCol="0">
            <a:spAutoFit/>
          </a:bodyPr>
          <a:lstStyle/>
          <a:p>
            <a:r>
              <a:rPr lang="en-US" sz="3200" dirty="0" smtClean="0"/>
              <a:t>To solve this problem efficiently, we use dynamic programming. We define the following:</a:t>
            </a:r>
          </a:p>
          <a:p>
            <a:r>
              <a:rPr lang="en-US" sz="3200" dirty="0" smtClean="0"/>
              <a:t>Let m[</a:t>
            </a:r>
            <a:r>
              <a:rPr lang="en-US" sz="3200" dirty="0" err="1" smtClean="0"/>
              <a:t>i,j</a:t>
            </a:r>
            <a:r>
              <a:rPr lang="en-US" sz="3200" dirty="0" smtClean="0"/>
              <a:t>] represent the minimum number of scalar multiplications needed to compute the matrix ,AiAi+1…</a:t>
            </a:r>
            <a:r>
              <a:rPr lang="en-US" sz="3200" dirty="0" err="1" smtClean="0"/>
              <a:t>Aj</a:t>
            </a:r>
            <a:r>
              <a:rPr lang="en-US" sz="3200" dirty="0" smtClean="0"/>
              <a:t>​.</a:t>
            </a:r>
          </a:p>
          <a:p>
            <a:r>
              <a:rPr lang="en-US" sz="3200" dirty="0" smtClean="0"/>
              <a:t>The goal is to compute m[1,n].</a:t>
            </a:r>
          </a:p>
          <a:p>
            <a:r>
              <a:rPr lang="en-US" sz="3200" dirty="0" smtClean="0"/>
              <a:t>The recursive formula is:</a:t>
            </a:r>
          </a:p>
          <a:p>
            <a:pPr algn="ctr"/>
            <a:r>
              <a:rPr lang="en-US" sz="3200" dirty="0" smtClean="0"/>
              <a:t>m[</a:t>
            </a:r>
            <a:r>
              <a:rPr lang="en-US" sz="3200" dirty="0" err="1" smtClean="0"/>
              <a:t>i,j</a:t>
            </a:r>
            <a:r>
              <a:rPr lang="en-US" sz="3200" dirty="0" smtClean="0"/>
              <a:t>]=min⁡</a:t>
            </a:r>
            <a:r>
              <a:rPr lang="en-US" sz="3200" baseline="-25000" dirty="0" smtClean="0"/>
              <a:t>i≤k&lt;j</a:t>
            </a:r>
            <a:r>
              <a:rPr lang="en-US" sz="3200" dirty="0" smtClean="0"/>
              <a:t>{m[</a:t>
            </a:r>
            <a:r>
              <a:rPr lang="en-US" sz="3200" dirty="0" err="1" smtClean="0"/>
              <a:t>i,k</a:t>
            </a:r>
            <a:r>
              <a:rPr lang="en-US" sz="3200" dirty="0" smtClean="0"/>
              <a:t>]+m[k+1,j]+p</a:t>
            </a:r>
            <a:r>
              <a:rPr lang="en-US" sz="3200" baseline="-25000" dirty="0" smtClean="0"/>
              <a:t>i−1</a:t>
            </a:r>
            <a:r>
              <a:rPr lang="en-US" sz="3200" dirty="0" smtClean="0"/>
              <a:t>×pk×pj}</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r>
              <a:rPr lang="en-US" dirty="0"/>
              <a:t>Steps:</a:t>
            </a:r>
          </a:p>
        </p:txBody>
      </p:sp>
      <p:sp>
        <p:nvSpPr>
          <p:cNvPr id="3" name="Rectangle 2"/>
          <p:cNvSpPr/>
          <p:nvPr/>
        </p:nvSpPr>
        <p:spPr>
          <a:xfrm>
            <a:off x="152400" y="1905000"/>
            <a:ext cx="11963400" cy="1938992"/>
          </a:xfrm>
          <a:prstGeom prst="rect">
            <a:avLst/>
          </a:prstGeom>
        </p:spPr>
        <p:txBody>
          <a:bodyPr wrap="square">
            <a:spAutoFit/>
          </a:bodyPr>
          <a:lstStyle/>
          <a:p>
            <a:r>
              <a:rPr lang="en-US" sz="2400" b="1" dirty="0" smtClean="0"/>
              <a:t>Initialize</a:t>
            </a:r>
            <a:r>
              <a:rPr lang="en-US" sz="2400" dirty="0" smtClean="0"/>
              <a:t> the matrix m where m[</a:t>
            </a:r>
            <a:r>
              <a:rPr lang="en-US" sz="2400" dirty="0" err="1" smtClean="0"/>
              <a:t>i,i</a:t>
            </a:r>
            <a:r>
              <a:rPr lang="en-US" sz="2400" dirty="0" smtClean="0"/>
              <a:t>]=0 for all i.</a:t>
            </a:r>
          </a:p>
          <a:p>
            <a:r>
              <a:rPr lang="en-US" sz="2400" b="1" dirty="0" smtClean="0"/>
              <a:t>Compute</a:t>
            </a:r>
            <a:r>
              <a:rPr lang="en-US" sz="2400" dirty="0" smtClean="0"/>
              <a:t> m[</a:t>
            </a:r>
            <a:r>
              <a:rPr lang="en-US" sz="2400" dirty="0" err="1" smtClean="0"/>
              <a:t>i,j</a:t>
            </a:r>
            <a:r>
              <a:rPr lang="en-US" sz="2400" dirty="0" smtClean="0"/>
              <a:t>] for all i and j using the above recursive formula, filling in the values from smaller </a:t>
            </a:r>
            <a:r>
              <a:rPr lang="en-US" sz="2400" dirty="0" err="1" smtClean="0"/>
              <a:t>subproblems</a:t>
            </a:r>
            <a:r>
              <a:rPr lang="en-US" sz="2400" dirty="0" smtClean="0"/>
              <a:t> to larger ones.</a:t>
            </a:r>
          </a:p>
          <a:p>
            <a:r>
              <a:rPr lang="en-US" sz="2400" b="1" dirty="0" smtClean="0"/>
              <a:t>Return</a:t>
            </a:r>
            <a:r>
              <a:rPr lang="en-US" sz="2400" dirty="0" smtClean="0"/>
              <a:t> m[1,n] as the result.</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5325497" cy="474489"/>
          </a:xfrm>
          <a:prstGeom prst="rect">
            <a:avLst/>
          </a:prstGeom>
        </p:spPr>
        <p:txBody>
          <a:bodyPr vert="horz" wrap="square" lIns="0" tIns="12700" rIns="0" bIns="0" rtlCol="0">
            <a:spAutoFit/>
          </a:bodyPr>
          <a:lstStyle/>
          <a:p>
            <a:pPr marL="12700">
              <a:spcBef>
                <a:spcPts val="100"/>
              </a:spcBef>
            </a:pPr>
            <a:r>
              <a:rPr lang="en-US" sz="3000" b="1" dirty="0" smtClean="0">
                <a:solidFill>
                  <a:schemeClr val="bg1"/>
                </a:solidFill>
                <a:latin typeface="Calibri"/>
                <a:ea typeface="+mj-ea"/>
                <a:cs typeface="Calibri"/>
              </a:rPr>
              <a:t>Example</a:t>
            </a:r>
            <a:endParaRPr lang="en-US" sz="3000" b="1" dirty="0">
              <a:solidFill>
                <a:schemeClr val="bg1"/>
              </a:solidFill>
              <a:latin typeface="Calibri"/>
              <a:ea typeface="+mj-ea"/>
              <a:cs typeface="Calibri"/>
            </a:endParaRPr>
          </a:p>
        </p:txBody>
      </p:sp>
      <p:sp>
        <p:nvSpPr>
          <p:cNvPr id="6" name="Text Placeholder 5"/>
          <p:cNvSpPr>
            <a:spLocks noGrp="1"/>
          </p:cNvSpPr>
          <p:nvPr>
            <p:ph type="body" idx="1"/>
          </p:nvPr>
        </p:nvSpPr>
        <p:spPr>
          <a:xfrm>
            <a:off x="533400" y="1813619"/>
            <a:ext cx="10786728" cy="2215991"/>
          </a:xfrm>
        </p:spPr>
        <p:txBody>
          <a:bodyPr/>
          <a:lstStyle/>
          <a:p>
            <a:pPr algn="just"/>
            <a:r>
              <a:rPr lang="en-US" sz="2400" b="1" dirty="0"/>
              <a:t>Suppose you have four matrices 𝐴</a:t>
            </a:r>
            <a:r>
              <a:rPr lang="en-US" sz="2400" b="1" dirty="0" smtClean="0"/>
              <a:t>1(10×30), </a:t>
            </a:r>
            <a:r>
              <a:rPr lang="en-US" sz="2400" b="1" dirty="0"/>
              <a:t>𝐴</a:t>
            </a:r>
            <a:r>
              <a:rPr lang="en-US" sz="2400" b="1" dirty="0" smtClean="0"/>
              <a:t>2(30×5), </a:t>
            </a:r>
            <a:r>
              <a:rPr lang="en-US" sz="2400" b="1" dirty="0"/>
              <a:t>𝐴</a:t>
            </a:r>
            <a:r>
              <a:rPr lang="en-US" sz="2400" b="1" dirty="0" smtClean="0"/>
              <a:t>3(5×60),and</a:t>
            </a:r>
          </a:p>
          <a:p>
            <a:pPr algn="just"/>
            <a:r>
              <a:rPr lang="en-US" sz="2400" b="1" dirty="0" smtClean="0"/>
              <a:t>𝐴4(60×10).</a:t>
            </a:r>
            <a:r>
              <a:rPr lang="en-US" sz="2400" b="1" dirty="0"/>
              <a:t>Compute the cost for multiplying </a:t>
            </a:r>
            <a:r>
              <a:rPr lang="en-US" sz="2400" b="1" dirty="0" err="1"/>
              <a:t>subproblems</a:t>
            </a:r>
            <a:r>
              <a:rPr lang="en-US" sz="2400" b="1" dirty="0"/>
              <a:t>:𝑚[</a:t>
            </a:r>
            <a:r>
              <a:rPr lang="en-US" sz="2400" b="1" dirty="0" smtClean="0"/>
              <a:t>1,2] </a:t>
            </a:r>
            <a:r>
              <a:rPr lang="en-US" sz="2400" b="1" dirty="0"/>
              <a:t>computes multiplication cost for 𝐴1×𝐴</a:t>
            </a:r>
            <a:r>
              <a:rPr lang="en-US" sz="2400" b="1" dirty="0" smtClean="0"/>
              <a:t>2​ </a:t>
            </a:r>
            <a:r>
              <a:rPr lang="en-US" sz="2400" b="1" dirty="0"/>
              <a:t>𝑚[</a:t>
            </a:r>
            <a:r>
              <a:rPr lang="en-US" sz="2400" b="1" dirty="0" smtClean="0"/>
              <a:t>2,3] </a:t>
            </a:r>
            <a:r>
              <a:rPr lang="en-US" sz="2400" b="1" dirty="0"/>
              <a:t>for 𝐴2×𝐴</a:t>
            </a:r>
            <a:r>
              <a:rPr lang="en-US" sz="2400" b="1" dirty="0" smtClean="0"/>
              <a:t>3​ </a:t>
            </a:r>
            <a:r>
              <a:rPr lang="en-US" sz="2400" b="1" dirty="0"/>
              <a:t>, and so on</a:t>
            </a:r>
            <a:r>
              <a:rPr lang="en-US" sz="2400" b="1" dirty="0" smtClean="0"/>
              <a:t>. Use </a:t>
            </a:r>
            <a:r>
              <a:rPr lang="en-US" sz="2400" b="1" dirty="0"/>
              <a:t>the recursive formula to compute 𝑚[1,𝑛</a:t>
            </a:r>
            <a:r>
              <a:rPr lang="en-US" sz="2400" b="1" dirty="0" smtClean="0"/>
              <a:t>].</a:t>
            </a:r>
          </a:p>
          <a:p>
            <a:pPr algn="just"/>
            <a:r>
              <a:rPr lang="en-US" sz="2400" b="1" dirty="0" smtClean="0"/>
              <a:t>Return </a:t>
            </a:r>
            <a:r>
              <a:rPr lang="en-US" sz="2400" b="1" dirty="0"/>
              <a:t>the minimum cost and the optimal </a:t>
            </a:r>
            <a:r>
              <a:rPr lang="en-US" sz="2400" b="1" dirty="0" err="1" smtClean="0"/>
              <a:t>parenthesization</a:t>
            </a:r>
            <a:r>
              <a:rPr lang="en-US" sz="2400" b="1" dirty="0" smtClean="0"/>
              <a:t>.</a:t>
            </a:r>
            <a:endParaRPr lang="en-US" sz="2400" dirty="0"/>
          </a:p>
          <a:p>
            <a:pPr algn="just"/>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813618"/>
            <a:ext cx="11506200" cy="2601353"/>
          </a:xfrm>
          <a:prstGeom prst="rect">
            <a:avLst/>
          </a:prstGeom>
        </p:spPr>
        <p:txBody>
          <a:bodyPr vert="horz" wrap="square" lIns="0" tIns="15875" rIns="0" bIns="0" rtlCol="0">
            <a:spAutoFit/>
          </a:bodyPr>
          <a:lstStyle/>
          <a:p>
            <a:r>
              <a:rPr lang="en-US" sz="2800" dirty="0" smtClean="0"/>
              <a:t>The time complexity of this dynamic programming algorithm is O(n</a:t>
            </a:r>
            <a:r>
              <a:rPr lang="en-US" sz="2800" baseline="30000" dirty="0" smtClean="0"/>
              <a:t>3</a:t>
            </a:r>
            <a:r>
              <a:rPr lang="en-US" sz="2800" dirty="0" smtClean="0"/>
              <a:t>), and it requires O(n</a:t>
            </a:r>
            <a:r>
              <a:rPr lang="en-US" sz="2800" baseline="30000" dirty="0" smtClean="0"/>
              <a:t>2</a:t>
            </a:r>
            <a:r>
              <a:rPr lang="en-US" sz="2800" dirty="0" smtClean="0"/>
              <a:t>) space to store the table of results.</a:t>
            </a:r>
          </a:p>
          <a:p>
            <a:r>
              <a:rPr lang="en-US" sz="2800" dirty="0" smtClean="0"/>
              <a:t>Matrix Chain Multiplication is a useful algorithm in optimization problems, particularly in compiler design, computer graphics, and operations research.</a:t>
            </a:r>
          </a:p>
          <a:p>
            <a:r>
              <a:rPr lang="en-US" sz="2800" dirty="0" smtClean="0"/>
              <a:t>.</a:t>
            </a:r>
            <a:endParaRPr lang="en-US" sz="2800" dirty="0"/>
          </a:p>
        </p:txBody>
      </p:sp>
      <p:sp>
        <p:nvSpPr>
          <p:cNvPr id="5" name="Rectangle 4"/>
          <p:cNvSpPr/>
          <p:nvPr/>
        </p:nvSpPr>
        <p:spPr>
          <a:xfrm>
            <a:off x="457200" y="1066800"/>
            <a:ext cx="2880917" cy="474489"/>
          </a:xfrm>
          <a:prstGeom prst="rect">
            <a:avLst/>
          </a:prstGeom>
        </p:spPr>
        <p:txBody>
          <a:bodyPr vert="horz" wrap="square" lIns="0" tIns="12700" rIns="0" bIns="0" rtlCol="0">
            <a:spAutoFit/>
          </a:bodyPr>
          <a:lstStyle/>
          <a:p>
            <a:pPr marL="12700">
              <a:spcBef>
                <a:spcPts val="100"/>
              </a:spcBef>
            </a:pPr>
            <a:r>
              <a:rPr lang="en-US" sz="3000" b="1" dirty="0">
                <a:solidFill>
                  <a:schemeClr val="bg1"/>
                </a:solidFill>
                <a:latin typeface="Calibri"/>
                <a:ea typeface="+mj-ea"/>
                <a:cs typeface="Calibri"/>
              </a:rPr>
              <a:t>Time Complexity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smtClean="0"/>
              <a:t>Step by Step Solution</a:t>
            </a:r>
            <a:endParaRPr lang="en-US" dirty="0"/>
          </a:p>
        </p:txBody>
      </p:sp>
      <p:sp>
        <p:nvSpPr>
          <p:cNvPr id="3" name="Text Placeholder 2"/>
          <p:cNvSpPr>
            <a:spLocks noGrp="1"/>
          </p:cNvSpPr>
          <p:nvPr>
            <p:ph type="body" idx="1"/>
          </p:nvPr>
        </p:nvSpPr>
        <p:spPr>
          <a:xfrm>
            <a:off x="304800" y="1828800"/>
            <a:ext cx="10448258" cy="4801314"/>
          </a:xfrm>
        </p:spPr>
        <p:txBody>
          <a:bodyPr/>
          <a:lstStyle/>
          <a:p>
            <a:r>
              <a:rPr lang="en-US" sz="2400" b="1" dirty="0"/>
              <a:t>Step-by-Step Solution</a:t>
            </a:r>
          </a:p>
          <a:p>
            <a:r>
              <a:rPr lang="en-US" sz="2400" b="1" dirty="0"/>
              <a:t>Matrix Dimensions</a:t>
            </a:r>
            <a:r>
              <a:rPr lang="en-US" sz="2400" dirty="0"/>
              <a:t>: We have the dimensions array p=[</a:t>
            </a:r>
            <a:r>
              <a:rPr lang="en-US" sz="2400" dirty="0" smtClean="0"/>
              <a:t>10,30,5,60,10]</a:t>
            </a:r>
            <a:endParaRPr lang="en-US" sz="2400" dirty="0"/>
          </a:p>
          <a:p>
            <a:r>
              <a:rPr lang="en-US" sz="2400" b="1" dirty="0"/>
              <a:t>Initialize the m Table</a:t>
            </a:r>
            <a:r>
              <a:rPr lang="en-US" sz="2400" dirty="0"/>
              <a:t>: We create an </a:t>
            </a:r>
            <a:r>
              <a:rPr lang="en-US" sz="2400" dirty="0" err="1" smtClean="0"/>
              <a:t>n×n</a:t>
            </a:r>
            <a:r>
              <a:rPr lang="en-US" sz="2400" dirty="0" smtClean="0"/>
              <a:t> </a:t>
            </a:r>
            <a:r>
              <a:rPr lang="en-US" sz="2400" dirty="0"/>
              <a:t>table (where </a:t>
            </a:r>
            <a:r>
              <a:rPr lang="en-US" sz="2400" dirty="0" err="1" smtClean="0"/>
              <a:t>nis</a:t>
            </a:r>
            <a:r>
              <a:rPr lang="en-US" sz="2400" dirty="0" smtClean="0"/>
              <a:t> </a:t>
            </a:r>
            <a:r>
              <a:rPr lang="en-US" sz="2400" dirty="0"/>
              <a:t>the number of matrices). The table will be used to store the minimum number of scalar multiplications needed for matrix chain multiplication.</a:t>
            </a:r>
          </a:p>
          <a:p>
            <a:r>
              <a:rPr lang="en-US" sz="2400" dirty="0"/>
              <a:t>Here, </a:t>
            </a:r>
            <a:r>
              <a:rPr lang="en-US" sz="2400" dirty="0" smtClean="0"/>
              <a:t>n=4 (since </a:t>
            </a:r>
            <a:r>
              <a:rPr lang="en-US" sz="2400" dirty="0"/>
              <a:t>there are 4 matrices). The table m[i][j]m[i][j]m[i][j] will store the minimum multiplication cost for multiplying matrices </a:t>
            </a:r>
            <a:r>
              <a:rPr lang="en-US" sz="2400" dirty="0" smtClean="0"/>
              <a:t>Ai​ </a:t>
            </a:r>
            <a:r>
              <a:rPr lang="en-US" sz="2400" dirty="0"/>
              <a:t>through </a:t>
            </a:r>
            <a:r>
              <a:rPr lang="en-US" sz="2400" dirty="0" err="1" smtClean="0"/>
              <a:t>Aj</a:t>
            </a:r>
            <a:r>
              <a:rPr lang="en-US" sz="2400" dirty="0" smtClean="0"/>
              <a:t>​</a:t>
            </a:r>
            <a:r>
              <a:rPr lang="en-US" sz="2400" dirty="0"/>
              <a:t>.</a:t>
            </a:r>
          </a:p>
          <a:p>
            <a:r>
              <a:rPr lang="en-US" sz="2400" dirty="0"/>
              <a:t>Initially, m[i][i]=</a:t>
            </a:r>
            <a:r>
              <a:rPr lang="en-US" sz="2400" dirty="0" smtClean="0"/>
              <a:t>0 </a:t>
            </a:r>
            <a:r>
              <a:rPr lang="en-US" sz="2400" dirty="0"/>
              <a:t>for all iii (since multiplying a single matrix has no cost).</a:t>
            </a:r>
          </a:p>
          <a:p>
            <a:r>
              <a:rPr lang="en-US" sz="2400" b="1" dirty="0"/>
              <a:t>Fill the Table</a:t>
            </a:r>
            <a:r>
              <a:rPr lang="en-US" sz="2400" dirty="0"/>
              <a:t>: We need to fill in the table mmm by considering different chain lengths, from 2 matrices up to all 4 matrices. We apply the recursive formula</a:t>
            </a:r>
            <a:r>
              <a:rPr lang="en-US" sz="2400" dirty="0" smtClean="0"/>
              <a:t>:</a:t>
            </a:r>
          </a:p>
          <a:p>
            <a:pPr algn="ctr"/>
            <a:r>
              <a:rPr lang="en-US" sz="2400" dirty="0"/>
              <a:t>m[</a:t>
            </a:r>
            <a:r>
              <a:rPr lang="en-US" sz="2400" dirty="0" err="1"/>
              <a:t>i,j</a:t>
            </a:r>
            <a:r>
              <a:rPr lang="en-US" sz="2400" dirty="0"/>
              <a:t>]=min⁡</a:t>
            </a:r>
            <a:r>
              <a:rPr lang="en-US" sz="2400" baseline="-25000" dirty="0"/>
              <a:t>i≤k&lt;j</a:t>
            </a:r>
            <a:r>
              <a:rPr lang="en-US" sz="2400" dirty="0"/>
              <a:t>{m[</a:t>
            </a:r>
            <a:r>
              <a:rPr lang="en-US" sz="2400" dirty="0" err="1"/>
              <a:t>i,k</a:t>
            </a:r>
            <a:r>
              <a:rPr lang="en-US" sz="2400" dirty="0"/>
              <a:t>]+m[k+1,j]+p</a:t>
            </a:r>
            <a:r>
              <a:rPr lang="en-US" sz="2400" baseline="-25000" dirty="0"/>
              <a:t>i−1</a:t>
            </a:r>
            <a:r>
              <a:rPr lang="en-US" sz="2400" dirty="0"/>
              <a:t>×pk×pj}</a:t>
            </a:r>
          </a:p>
          <a:p>
            <a:endParaRPr lang="en-US" sz="2400" dirty="0"/>
          </a:p>
          <a:p>
            <a:endParaRPr lang="en-US" sz="2400" b="1" i="1" dirty="0"/>
          </a:p>
        </p:txBody>
      </p:sp>
    </p:spTree>
    <p:extLst>
      <p:ext uri="{BB962C8B-B14F-4D97-AF65-F5344CB8AC3E}">
        <p14:creationId xmlns:p14="http://schemas.microsoft.com/office/powerpoint/2010/main" val="229345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Step by Step Solution</a:t>
            </a:r>
          </a:p>
        </p:txBody>
      </p:sp>
      <p:sp>
        <p:nvSpPr>
          <p:cNvPr id="3" name="Text Placeholder 2"/>
          <p:cNvSpPr>
            <a:spLocks noGrp="1"/>
          </p:cNvSpPr>
          <p:nvPr>
            <p:ph type="body" idx="1"/>
          </p:nvPr>
        </p:nvSpPr>
        <p:spPr>
          <a:xfrm>
            <a:off x="304800" y="1676400"/>
            <a:ext cx="11506200" cy="4832092"/>
          </a:xfrm>
        </p:spPr>
        <p:txBody>
          <a:bodyPr/>
          <a:lstStyle/>
          <a:p>
            <a:r>
              <a:rPr lang="en-US" sz="1800" b="1" dirty="0"/>
              <a:t>Chain Length 2:</a:t>
            </a:r>
            <a:endParaRPr lang="en-US" sz="1800" dirty="0"/>
          </a:p>
          <a:p>
            <a:r>
              <a:rPr lang="en-US" sz="1800" dirty="0"/>
              <a:t>For </a:t>
            </a:r>
            <a:r>
              <a:rPr lang="en-US" sz="1800" dirty="0" smtClean="0"/>
              <a:t>m[1,2]=10×30×5=1500</a:t>
            </a:r>
            <a:endParaRPr lang="en-US" sz="1800" dirty="0"/>
          </a:p>
          <a:p>
            <a:r>
              <a:rPr lang="en-US" sz="1800" dirty="0"/>
              <a:t>For </a:t>
            </a:r>
            <a:r>
              <a:rPr lang="en-US" sz="1800" dirty="0" smtClean="0"/>
              <a:t>m[2,3]=30×5×60=9000</a:t>
            </a:r>
            <a:endParaRPr lang="en-US" sz="1800" dirty="0"/>
          </a:p>
          <a:p>
            <a:r>
              <a:rPr lang="en-US" sz="1800" dirty="0"/>
              <a:t>For </a:t>
            </a:r>
            <a:r>
              <a:rPr lang="en-US" sz="1800" dirty="0" smtClean="0"/>
              <a:t>m[3,4]=5×60×10=3000</a:t>
            </a:r>
          </a:p>
          <a:p>
            <a:r>
              <a:rPr lang="en-US" sz="1800" b="1" dirty="0"/>
              <a:t>Chain Length 3:</a:t>
            </a:r>
            <a:endParaRPr lang="en-US" sz="1800" dirty="0"/>
          </a:p>
          <a:p>
            <a:r>
              <a:rPr lang="en-US" sz="1800" dirty="0"/>
              <a:t>For </a:t>
            </a:r>
            <a:r>
              <a:rPr lang="en-US" sz="1800" dirty="0" smtClean="0"/>
              <a:t>m[1,3]:</a:t>
            </a:r>
            <a:endParaRPr lang="en-US" sz="1800" dirty="0"/>
          </a:p>
          <a:p>
            <a:pPr lvl="1"/>
            <a:r>
              <a:rPr lang="en-US" sz="1600" dirty="0" smtClean="0"/>
              <a:t>k=1: </a:t>
            </a:r>
            <a:r>
              <a:rPr lang="en-US" sz="1600" dirty="0"/>
              <a:t>m[1,1]+m[2,3]+</a:t>
            </a:r>
            <a:r>
              <a:rPr lang="en-US" sz="1600" dirty="0" smtClean="0"/>
              <a:t>10×30×60=0+9000+18000=27000</a:t>
            </a:r>
            <a:endParaRPr lang="en-US" sz="1600" dirty="0"/>
          </a:p>
          <a:p>
            <a:pPr lvl="1"/>
            <a:r>
              <a:rPr lang="en-US" sz="1600" dirty="0" smtClean="0"/>
              <a:t>k=2: </a:t>
            </a:r>
            <a:r>
              <a:rPr lang="en-US" sz="1600" dirty="0"/>
              <a:t>m[1,2]+m[3,3]+</a:t>
            </a:r>
            <a:r>
              <a:rPr lang="en-US" sz="1600" dirty="0" smtClean="0"/>
              <a:t>10×5×60=1500+0+3000=4500</a:t>
            </a:r>
            <a:endParaRPr lang="en-US" sz="1600" dirty="0"/>
          </a:p>
          <a:p>
            <a:pPr lvl="1"/>
            <a:r>
              <a:rPr lang="en-US" sz="1600" dirty="0"/>
              <a:t>Minimum: m[1,3]=</a:t>
            </a:r>
            <a:r>
              <a:rPr lang="en-US" sz="1600" dirty="0" smtClean="0"/>
              <a:t>4500</a:t>
            </a:r>
          </a:p>
          <a:p>
            <a:r>
              <a:rPr lang="en-US" sz="1800" dirty="0"/>
              <a:t>For </a:t>
            </a:r>
            <a:r>
              <a:rPr lang="en-US" sz="1800" dirty="0" smtClean="0"/>
              <a:t>m[2,4]:</a:t>
            </a:r>
            <a:endParaRPr lang="en-US" sz="1800" dirty="0"/>
          </a:p>
          <a:p>
            <a:pPr lvl="1"/>
            <a:r>
              <a:rPr lang="en-US" sz="1600" dirty="0" smtClean="0"/>
              <a:t>k=2: </a:t>
            </a:r>
            <a:r>
              <a:rPr lang="en-US" sz="1600" dirty="0"/>
              <a:t>m[2,2]+m[3,4]+</a:t>
            </a:r>
            <a:r>
              <a:rPr lang="en-US" sz="1600" dirty="0" smtClean="0"/>
              <a:t>30×5×10=0+3000+1500=4500</a:t>
            </a:r>
            <a:endParaRPr lang="en-US" sz="1600" dirty="0"/>
          </a:p>
          <a:p>
            <a:pPr lvl="1"/>
            <a:r>
              <a:rPr lang="en-US" sz="1600" dirty="0" smtClean="0"/>
              <a:t>k=3: m[2,3</a:t>
            </a:r>
            <a:r>
              <a:rPr lang="en-US" sz="1600" dirty="0"/>
              <a:t>]+m[4,4]+</a:t>
            </a:r>
            <a:r>
              <a:rPr lang="en-US" sz="1600" dirty="0" smtClean="0"/>
              <a:t>30×60×10=9000+0+18000=27000</a:t>
            </a:r>
          </a:p>
          <a:p>
            <a:pPr lvl="1"/>
            <a:r>
              <a:rPr lang="en-US" sz="1600" dirty="0" smtClean="0"/>
              <a:t>Minimum: m[2,4]=4500</a:t>
            </a:r>
          </a:p>
          <a:p>
            <a:r>
              <a:rPr lang="en-US" sz="1800" b="1" dirty="0" smtClean="0"/>
              <a:t>Chain </a:t>
            </a:r>
            <a:r>
              <a:rPr lang="en-US" sz="1800" b="1" dirty="0"/>
              <a:t>Length 4:</a:t>
            </a:r>
            <a:endParaRPr lang="en-US" sz="1800" dirty="0"/>
          </a:p>
          <a:p>
            <a:r>
              <a:rPr lang="en-US" sz="1800" dirty="0"/>
              <a:t>For </a:t>
            </a:r>
            <a:r>
              <a:rPr lang="en-US" sz="1800" dirty="0" smtClean="0"/>
              <a:t>m[1,4]:</a:t>
            </a:r>
            <a:endParaRPr lang="en-US" sz="1800" dirty="0"/>
          </a:p>
          <a:p>
            <a:pPr lvl="1"/>
            <a:r>
              <a:rPr lang="en-US" sz="1600" dirty="0" smtClean="0"/>
              <a:t>k=1: </a:t>
            </a:r>
            <a:r>
              <a:rPr lang="en-US" sz="1600" dirty="0"/>
              <a:t>m[1,1]+m[2,4]+</a:t>
            </a:r>
            <a:r>
              <a:rPr lang="en-US" sz="1600" dirty="0" smtClean="0"/>
              <a:t>10×30×10=0+4500+3000=7500</a:t>
            </a:r>
            <a:endParaRPr lang="en-US" sz="1600" dirty="0"/>
          </a:p>
          <a:p>
            <a:pPr lvl="1"/>
            <a:r>
              <a:rPr lang="en-US" sz="1600" dirty="0" smtClean="0"/>
              <a:t>k=2: </a:t>
            </a:r>
            <a:r>
              <a:rPr lang="en-US" sz="1600" dirty="0"/>
              <a:t>m[1,2]+m[3,4]+</a:t>
            </a:r>
            <a:r>
              <a:rPr lang="en-US" sz="1600" dirty="0" smtClean="0"/>
              <a:t>10×5×10=1500+3000+500=5000</a:t>
            </a:r>
          </a:p>
          <a:p>
            <a:pPr lvl="1"/>
            <a:r>
              <a:rPr lang="en-US" sz="1600" dirty="0" smtClean="0"/>
              <a:t>k=3k: </a:t>
            </a:r>
            <a:r>
              <a:rPr lang="en-US" sz="1600" dirty="0"/>
              <a:t>m[1,3]+m[4,4]+</a:t>
            </a:r>
            <a:r>
              <a:rPr lang="en-US" sz="1600" dirty="0" smtClean="0"/>
              <a:t>10×60×10=4500+0+6000=10500</a:t>
            </a:r>
          </a:p>
        </p:txBody>
      </p:sp>
    </p:spTree>
    <p:extLst>
      <p:ext uri="{BB962C8B-B14F-4D97-AF65-F5344CB8AC3E}">
        <p14:creationId xmlns:p14="http://schemas.microsoft.com/office/powerpoint/2010/main" val="1784632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Step by Step Solution</a:t>
            </a:r>
          </a:p>
        </p:txBody>
      </p:sp>
      <p:sp>
        <p:nvSpPr>
          <p:cNvPr id="3" name="Text Placeholder 2"/>
          <p:cNvSpPr>
            <a:spLocks noGrp="1"/>
          </p:cNvSpPr>
          <p:nvPr>
            <p:ph type="body" idx="1"/>
          </p:nvPr>
        </p:nvSpPr>
        <p:spPr>
          <a:xfrm>
            <a:off x="871870" y="1813619"/>
            <a:ext cx="10448258" cy="4278094"/>
          </a:xfrm>
        </p:spPr>
        <p:txBody>
          <a:bodyPr/>
          <a:lstStyle/>
          <a:p>
            <a:pPr marL="0" lvl="1"/>
            <a:r>
              <a:rPr lang="en-US" sz="2000" dirty="0"/>
              <a:t>Minimum: m[1,4]=5000</a:t>
            </a:r>
          </a:p>
          <a:p>
            <a:r>
              <a:rPr lang="en-US" b="1" dirty="0" smtClean="0"/>
              <a:t>Result</a:t>
            </a:r>
            <a:r>
              <a:rPr lang="en-US" dirty="0"/>
              <a:t>: The minimum number of scalar multiplications needed to multiply matrices </a:t>
            </a:r>
            <a:r>
              <a:rPr lang="en-US" dirty="0" smtClean="0"/>
              <a:t>A1A2A3A4​ </a:t>
            </a:r>
            <a:r>
              <a:rPr lang="en-US" dirty="0"/>
              <a:t>is </a:t>
            </a:r>
            <a:r>
              <a:rPr lang="en-US" b="1" dirty="0"/>
              <a:t>5000</a:t>
            </a:r>
            <a:r>
              <a:rPr lang="en-US" dirty="0"/>
              <a:t>.</a:t>
            </a:r>
          </a:p>
          <a:p>
            <a:pPr lvl="1"/>
            <a:endParaRPr lang="en-US" dirty="0"/>
          </a:p>
          <a:p>
            <a:r>
              <a:rPr lang="en-US" b="1" dirty="0" err="1"/>
              <a:t>Parenthesization</a:t>
            </a:r>
            <a:endParaRPr lang="en-US" b="1" dirty="0"/>
          </a:p>
          <a:p>
            <a:r>
              <a:rPr lang="en-US" dirty="0"/>
              <a:t>To determine the optimal </a:t>
            </a:r>
            <a:r>
              <a:rPr lang="en-US" dirty="0" err="1"/>
              <a:t>parenthesization</a:t>
            </a:r>
            <a:r>
              <a:rPr lang="en-US" dirty="0"/>
              <a:t>:</a:t>
            </a:r>
          </a:p>
          <a:p>
            <a:r>
              <a:rPr lang="en-US" dirty="0"/>
              <a:t>The optimal split for </a:t>
            </a:r>
            <a:r>
              <a:rPr lang="en-US" dirty="0" smtClean="0"/>
              <a:t>m[1,4] was </a:t>
            </a:r>
            <a:r>
              <a:rPr lang="en-US" dirty="0"/>
              <a:t>at </a:t>
            </a:r>
            <a:r>
              <a:rPr lang="en-US" dirty="0" smtClean="0"/>
              <a:t>k=2.</a:t>
            </a:r>
            <a:endParaRPr lang="en-US" dirty="0"/>
          </a:p>
          <a:p>
            <a:r>
              <a:rPr lang="en-US" dirty="0"/>
              <a:t>Therefore, the optimal </a:t>
            </a:r>
            <a:r>
              <a:rPr lang="en-US" dirty="0" err="1"/>
              <a:t>parenthesization</a:t>
            </a:r>
            <a:r>
              <a:rPr lang="en-US" dirty="0"/>
              <a:t> is (A1(A2A3))</a:t>
            </a:r>
            <a:r>
              <a:rPr lang="en-US" dirty="0" smtClean="0"/>
              <a:t>A4​</a:t>
            </a:r>
            <a:r>
              <a:rPr lang="en-US" dirty="0"/>
              <a:t>.</a:t>
            </a:r>
          </a:p>
          <a:p>
            <a:r>
              <a:rPr lang="en-US" dirty="0"/>
              <a:t>This means you first multiply </a:t>
            </a:r>
            <a:r>
              <a:rPr lang="en-US" dirty="0" smtClean="0"/>
              <a:t>A2</a:t>
            </a:r>
            <a:r>
              <a:rPr lang="en-US" dirty="0"/>
              <a:t>​ and </a:t>
            </a:r>
            <a:r>
              <a:rPr lang="en-US" dirty="0" smtClean="0"/>
              <a:t>A3​</a:t>
            </a:r>
            <a:r>
              <a:rPr lang="en-US" dirty="0"/>
              <a:t>, then multiply the result with </a:t>
            </a:r>
            <a:r>
              <a:rPr lang="en-US" dirty="0" smtClean="0"/>
              <a:t>A1​</a:t>
            </a:r>
            <a:r>
              <a:rPr lang="en-US" dirty="0"/>
              <a:t>, and finally multiply that result with </a:t>
            </a:r>
            <a:r>
              <a:rPr lang="en-US" dirty="0" smtClean="0"/>
              <a:t>A4.</a:t>
            </a:r>
            <a:endParaRPr lang="en-US" dirty="0"/>
          </a:p>
          <a:p>
            <a:r>
              <a:rPr lang="en-US" dirty="0"/>
              <a:t>This method efficiently minimizes the total number of scalar multiplications, saving computational resources in practical applications.</a:t>
            </a:r>
          </a:p>
          <a:p>
            <a:endParaRPr lang="en-US" dirty="0"/>
          </a:p>
          <a:p>
            <a:endParaRPr lang="en-US" dirty="0"/>
          </a:p>
        </p:txBody>
      </p:sp>
    </p:spTree>
    <p:extLst>
      <p:ext uri="{BB962C8B-B14F-4D97-AF65-F5344CB8AC3E}">
        <p14:creationId xmlns:p14="http://schemas.microsoft.com/office/powerpoint/2010/main" val="1280145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9370060" cy="492443"/>
          </a:xfrm>
        </p:spPr>
        <p:txBody>
          <a:bodyPr/>
          <a:lstStyle/>
          <a:p>
            <a:r>
              <a:rPr lang="en-US" sz="3200" b="0" dirty="0" smtClean="0"/>
              <a:t>Longest Common Subsequence</a:t>
            </a:r>
            <a:endParaRPr lang="en-US" sz="3200" dirty="0"/>
          </a:p>
        </p:txBody>
      </p:sp>
      <p:sp>
        <p:nvSpPr>
          <p:cNvPr id="3" name="Text Placeholder 2"/>
          <p:cNvSpPr>
            <a:spLocks noGrp="1"/>
          </p:cNvSpPr>
          <p:nvPr>
            <p:ph type="body" idx="1"/>
          </p:nvPr>
        </p:nvSpPr>
        <p:spPr>
          <a:xfrm>
            <a:off x="871870" y="1813619"/>
            <a:ext cx="10448258" cy="3939540"/>
          </a:xfrm>
        </p:spPr>
        <p:txBody>
          <a:bodyPr/>
          <a:lstStyle/>
          <a:p>
            <a:pPr algn="just"/>
            <a:r>
              <a:rPr lang="en-US" sz="3200" dirty="0"/>
              <a:t>The Longest Common Subsequence (LCS) problem is a classic problem in computer science, especially in fields like bioinformatics, version control, and text comparison. The problem is to find the longest subsequence common to two sequences, where a subsequence is a sequence derived by deleting some or none of the elements from the original sequence without changing the order of the remaining elements.</a:t>
            </a:r>
          </a:p>
        </p:txBody>
      </p:sp>
    </p:spTree>
    <p:extLst>
      <p:ext uri="{BB962C8B-B14F-4D97-AF65-F5344CB8AC3E}">
        <p14:creationId xmlns:p14="http://schemas.microsoft.com/office/powerpoint/2010/main" val="47800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Problem Statement</a:t>
            </a:r>
          </a:p>
        </p:txBody>
      </p:sp>
      <p:sp>
        <p:nvSpPr>
          <p:cNvPr id="3" name="Text Placeholder 2"/>
          <p:cNvSpPr>
            <a:spLocks noGrp="1"/>
          </p:cNvSpPr>
          <p:nvPr>
            <p:ph type="body" idx="1"/>
          </p:nvPr>
        </p:nvSpPr>
        <p:spPr>
          <a:xfrm>
            <a:off x="871870" y="1813619"/>
            <a:ext cx="10448258" cy="3447098"/>
          </a:xfrm>
        </p:spPr>
        <p:txBody>
          <a:bodyPr/>
          <a:lstStyle/>
          <a:p>
            <a:r>
              <a:rPr lang="en-US" sz="2800" dirty="0"/>
              <a:t>Given two sequences </a:t>
            </a:r>
            <a:r>
              <a:rPr lang="en-US" sz="2800" dirty="0" smtClean="0"/>
              <a:t>X </a:t>
            </a:r>
            <a:r>
              <a:rPr lang="en-US" sz="2800" dirty="0"/>
              <a:t>and </a:t>
            </a:r>
            <a:r>
              <a:rPr lang="en-US" sz="2800" dirty="0" smtClean="0"/>
              <a:t>Y, </a:t>
            </a:r>
            <a:r>
              <a:rPr lang="en-US" sz="2800" dirty="0"/>
              <a:t>the objective is to find the length of the longest subsequence that is common to both sequences</a:t>
            </a:r>
            <a:r>
              <a:rPr lang="en-US" sz="2800" dirty="0" smtClean="0"/>
              <a:t>.</a:t>
            </a:r>
          </a:p>
          <a:p>
            <a:r>
              <a:rPr lang="en-US" sz="2800" b="1" dirty="0"/>
              <a:t>Example</a:t>
            </a:r>
          </a:p>
          <a:p>
            <a:r>
              <a:rPr lang="en-US" sz="2800" dirty="0"/>
              <a:t>Consider the two sequences:</a:t>
            </a:r>
          </a:p>
          <a:p>
            <a:r>
              <a:rPr lang="en-US" sz="2800" dirty="0"/>
              <a:t>X="</a:t>
            </a:r>
            <a:r>
              <a:rPr lang="en-US" sz="2800" dirty="0" smtClean="0"/>
              <a:t>ABCBDAB"</a:t>
            </a:r>
            <a:endParaRPr lang="en-US" sz="2800" dirty="0"/>
          </a:p>
          <a:p>
            <a:r>
              <a:rPr lang="en-US" sz="2800" dirty="0"/>
              <a:t>Y="</a:t>
            </a:r>
            <a:r>
              <a:rPr lang="en-US" sz="2800" dirty="0" smtClean="0"/>
              <a:t>BDCAB"</a:t>
            </a:r>
            <a:endParaRPr lang="en-US" sz="2800" dirty="0"/>
          </a:p>
          <a:p>
            <a:r>
              <a:rPr lang="en-US" sz="2800" dirty="0"/>
              <a:t>The LCS for these two sequences is "BCAB", which has a length of 4.</a:t>
            </a:r>
          </a:p>
          <a:p>
            <a:endParaRPr lang="en-US" sz="2800" dirty="0"/>
          </a:p>
        </p:txBody>
      </p:sp>
    </p:spTree>
    <p:extLst>
      <p:ext uri="{BB962C8B-B14F-4D97-AF65-F5344CB8AC3E}">
        <p14:creationId xmlns:p14="http://schemas.microsoft.com/office/powerpoint/2010/main" val="3669930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Dynamic Programming Approach</a:t>
            </a:r>
          </a:p>
        </p:txBody>
      </p:sp>
      <p:sp>
        <p:nvSpPr>
          <p:cNvPr id="3" name="Text Placeholder 2"/>
          <p:cNvSpPr>
            <a:spLocks noGrp="1"/>
          </p:cNvSpPr>
          <p:nvPr>
            <p:ph type="body" idx="1"/>
          </p:nvPr>
        </p:nvSpPr>
        <p:spPr>
          <a:xfrm>
            <a:off x="871870" y="1813619"/>
            <a:ext cx="10448258" cy="4985980"/>
          </a:xfrm>
        </p:spPr>
        <p:txBody>
          <a:bodyPr/>
          <a:lstStyle/>
          <a:p>
            <a:r>
              <a:rPr lang="en-US" dirty="0"/>
              <a:t>The LCS problem can be efficiently solved using dynamic programming. The idea is to build a 2D table that stores the lengths of the longest common subsequences for substrings of </a:t>
            </a:r>
            <a:r>
              <a:rPr lang="en-US" dirty="0" smtClean="0"/>
              <a:t>X </a:t>
            </a:r>
            <a:r>
              <a:rPr lang="en-US" dirty="0"/>
              <a:t>and </a:t>
            </a:r>
            <a:r>
              <a:rPr lang="en-US" dirty="0" smtClean="0"/>
              <a:t>Y.</a:t>
            </a:r>
          </a:p>
          <a:p>
            <a:r>
              <a:rPr lang="en-US" b="1" dirty="0"/>
              <a:t>Steps:</a:t>
            </a:r>
          </a:p>
          <a:p>
            <a:r>
              <a:rPr lang="en-US" b="1" dirty="0"/>
              <a:t>Define the DP Table</a:t>
            </a:r>
            <a:r>
              <a:rPr lang="en-US" dirty="0"/>
              <a:t>:</a:t>
            </a:r>
          </a:p>
          <a:p>
            <a:pPr lvl="1"/>
            <a:r>
              <a:rPr lang="en-US" dirty="0"/>
              <a:t>Let mmm be the length of sequence </a:t>
            </a:r>
            <a:r>
              <a:rPr lang="en-US" dirty="0" smtClean="0"/>
              <a:t>X </a:t>
            </a:r>
            <a:r>
              <a:rPr lang="en-US" dirty="0"/>
              <a:t>and </a:t>
            </a:r>
            <a:r>
              <a:rPr lang="en-US" dirty="0" smtClean="0"/>
              <a:t>n </a:t>
            </a:r>
            <a:r>
              <a:rPr lang="en-US" dirty="0"/>
              <a:t>be the length of sequence </a:t>
            </a:r>
            <a:r>
              <a:rPr lang="en-US" dirty="0" smtClean="0"/>
              <a:t>Y.</a:t>
            </a:r>
            <a:endParaRPr lang="en-US" dirty="0"/>
          </a:p>
          <a:p>
            <a:pPr lvl="1"/>
            <a:r>
              <a:rPr lang="en-US" dirty="0"/>
              <a:t>Define a 2D array </a:t>
            </a:r>
            <a:r>
              <a:rPr lang="en-US" dirty="0" smtClean="0"/>
              <a:t>L </a:t>
            </a:r>
            <a:r>
              <a:rPr lang="en-US" dirty="0"/>
              <a:t>where L[i][</a:t>
            </a:r>
            <a:r>
              <a:rPr lang="en-US" dirty="0" smtClean="0"/>
              <a:t>j] </a:t>
            </a:r>
            <a:r>
              <a:rPr lang="en-US" dirty="0"/>
              <a:t>represents the length of the LCS of the sequences </a:t>
            </a:r>
            <a:r>
              <a:rPr lang="en-US" dirty="0" smtClean="0"/>
              <a:t>X[0…i-1]and Y[0...j-1].</a:t>
            </a:r>
            <a:endParaRPr lang="en-US" dirty="0"/>
          </a:p>
          <a:p>
            <a:r>
              <a:rPr lang="en-US" b="1" dirty="0"/>
              <a:t>Recurrence Relation</a:t>
            </a:r>
            <a:r>
              <a:rPr lang="en-US" dirty="0"/>
              <a:t>:</a:t>
            </a:r>
          </a:p>
          <a:p>
            <a:pPr lvl="1"/>
            <a:r>
              <a:rPr lang="en-US" dirty="0"/>
              <a:t>If X[i−1]=Y[j−</a:t>
            </a:r>
            <a:r>
              <a:rPr lang="en-US" dirty="0" smtClean="0"/>
              <a:t>1], </a:t>
            </a:r>
            <a:r>
              <a:rPr lang="en-US" dirty="0"/>
              <a:t>then L[i][j]=L[i−1][j−1]+</a:t>
            </a:r>
            <a:r>
              <a:rPr lang="en-US" dirty="0" smtClean="0"/>
              <a:t>1.</a:t>
            </a:r>
            <a:endParaRPr lang="en-US" dirty="0"/>
          </a:p>
          <a:p>
            <a:pPr lvl="1"/>
            <a:r>
              <a:rPr lang="en-US" dirty="0"/>
              <a:t>Otherwise, L[i][j]=max⁡(L[i−1][j],L[i][j−1</a:t>
            </a:r>
            <a:r>
              <a:rPr lang="en-US" dirty="0" smtClean="0"/>
              <a:t>]).</a:t>
            </a:r>
            <a:endParaRPr lang="en-US" dirty="0"/>
          </a:p>
          <a:p>
            <a:r>
              <a:rPr lang="en-US" b="1" dirty="0"/>
              <a:t>Initialize the Table</a:t>
            </a:r>
            <a:r>
              <a:rPr lang="en-US" dirty="0"/>
              <a:t>:</a:t>
            </a:r>
          </a:p>
          <a:p>
            <a:pPr lvl="1"/>
            <a:r>
              <a:rPr lang="en-US" dirty="0"/>
              <a:t>Initialize L[0][j]=</a:t>
            </a:r>
            <a:r>
              <a:rPr lang="en-US" dirty="0" smtClean="0"/>
              <a:t>0  </a:t>
            </a:r>
            <a:r>
              <a:rPr lang="en-US" dirty="0"/>
              <a:t>for all </a:t>
            </a:r>
            <a:r>
              <a:rPr lang="en-US" dirty="0" smtClean="0"/>
              <a:t>j</a:t>
            </a:r>
            <a:r>
              <a:rPr lang="en-US" dirty="0"/>
              <a:t>, and L[i][0</a:t>
            </a:r>
            <a:r>
              <a:rPr lang="en-US" dirty="0" smtClean="0"/>
              <a:t>]=0 for </a:t>
            </a:r>
            <a:r>
              <a:rPr lang="en-US" dirty="0"/>
              <a:t>all </a:t>
            </a:r>
            <a:r>
              <a:rPr lang="en-US" dirty="0" smtClean="0"/>
              <a:t>i</a:t>
            </a:r>
            <a:r>
              <a:rPr lang="en-US" dirty="0"/>
              <a:t>. This is because the LCS of any sequence with an empty sequence is 0.</a:t>
            </a:r>
          </a:p>
          <a:p>
            <a:r>
              <a:rPr lang="en-US" b="1" dirty="0"/>
              <a:t>Fill the Table</a:t>
            </a:r>
            <a:r>
              <a:rPr lang="en-US" dirty="0"/>
              <a:t>:</a:t>
            </a:r>
          </a:p>
          <a:p>
            <a:pPr lvl="1"/>
            <a:r>
              <a:rPr lang="en-US" dirty="0"/>
              <a:t>Iterate through each character of XXX and YYY to fill in the table based on the recurrence relation.</a:t>
            </a:r>
          </a:p>
          <a:p>
            <a:r>
              <a:rPr lang="en-US" b="1" dirty="0"/>
              <a:t>Result</a:t>
            </a:r>
            <a:r>
              <a:rPr lang="en-US" dirty="0"/>
              <a:t>:</a:t>
            </a:r>
          </a:p>
          <a:p>
            <a:pPr lvl="1"/>
            <a:r>
              <a:rPr lang="en-US" dirty="0"/>
              <a:t>The length of the LCS will be found in L[m][n</a:t>
            </a:r>
            <a:r>
              <a:rPr lang="en-US" dirty="0" smtClean="0"/>
              <a:t>].</a:t>
            </a:r>
            <a:endParaRPr lang="en-US" dirty="0"/>
          </a:p>
          <a:p>
            <a:endParaRPr lang="en-US" dirty="0"/>
          </a:p>
        </p:txBody>
      </p:sp>
    </p:spTree>
    <p:extLst>
      <p:ext uri="{BB962C8B-B14F-4D97-AF65-F5344CB8AC3E}">
        <p14:creationId xmlns:p14="http://schemas.microsoft.com/office/powerpoint/2010/main" val="3669930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Example Solution</a:t>
            </a:r>
          </a:p>
        </p:txBody>
      </p:sp>
      <p:sp>
        <p:nvSpPr>
          <p:cNvPr id="3" name="Text Placeholder 2"/>
          <p:cNvSpPr>
            <a:spLocks noGrp="1"/>
          </p:cNvSpPr>
          <p:nvPr>
            <p:ph type="body" idx="1"/>
          </p:nvPr>
        </p:nvSpPr>
        <p:spPr>
          <a:xfrm>
            <a:off x="871870" y="1813619"/>
            <a:ext cx="10448258" cy="4524315"/>
          </a:xfrm>
        </p:spPr>
        <p:txBody>
          <a:bodyPr/>
          <a:lstStyle/>
          <a:p>
            <a:r>
              <a:rPr lang="en-US" dirty="0"/>
              <a:t>Let's solve the LCS problem for X="ABCBDAB"X = "ABCBDAB"X="ABCBDAB" and Y="BDCAB"Y = "BDCAB"Y="BDCAB".</a:t>
            </a:r>
          </a:p>
          <a:p>
            <a:r>
              <a:rPr lang="en-US" b="1" dirty="0"/>
              <a:t>Initialization</a:t>
            </a:r>
            <a:r>
              <a:rPr lang="en-US" dirty="0"/>
              <a:t>:</a:t>
            </a:r>
          </a:p>
          <a:p>
            <a:pPr lvl="1"/>
            <a:r>
              <a:rPr lang="en-US" dirty="0"/>
              <a:t>Let </a:t>
            </a:r>
            <a:r>
              <a:rPr lang="en-US" dirty="0" smtClean="0"/>
              <a:t>m=7 </a:t>
            </a:r>
            <a:r>
              <a:rPr lang="en-US" dirty="0"/>
              <a:t>(length of "ABCBDAB") and </a:t>
            </a:r>
            <a:r>
              <a:rPr lang="en-US" dirty="0" smtClean="0"/>
              <a:t>n=5 </a:t>
            </a:r>
            <a:r>
              <a:rPr lang="en-US" dirty="0"/>
              <a:t>(length of "BDCAB").</a:t>
            </a:r>
          </a:p>
          <a:p>
            <a:pPr lvl="1"/>
            <a:r>
              <a:rPr lang="en-US" dirty="0"/>
              <a:t>Initialize the table </a:t>
            </a:r>
            <a:r>
              <a:rPr lang="en-US" dirty="0" smtClean="0"/>
              <a:t>L </a:t>
            </a:r>
            <a:r>
              <a:rPr lang="en-US" dirty="0"/>
              <a:t>with dimensions </a:t>
            </a:r>
            <a:r>
              <a:rPr lang="en-US" dirty="0" smtClean="0"/>
              <a:t>8×6 </a:t>
            </a:r>
            <a:r>
              <a:rPr lang="en-US" dirty="0"/>
              <a:t>(since we add an extra row and column for the base case where either sequence is empty</a:t>
            </a:r>
            <a:r>
              <a:rPr lang="en-US" dirty="0" smtClean="0"/>
              <a:t>).</a:t>
            </a:r>
          </a:p>
          <a:p>
            <a:r>
              <a:rPr lang="en-US" b="1" dirty="0" smtClean="0"/>
              <a:t>Fill </a:t>
            </a:r>
            <a:r>
              <a:rPr lang="en-US" b="1" dirty="0"/>
              <a:t>the Table</a:t>
            </a:r>
            <a:r>
              <a:rPr lang="en-US" dirty="0" smtClean="0"/>
              <a:t>:</a:t>
            </a:r>
          </a:p>
          <a:p>
            <a:endParaRPr lang="en-US" dirty="0" smtClean="0"/>
          </a:p>
          <a:p>
            <a:endParaRPr lang="en-US" dirty="0"/>
          </a:p>
          <a:p>
            <a:endParaRPr lang="en-US" dirty="0" smtClean="0"/>
          </a:p>
          <a:p>
            <a:endParaRPr lang="en-US" dirty="0" smtClean="0"/>
          </a:p>
          <a:p>
            <a:endParaRPr lang="en-US" dirty="0"/>
          </a:p>
          <a:p>
            <a:r>
              <a:rPr lang="en-US" b="1" dirty="0" smtClean="0"/>
              <a:t>Result</a:t>
            </a:r>
            <a:r>
              <a:rPr lang="en-US" dirty="0"/>
              <a:t>:</a:t>
            </a:r>
          </a:p>
          <a:p>
            <a:r>
              <a:rPr lang="en-US" dirty="0"/>
              <a:t>The length of the LCS is L[7][5]=4L[7][5] = 4L[7][5]=4.</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464859"/>
            <a:ext cx="2507926" cy="217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9930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 y="1029648"/>
            <a:ext cx="6686550" cy="461665"/>
          </a:xfrm>
        </p:spPr>
        <p:txBody>
          <a:bodyPr/>
          <a:lstStyle/>
          <a:p>
            <a:r>
              <a:rPr lang="en-US" dirty="0"/>
              <a:t>Time and Space Complexity</a:t>
            </a:r>
          </a:p>
        </p:txBody>
      </p:sp>
      <p:sp>
        <p:nvSpPr>
          <p:cNvPr id="3" name="Text Placeholder 2"/>
          <p:cNvSpPr>
            <a:spLocks noGrp="1"/>
          </p:cNvSpPr>
          <p:nvPr>
            <p:ph type="body" idx="1"/>
          </p:nvPr>
        </p:nvSpPr>
        <p:spPr>
          <a:xfrm>
            <a:off x="871870" y="1813619"/>
            <a:ext cx="10448258" cy="2154436"/>
          </a:xfrm>
        </p:spPr>
        <p:txBody>
          <a:bodyPr/>
          <a:lstStyle/>
          <a:p>
            <a:r>
              <a:rPr lang="en-US" sz="2800" b="1" dirty="0" smtClean="0"/>
              <a:t>Time </a:t>
            </a:r>
            <a:r>
              <a:rPr lang="en-US" sz="2800" b="1" dirty="0"/>
              <a:t>Complexity</a:t>
            </a:r>
            <a:r>
              <a:rPr lang="en-US" sz="2800" dirty="0"/>
              <a:t>: </a:t>
            </a:r>
            <a:r>
              <a:rPr lang="en-US" sz="2800" dirty="0" smtClean="0"/>
              <a:t>O(</a:t>
            </a:r>
            <a:r>
              <a:rPr lang="en-US" sz="2800" dirty="0" err="1" smtClean="0"/>
              <a:t>m×n</a:t>
            </a:r>
            <a:r>
              <a:rPr lang="en-US" sz="2800" dirty="0" smtClean="0"/>
              <a:t>), </a:t>
            </a:r>
            <a:r>
              <a:rPr lang="en-US" sz="2800" dirty="0"/>
              <a:t>where </a:t>
            </a:r>
            <a:r>
              <a:rPr lang="en-US" sz="2800" dirty="0" smtClean="0"/>
              <a:t>m </a:t>
            </a:r>
            <a:r>
              <a:rPr lang="en-US" sz="2800" dirty="0"/>
              <a:t>and </a:t>
            </a:r>
            <a:r>
              <a:rPr lang="en-US" sz="2800" dirty="0" smtClean="0"/>
              <a:t>n </a:t>
            </a:r>
            <a:r>
              <a:rPr lang="en-US" sz="2800" dirty="0"/>
              <a:t>are the lengths of the sequences </a:t>
            </a:r>
            <a:r>
              <a:rPr lang="en-US" sz="2800" dirty="0" smtClean="0"/>
              <a:t>X </a:t>
            </a:r>
            <a:r>
              <a:rPr lang="en-US" sz="2800" dirty="0"/>
              <a:t>and </a:t>
            </a:r>
            <a:r>
              <a:rPr lang="en-US" sz="2800" dirty="0" smtClean="0"/>
              <a:t>Y.</a:t>
            </a:r>
            <a:endParaRPr lang="en-US" sz="2800" dirty="0"/>
          </a:p>
          <a:p>
            <a:r>
              <a:rPr lang="en-US" sz="2800" b="1" dirty="0"/>
              <a:t>Space Complexity</a:t>
            </a:r>
            <a:r>
              <a:rPr lang="en-US" sz="2800" dirty="0"/>
              <a:t>: </a:t>
            </a:r>
            <a:r>
              <a:rPr lang="en-US" sz="2800" dirty="0" smtClean="0"/>
              <a:t>O(</a:t>
            </a:r>
            <a:r>
              <a:rPr lang="en-US" sz="2800" dirty="0" err="1" smtClean="0"/>
              <a:t>m×n</a:t>
            </a:r>
            <a:r>
              <a:rPr lang="en-US" sz="2800" dirty="0" smtClean="0"/>
              <a:t>), </a:t>
            </a:r>
            <a:r>
              <a:rPr lang="en-US" sz="2800" dirty="0"/>
              <a:t>though it can be optimized to O(min⁡(</a:t>
            </a:r>
            <a:r>
              <a:rPr lang="en-US" sz="2800" dirty="0" err="1"/>
              <a:t>m,n</a:t>
            </a:r>
            <a:r>
              <a:rPr lang="en-US" sz="2800" dirty="0" smtClean="0"/>
              <a:t>)) by </a:t>
            </a:r>
            <a:r>
              <a:rPr lang="en-US" sz="2800" dirty="0"/>
              <a:t>using only two rows of the table at a time.</a:t>
            </a:r>
          </a:p>
          <a:p>
            <a:endParaRPr lang="en-US" sz="2800" dirty="0"/>
          </a:p>
        </p:txBody>
      </p:sp>
    </p:spTree>
    <p:extLst>
      <p:ext uri="{BB962C8B-B14F-4D97-AF65-F5344CB8AC3E}">
        <p14:creationId xmlns:p14="http://schemas.microsoft.com/office/powerpoint/2010/main" val="1984690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339</TotalTime>
  <Words>1317</Words>
  <Application>Microsoft Office PowerPoint</Application>
  <PresentationFormat>Custom</PresentationFormat>
  <Paragraphs>113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Design and analysis of Algorithms</vt:lpstr>
      <vt:lpstr>Unit-4</vt:lpstr>
      <vt:lpstr>Chain matrix multiplication</vt:lpstr>
      <vt:lpstr>Problem Statement</vt:lpstr>
      <vt:lpstr>Why is this Problem Important?</vt:lpstr>
      <vt:lpstr>Dynamic Programming Approach</vt:lpstr>
      <vt:lpstr>Steps:</vt:lpstr>
      <vt:lpstr>PowerPoint Presentation</vt:lpstr>
      <vt:lpstr>PowerPoint Presentation</vt:lpstr>
      <vt:lpstr>Step by Step Solution</vt:lpstr>
      <vt:lpstr>Step by Step Solution</vt:lpstr>
      <vt:lpstr>Step by Step Solution</vt:lpstr>
      <vt:lpstr>Longest Common Subsequence</vt:lpstr>
      <vt:lpstr>Problem Statement</vt:lpstr>
      <vt:lpstr>Dynamic Programming Approach</vt:lpstr>
      <vt:lpstr>Example Solution</vt:lpstr>
      <vt:lpstr>Time and Space Complexity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Algorithms</dc:title>
  <dc:creator>Admin</dc:creator>
  <cp:lastModifiedBy>Admin</cp:lastModifiedBy>
  <cp:revision>76</cp:revision>
  <dcterms:created xsi:type="dcterms:W3CDTF">2024-07-13T10:45:17Z</dcterms:created>
  <dcterms:modified xsi:type="dcterms:W3CDTF">2024-09-14T08:27:19Z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2020-05-30T00:00:00Z</vt:filetime>
  </property>
  <property fmtid="{D5CDD505-2E9C-101B-9397-08002B2CF9AE}" pid="3" name="Creator">
    <vt:lpwstr>Online2PDF.com</vt:lpwstr>
  </property>
  <property fmtid="{D5CDD505-2E9C-101B-9397-08002B2CF9AE}" pid="4" name="Producer">
    <vt:lpwstr>Online2PDF.com</vt:lpwstr>
  </property>
  <property fmtid="{D5CDD505-2E9C-101B-9397-08002B2CF9AE}" pid="5" name="LastSaved">
    <vt:filetime>2020-05-30T00:00:00Z</vt:filetime>
  </property>
</Properties>
</file>